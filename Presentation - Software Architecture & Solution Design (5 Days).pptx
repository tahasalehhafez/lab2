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4"/>
  </p:notesMasterIdLst>
  <p:sldIdLst>
    <p:sldId id="256" r:id="rId2"/>
    <p:sldId id="263"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367" r:id="rId20"/>
    <p:sldId id="368" r:id="rId21"/>
    <p:sldId id="369" r:id="rId22"/>
    <p:sldId id="274" r:id="rId23"/>
    <p:sldId id="370" r:id="rId24"/>
    <p:sldId id="371" r:id="rId25"/>
    <p:sldId id="372"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375" r:id="rId40"/>
    <p:sldId id="376" r:id="rId41"/>
    <p:sldId id="288" r:id="rId42"/>
    <p:sldId id="289" r:id="rId43"/>
    <p:sldId id="290" r:id="rId44"/>
    <p:sldId id="291" r:id="rId45"/>
    <p:sldId id="292" r:id="rId46"/>
    <p:sldId id="293" r:id="rId47"/>
    <p:sldId id="374"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21" r:id="rId71"/>
    <p:sldId id="316" r:id="rId72"/>
    <p:sldId id="377" r:id="rId73"/>
    <p:sldId id="317" r:id="rId74"/>
    <p:sldId id="318" r:id="rId75"/>
    <p:sldId id="319" r:id="rId76"/>
    <p:sldId id="320" r:id="rId77"/>
    <p:sldId id="322" r:id="rId78"/>
    <p:sldId id="323" r:id="rId79"/>
    <p:sldId id="324" r:id="rId80"/>
    <p:sldId id="378" r:id="rId81"/>
    <p:sldId id="325" r:id="rId82"/>
    <p:sldId id="326" r:id="rId83"/>
    <p:sldId id="327" r:id="rId84"/>
    <p:sldId id="328" r:id="rId85"/>
    <p:sldId id="331" r:id="rId86"/>
    <p:sldId id="333" r:id="rId87"/>
    <p:sldId id="335" r:id="rId88"/>
    <p:sldId id="329" r:id="rId89"/>
    <p:sldId id="330" r:id="rId90"/>
    <p:sldId id="332" r:id="rId91"/>
    <p:sldId id="334"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 id="363" r:id="rId120"/>
    <p:sldId id="364" r:id="rId121"/>
    <p:sldId id="365" r:id="rId122"/>
    <p:sldId id="366" r:id="rId123"/>
  </p:sldIdLst>
  <p:sldSz cx="12192000" cy="6858000"/>
  <p:notesSz cx="6858000" cy="12192000"/>
  <p:embeddedFontLst>
    <p:embeddedFont>
      <p:font typeface="Consolas" panose="020B0609020204030204" pitchFamily="49" charset="0"/>
      <p:regular r:id="rId125"/>
      <p:bold r:id="rId126"/>
      <p:italic r:id="rId127"/>
      <p:boldItalic r:id="rId128"/>
    </p:embeddedFont>
    <p:embeddedFont>
      <p:font typeface="Segoe UI" panose="020B0502040204020203" pitchFamily="34" charset="0"/>
      <p:regular r:id="rId129"/>
      <p:bold r:id="rId130"/>
      <p:italic r:id="rId131"/>
      <p:boldItalic r:id="rId132"/>
    </p:embeddedFont>
    <p:embeddedFont>
      <p:font typeface="Segoe UI Symbol" panose="020B0502040204020203" pitchFamily="34" charset="0"/>
      <p:regular r:id="rId1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66" y="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font" Target="fonts/font4.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font" Target="fonts/font5.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6.fntdata"/><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7.fntdata"/><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375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students: if you ever feel lost, look at the coloured badge in the top right corner. It tells you whether we are learning, or doing.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to say out loud: 45,000 orders a day at peak. A small change takes about three weeks. Checkout is slow. Nobody owns it at night. Then say: this one picture is our patient for five days.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and say: on Friday you will hold a folder with nine files in it. That folder is your assessment.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will ask 'are we covering the whole brochure?'. Show this slide. It maps every required area to a day and to a file they must hand 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tip: put the templates folder on a USB stick as well. Conference Wi-Fi fails, and you do not want to lose 20 minutes copying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lines slowly. Tell students to copy them on paper. At 13:50 you will read them again and ask for a show of hands.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name one decision in your company that would cost more than a month to reverse. That is architecture. Everything cheaper is design or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your hands: small box for a room, bigger for a building, wide arms for a city. Repeat it twice. Students remember the gesture longer than the words.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read each sentence slowly. Ask 'room, building, or city?'. Do not let them jump to microservices. If a pair finishes early, ask them to invent a fourth sentence and challenge another pair.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trap question: 'checkout is slow, so let us move to the cloud'. Slow checkout may be a Data problem (bad ownership) or an Application problem (one big program). Cloud is Technology. Buying Technology to fix Data never works.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ban the word 'microservices' for this exercise. Force them to name the domain and the first question. Collect one question from each group on the board.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principle from their own company, then ask what it made them refuse last year. If the answer is nothing, it is a poster and not a principle. That question lands hard and it is the point of this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this week we DRAW with C4, we SEQUENCE work with TOGAF thinking, and we use Zachman as a checklist. We do not run a full TOGAF cycle in five </a:t>
            </a:r>
            <a:r>
              <a:rPr lang="en-US"/>
              <a:t>days  </a:t>
            </a:r>
            <a:r>
              <a:rPr lang="en-US" dirty="0"/>
              <a:t>that would be dishonest.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week is a compressed ADM. Day 1 is A and B, Day 2 is C, Day 3 and 4 are C and D, Day 5 is E, F and G. Tell them that so the brochure makes sense to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level would you show the CEO? C1. Which would you show a new developer on day one? C2. Do not let them answer C4.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two </a:t>
            </a:r>
            <a:r>
              <a:rPr lang="en-US"/>
              <a:t>bans  </a:t>
            </a:r>
            <a:r>
              <a:rPr lang="en-US" dirty="0"/>
              <a:t>no future boxes, and no arrow without a verb. Walk the room. When a group adds 'AI service' or 'Kubernetes', remind them this is the CURRENT world. Keep the Northline slide from the opening on screen as the model answer.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a review where someone points at an arrow and asks 'is that synchronous</a:t>
            </a:r>
            <a:r>
              <a:rPr lang="en-US"/>
              <a:t>?'  </a:t>
            </a:r>
            <a:r>
              <a:rPr lang="en-US" dirty="0"/>
              <a:t>nobody knows. That single missing word costs the meeting.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honestly: the tool is the least important decision on this slide. Teams spend weeks choosing a tool and then never draw the diagram. Whiteboard first, always.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live, one line at a time, and re-render after each line so the class watches the picture grow. That single demo converts more people than any slide. Full commands are in the HTML practical guide, Day 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name the stakeholder they forget most often. The usual answers are operations and security. Both usually appear only after an incident.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box their security team sits in. Usually high power and low interest until an audit, and then it changes overnight. Plan for that.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the useful column is the last </a:t>
            </a:r>
            <a:r>
              <a:rPr lang="en-US"/>
              <a:t>one  </a:t>
            </a:r>
            <a:r>
              <a:rPr lang="en-US" dirty="0"/>
              <a:t>what you will NOT show them. That column teaches respect for other people's time. If a pair says one role needs three views, ask which decision comes first.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months from now nobody will remember why Catalog has its own database. The ADR is the memory of the team. It costs one page and saves weeks.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.docx now. Tell them the Consequences box is the one you will grade hardest, because writing a cost in your own decision is the real skill.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read the four headings aloud, then sit down and stay quiet. Do not write it for them. The most common gap is a missing </a:t>
            </a:r>
            <a:r>
              <a:rPr lang="en-US"/>
              <a:t>cost  </a:t>
            </a:r>
            <a:r>
              <a:rPr lang="en-US" dirty="0"/>
              <a:t>check that first when you review.</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pattern in almost every company. Ask: who is the night owner of your most important service? Silence in the room is the lesson.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many students answer Application, ask: did the code change? Usually no. Then it is Technology.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Then ask three students to say one line in their own words. Close the day only after that.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early: today they will want to say 'microservices'. Tell them the word is allowed only after they can name a bounded context.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lecture all five. Spend most time on Single Responsibility and Dependency </a:t>
            </a:r>
            <a:r>
              <a:rPr lang="en-US"/>
              <a:t>Inversion  </a:t>
            </a:r>
            <a:r>
              <a:rPr lang="en-US" dirty="0"/>
              <a:t>those two carry 80 percent of the value in a legacy system.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pictures and ask: in the BEFORE picture, what must I test when the email text changes? Answer: everything, including payments. That is the cost.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do not let them redesign the company. One extraction, one named rule. If a pair extracts email first, accept it but ask which extraction reduces the most </a:t>
            </a:r>
            <a:r>
              <a:rPr lang="en-US"/>
              <a:t>risk  </a:t>
            </a:r>
            <a:r>
              <a:rPr lang="en-US" dirty="0"/>
              <a:t>the answer is payment.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ask why the base class throws an error: it is a reminder. If someone forgets to write the real bank, the system fails loudly at once instead of silently doing nothing with money.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style they have today. The common honest answer is 'all of them, by accident'. That answer is the reason this slide exists.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slide of the day. Say the two questions slowly and make the room repeat them. 'What changes together?' and 'What must ship together?'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 word that means two things in their company. 'Customer', 'account' and 'product' come up almost every time. Write their word on the board and use it instead of mine.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real bug: a shopper sees 199 SAR, pays, and is charged 249 because the price changed between the page and the payment. Tell that story.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the test is language, not technology. If a word needs a long explanation, they crossed a border. Ask each group for the word that changes </a:t>
            </a:r>
            <a:r>
              <a:rPr lang="en-US"/>
              <a:t>meaning  </a:t>
            </a:r>
            <a:r>
              <a:rPr lang="en-US" dirty="0"/>
              <a:t>usually price, customer, or order.</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word list section takes 20 minutes with the business and saves months. It is the cheapest architecture work that exists.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one that gets chosen in real companies because it matches the existing teams. Say clearly: it is the only row with no upside.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sentence twice: many processes plus one shared database equals not microservices. Write it on the board and leave it there all day.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bottom-right box and say: this box is where every successful modernisation programme starts. The top-left box is where the failed ones start.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demand the undo sentence. If a group cannot say how to reverse the slice in one sentence, the slice is not a first slice. Let the room challenge whoever picks payments first.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is now WORSE than before the split? Answers you want: network failures, harder debugging, same release speed, more infrastructure cost.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test to give them: is a human waiting for this answer right now? Yes means request. No means event. That single question resolves most design debates.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shopper's path with your finger, then trace the event path. Ask: if warehouse is offline for two hours, does the shopper notice? Answer: no, because the fact is stored in the log.</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if anyone starts building a server, stop them. The YAML is the deliverable. Check that 404 has a business meaning, not a server excuse.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worth doing live: paste the file into editor.swagger.io on the projector. Students see a working documentation page appear from nine lines. That moment sells contract-first design.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200-with-error mistake is worth ten minutes. Ask: if the API returns 200 for a failure, what does your dashboard show during an outage? A green line.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 ever been given an API with no documented timeout? Everyone raises a hand. That is why this section exists.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the outbox card. Ask: you saved the order and then your service crashed before publishing. Did the warehouse ever hear about it? That silence is a real lost order.</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that gets people fired is number 3, secrets in Git. Tell them to search their own repository for the word 'password' on Monday morning. Some of them will go quiet.</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the past tense matters. Answer: a fact cannot be refused. A command can, and then the sender must handle the </a:t>
            </a:r>
            <a:r>
              <a:rPr lang="en-US"/>
              <a:t>refusal  </a:t>
            </a:r>
            <a:r>
              <a:rPr lang="en-US" dirty="0"/>
              <a:t>which rebuilds the coupling we removed.</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line 7 and say: this one word, the key, is what prevents the warehouse from picking the same order twice. Then ask them what happens without it.</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if an event name is a command such as CreateInvoice, make them rename it to a fact. Then ask what happens if a consumer reads the same event </a:t>
            </a:r>
            <a:r>
              <a:rPr lang="en-US"/>
              <a:t>twice  </a:t>
            </a:r>
            <a:r>
              <a:rPr lang="en-US" dirty="0"/>
              <a:t>that question introduces idempotency naturally.</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does the tax rule belong? In Checkout, where it can be unit-tested and versioned. Say that putting it in the gateway makes it untestable and invisible.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many API versions they still support and how many they planned to. The gap between those two numbers is what this slide is about.</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bug has happened at large retailers and payment firms. Emphasise that the fix is one header plus a stored result, not a new framework.</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Kill-a-copy test to say aloud: if I turn off one server right now, does any shopper lose their basket? If yes, the service is not ready to scale out.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four words twice and ask the room to say them back. City, building, room, door. That is the whole vocabulary they need today.</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six they already do without knowing the name. Usually cache-aside and retry. Knowing the name is what lets them search for the failure modes.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 user message must always answer: did my money move? A message that does not answer that question creates a support call and a chargeback.</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incident order out loud: metrics tell you something is wrong, traces tell you where, logs tell you what. People try to start with logs and drown in them.</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honest sentence: moving a badly designed system onto Kubernetes gives you the same system, plus YAML, plus a bigger bill. The right column is the actual work.</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write p95 on the board and say the average is a lie. Do not let anyone add machines from a feeling. If k6 is available you can run a 30-second test live; if not, use the printed numbers.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line 2. Checking the database inside /health is one of the most common production mistakes: the database gets slow, every service reports unhealthy, the platform restarts all of them, and a small problem becomes a full outage.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reject 'show error 503' as a user message. Ask them to say the sentence a shopper reads, and make sure it states whether the card was charged.</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alerts their team gets per night and how many they act on. That ratio is the definition of alert fatigue, and it is an architecture problem.</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error budget with money language: it is a budget you may spend. When it is gone, spending continues only by breaking a promise to customers.</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reject 'the site should be fast'. Fast is not a number. The most valuable line is the stop rule, because it gives an engineer permission to say no.</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convert the percentage to hours in front of the business. 99.9 percent sounds perfect until you say 'that is 43 minutes of failed checkout every month'. That is when the business engages.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they would have measured at 20:05. Wanted answers: p95 per endpoint, database wait time, and where the session is stored.</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cloud-native mistake in real systems. If the room gets it right, tell them </a:t>
            </a:r>
            <a:r>
              <a:rPr lang="en-US"/>
              <a:t>so  </a:t>
            </a:r>
            <a:r>
              <a:rPr lang="en-US" dirty="0"/>
              <a:t>it means the code walk landed.</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comes from a fig tree that grows around another tree until the original is gone. Say that image, then say the four verbs. People remember the tree.</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is the fastest way to make the new service just as bad as the old one? Answer: import the old tables to save two weeks.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undo out loud and slowly: change one word on line two, reload the gateway, done. Then ask what the undo would look like if slice one had been payments. There is no one-line answer, and that is the lesson.
If a student asks where new_catalog and old_core come from: they are two short 'upstream' blocks higher up the same file that give a friendly name to each address. The practical guide, Day 5, has the full file. Naming them this way is what makes the undo one readable word instead of a host and a port number.</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if a group picks payments as slice one, make them defend the undo. Retire is the verb teams skip, so check that their retire line names a real route or table they will delete.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honest sentence: nobody buys AI-readiness. It is clean data ownership, clean contracts and </a:t>
            </a:r>
            <a:r>
              <a:rPr lang="en-US"/>
              <a:t>observability  </a:t>
            </a:r>
            <a:r>
              <a:rPr lang="en-US" dirty="0"/>
              <a:t>everything we did on Days 1 to 4. That reframes the whole week for them.</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feature-data box and say: this box is Days 1 and 2. If you skip that work, the model is trained on 14 meanings of customer and it will be confidently wrong.</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this exercise usually ends with the room admitting they are not </a:t>
            </a:r>
            <a:r>
              <a:rPr lang="en-US"/>
              <a:t>ready  </a:t>
            </a:r>
            <a:r>
              <a:rPr lang="en-US" dirty="0"/>
              <a:t>and that is the success condition. Push them to name ONE blocker, not five, so they leave with something actionable.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long does it take to create a new production-ready service in your company today? Answers are usually weeks. Then say: that number is your platform score.</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name one rule their team keeps breaking. That rule is their first fitness function when they return to work on Monday.</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in the practical guide, Day 5, step 32 plants the bad import in services/warehouse/stock-report.js, the test FAILS, the student switches that file to call the Catalog API, and it PASSES. Watching red turn green is what makes governance feel real instead of bureaucratic.
If a student compares this slide with the lab file: the lab version is the same idea but written to loop over EVERY service folder instead of just Warehouse, so one rule protects the whole system. Say that, do not hide it.</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they do not need a working pipeline. They need the rule, the check, the failure message, and where it runs. Insist the message is understandable by someone who did not write the test.</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scorecard to students at the start of the capstone, not at the end. People build what you measure.</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ground rule as you hand it out: no scorecard leaves this room with a person's name on it. Only the design gets scored. That sentence keeps the session safe.</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ONLY: score with the scorecard on the previous slides. Do not score confidence or slide beauty. Give each group five minutes to present and three minutes of questions.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ground rule out loud before you start: we say 'this design has a risk here', never 'you forgot'. Enforce it in the first two minutes and the rest of the session stays safe.</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write the date of week one in their calendar before they leave the room. A habit with no date does not happen.</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F1B3C"/>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9448495" y="274320"/>
            <a:ext cx="274320" cy="274320"/>
          </a:xfrm>
          <a:prstGeom prst="rect">
            <a:avLst/>
          </a:prstGeom>
          <a:ln w="12700">
            <a:solidFill>
              <a:srgbClr val="43BFB8"/>
            </a:solidFill>
            <a:prstDash val="solid"/>
          </a:ln>
        </p:spPr>
        <p:txBody>
          <a:bodyPr/>
          <a:lstStyle/>
          <a:p>
            <a:endParaRPr/>
          </a:p>
        </p:txBody>
      </p:sp>
      <p:sp>
        <p:nvSpPr>
          <p:cNvPr id="3" name="Shape 1"/>
          <p:cNvSpPr/>
          <p:nvPr/>
        </p:nvSpPr>
        <p:spPr>
          <a:xfrm>
            <a:off x="9951415" y="274320"/>
            <a:ext cx="274320" cy="274320"/>
          </a:xfrm>
          <a:prstGeom prst="ellipse">
            <a:avLst/>
          </a:prstGeom>
          <a:ln w="12700">
            <a:solidFill>
              <a:srgbClr val="43BFB8"/>
            </a:solidFill>
            <a:prstDash val="solid"/>
          </a:ln>
        </p:spPr>
        <p:txBody>
          <a:bodyPr/>
          <a:lstStyle/>
          <a:p>
            <a:endParaRPr/>
          </a:p>
        </p:txBody>
      </p:sp>
      <p:sp>
        <p:nvSpPr>
          <p:cNvPr id="4" name="Shape 2"/>
          <p:cNvSpPr/>
          <p:nvPr/>
        </p:nvSpPr>
        <p:spPr>
          <a:xfrm>
            <a:off x="10454335" y="274320"/>
            <a:ext cx="274320" cy="274320"/>
          </a:xfrm>
          <a:prstGeom prst="ellipse">
            <a:avLst/>
          </a:prstGeom>
          <a:ln w="12700">
            <a:solidFill>
              <a:srgbClr val="43BFB8"/>
            </a:solidFill>
            <a:prstDash val="solid"/>
          </a:ln>
        </p:spPr>
        <p:txBody>
          <a:bodyPr/>
          <a:lstStyle/>
          <a:p>
            <a:endParaRPr/>
          </a:p>
        </p:txBody>
      </p:sp>
      <p:sp>
        <p:nvSpPr>
          <p:cNvPr id="5" name="Shape 3"/>
          <p:cNvSpPr/>
          <p:nvPr/>
        </p:nvSpPr>
        <p:spPr>
          <a:xfrm>
            <a:off x="10957255" y="274320"/>
            <a:ext cx="274320" cy="274320"/>
          </a:xfrm>
          <a:prstGeom prst="rect">
            <a:avLst/>
          </a:prstGeom>
          <a:ln w="12700">
            <a:solidFill>
              <a:srgbClr val="43BFB8"/>
            </a:solidFill>
            <a:prstDash val="solid"/>
          </a:ln>
        </p:spPr>
        <p:txBody>
          <a:bodyPr/>
          <a:lstStyle/>
          <a:p>
            <a:endParaRPr/>
          </a:p>
        </p:txBody>
      </p:sp>
      <p:sp>
        <p:nvSpPr>
          <p:cNvPr id="6" name="Shape 4"/>
          <p:cNvSpPr/>
          <p:nvPr/>
        </p:nvSpPr>
        <p:spPr>
          <a:xfrm>
            <a:off x="9448495" y="777240"/>
            <a:ext cx="274320" cy="274320"/>
          </a:xfrm>
          <a:prstGeom prst="ellipse">
            <a:avLst/>
          </a:prstGeom>
          <a:ln w="12700">
            <a:solidFill>
              <a:srgbClr val="43BFB8"/>
            </a:solidFill>
            <a:prstDash val="solid"/>
          </a:ln>
        </p:spPr>
        <p:txBody>
          <a:bodyPr/>
          <a:lstStyle/>
          <a:p>
            <a:endParaRPr/>
          </a:p>
        </p:txBody>
      </p:sp>
      <p:sp>
        <p:nvSpPr>
          <p:cNvPr id="7" name="Shape 5"/>
          <p:cNvSpPr/>
          <p:nvPr/>
        </p:nvSpPr>
        <p:spPr>
          <a:xfrm>
            <a:off x="9951415" y="777240"/>
            <a:ext cx="274320" cy="274320"/>
          </a:xfrm>
          <a:prstGeom prst="ellipse">
            <a:avLst/>
          </a:prstGeom>
          <a:ln w="12700">
            <a:solidFill>
              <a:srgbClr val="43BFB8"/>
            </a:solidFill>
            <a:prstDash val="solid"/>
          </a:ln>
        </p:spPr>
        <p:txBody>
          <a:bodyPr/>
          <a:lstStyle/>
          <a:p>
            <a:endParaRPr/>
          </a:p>
        </p:txBody>
      </p:sp>
      <p:sp>
        <p:nvSpPr>
          <p:cNvPr id="8" name="Shape 6"/>
          <p:cNvSpPr/>
          <p:nvPr/>
        </p:nvSpPr>
        <p:spPr>
          <a:xfrm>
            <a:off x="10454335" y="777240"/>
            <a:ext cx="274320" cy="274320"/>
          </a:xfrm>
          <a:prstGeom prst="rect">
            <a:avLst/>
          </a:prstGeom>
          <a:ln w="12700">
            <a:solidFill>
              <a:srgbClr val="43BFB8"/>
            </a:solidFill>
            <a:prstDash val="solid"/>
          </a:ln>
        </p:spPr>
        <p:txBody>
          <a:bodyPr/>
          <a:lstStyle/>
          <a:p>
            <a:endParaRPr/>
          </a:p>
        </p:txBody>
      </p:sp>
      <p:sp>
        <p:nvSpPr>
          <p:cNvPr id="9" name="Shape 7"/>
          <p:cNvSpPr/>
          <p:nvPr/>
        </p:nvSpPr>
        <p:spPr>
          <a:xfrm>
            <a:off x="10957255" y="777240"/>
            <a:ext cx="274320" cy="274320"/>
          </a:xfrm>
          <a:prstGeom prst="ellipse">
            <a:avLst/>
          </a:prstGeom>
          <a:ln w="12700">
            <a:solidFill>
              <a:srgbClr val="43BFB8"/>
            </a:solidFill>
            <a:prstDash val="solid"/>
          </a:ln>
        </p:spPr>
        <p:txBody>
          <a:bodyPr/>
          <a:lstStyle/>
          <a:p>
            <a:endParaRPr/>
          </a:p>
        </p:txBody>
      </p:sp>
      <p:sp>
        <p:nvSpPr>
          <p:cNvPr id="10" name="Shape 8"/>
          <p:cNvSpPr/>
          <p:nvPr/>
        </p:nvSpPr>
        <p:spPr>
          <a:xfrm>
            <a:off x="9448495" y="1280160"/>
            <a:ext cx="274320" cy="274320"/>
          </a:xfrm>
          <a:prstGeom prst="ellipse">
            <a:avLst/>
          </a:prstGeom>
          <a:ln w="12700">
            <a:solidFill>
              <a:srgbClr val="43BFB8"/>
            </a:solidFill>
            <a:prstDash val="solid"/>
          </a:ln>
        </p:spPr>
        <p:txBody>
          <a:bodyPr/>
          <a:lstStyle/>
          <a:p>
            <a:endParaRPr/>
          </a:p>
        </p:txBody>
      </p:sp>
      <p:sp>
        <p:nvSpPr>
          <p:cNvPr id="11" name="Shape 9"/>
          <p:cNvSpPr/>
          <p:nvPr/>
        </p:nvSpPr>
        <p:spPr>
          <a:xfrm>
            <a:off x="9951415" y="1280160"/>
            <a:ext cx="274320" cy="274320"/>
          </a:xfrm>
          <a:prstGeom prst="rect">
            <a:avLst/>
          </a:prstGeom>
          <a:ln w="12700">
            <a:solidFill>
              <a:srgbClr val="43BFB8"/>
            </a:solidFill>
            <a:prstDash val="solid"/>
          </a:ln>
        </p:spPr>
        <p:txBody>
          <a:bodyPr/>
          <a:lstStyle/>
          <a:p>
            <a:endParaRPr/>
          </a:p>
        </p:txBody>
      </p:sp>
      <p:sp>
        <p:nvSpPr>
          <p:cNvPr id="12" name="Shape 10"/>
          <p:cNvSpPr/>
          <p:nvPr/>
        </p:nvSpPr>
        <p:spPr>
          <a:xfrm>
            <a:off x="10454335" y="1280160"/>
            <a:ext cx="274320" cy="274320"/>
          </a:xfrm>
          <a:prstGeom prst="ellipse">
            <a:avLst/>
          </a:prstGeom>
          <a:ln w="12700">
            <a:solidFill>
              <a:srgbClr val="43BFB8"/>
            </a:solidFill>
            <a:prstDash val="solid"/>
          </a:ln>
        </p:spPr>
        <p:txBody>
          <a:bodyPr/>
          <a:lstStyle/>
          <a:p>
            <a:endParaRPr/>
          </a:p>
        </p:txBody>
      </p:sp>
      <p:sp>
        <p:nvSpPr>
          <p:cNvPr id="13" name="Shape 11"/>
          <p:cNvSpPr/>
          <p:nvPr/>
        </p:nvSpPr>
        <p:spPr>
          <a:xfrm>
            <a:off x="10957255" y="1280160"/>
            <a:ext cx="274320" cy="274320"/>
          </a:xfrm>
          <a:prstGeom prst="ellipse">
            <a:avLst/>
          </a:prstGeom>
          <a:ln w="12700">
            <a:solidFill>
              <a:srgbClr val="43BFB8"/>
            </a:solidFill>
            <a:prstDash val="solid"/>
          </a:ln>
        </p:spPr>
        <p:txBody>
          <a:bodyPr/>
          <a:lstStyle/>
          <a:p>
            <a:endParaRPr/>
          </a:p>
        </p:txBody>
      </p:sp>
      <p:sp>
        <p:nvSpPr>
          <p:cNvPr id="14" name="Shape 12"/>
          <p:cNvSpPr/>
          <p:nvPr/>
        </p:nvSpPr>
        <p:spPr>
          <a:xfrm>
            <a:off x="9448495" y="1783080"/>
            <a:ext cx="274320" cy="274320"/>
          </a:xfrm>
          <a:prstGeom prst="rect">
            <a:avLst/>
          </a:prstGeom>
          <a:ln w="12700">
            <a:solidFill>
              <a:srgbClr val="43BFB8"/>
            </a:solidFill>
            <a:prstDash val="solid"/>
          </a:ln>
        </p:spPr>
        <p:txBody>
          <a:bodyPr/>
          <a:lstStyle/>
          <a:p>
            <a:endParaRPr/>
          </a:p>
        </p:txBody>
      </p:sp>
      <p:sp>
        <p:nvSpPr>
          <p:cNvPr id="15" name="Shape 13"/>
          <p:cNvSpPr/>
          <p:nvPr/>
        </p:nvSpPr>
        <p:spPr>
          <a:xfrm>
            <a:off x="9951415" y="1783080"/>
            <a:ext cx="274320" cy="274320"/>
          </a:xfrm>
          <a:prstGeom prst="ellipse">
            <a:avLst/>
          </a:prstGeom>
          <a:ln w="12700">
            <a:solidFill>
              <a:srgbClr val="43BFB8"/>
            </a:solidFill>
            <a:prstDash val="solid"/>
          </a:ln>
        </p:spPr>
        <p:txBody>
          <a:bodyPr/>
          <a:lstStyle/>
          <a:p>
            <a:endParaRPr/>
          </a:p>
        </p:txBody>
      </p:sp>
      <p:sp>
        <p:nvSpPr>
          <p:cNvPr id="16" name="Shape 14"/>
          <p:cNvSpPr/>
          <p:nvPr/>
        </p:nvSpPr>
        <p:spPr>
          <a:xfrm>
            <a:off x="10454335" y="1783080"/>
            <a:ext cx="274320" cy="274320"/>
          </a:xfrm>
          <a:prstGeom prst="ellipse">
            <a:avLst/>
          </a:prstGeom>
          <a:ln w="12700">
            <a:solidFill>
              <a:srgbClr val="43BFB8"/>
            </a:solidFill>
            <a:prstDash val="solid"/>
          </a:ln>
        </p:spPr>
        <p:txBody>
          <a:bodyPr/>
          <a:lstStyle/>
          <a:p>
            <a:endParaRPr/>
          </a:p>
        </p:txBody>
      </p:sp>
      <p:sp>
        <p:nvSpPr>
          <p:cNvPr id="17" name="Shape 15"/>
          <p:cNvSpPr/>
          <p:nvPr/>
        </p:nvSpPr>
        <p:spPr>
          <a:xfrm>
            <a:off x="10957255" y="1783080"/>
            <a:ext cx="274320" cy="274320"/>
          </a:xfrm>
          <a:prstGeom prst="rect">
            <a:avLst/>
          </a:prstGeom>
          <a:ln w="12700">
            <a:solidFill>
              <a:srgbClr val="43BFB8"/>
            </a:solidFill>
            <a:prstDash val="solid"/>
          </a:ln>
        </p:spPr>
        <p:txBody>
          <a:bodyPr/>
          <a:lstStyle/>
          <a:p>
            <a:endParaRPr/>
          </a:p>
        </p:txBody>
      </p:sp>
      <p:sp>
        <p:nvSpPr>
          <p:cNvPr id="18" name="Shape 16"/>
          <p:cNvSpPr/>
          <p:nvPr/>
        </p:nvSpPr>
        <p:spPr>
          <a:xfrm>
            <a:off x="9448495" y="2286000"/>
            <a:ext cx="274320" cy="274320"/>
          </a:xfrm>
          <a:prstGeom prst="ellipse">
            <a:avLst/>
          </a:prstGeom>
          <a:ln w="12700">
            <a:solidFill>
              <a:srgbClr val="43BFB8"/>
            </a:solidFill>
            <a:prstDash val="solid"/>
          </a:ln>
        </p:spPr>
        <p:txBody>
          <a:bodyPr/>
          <a:lstStyle/>
          <a:p>
            <a:endParaRPr/>
          </a:p>
        </p:txBody>
      </p:sp>
      <p:sp>
        <p:nvSpPr>
          <p:cNvPr id="19" name="Shape 17"/>
          <p:cNvSpPr/>
          <p:nvPr/>
        </p:nvSpPr>
        <p:spPr>
          <a:xfrm>
            <a:off x="9951415" y="2286000"/>
            <a:ext cx="274320" cy="274320"/>
          </a:xfrm>
          <a:prstGeom prst="ellipse">
            <a:avLst/>
          </a:prstGeom>
          <a:ln w="12700">
            <a:solidFill>
              <a:srgbClr val="43BFB8"/>
            </a:solidFill>
            <a:prstDash val="solid"/>
          </a:ln>
        </p:spPr>
        <p:txBody>
          <a:bodyPr/>
          <a:lstStyle/>
          <a:p>
            <a:endParaRPr/>
          </a:p>
        </p:txBody>
      </p:sp>
      <p:sp>
        <p:nvSpPr>
          <p:cNvPr id="20" name="Shape 18"/>
          <p:cNvSpPr/>
          <p:nvPr/>
        </p:nvSpPr>
        <p:spPr>
          <a:xfrm>
            <a:off x="10454335" y="2286000"/>
            <a:ext cx="274320" cy="274320"/>
          </a:xfrm>
          <a:prstGeom prst="rect">
            <a:avLst/>
          </a:prstGeom>
          <a:ln w="12700">
            <a:solidFill>
              <a:srgbClr val="43BFB8"/>
            </a:solidFill>
            <a:prstDash val="solid"/>
          </a:ln>
        </p:spPr>
        <p:txBody>
          <a:bodyPr/>
          <a:lstStyle/>
          <a:p>
            <a:endParaRPr/>
          </a:p>
        </p:txBody>
      </p:sp>
      <p:sp>
        <p:nvSpPr>
          <p:cNvPr id="21" name="Shape 19"/>
          <p:cNvSpPr/>
          <p:nvPr/>
        </p:nvSpPr>
        <p:spPr>
          <a:xfrm>
            <a:off x="10957255" y="2286000"/>
            <a:ext cx="274320" cy="274320"/>
          </a:xfrm>
          <a:prstGeom prst="ellipse">
            <a:avLst/>
          </a:prstGeom>
          <a:ln w="12700">
            <a:solidFill>
              <a:srgbClr val="43BFB8"/>
            </a:solidFill>
            <a:prstDash val="solid"/>
          </a:ln>
        </p:spPr>
        <p:txBody>
          <a:bodyPr/>
          <a:lstStyle/>
          <a:p>
            <a:endParaRPr/>
          </a:p>
        </p:txBody>
      </p:sp>
      <p:sp>
        <p:nvSpPr>
          <p:cNvPr id="22" name="Shape 20"/>
          <p:cNvSpPr/>
          <p:nvPr/>
        </p:nvSpPr>
        <p:spPr>
          <a:xfrm>
            <a:off x="9448495" y="2788920"/>
            <a:ext cx="274320" cy="274320"/>
          </a:xfrm>
          <a:prstGeom prst="ellipse">
            <a:avLst/>
          </a:prstGeom>
          <a:ln w="12700">
            <a:solidFill>
              <a:srgbClr val="43BFB8"/>
            </a:solidFill>
            <a:prstDash val="solid"/>
          </a:ln>
        </p:spPr>
        <p:txBody>
          <a:bodyPr/>
          <a:lstStyle/>
          <a:p>
            <a:endParaRPr/>
          </a:p>
        </p:txBody>
      </p:sp>
      <p:sp>
        <p:nvSpPr>
          <p:cNvPr id="23" name="Shape 21"/>
          <p:cNvSpPr/>
          <p:nvPr/>
        </p:nvSpPr>
        <p:spPr>
          <a:xfrm>
            <a:off x="9951415" y="2788920"/>
            <a:ext cx="274320" cy="274320"/>
          </a:xfrm>
          <a:prstGeom prst="rect">
            <a:avLst/>
          </a:prstGeom>
          <a:ln w="12700">
            <a:solidFill>
              <a:srgbClr val="43BFB8"/>
            </a:solidFill>
            <a:prstDash val="solid"/>
          </a:ln>
        </p:spPr>
        <p:txBody>
          <a:bodyPr/>
          <a:lstStyle/>
          <a:p>
            <a:endParaRPr/>
          </a:p>
        </p:txBody>
      </p:sp>
      <p:sp>
        <p:nvSpPr>
          <p:cNvPr id="24" name="Shape 22"/>
          <p:cNvSpPr/>
          <p:nvPr/>
        </p:nvSpPr>
        <p:spPr>
          <a:xfrm>
            <a:off x="10454335" y="2788920"/>
            <a:ext cx="274320" cy="274320"/>
          </a:xfrm>
          <a:prstGeom prst="ellipse">
            <a:avLst/>
          </a:prstGeom>
          <a:ln w="12700">
            <a:solidFill>
              <a:srgbClr val="43BFB8"/>
            </a:solidFill>
            <a:prstDash val="solid"/>
          </a:ln>
        </p:spPr>
        <p:txBody>
          <a:bodyPr/>
          <a:lstStyle/>
          <a:p>
            <a:endParaRPr/>
          </a:p>
        </p:txBody>
      </p:sp>
      <p:sp>
        <p:nvSpPr>
          <p:cNvPr id="25" name="Shape 23"/>
          <p:cNvSpPr/>
          <p:nvPr/>
        </p:nvSpPr>
        <p:spPr>
          <a:xfrm>
            <a:off x="10957255" y="2788920"/>
            <a:ext cx="274320" cy="274320"/>
          </a:xfrm>
          <a:prstGeom prst="ellipse">
            <a:avLst/>
          </a:prstGeom>
          <a:ln w="12700">
            <a:solidFill>
              <a:srgbClr val="43BFB8"/>
            </a:solidFill>
            <a:prstDash val="solid"/>
          </a:ln>
        </p:spPr>
        <p:txBody>
          <a:bodyPr/>
          <a:lstStyle/>
          <a:p>
            <a:endParaRPr/>
          </a:p>
        </p:txBody>
      </p:sp>
      <p:sp>
        <p:nvSpPr>
          <p:cNvPr id="26" name="Text 24"/>
          <p:cNvSpPr/>
          <p:nvPr/>
        </p:nvSpPr>
        <p:spPr>
          <a:xfrm>
            <a:off x="457200" y="320040"/>
            <a:ext cx="1280160" cy="320040"/>
          </a:xfrm>
          <a:prstGeom prst="rect">
            <a:avLst/>
          </a:prstGeom>
          <a:noFill/>
          <a:ln/>
        </p:spPr>
        <p:txBody>
          <a:bodyPr wrap="square" rtlCol="0" anchor="ctr"/>
          <a:lstStyle/>
          <a:p>
            <a:pPr marL="0" indent="0">
              <a:buNone/>
            </a:pPr>
            <a:r>
              <a:rPr lang="en-US" sz="1200" b="1" kern="0" spc="400" dirty="0">
                <a:solidFill>
                  <a:srgbClr val="FFFFFF"/>
                </a:solidFill>
                <a:latin typeface="Segoe UI" pitchFamily="34" charset="0"/>
                <a:ea typeface="Segoe UI" pitchFamily="34" charset="-122"/>
                <a:cs typeface="Segoe UI" pitchFamily="34" charset="-120"/>
              </a:rPr>
              <a:t>TAHAKOM</a:t>
            </a:r>
            <a:endParaRPr lang="en-US" sz="1200" dirty="0"/>
          </a:p>
        </p:txBody>
      </p:sp>
      <p:sp>
        <p:nvSpPr>
          <p:cNvPr id="27" name="Shape 25"/>
          <p:cNvSpPr/>
          <p:nvPr/>
        </p:nvSpPr>
        <p:spPr>
          <a:xfrm>
            <a:off x="1783080" y="274320"/>
            <a:ext cx="18288" cy="548640"/>
          </a:xfrm>
          <a:prstGeom prst="rect">
            <a:avLst/>
          </a:prstGeom>
          <a:solidFill>
            <a:srgbClr val="FFFFFF"/>
          </a:solidFill>
          <a:ln/>
        </p:spPr>
        <p:txBody>
          <a:bodyPr/>
          <a:lstStyle/>
          <a:p>
            <a:endParaRPr/>
          </a:p>
        </p:txBody>
      </p:sp>
      <p:sp>
        <p:nvSpPr>
          <p:cNvPr id="28" name="Text 26"/>
          <p:cNvSpPr/>
          <p:nvPr/>
        </p:nvSpPr>
        <p:spPr>
          <a:xfrm>
            <a:off x="1920240" y="274320"/>
            <a:ext cx="548640" cy="457200"/>
          </a:xfrm>
          <a:prstGeom prst="rect">
            <a:avLst/>
          </a:prstGeom>
          <a:noFill/>
          <a:ln/>
        </p:spPr>
        <p:txBody>
          <a:bodyPr wrap="square" rtlCol="0" anchor="ctr"/>
          <a:lstStyle/>
          <a:p>
            <a:pPr marL="0" indent="0">
              <a:buNone/>
            </a:pPr>
            <a:r>
              <a:rPr lang="en-US" sz="2200" b="1" i="1" dirty="0">
                <a:solidFill>
                  <a:srgbClr val="FFFFFF"/>
                </a:solidFill>
                <a:latin typeface="Segoe UI" pitchFamily="34" charset="0"/>
                <a:ea typeface="Segoe UI" pitchFamily="34" charset="-122"/>
                <a:cs typeface="Segoe UI" pitchFamily="34" charset="-120"/>
              </a:rPr>
              <a:t>ga</a:t>
            </a:r>
            <a:endParaRPr lang="en-US" sz="2200" dirty="0"/>
          </a:p>
        </p:txBody>
      </p:sp>
      <p:sp>
        <p:nvSpPr>
          <p:cNvPr id="29" name="Shape 27"/>
          <p:cNvSpPr/>
          <p:nvPr/>
        </p:nvSpPr>
        <p:spPr>
          <a:xfrm>
            <a:off x="2331720" y="292608"/>
            <a:ext cx="91440" cy="91440"/>
          </a:xfrm>
          <a:prstGeom prst="ellipse">
            <a:avLst/>
          </a:prstGeom>
          <a:solidFill>
            <a:srgbClr val="E76F30"/>
          </a:solidFill>
          <a:ln/>
        </p:spPr>
        <p:txBody>
          <a:bodyPr/>
          <a:lstStyle/>
          <a:p>
            <a:endParaRPr/>
          </a:p>
        </p:txBody>
      </p:sp>
      <p:sp>
        <p:nvSpPr>
          <p:cNvPr id="30" name="Text 28"/>
          <p:cNvSpPr/>
          <p:nvPr/>
        </p:nvSpPr>
        <p:spPr>
          <a:xfrm>
            <a:off x="2514600" y="256032"/>
            <a:ext cx="3657600" cy="201168"/>
          </a:xfrm>
          <a:prstGeom prst="rect">
            <a:avLst/>
          </a:prstGeom>
          <a:noFill/>
          <a:ln/>
        </p:spPr>
        <p:txBody>
          <a:bodyPr wrap="square" rtlCol="0" anchor="ctr"/>
          <a:lstStyle/>
          <a:p>
            <a:pPr marL="0" indent="0">
              <a:buNone/>
            </a:pPr>
            <a:r>
              <a:rPr lang="en-US" sz="900" b="1" kern="0" spc="150" dirty="0">
                <a:solidFill>
                  <a:srgbClr val="FFFFFF"/>
                </a:solidFill>
                <a:latin typeface="Segoe UI" pitchFamily="34" charset="0"/>
                <a:ea typeface="Segoe UI" pitchFamily="34" charset="-122"/>
                <a:cs typeface="Segoe UI" pitchFamily="34" charset="-120"/>
              </a:rPr>
              <a:t>GLOBAL INTELLIGENCE</a:t>
            </a:r>
            <a:endParaRPr lang="en-US" sz="900" dirty="0"/>
          </a:p>
        </p:txBody>
      </p:sp>
      <p:sp>
        <p:nvSpPr>
          <p:cNvPr id="31" name="Text 29"/>
          <p:cNvSpPr/>
          <p:nvPr/>
        </p:nvSpPr>
        <p:spPr>
          <a:xfrm>
            <a:off x="2514600" y="438912"/>
            <a:ext cx="3657600" cy="201168"/>
          </a:xfrm>
          <a:prstGeom prst="rect">
            <a:avLst/>
          </a:prstGeom>
          <a:noFill/>
          <a:ln/>
        </p:spPr>
        <p:txBody>
          <a:bodyPr wrap="square" rtlCol="0" anchor="ctr"/>
          <a:lstStyle/>
          <a:p>
            <a:pPr marL="0" indent="0">
              <a:buNone/>
            </a:pPr>
            <a:r>
              <a:rPr lang="en-US" sz="900" b="1" kern="0" spc="150" dirty="0">
                <a:solidFill>
                  <a:srgbClr val="FFFFFF"/>
                </a:solidFill>
                <a:latin typeface="Segoe UI" pitchFamily="34" charset="0"/>
                <a:ea typeface="Segoe UI" pitchFamily="34" charset="-122"/>
                <a:cs typeface="Segoe UI" pitchFamily="34" charset="-120"/>
              </a:rPr>
              <a:t>ASSOCIATION</a:t>
            </a:r>
            <a:endParaRPr lang="en-US" sz="900" dirty="0"/>
          </a:p>
        </p:txBody>
      </p:sp>
      <p:sp>
        <p:nvSpPr>
          <p:cNvPr id="32" name="Shape 30"/>
          <p:cNvSpPr/>
          <p:nvPr/>
        </p:nvSpPr>
        <p:spPr>
          <a:xfrm>
            <a:off x="640080" y="2880360"/>
            <a:ext cx="91440" cy="1554480"/>
          </a:xfrm>
          <a:prstGeom prst="rect">
            <a:avLst/>
          </a:prstGeom>
          <a:solidFill>
            <a:srgbClr val="43BFB8"/>
          </a:solidFill>
          <a:ln/>
        </p:spPr>
        <p:txBody>
          <a:bodyPr/>
          <a:lstStyle/>
          <a:p>
            <a:endParaRPr/>
          </a:p>
        </p:txBody>
      </p:sp>
      <p:sp>
        <p:nvSpPr>
          <p:cNvPr id="33" name="Text 31"/>
          <p:cNvSpPr/>
          <p:nvPr/>
        </p:nvSpPr>
        <p:spPr>
          <a:xfrm>
            <a:off x="868680" y="2697480"/>
            <a:ext cx="8686800" cy="1828800"/>
          </a:xfrm>
          <a:prstGeom prst="rect">
            <a:avLst/>
          </a:prstGeom>
          <a:noFill/>
          <a:ln/>
        </p:spPr>
        <p:txBody>
          <a:bodyPr wrap="square" rtlCol="0" anchor="ctr"/>
          <a:lstStyle/>
          <a:p>
            <a:pPr marL="0" indent="0" algn="l">
              <a:lnSpc>
                <a:spcPct val="105000"/>
              </a:lnSpc>
              <a:buNone/>
            </a:pPr>
            <a:r>
              <a:rPr lang="en-US" sz="3800" b="1" dirty="0">
                <a:solidFill>
                  <a:srgbClr val="FFFFFF"/>
                </a:solidFill>
                <a:latin typeface="Segoe UI" pitchFamily="34" charset="0"/>
                <a:ea typeface="Segoe UI" pitchFamily="34" charset="-122"/>
                <a:cs typeface="Segoe UI" pitchFamily="34" charset="-120"/>
              </a:rPr>
              <a:t>Software Architecture</a:t>
            </a:r>
            <a:endParaRPr lang="en-US" sz="3800" dirty="0"/>
          </a:p>
          <a:p>
            <a:pPr marL="0" indent="0" algn="l">
              <a:lnSpc>
                <a:spcPct val="105000"/>
              </a:lnSpc>
              <a:buNone/>
            </a:pPr>
            <a:r>
              <a:rPr lang="en-US" sz="3800" b="1" dirty="0">
                <a:solidFill>
                  <a:srgbClr val="FFFFFF"/>
                </a:solidFill>
                <a:latin typeface="Segoe UI" pitchFamily="34" charset="0"/>
                <a:ea typeface="Segoe UI" pitchFamily="34" charset="-122"/>
                <a:cs typeface="Segoe UI" pitchFamily="34" charset="-120"/>
              </a:rPr>
              <a:t>&amp; Solution Design</a:t>
            </a:r>
            <a:endParaRPr lang="en-US" sz="3800" dirty="0"/>
          </a:p>
        </p:txBody>
      </p:sp>
      <p:sp>
        <p:nvSpPr>
          <p:cNvPr id="34" name="Text 32"/>
          <p:cNvSpPr/>
          <p:nvPr/>
        </p:nvSpPr>
        <p:spPr>
          <a:xfrm>
            <a:off x="868680" y="4480560"/>
            <a:ext cx="8686800" cy="685800"/>
          </a:xfrm>
          <a:prstGeom prst="rect">
            <a:avLst/>
          </a:prstGeom>
          <a:noFill/>
          <a:ln/>
        </p:spPr>
        <p:txBody>
          <a:bodyPr wrap="square" rtlCol="0" anchor="ctr"/>
          <a:lstStyle/>
          <a:p>
            <a:pPr marL="0" indent="0" algn="l">
              <a:buNone/>
            </a:pPr>
            <a:r>
              <a:rPr lang="en-US" sz="1500" dirty="0">
                <a:solidFill>
                  <a:srgbClr val="43BFB8"/>
                </a:solidFill>
                <a:latin typeface="Segoe UI" pitchFamily="34" charset="0"/>
                <a:ea typeface="Segoe UI" pitchFamily="34" charset="-122"/>
                <a:cs typeface="Segoe UI" pitchFamily="34" charset="-120"/>
              </a:rPr>
              <a:t>5 days. Every topic: the idea, the goal, a picture, then we build it.</a:t>
            </a:r>
            <a:endParaRPr lang="en-US" sz="1500" dirty="0"/>
          </a:p>
        </p:txBody>
      </p:sp>
      <p:sp>
        <p:nvSpPr>
          <p:cNvPr id="35" name="Text 33"/>
          <p:cNvSpPr/>
          <p:nvPr/>
        </p:nvSpPr>
        <p:spPr>
          <a:xfrm>
            <a:off x="868680" y="5029200"/>
            <a:ext cx="8686800" cy="82296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Enterprise architecture  ·  Design patterns  ·  Integration  ·  Cloud-native  ·  Assessment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Pre-assessment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same 20 questions come back on Day 5 as the post-assessment. We compare both scores to measure growth, not to judge anyone.</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a:t>
            </a:r>
            <a:endParaRPr lang="en-US" sz="1000" dirty="0"/>
          </a:p>
        </p:txBody>
      </p:sp>
      <p:sp>
        <p:nvSpPr>
          <p:cNvPr id="34" name="Shape 32"/>
          <p:cNvSpPr/>
          <p:nvPr/>
        </p:nvSpPr>
        <p:spPr>
          <a:xfrm>
            <a:off x="3840480" y="1536192"/>
            <a:ext cx="4480560" cy="384048"/>
          </a:xfrm>
          <a:prstGeom prst="roundRect">
            <a:avLst>
              <a:gd name="adj" fmla="val 23810"/>
            </a:avLst>
          </a:prstGeom>
          <a:solidFill>
            <a:srgbClr val="5F1B3C"/>
          </a:solidFill>
          <a:ln/>
        </p:spPr>
        <p:txBody>
          <a:bodyPr/>
          <a:lstStyle/>
          <a:p>
            <a:endParaRPr/>
          </a:p>
        </p:txBody>
      </p:sp>
      <p:sp>
        <p:nvSpPr>
          <p:cNvPr id="35" name="Text 33"/>
          <p:cNvSpPr/>
          <p:nvPr/>
        </p:nvSpPr>
        <p:spPr>
          <a:xfrm>
            <a:off x="3840480" y="1536192"/>
            <a:ext cx="4480560" cy="384048"/>
          </a:xfrm>
          <a:prstGeom prst="rect">
            <a:avLst/>
          </a:prstGeom>
          <a:noFill/>
          <a:ln/>
        </p:spPr>
        <p:txBody>
          <a:bodyPr wrap="square" rtlCol="0" anchor="ctr"/>
          <a:lstStyle/>
          <a:p>
            <a:pPr marL="0" indent="0" algn="ctr">
              <a:buNone/>
            </a:pPr>
            <a:r>
              <a:rPr lang="en-US" sz="1200" b="1" kern="0" spc="300" dirty="0">
                <a:solidFill>
                  <a:srgbClr val="FFFFFF"/>
                </a:solidFill>
                <a:latin typeface="Segoe UI" pitchFamily="34" charset="0"/>
                <a:ea typeface="Segoe UI" pitchFamily="34" charset="-122"/>
                <a:cs typeface="Segoe UI" pitchFamily="34" charset="-120"/>
              </a:rPr>
              <a:t>QR CODE</a:t>
            </a:r>
            <a:endParaRPr lang="en-US" sz="1200" dirty="0"/>
          </a:p>
        </p:txBody>
      </p:sp>
      <p:sp>
        <p:nvSpPr>
          <p:cNvPr id="119" name="Shape 31"/>
          <p:cNvSpPr/>
          <p:nvPr/>
        </p:nvSpPr>
        <p:spPr>
          <a:xfrm>
            <a:off x="3474720" y="1920240"/>
            <a:ext cx="5486400" cy="4434840"/>
          </a:xfrm>
          <a:prstGeom prst="roundRect">
            <a:avLst>
              <a:gd name="adj" fmla="val 6186"/>
            </a:avLst>
          </a:prstGeom>
          <a:solidFill>
            <a:srgbClr val="FFFFFF"/>
          </a:solidFill>
          <a:ln w="25400">
            <a:solidFill>
              <a:srgbClr val="5F1B3C"/>
            </a:solidFill>
            <a:prstDash val="solid"/>
          </a:ln>
        </p:spPr>
        <p:txBody>
          <a:bodyPr/>
          <a:lstStyle/>
          <a:p>
            <a:endParaRPr dirty="0"/>
          </a:p>
        </p:txBody>
      </p:sp>
      <p:pic>
        <p:nvPicPr>
          <p:cNvPr id="33" name="Picture 32">
            <a:extLst>
              <a:ext uri="{FF2B5EF4-FFF2-40B4-BE49-F238E27FC236}">
                <a16:creationId xmlns:a16="http://schemas.microsoft.com/office/drawing/2014/main" id="{25BED144-E420-FBB2-5BB2-8C5BE288F39F}"/>
              </a:ext>
            </a:extLst>
          </p:cNvPr>
          <p:cNvPicPr>
            <a:picLocks noChangeAspect="1"/>
          </p:cNvPicPr>
          <p:nvPr/>
        </p:nvPicPr>
        <p:blipFill>
          <a:blip r:embed="rId3"/>
          <a:stretch>
            <a:fillRect/>
          </a:stretch>
        </p:blipFill>
        <p:spPr>
          <a:xfrm>
            <a:off x="4368684" y="2207791"/>
            <a:ext cx="3808961" cy="38089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Daily agenda  (same every day)</a:t>
            </a:r>
            <a:endParaRPr lang="en-US" sz="2200" dirty="0"/>
          </a:p>
        </p:txBody>
      </p:sp>
      <p:sp>
        <p:nvSpPr>
          <p:cNvPr id="26" name="Shape 24"/>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7" name="Text 25"/>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8" name="Shape 26"/>
          <p:cNvSpPr/>
          <p:nvPr/>
        </p:nvSpPr>
        <p:spPr>
          <a:xfrm>
            <a:off x="1005840" y="6455664"/>
            <a:ext cx="73152" cy="91440"/>
          </a:xfrm>
          <a:prstGeom prst="rect">
            <a:avLst/>
          </a:prstGeom>
          <a:solidFill>
            <a:srgbClr val="E76F30"/>
          </a:solidFill>
          <a:ln/>
        </p:spPr>
        <p:txBody>
          <a:bodyPr/>
          <a:lstStyle/>
          <a:p>
            <a:endParaRPr/>
          </a:p>
        </p:txBody>
      </p:sp>
      <p:sp>
        <p:nvSpPr>
          <p:cNvPr id="29" name="Shape 27"/>
          <p:cNvSpPr/>
          <p:nvPr/>
        </p:nvSpPr>
        <p:spPr>
          <a:xfrm>
            <a:off x="1097280" y="6455664"/>
            <a:ext cx="128016" cy="91440"/>
          </a:xfrm>
          <a:prstGeom prst="rect">
            <a:avLst/>
          </a:prstGeom>
          <a:solidFill>
            <a:srgbClr val="5F1B3C"/>
          </a:solidFill>
          <a:ln/>
        </p:spPr>
        <p:txBody>
          <a:bodyPr/>
          <a:lstStyle/>
          <a:p>
            <a:endParaRPr/>
          </a:p>
        </p:txBody>
      </p:sp>
      <p:sp>
        <p:nvSpPr>
          <p:cNvPr id="30" name="Text 28"/>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1" name="Text 29"/>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a:t>
            </a:r>
            <a:endParaRPr lang="en-US" sz="1000" dirty="0"/>
          </a:p>
        </p:txBody>
      </p:sp>
      <p:sp>
        <p:nvSpPr>
          <p:cNvPr id="32" name="Shape 30"/>
          <p:cNvSpPr/>
          <p:nvPr/>
        </p:nvSpPr>
        <p:spPr>
          <a:xfrm>
            <a:off x="838048" y="1417320"/>
            <a:ext cx="10515600" cy="502920"/>
          </a:xfrm>
          <a:prstGeom prst="rect">
            <a:avLst/>
          </a:prstGeom>
          <a:solidFill>
            <a:srgbClr val="FFFFFF"/>
          </a:solidFill>
          <a:ln w="19050">
            <a:solidFill>
              <a:srgbClr val="5F1B3C"/>
            </a:solidFill>
            <a:prstDash val="solid"/>
          </a:ln>
        </p:spPr>
        <p:txBody>
          <a:bodyPr/>
          <a:lstStyle/>
          <a:p>
            <a:endParaRPr/>
          </a:p>
        </p:txBody>
      </p:sp>
      <p:sp>
        <p:nvSpPr>
          <p:cNvPr id="33" name="Shape 31"/>
          <p:cNvSpPr/>
          <p:nvPr/>
        </p:nvSpPr>
        <p:spPr>
          <a:xfrm>
            <a:off x="838048" y="1417320"/>
            <a:ext cx="4114800" cy="502920"/>
          </a:xfrm>
          <a:prstGeom prst="rect">
            <a:avLst/>
          </a:prstGeom>
          <a:ln w="19050">
            <a:solidFill>
              <a:srgbClr val="5F1B3C"/>
            </a:solidFill>
            <a:prstDash val="solid"/>
          </a:ln>
        </p:spPr>
        <p:txBody>
          <a:bodyPr/>
          <a:lstStyle/>
          <a:p>
            <a:endParaRPr/>
          </a:p>
        </p:txBody>
      </p:sp>
      <p:sp>
        <p:nvSpPr>
          <p:cNvPr id="34" name="Text 32"/>
          <p:cNvSpPr/>
          <p:nvPr/>
        </p:nvSpPr>
        <p:spPr>
          <a:xfrm>
            <a:off x="838048" y="1417320"/>
            <a:ext cx="4114800" cy="502920"/>
          </a:xfrm>
          <a:prstGeom prst="rect">
            <a:avLst/>
          </a:prstGeom>
          <a:noFill/>
          <a:ln/>
        </p:spPr>
        <p:txBody>
          <a:bodyPr wrap="square" rtlCol="0" anchor="ctr"/>
          <a:lstStyle/>
          <a:p>
            <a:pPr marL="0" indent="0" algn="ctr">
              <a:buNone/>
            </a:pPr>
            <a:r>
              <a:rPr lang="en-US" sz="1800" b="1" kern="0" spc="300" dirty="0">
                <a:solidFill>
                  <a:srgbClr val="5F1B3C"/>
                </a:solidFill>
                <a:latin typeface="Segoe UI" pitchFamily="34" charset="0"/>
                <a:ea typeface="Segoe UI" pitchFamily="34" charset="-122"/>
                <a:cs typeface="Segoe UI" pitchFamily="34" charset="-120"/>
              </a:rPr>
              <a:t>Description</a:t>
            </a:r>
            <a:endParaRPr lang="en-US" sz="1800" dirty="0"/>
          </a:p>
        </p:txBody>
      </p:sp>
      <p:sp>
        <p:nvSpPr>
          <p:cNvPr id="35" name="Shape 33"/>
          <p:cNvSpPr/>
          <p:nvPr/>
        </p:nvSpPr>
        <p:spPr>
          <a:xfrm>
            <a:off x="4952848" y="1417320"/>
            <a:ext cx="3200400" cy="502920"/>
          </a:xfrm>
          <a:prstGeom prst="rect">
            <a:avLst/>
          </a:prstGeom>
          <a:ln w="19050">
            <a:solidFill>
              <a:srgbClr val="5F1B3C"/>
            </a:solidFill>
            <a:prstDash val="solid"/>
          </a:ln>
        </p:spPr>
        <p:txBody>
          <a:bodyPr/>
          <a:lstStyle/>
          <a:p>
            <a:endParaRPr/>
          </a:p>
        </p:txBody>
      </p:sp>
      <p:sp>
        <p:nvSpPr>
          <p:cNvPr id="36" name="Text 34"/>
          <p:cNvSpPr/>
          <p:nvPr/>
        </p:nvSpPr>
        <p:spPr>
          <a:xfrm>
            <a:off x="4952848" y="1417320"/>
            <a:ext cx="3200400" cy="502920"/>
          </a:xfrm>
          <a:prstGeom prst="rect">
            <a:avLst/>
          </a:prstGeom>
          <a:noFill/>
          <a:ln/>
        </p:spPr>
        <p:txBody>
          <a:bodyPr wrap="square" rtlCol="0" anchor="ctr"/>
          <a:lstStyle/>
          <a:p>
            <a:pPr marL="0" indent="0" algn="ctr">
              <a:buNone/>
            </a:pPr>
            <a:r>
              <a:rPr lang="en-US" sz="1800" b="1" kern="0" spc="300" dirty="0">
                <a:solidFill>
                  <a:srgbClr val="5F1B3C"/>
                </a:solidFill>
                <a:latin typeface="Segoe UI" pitchFamily="34" charset="0"/>
                <a:ea typeface="Segoe UI" pitchFamily="34" charset="-122"/>
                <a:cs typeface="Segoe UI" pitchFamily="34" charset="-120"/>
              </a:rPr>
              <a:t>From</a:t>
            </a:r>
            <a:endParaRPr lang="en-US" sz="1800" dirty="0"/>
          </a:p>
        </p:txBody>
      </p:sp>
      <p:sp>
        <p:nvSpPr>
          <p:cNvPr id="37" name="Shape 35"/>
          <p:cNvSpPr/>
          <p:nvPr/>
        </p:nvSpPr>
        <p:spPr>
          <a:xfrm>
            <a:off x="8153248" y="1417320"/>
            <a:ext cx="3200400" cy="502920"/>
          </a:xfrm>
          <a:prstGeom prst="rect">
            <a:avLst/>
          </a:prstGeom>
          <a:ln w="19050">
            <a:solidFill>
              <a:srgbClr val="5F1B3C"/>
            </a:solidFill>
            <a:prstDash val="solid"/>
          </a:ln>
        </p:spPr>
        <p:txBody>
          <a:bodyPr/>
          <a:lstStyle/>
          <a:p>
            <a:endParaRPr/>
          </a:p>
        </p:txBody>
      </p:sp>
      <p:sp>
        <p:nvSpPr>
          <p:cNvPr id="38" name="Text 36"/>
          <p:cNvSpPr/>
          <p:nvPr/>
        </p:nvSpPr>
        <p:spPr>
          <a:xfrm>
            <a:off x="8153248" y="1417320"/>
            <a:ext cx="3200400" cy="502920"/>
          </a:xfrm>
          <a:prstGeom prst="rect">
            <a:avLst/>
          </a:prstGeom>
          <a:noFill/>
          <a:ln/>
        </p:spPr>
        <p:txBody>
          <a:bodyPr wrap="square" rtlCol="0" anchor="ctr"/>
          <a:lstStyle/>
          <a:p>
            <a:pPr marL="0" indent="0" algn="ctr">
              <a:buNone/>
            </a:pPr>
            <a:r>
              <a:rPr lang="en-US" sz="1800" b="1" kern="0" spc="300" dirty="0">
                <a:solidFill>
                  <a:srgbClr val="5F1B3C"/>
                </a:solidFill>
                <a:latin typeface="Segoe UI" pitchFamily="34" charset="0"/>
                <a:ea typeface="Segoe UI" pitchFamily="34" charset="-122"/>
                <a:cs typeface="Segoe UI" pitchFamily="34" charset="-120"/>
              </a:rPr>
              <a:t>To</a:t>
            </a:r>
            <a:endParaRPr lang="en-US" sz="1800" dirty="0"/>
          </a:p>
        </p:txBody>
      </p:sp>
      <p:sp>
        <p:nvSpPr>
          <p:cNvPr id="39" name="Shape 37"/>
          <p:cNvSpPr/>
          <p:nvPr/>
        </p:nvSpPr>
        <p:spPr>
          <a:xfrm>
            <a:off x="838048" y="1920240"/>
            <a:ext cx="4114800" cy="438912"/>
          </a:xfrm>
          <a:prstGeom prst="rect">
            <a:avLst/>
          </a:prstGeom>
          <a:solidFill>
            <a:srgbClr val="FFFFFF"/>
          </a:solidFill>
          <a:ln w="9525">
            <a:solidFill>
              <a:srgbClr val="43BFB8"/>
            </a:solidFill>
            <a:prstDash val="solid"/>
          </a:ln>
        </p:spPr>
        <p:txBody>
          <a:bodyPr/>
          <a:lstStyle/>
          <a:p>
            <a:endParaRPr/>
          </a:p>
        </p:txBody>
      </p:sp>
      <p:sp>
        <p:nvSpPr>
          <p:cNvPr id="40" name="Text 38"/>
          <p:cNvSpPr/>
          <p:nvPr/>
        </p:nvSpPr>
        <p:spPr>
          <a:xfrm>
            <a:off x="838048" y="1920240"/>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Opening and questions from yesterday</a:t>
            </a:r>
            <a:endParaRPr lang="en-US" sz="1300" dirty="0"/>
          </a:p>
        </p:txBody>
      </p:sp>
      <p:sp>
        <p:nvSpPr>
          <p:cNvPr id="41" name="Shape 39"/>
          <p:cNvSpPr/>
          <p:nvPr/>
        </p:nvSpPr>
        <p:spPr>
          <a:xfrm>
            <a:off x="4952848" y="1920240"/>
            <a:ext cx="3200400" cy="438912"/>
          </a:xfrm>
          <a:prstGeom prst="rect">
            <a:avLst/>
          </a:prstGeom>
          <a:solidFill>
            <a:srgbClr val="FFFFFF"/>
          </a:solidFill>
          <a:ln w="9525">
            <a:solidFill>
              <a:srgbClr val="43BFB8"/>
            </a:solidFill>
            <a:prstDash val="solid"/>
          </a:ln>
        </p:spPr>
        <p:txBody>
          <a:bodyPr/>
          <a:lstStyle/>
          <a:p>
            <a:endParaRPr/>
          </a:p>
        </p:txBody>
      </p:sp>
      <p:sp>
        <p:nvSpPr>
          <p:cNvPr id="42" name="Text 40"/>
          <p:cNvSpPr/>
          <p:nvPr/>
        </p:nvSpPr>
        <p:spPr>
          <a:xfrm>
            <a:off x="4952848" y="1920240"/>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08:00</a:t>
            </a:r>
            <a:endParaRPr lang="en-US" sz="1300" dirty="0"/>
          </a:p>
        </p:txBody>
      </p:sp>
      <p:sp>
        <p:nvSpPr>
          <p:cNvPr id="43" name="Shape 41"/>
          <p:cNvSpPr/>
          <p:nvPr/>
        </p:nvSpPr>
        <p:spPr>
          <a:xfrm>
            <a:off x="8153248" y="1920240"/>
            <a:ext cx="3200400" cy="438912"/>
          </a:xfrm>
          <a:prstGeom prst="rect">
            <a:avLst/>
          </a:prstGeom>
          <a:solidFill>
            <a:srgbClr val="FFFFFF"/>
          </a:solidFill>
          <a:ln w="9525">
            <a:solidFill>
              <a:srgbClr val="43BFB8"/>
            </a:solidFill>
            <a:prstDash val="solid"/>
          </a:ln>
        </p:spPr>
        <p:txBody>
          <a:bodyPr/>
          <a:lstStyle/>
          <a:p>
            <a:endParaRPr/>
          </a:p>
        </p:txBody>
      </p:sp>
      <p:sp>
        <p:nvSpPr>
          <p:cNvPr id="44" name="Text 42"/>
          <p:cNvSpPr/>
          <p:nvPr/>
        </p:nvSpPr>
        <p:spPr>
          <a:xfrm>
            <a:off x="8153248" y="1920240"/>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08:20</a:t>
            </a:r>
            <a:endParaRPr lang="en-US" sz="1300" dirty="0"/>
          </a:p>
        </p:txBody>
      </p:sp>
      <p:sp>
        <p:nvSpPr>
          <p:cNvPr id="45" name="Shape 43"/>
          <p:cNvSpPr/>
          <p:nvPr/>
        </p:nvSpPr>
        <p:spPr>
          <a:xfrm>
            <a:off x="838048" y="2359152"/>
            <a:ext cx="4114800" cy="438912"/>
          </a:xfrm>
          <a:prstGeom prst="rect">
            <a:avLst/>
          </a:prstGeom>
          <a:solidFill>
            <a:srgbClr val="FFFFFF"/>
          </a:solidFill>
          <a:ln w="9525">
            <a:solidFill>
              <a:srgbClr val="43BFB8"/>
            </a:solidFill>
            <a:prstDash val="solid"/>
          </a:ln>
        </p:spPr>
        <p:txBody>
          <a:bodyPr/>
          <a:lstStyle/>
          <a:p>
            <a:endParaRPr/>
          </a:p>
        </p:txBody>
      </p:sp>
      <p:sp>
        <p:nvSpPr>
          <p:cNvPr id="46" name="Text 44"/>
          <p:cNvSpPr/>
          <p:nvPr/>
        </p:nvSpPr>
        <p:spPr>
          <a:xfrm>
            <a:off x="838048" y="2359152"/>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Session 1  the idea and the goal</a:t>
            </a:r>
            <a:endParaRPr lang="en-US" sz="1300" dirty="0"/>
          </a:p>
        </p:txBody>
      </p:sp>
      <p:sp>
        <p:nvSpPr>
          <p:cNvPr id="47" name="Shape 45"/>
          <p:cNvSpPr/>
          <p:nvPr/>
        </p:nvSpPr>
        <p:spPr>
          <a:xfrm>
            <a:off x="4952848" y="2359152"/>
            <a:ext cx="3200400" cy="438912"/>
          </a:xfrm>
          <a:prstGeom prst="rect">
            <a:avLst/>
          </a:prstGeom>
          <a:solidFill>
            <a:srgbClr val="FFFFFF"/>
          </a:solidFill>
          <a:ln w="9525">
            <a:solidFill>
              <a:srgbClr val="43BFB8"/>
            </a:solidFill>
            <a:prstDash val="solid"/>
          </a:ln>
        </p:spPr>
        <p:txBody>
          <a:bodyPr/>
          <a:lstStyle/>
          <a:p>
            <a:endParaRPr/>
          </a:p>
        </p:txBody>
      </p:sp>
      <p:sp>
        <p:nvSpPr>
          <p:cNvPr id="48" name="Text 46"/>
          <p:cNvSpPr/>
          <p:nvPr/>
        </p:nvSpPr>
        <p:spPr>
          <a:xfrm>
            <a:off x="4952848" y="2359152"/>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08:20</a:t>
            </a:r>
            <a:endParaRPr lang="en-US" sz="1300" dirty="0"/>
          </a:p>
        </p:txBody>
      </p:sp>
      <p:sp>
        <p:nvSpPr>
          <p:cNvPr id="49" name="Shape 47"/>
          <p:cNvSpPr/>
          <p:nvPr/>
        </p:nvSpPr>
        <p:spPr>
          <a:xfrm>
            <a:off x="8153248" y="2359152"/>
            <a:ext cx="3200400" cy="438912"/>
          </a:xfrm>
          <a:prstGeom prst="rect">
            <a:avLst/>
          </a:prstGeom>
          <a:solidFill>
            <a:srgbClr val="FFFFFF"/>
          </a:solidFill>
          <a:ln w="9525">
            <a:solidFill>
              <a:srgbClr val="43BFB8"/>
            </a:solidFill>
            <a:prstDash val="solid"/>
          </a:ln>
        </p:spPr>
        <p:txBody>
          <a:bodyPr/>
          <a:lstStyle/>
          <a:p>
            <a:endParaRPr/>
          </a:p>
        </p:txBody>
      </p:sp>
      <p:sp>
        <p:nvSpPr>
          <p:cNvPr id="50" name="Text 48"/>
          <p:cNvSpPr/>
          <p:nvPr/>
        </p:nvSpPr>
        <p:spPr>
          <a:xfrm>
            <a:off x="8153248" y="2359152"/>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10:00</a:t>
            </a:r>
            <a:endParaRPr lang="en-US" sz="1300" dirty="0"/>
          </a:p>
        </p:txBody>
      </p:sp>
      <p:sp>
        <p:nvSpPr>
          <p:cNvPr id="51" name="Shape 49"/>
          <p:cNvSpPr/>
          <p:nvPr/>
        </p:nvSpPr>
        <p:spPr>
          <a:xfrm>
            <a:off x="838048" y="2798064"/>
            <a:ext cx="4114800" cy="438912"/>
          </a:xfrm>
          <a:prstGeom prst="rect">
            <a:avLst/>
          </a:prstGeom>
          <a:solidFill>
            <a:srgbClr val="FFFFFF"/>
          </a:solidFill>
          <a:ln w="9525">
            <a:solidFill>
              <a:srgbClr val="43BFB8"/>
            </a:solidFill>
            <a:prstDash val="solid"/>
          </a:ln>
        </p:spPr>
        <p:txBody>
          <a:bodyPr/>
          <a:lstStyle/>
          <a:p>
            <a:endParaRPr/>
          </a:p>
        </p:txBody>
      </p:sp>
      <p:sp>
        <p:nvSpPr>
          <p:cNvPr id="52" name="Text 50"/>
          <p:cNvSpPr/>
          <p:nvPr/>
        </p:nvSpPr>
        <p:spPr>
          <a:xfrm>
            <a:off x="838048" y="2798064"/>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Break</a:t>
            </a:r>
            <a:endParaRPr lang="en-US" sz="1300" dirty="0"/>
          </a:p>
        </p:txBody>
      </p:sp>
      <p:sp>
        <p:nvSpPr>
          <p:cNvPr id="53" name="Shape 51"/>
          <p:cNvSpPr/>
          <p:nvPr/>
        </p:nvSpPr>
        <p:spPr>
          <a:xfrm>
            <a:off x="4952848" y="2798064"/>
            <a:ext cx="3200400" cy="438912"/>
          </a:xfrm>
          <a:prstGeom prst="rect">
            <a:avLst/>
          </a:prstGeom>
          <a:solidFill>
            <a:srgbClr val="FFFFFF"/>
          </a:solidFill>
          <a:ln w="9525">
            <a:solidFill>
              <a:srgbClr val="43BFB8"/>
            </a:solidFill>
            <a:prstDash val="solid"/>
          </a:ln>
        </p:spPr>
        <p:txBody>
          <a:bodyPr/>
          <a:lstStyle/>
          <a:p>
            <a:endParaRPr/>
          </a:p>
        </p:txBody>
      </p:sp>
      <p:sp>
        <p:nvSpPr>
          <p:cNvPr id="54" name="Text 52"/>
          <p:cNvSpPr/>
          <p:nvPr/>
        </p:nvSpPr>
        <p:spPr>
          <a:xfrm>
            <a:off x="4952848" y="2798064"/>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10:00</a:t>
            </a:r>
            <a:endParaRPr lang="en-US" sz="1300" dirty="0"/>
          </a:p>
        </p:txBody>
      </p:sp>
      <p:sp>
        <p:nvSpPr>
          <p:cNvPr id="55" name="Shape 53"/>
          <p:cNvSpPr/>
          <p:nvPr/>
        </p:nvSpPr>
        <p:spPr>
          <a:xfrm>
            <a:off x="8153248" y="2798064"/>
            <a:ext cx="3200400" cy="438912"/>
          </a:xfrm>
          <a:prstGeom prst="rect">
            <a:avLst/>
          </a:prstGeom>
          <a:solidFill>
            <a:srgbClr val="FFFFFF"/>
          </a:solidFill>
          <a:ln w="9525">
            <a:solidFill>
              <a:srgbClr val="43BFB8"/>
            </a:solidFill>
            <a:prstDash val="solid"/>
          </a:ln>
        </p:spPr>
        <p:txBody>
          <a:bodyPr/>
          <a:lstStyle/>
          <a:p>
            <a:endParaRPr/>
          </a:p>
        </p:txBody>
      </p:sp>
      <p:sp>
        <p:nvSpPr>
          <p:cNvPr id="56" name="Text 54"/>
          <p:cNvSpPr/>
          <p:nvPr/>
        </p:nvSpPr>
        <p:spPr>
          <a:xfrm>
            <a:off x="8153248" y="2798064"/>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10:15</a:t>
            </a:r>
            <a:endParaRPr lang="en-US" sz="1300" dirty="0"/>
          </a:p>
        </p:txBody>
      </p:sp>
      <p:sp>
        <p:nvSpPr>
          <p:cNvPr id="57" name="Shape 55"/>
          <p:cNvSpPr/>
          <p:nvPr/>
        </p:nvSpPr>
        <p:spPr>
          <a:xfrm>
            <a:off x="838048" y="3236976"/>
            <a:ext cx="4114800" cy="438912"/>
          </a:xfrm>
          <a:prstGeom prst="rect">
            <a:avLst/>
          </a:prstGeom>
          <a:solidFill>
            <a:srgbClr val="FFFFFF"/>
          </a:solidFill>
          <a:ln w="9525">
            <a:solidFill>
              <a:srgbClr val="43BFB8"/>
            </a:solidFill>
            <a:prstDash val="solid"/>
          </a:ln>
        </p:spPr>
        <p:txBody>
          <a:bodyPr/>
          <a:lstStyle/>
          <a:p>
            <a:endParaRPr/>
          </a:p>
        </p:txBody>
      </p:sp>
      <p:sp>
        <p:nvSpPr>
          <p:cNvPr id="58" name="Text 56"/>
          <p:cNvSpPr/>
          <p:nvPr/>
        </p:nvSpPr>
        <p:spPr>
          <a:xfrm>
            <a:off x="838048" y="3236976"/>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Session 2  the picture, then we build it</a:t>
            </a:r>
            <a:endParaRPr lang="en-US" sz="1300" dirty="0"/>
          </a:p>
        </p:txBody>
      </p:sp>
      <p:sp>
        <p:nvSpPr>
          <p:cNvPr id="59" name="Shape 57"/>
          <p:cNvSpPr/>
          <p:nvPr/>
        </p:nvSpPr>
        <p:spPr>
          <a:xfrm>
            <a:off x="4952848" y="3236976"/>
            <a:ext cx="3200400" cy="438912"/>
          </a:xfrm>
          <a:prstGeom prst="rect">
            <a:avLst/>
          </a:prstGeom>
          <a:solidFill>
            <a:srgbClr val="FFFFFF"/>
          </a:solidFill>
          <a:ln w="9525">
            <a:solidFill>
              <a:srgbClr val="43BFB8"/>
            </a:solidFill>
            <a:prstDash val="solid"/>
          </a:ln>
        </p:spPr>
        <p:txBody>
          <a:bodyPr/>
          <a:lstStyle/>
          <a:p>
            <a:endParaRPr/>
          </a:p>
        </p:txBody>
      </p:sp>
      <p:sp>
        <p:nvSpPr>
          <p:cNvPr id="60" name="Text 58"/>
          <p:cNvSpPr/>
          <p:nvPr/>
        </p:nvSpPr>
        <p:spPr>
          <a:xfrm>
            <a:off x="4952848" y="3236976"/>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10:15</a:t>
            </a:r>
            <a:endParaRPr lang="en-US" sz="1300" dirty="0"/>
          </a:p>
        </p:txBody>
      </p:sp>
      <p:sp>
        <p:nvSpPr>
          <p:cNvPr id="61" name="Shape 59"/>
          <p:cNvSpPr/>
          <p:nvPr/>
        </p:nvSpPr>
        <p:spPr>
          <a:xfrm>
            <a:off x="8153248" y="3236976"/>
            <a:ext cx="3200400" cy="438912"/>
          </a:xfrm>
          <a:prstGeom prst="rect">
            <a:avLst/>
          </a:prstGeom>
          <a:solidFill>
            <a:srgbClr val="FFFFFF"/>
          </a:solidFill>
          <a:ln w="9525">
            <a:solidFill>
              <a:srgbClr val="43BFB8"/>
            </a:solidFill>
            <a:prstDash val="solid"/>
          </a:ln>
        </p:spPr>
        <p:txBody>
          <a:bodyPr/>
          <a:lstStyle/>
          <a:p>
            <a:endParaRPr/>
          </a:p>
        </p:txBody>
      </p:sp>
      <p:sp>
        <p:nvSpPr>
          <p:cNvPr id="62" name="Text 60"/>
          <p:cNvSpPr/>
          <p:nvPr/>
        </p:nvSpPr>
        <p:spPr>
          <a:xfrm>
            <a:off x="8153248" y="3236976"/>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12:00</a:t>
            </a:r>
            <a:endParaRPr lang="en-US" sz="1300" dirty="0"/>
          </a:p>
        </p:txBody>
      </p:sp>
      <p:sp>
        <p:nvSpPr>
          <p:cNvPr id="63" name="Shape 61"/>
          <p:cNvSpPr/>
          <p:nvPr/>
        </p:nvSpPr>
        <p:spPr>
          <a:xfrm>
            <a:off x="838048" y="3675888"/>
            <a:ext cx="4114800" cy="438912"/>
          </a:xfrm>
          <a:prstGeom prst="rect">
            <a:avLst/>
          </a:prstGeom>
          <a:solidFill>
            <a:srgbClr val="FFFFFF"/>
          </a:solidFill>
          <a:ln w="9525">
            <a:solidFill>
              <a:srgbClr val="43BFB8"/>
            </a:solidFill>
            <a:prstDash val="solid"/>
          </a:ln>
        </p:spPr>
        <p:txBody>
          <a:bodyPr/>
          <a:lstStyle/>
          <a:p>
            <a:endParaRPr/>
          </a:p>
        </p:txBody>
      </p:sp>
      <p:sp>
        <p:nvSpPr>
          <p:cNvPr id="64" name="Text 62"/>
          <p:cNvSpPr/>
          <p:nvPr/>
        </p:nvSpPr>
        <p:spPr>
          <a:xfrm>
            <a:off x="838048" y="3675888"/>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Prayer break</a:t>
            </a:r>
            <a:endParaRPr lang="en-US" sz="1300" dirty="0"/>
          </a:p>
        </p:txBody>
      </p:sp>
      <p:sp>
        <p:nvSpPr>
          <p:cNvPr id="65" name="Shape 63"/>
          <p:cNvSpPr/>
          <p:nvPr/>
        </p:nvSpPr>
        <p:spPr>
          <a:xfrm>
            <a:off x="4952848" y="3675888"/>
            <a:ext cx="3200400" cy="438912"/>
          </a:xfrm>
          <a:prstGeom prst="rect">
            <a:avLst/>
          </a:prstGeom>
          <a:solidFill>
            <a:srgbClr val="FFFFFF"/>
          </a:solidFill>
          <a:ln w="9525">
            <a:solidFill>
              <a:srgbClr val="43BFB8"/>
            </a:solidFill>
            <a:prstDash val="solid"/>
          </a:ln>
        </p:spPr>
        <p:txBody>
          <a:bodyPr/>
          <a:lstStyle/>
          <a:p>
            <a:endParaRPr/>
          </a:p>
        </p:txBody>
      </p:sp>
      <p:sp>
        <p:nvSpPr>
          <p:cNvPr id="66" name="Text 64"/>
          <p:cNvSpPr/>
          <p:nvPr/>
        </p:nvSpPr>
        <p:spPr>
          <a:xfrm>
            <a:off x="4952848" y="3675888"/>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12:00</a:t>
            </a:r>
            <a:endParaRPr lang="en-US" sz="1300" dirty="0"/>
          </a:p>
        </p:txBody>
      </p:sp>
      <p:sp>
        <p:nvSpPr>
          <p:cNvPr id="67" name="Shape 65"/>
          <p:cNvSpPr/>
          <p:nvPr/>
        </p:nvSpPr>
        <p:spPr>
          <a:xfrm>
            <a:off x="8153248" y="3675888"/>
            <a:ext cx="3200400" cy="438912"/>
          </a:xfrm>
          <a:prstGeom prst="rect">
            <a:avLst/>
          </a:prstGeom>
          <a:solidFill>
            <a:srgbClr val="FFFFFF"/>
          </a:solidFill>
          <a:ln w="9525">
            <a:solidFill>
              <a:srgbClr val="43BFB8"/>
            </a:solidFill>
            <a:prstDash val="solid"/>
          </a:ln>
        </p:spPr>
        <p:txBody>
          <a:bodyPr/>
          <a:lstStyle/>
          <a:p>
            <a:endParaRPr/>
          </a:p>
        </p:txBody>
      </p:sp>
      <p:sp>
        <p:nvSpPr>
          <p:cNvPr id="68" name="Text 66"/>
          <p:cNvSpPr/>
          <p:nvPr/>
        </p:nvSpPr>
        <p:spPr>
          <a:xfrm>
            <a:off x="8153248" y="3675888"/>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12:30</a:t>
            </a:r>
            <a:endParaRPr lang="en-US" sz="1300" dirty="0"/>
          </a:p>
        </p:txBody>
      </p:sp>
      <p:sp>
        <p:nvSpPr>
          <p:cNvPr id="69" name="Shape 67"/>
          <p:cNvSpPr/>
          <p:nvPr/>
        </p:nvSpPr>
        <p:spPr>
          <a:xfrm>
            <a:off x="838048" y="4114800"/>
            <a:ext cx="4114800" cy="438912"/>
          </a:xfrm>
          <a:prstGeom prst="rect">
            <a:avLst/>
          </a:prstGeom>
          <a:solidFill>
            <a:srgbClr val="FFFFFF"/>
          </a:solidFill>
          <a:ln w="9525">
            <a:solidFill>
              <a:srgbClr val="43BFB8"/>
            </a:solidFill>
            <a:prstDash val="solid"/>
          </a:ln>
        </p:spPr>
        <p:txBody>
          <a:bodyPr/>
          <a:lstStyle/>
          <a:p>
            <a:endParaRPr/>
          </a:p>
        </p:txBody>
      </p:sp>
      <p:sp>
        <p:nvSpPr>
          <p:cNvPr id="70" name="Text 68"/>
          <p:cNvSpPr/>
          <p:nvPr/>
        </p:nvSpPr>
        <p:spPr>
          <a:xfrm>
            <a:off x="838048" y="4114800"/>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Session 3  real case and best practices</a:t>
            </a:r>
            <a:endParaRPr lang="en-US" sz="1300" dirty="0"/>
          </a:p>
        </p:txBody>
      </p:sp>
      <p:sp>
        <p:nvSpPr>
          <p:cNvPr id="71" name="Shape 69"/>
          <p:cNvSpPr/>
          <p:nvPr/>
        </p:nvSpPr>
        <p:spPr>
          <a:xfrm>
            <a:off x="4952848" y="4114800"/>
            <a:ext cx="3200400" cy="438912"/>
          </a:xfrm>
          <a:prstGeom prst="rect">
            <a:avLst/>
          </a:prstGeom>
          <a:solidFill>
            <a:srgbClr val="FFFFFF"/>
          </a:solidFill>
          <a:ln w="9525">
            <a:solidFill>
              <a:srgbClr val="43BFB8"/>
            </a:solidFill>
            <a:prstDash val="solid"/>
          </a:ln>
        </p:spPr>
        <p:txBody>
          <a:bodyPr/>
          <a:lstStyle/>
          <a:p>
            <a:endParaRPr/>
          </a:p>
        </p:txBody>
      </p:sp>
      <p:sp>
        <p:nvSpPr>
          <p:cNvPr id="72" name="Text 70"/>
          <p:cNvSpPr/>
          <p:nvPr/>
        </p:nvSpPr>
        <p:spPr>
          <a:xfrm>
            <a:off x="4952848" y="4114800"/>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12:30</a:t>
            </a:r>
            <a:endParaRPr lang="en-US" sz="1300" dirty="0"/>
          </a:p>
        </p:txBody>
      </p:sp>
      <p:sp>
        <p:nvSpPr>
          <p:cNvPr id="73" name="Shape 71"/>
          <p:cNvSpPr/>
          <p:nvPr/>
        </p:nvSpPr>
        <p:spPr>
          <a:xfrm>
            <a:off x="8153248" y="4114800"/>
            <a:ext cx="3200400" cy="438912"/>
          </a:xfrm>
          <a:prstGeom prst="rect">
            <a:avLst/>
          </a:prstGeom>
          <a:solidFill>
            <a:srgbClr val="FFFFFF"/>
          </a:solidFill>
          <a:ln w="9525">
            <a:solidFill>
              <a:srgbClr val="43BFB8"/>
            </a:solidFill>
            <a:prstDash val="solid"/>
          </a:ln>
        </p:spPr>
        <p:txBody>
          <a:bodyPr/>
          <a:lstStyle/>
          <a:p>
            <a:endParaRPr/>
          </a:p>
        </p:txBody>
      </p:sp>
      <p:sp>
        <p:nvSpPr>
          <p:cNvPr id="74" name="Text 72"/>
          <p:cNvSpPr/>
          <p:nvPr/>
        </p:nvSpPr>
        <p:spPr>
          <a:xfrm>
            <a:off x="8153248" y="4114800"/>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13:20</a:t>
            </a:r>
            <a:endParaRPr lang="en-US" sz="1300" dirty="0"/>
          </a:p>
        </p:txBody>
      </p:sp>
      <p:sp>
        <p:nvSpPr>
          <p:cNvPr id="75" name="Shape 73"/>
          <p:cNvSpPr/>
          <p:nvPr/>
        </p:nvSpPr>
        <p:spPr>
          <a:xfrm>
            <a:off x="838048" y="4553712"/>
            <a:ext cx="4114800" cy="438912"/>
          </a:xfrm>
          <a:prstGeom prst="rect">
            <a:avLst/>
          </a:prstGeom>
          <a:solidFill>
            <a:srgbClr val="FFFFFF"/>
          </a:solidFill>
          <a:ln w="9525">
            <a:solidFill>
              <a:srgbClr val="43BFB8"/>
            </a:solidFill>
            <a:prstDash val="solid"/>
          </a:ln>
        </p:spPr>
        <p:txBody>
          <a:bodyPr/>
          <a:lstStyle/>
          <a:p>
            <a:endParaRPr/>
          </a:p>
        </p:txBody>
      </p:sp>
      <p:sp>
        <p:nvSpPr>
          <p:cNvPr id="76" name="Text 74"/>
          <p:cNvSpPr/>
          <p:nvPr/>
        </p:nvSpPr>
        <p:spPr>
          <a:xfrm>
            <a:off x="838048" y="4553712"/>
            <a:ext cx="41148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Session 4  check and what to remember</a:t>
            </a:r>
            <a:endParaRPr lang="en-US" sz="1300" dirty="0"/>
          </a:p>
        </p:txBody>
      </p:sp>
      <p:sp>
        <p:nvSpPr>
          <p:cNvPr id="77" name="Shape 75"/>
          <p:cNvSpPr/>
          <p:nvPr/>
        </p:nvSpPr>
        <p:spPr>
          <a:xfrm>
            <a:off x="4952848" y="4553712"/>
            <a:ext cx="3200400" cy="438912"/>
          </a:xfrm>
          <a:prstGeom prst="rect">
            <a:avLst/>
          </a:prstGeom>
          <a:solidFill>
            <a:srgbClr val="FFFFFF"/>
          </a:solidFill>
          <a:ln w="9525">
            <a:solidFill>
              <a:srgbClr val="43BFB8"/>
            </a:solidFill>
            <a:prstDash val="solid"/>
          </a:ln>
        </p:spPr>
        <p:txBody>
          <a:bodyPr/>
          <a:lstStyle/>
          <a:p>
            <a:endParaRPr/>
          </a:p>
        </p:txBody>
      </p:sp>
      <p:sp>
        <p:nvSpPr>
          <p:cNvPr id="78" name="Text 76"/>
          <p:cNvSpPr/>
          <p:nvPr/>
        </p:nvSpPr>
        <p:spPr>
          <a:xfrm>
            <a:off x="4952848" y="4553712"/>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13:20</a:t>
            </a:r>
            <a:endParaRPr lang="en-US" sz="1300" dirty="0"/>
          </a:p>
        </p:txBody>
      </p:sp>
      <p:sp>
        <p:nvSpPr>
          <p:cNvPr id="79" name="Shape 77"/>
          <p:cNvSpPr/>
          <p:nvPr/>
        </p:nvSpPr>
        <p:spPr>
          <a:xfrm>
            <a:off x="8153248" y="4553712"/>
            <a:ext cx="3200400" cy="438912"/>
          </a:xfrm>
          <a:prstGeom prst="rect">
            <a:avLst/>
          </a:prstGeom>
          <a:solidFill>
            <a:srgbClr val="FFFFFF"/>
          </a:solidFill>
          <a:ln w="9525">
            <a:solidFill>
              <a:srgbClr val="43BFB8"/>
            </a:solidFill>
            <a:prstDash val="solid"/>
          </a:ln>
        </p:spPr>
        <p:txBody>
          <a:bodyPr/>
          <a:lstStyle/>
          <a:p>
            <a:endParaRPr/>
          </a:p>
        </p:txBody>
      </p:sp>
      <p:sp>
        <p:nvSpPr>
          <p:cNvPr id="80" name="Text 78"/>
          <p:cNvSpPr/>
          <p:nvPr/>
        </p:nvSpPr>
        <p:spPr>
          <a:xfrm>
            <a:off x="8153248" y="4553712"/>
            <a:ext cx="3200400" cy="438912"/>
          </a:xfrm>
          <a:prstGeom prst="rect">
            <a:avLst/>
          </a:prstGeom>
          <a:noFill/>
          <a:ln/>
        </p:spPr>
        <p:txBody>
          <a:bodyPr wrap="square" rtlCol="0" anchor="ctr"/>
          <a:lstStyle/>
          <a:p>
            <a:pPr marL="0" indent="0" algn="ctr">
              <a:buNone/>
            </a:pPr>
            <a:r>
              <a:rPr lang="en-US" sz="1300" dirty="0">
                <a:solidFill>
                  <a:srgbClr val="24162A"/>
                </a:solidFill>
                <a:latin typeface="Segoe UI" pitchFamily="34" charset="0"/>
                <a:ea typeface="Segoe UI" pitchFamily="34" charset="-122"/>
                <a:cs typeface="Segoe UI" pitchFamily="34" charset="-120"/>
              </a:rPr>
              <a:t>14:00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How every topic is taught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stages, always in this order. You can teach each slide by reading it out loud.</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lang="en-US" dirty="0"/>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a:t>
            </a:r>
            <a:endParaRPr lang="en-US" sz="1000" dirty="0"/>
          </a:p>
        </p:txBody>
      </p:sp>
      <p:sp>
        <p:nvSpPr>
          <p:cNvPr id="36" name="Shape 33"/>
          <p:cNvSpPr/>
          <p:nvPr/>
        </p:nvSpPr>
        <p:spPr>
          <a:xfrm>
            <a:off x="502920" y="1316736"/>
            <a:ext cx="1856781" cy="3127248"/>
          </a:xfrm>
          <a:prstGeom prst="roundRect">
            <a:avLst>
              <a:gd name="adj" fmla="val 5910"/>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1856781" cy="118872"/>
          </a:xfrm>
          <a:prstGeom prst="rect">
            <a:avLst/>
          </a:prstGeom>
          <a:solidFill>
            <a:srgbClr val="43BFB8"/>
          </a:solidFill>
          <a:ln/>
        </p:spPr>
        <p:txBody>
          <a:bodyPr/>
          <a:lstStyle/>
          <a:p>
            <a:endParaRPr/>
          </a:p>
        </p:txBody>
      </p:sp>
      <p:sp>
        <p:nvSpPr>
          <p:cNvPr id="38" name="Shape 35"/>
          <p:cNvSpPr/>
          <p:nvPr/>
        </p:nvSpPr>
        <p:spPr>
          <a:xfrm>
            <a:off x="1156990" y="1627632"/>
            <a:ext cx="548640" cy="548640"/>
          </a:xfrm>
          <a:prstGeom prst="ellipse">
            <a:avLst/>
          </a:prstGeom>
          <a:solidFill>
            <a:srgbClr val="43BFB8"/>
          </a:solidFill>
          <a:ln/>
        </p:spPr>
        <p:txBody>
          <a:bodyPr/>
          <a:lstStyle/>
          <a:p>
            <a:endParaRPr/>
          </a:p>
        </p:txBody>
      </p:sp>
      <p:sp>
        <p:nvSpPr>
          <p:cNvPr id="39" name="Text 36"/>
          <p:cNvSpPr/>
          <p:nvPr/>
        </p:nvSpPr>
        <p:spPr>
          <a:xfrm>
            <a:off x="115699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1564173"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The idea</a:t>
            </a:r>
            <a:endParaRPr lang="en-US" sz="1500" dirty="0"/>
          </a:p>
        </p:txBody>
      </p:sp>
      <p:sp>
        <p:nvSpPr>
          <p:cNvPr id="41" name="Text 38"/>
          <p:cNvSpPr/>
          <p:nvPr/>
        </p:nvSpPr>
        <p:spPr>
          <a:xfrm>
            <a:off x="667512" y="2871216"/>
            <a:ext cx="1527597"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One short definition in easy English. No new word without its meaning.</a:t>
            </a:r>
            <a:endParaRPr lang="en-US" sz="1250" dirty="0"/>
          </a:p>
        </p:txBody>
      </p:sp>
      <p:sp>
        <p:nvSpPr>
          <p:cNvPr id="42" name="Shape 39"/>
          <p:cNvSpPr/>
          <p:nvPr/>
        </p:nvSpPr>
        <p:spPr>
          <a:xfrm>
            <a:off x="2414565" y="2706624"/>
            <a:ext cx="365760" cy="347472"/>
          </a:xfrm>
          <a:prstGeom prst="chevron">
            <a:avLst/>
          </a:prstGeom>
          <a:solidFill>
            <a:srgbClr val="E3E0E8"/>
          </a:solidFill>
          <a:ln/>
        </p:spPr>
        <p:txBody>
          <a:bodyPr/>
          <a:lstStyle/>
          <a:p>
            <a:endParaRPr/>
          </a:p>
        </p:txBody>
      </p:sp>
      <p:sp>
        <p:nvSpPr>
          <p:cNvPr id="43" name="Shape 40"/>
          <p:cNvSpPr/>
          <p:nvPr/>
        </p:nvSpPr>
        <p:spPr>
          <a:xfrm>
            <a:off x="2835189" y="1316736"/>
            <a:ext cx="1856781" cy="3127248"/>
          </a:xfrm>
          <a:prstGeom prst="roundRect">
            <a:avLst>
              <a:gd name="adj" fmla="val 5910"/>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2835189" y="1316736"/>
            <a:ext cx="1856781" cy="118872"/>
          </a:xfrm>
          <a:prstGeom prst="rect">
            <a:avLst/>
          </a:prstGeom>
          <a:solidFill>
            <a:srgbClr val="4A7DE0"/>
          </a:solidFill>
          <a:ln/>
        </p:spPr>
        <p:txBody>
          <a:bodyPr/>
          <a:lstStyle/>
          <a:p>
            <a:endParaRPr/>
          </a:p>
        </p:txBody>
      </p:sp>
      <p:sp>
        <p:nvSpPr>
          <p:cNvPr id="45" name="Shape 42"/>
          <p:cNvSpPr/>
          <p:nvPr/>
        </p:nvSpPr>
        <p:spPr>
          <a:xfrm>
            <a:off x="3489259" y="1627632"/>
            <a:ext cx="548640" cy="548640"/>
          </a:xfrm>
          <a:prstGeom prst="ellipse">
            <a:avLst/>
          </a:prstGeom>
          <a:solidFill>
            <a:srgbClr val="4A7DE0"/>
          </a:solidFill>
          <a:ln/>
        </p:spPr>
        <p:txBody>
          <a:bodyPr/>
          <a:lstStyle/>
          <a:p>
            <a:endParaRPr/>
          </a:p>
        </p:txBody>
      </p:sp>
      <p:sp>
        <p:nvSpPr>
          <p:cNvPr id="46" name="Text 43"/>
          <p:cNvSpPr/>
          <p:nvPr/>
        </p:nvSpPr>
        <p:spPr>
          <a:xfrm>
            <a:off x="3489259"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2981493" y="2267712"/>
            <a:ext cx="1564173"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The goal</a:t>
            </a:r>
            <a:endParaRPr lang="en-US" sz="1500" dirty="0"/>
          </a:p>
        </p:txBody>
      </p:sp>
      <p:sp>
        <p:nvSpPr>
          <p:cNvPr id="48" name="Text 45"/>
          <p:cNvSpPr/>
          <p:nvPr/>
        </p:nvSpPr>
        <p:spPr>
          <a:xfrm>
            <a:off x="2999781" y="2871216"/>
            <a:ext cx="1527597"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Why we learn it, and what must be true after we use it.</a:t>
            </a:r>
            <a:endParaRPr lang="en-US" sz="1250" dirty="0"/>
          </a:p>
        </p:txBody>
      </p:sp>
      <p:sp>
        <p:nvSpPr>
          <p:cNvPr id="49" name="Shape 46"/>
          <p:cNvSpPr/>
          <p:nvPr/>
        </p:nvSpPr>
        <p:spPr>
          <a:xfrm>
            <a:off x="4746833" y="2706624"/>
            <a:ext cx="365760" cy="347472"/>
          </a:xfrm>
          <a:prstGeom prst="chevron">
            <a:avLst/>
          </a:prstGeom>
          <a:solidFill>
            <a:srgbClr val="E3E0E8"/>
          </a:solidFill>
          <a:ln/>
        </p:spPr>
        <p:txBody>
          <a:bodyPr/>
          <a:lstStyle/>
          <a:p>
            <a:endParaRPr/>
          </a:p>
        </p:txBody>
      </p:sp>
      <p:sp>
        <p:nvSpPr>
          <p:cNvPr id="50" name="Shape 47"/>
          <p:cNvSpPr/>
          <p:nvPr/>
        </p:nvSpPr>
        <p:spPr>
          <a:xfrm>
            <a:off x="5167457" y="1316736"/>
            <a:ext cx="1856781" cy="3127248"/>
          </a:xfrm>
          <a:prstGeom prst="roundRect">
            <a:avLst>
              <a:gd name="adj" fmla="val 5910"/>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5167457" y="1316736"/>
            <a:ext cx="1856781" cy="118872"/>
          </a:xfrm>
          <a:prstGeom prst="rect">
            <a:avLst/>
          </a:prstGeom>
          <a:solidFill>
            <a:srgbClr val="E76F30"/>
          </a:solidFill>
          <a:ln/>
        </p:spPr>
        <p:txBody>
          <a:bodyPr/>
          <a:lstStyle/>
          <a:p>
            <a:endParaRPr/>
          </a:p>
        </p:txBody>
      </p:sp>
      <p:sp>
        <p:nvSpPr>
          <p:cNvPr id="52" name="Shape 49"/>
          <p:cNvSpPr/>
          <p:nvPr/>
        </p:nvSpPr>
        <p:spPr>
          <a:xfrm>
            <a:off x="5821528" y="1627632"/>
            <a:ext cx="548640" cy="548640"/>
          </a:xfrm>
          <a:prstGeom prst="ellipse">
            <a:avLst/>
          </a:prstGeom>
          <a:solidFill>
            <a:srgbClr val="E76F30"/>
          </a:solidFill>
          <a:ln/>
        </p:spPr>
        <p:txBody>
          <a:bodyPr/>
          <a:lstStyle/>
          <a:p>
            <a:endParaRPr/>
          </a:p>
        </p:txBody>
      </p:sp>
      <p:sp>
        <p:nvSpPr>
          <p:cNvPr id="53" name="Text 50"/>
          <p:cNvSpPr/>
          <p:nvPr/>
        </p:nvSpPr>
        <p:spPr>
          <a:xfrm>
            <a:off x="5821528"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5313761" y="2267712"/>
            <a:ext cx="1564173"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The picture</a:t>
            </a:r>
            <a:endParaRPr lang="en-US" sz="1500" dirty="0"/>
          </a:p>
        </p:txBody>
      </p:sp>
      <p:sp>
        <p:nvSpPr>
          <p:cNvPr id="55" name="Text 52"/>
          <p:cNvSpPr/>
          <p:nvPr/>
        </p:nvSpPr>
        <p:spPr>
          <a:xfrm>
            <a:off x="5332049" y="2871216"/>
            <a:ext cx="1527597"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A diagram of boxes and arrows. If it cannot be drawn, it is not clear yet.</a:t>
            </a:r>
            <a:endParaRPr lang="en-US" sz="1250" dirty="0"/>
          </a:p>
        </p:txBody>
      </p:sp>
      <p:sp>
        <p:nvSpPr>
          <p:cNvPr id="56" name="Shape 53"/>
          <p:cNvSpPr/>
          <p:nvPr/>
        </p:nvSpPr>
        <p:spPr>
          <a:xfrm>
            <a:off x="7079102" y="2706624"/>
            <a:ext cx="365760" cy="347472"/>
          </a:xfrm>
          <a:prstGeom prst="chevron">
            <a:avLst/>
          </a:prstGeom>
          <a:solidFill>
            <a:srgbClr val="E3E0E8"/>
          </a:solidFill>
          <a:ln/>
        </p:spPr>
        <p:txBody>
          <a:bodyPr/>
          <a:lstStyle/>
          <a:p>
            <a:endParaRPr/>
          </a:p>
        </p:txBody>
      </p:sp>
      <p:sp>
        <p:nvSpPr>
          <p:cNvPr id="57" name="Shape 54"/>
          <p:cNvSpPr/>
          <p:nvPr/>
        </p:nvSpPr>
        <p:spPr>
          <a:xfrm>
            <a:off x="7499726" y="1316736"/>
            <a:ext cx="1856781" cy="3127248"/>
          </a:xfrm>
          <a:prstGeom prst="roundRect">
            <a:avLst>
              <a:gd name="adj" fmla="val 5910"/>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7499726" y="1316736"/>
            <a:ext cx="1856781" cy="118872"/>
          </a:xfrm>
          <a:prstGeom prst="rect">
            <a:avLst/>
          </a:prstGeom>
          <a:solidFill>
            <a:srgbClr val="5F1B3C"/>
          </a:solidFill>
          <a:ln/>
        </p:spPr>
        <p:txBody>
          <a:bodyPr/>
          <a:lstStyle/>
          <a:p>
            <a:endParaRPr/>
          </a:p>
        </p:txBody>
      </p:sp>
      <p:sp>
        <p:nvSpPr>
          <p:cNvPr id="59" name="Shape 56"/>
          <p:cNvSpPr/>
          <p:nvPr/>
        </p:nvSpPr>
        <p:spPr>
          <a:xfrm>
            <a:off x="8153796" y="1627632"/>
            <a:ext cx="548640" cy="548640"/>
          </a:xfrm>
          <a:prstGeom prst="ellipse">
            <a:avLst/>
          </a:prstGeom>
          <a:solidFill>
            <a:srgbClr val="5F1B3C"/>
          </a:solidFill>
          <a:ln/>
        </p:spPr>
        <p:txBody>
          <a:bodyPr/>
          <a:lstStyle/>
          <a:p>
            <a:endParaRPr/>
          </a:p>
        </p:txBody>
      </p:sp>
      <p:sp>
        <p:nvSpPr>
          <p:cNvPr id="60" name="Text 57"/>
          <p:cNvSpPr/>
          <p:nvPr/>
        </p:nvSpPr>
        <p:spPr>
          <a:xfrm>
            <a:off x="8153796"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7646030" y="2267712"/>
            <a:ext cx="1564173"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We build it</a:t>
            </a:r>
            <a:endParaRPr lang="en-US" sz="1500" dirty="0"/>
          </a:p>
        </p:txBody>
      </p:sp>
      <p:sp>
        <p:nvSpPr>
          <p:cNvPr id="62" name="Text 59"/>
          <p:cNvSpPr/>
          <p:nvPr/>
        </p:nvSpPr>
        <p:spPr>
          <a:xfrm>
            <a:off x="7664318" y="2871216"/>
            <a:ext cx="1527597"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Students produce one real file: a diagram, a decision, a contract, a test.</a:t>
            </a:r>
            <a:endParaRPr lang="en-US" sz="1250" dirty="0"/>
          </a:p>
        </p:txBody>
      </p:sp>
      <p:sp>
        <p:nvSpPr>
          <p:cNvPr id="63" name="Shape 60"/>
          <p:cNvSpPr/>
          <p:nvPr/>
        </p:nvSpPr>
        <p:spPr>
          <a:xfrm>
            <a:off x="9411371" y="2706624"/>
            <a:ext cx="365760" cy="347472"/>
          </a:xfrm>
          <a:prstGeom prst="chevron">
            <a:avLst/>
          </a:prstGeom>
          <a:solidFill>
            <a:srgbClr val="E3E0E8"/>
          </a:solidFill>
          <a:ln/>
        </p:spPr>
        <p:txBody>
          <a:bodyPr/>
          <a:lstStyle/>
          <a:p>
            <a:endParaRPr/>
          </a:p>
        </p:txBody>
      </p:sp>
      <p:sp>
        <p:nvSpPr>
          <p:cNvPr id="64" name="Shape 61"/>
          <p:cNvSpPr/>
          <p:nvPr/>
        </p:nvSpPr>
        <p:spPr>
          <a:xfrm>
            <a:off x="9831995" y="1316736"/>
            <a:ext cx="1856781" cy="3127248"/>
          </a:xfrm>
          <a:prstGeom prst="roundRect">
            <a:avLst>
              <a:gd name="adj" fmla="val 5910"/>
            </a:avLst>
          </a:prstGeom>
          <a:solidFill>
            <a:srgbClr val="FFFFFF"/>
          </a:solidFill>
          <a:ln w="19050">
            <a:solidFill>
              <a:srgbClr val="3EB489"/>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9831995" y="1316736"/>
            <a:ext cx="1856781" cy="118872"/>
          </a:xfrm>
          <a:prstGeom prst="rect">
            <a:avLst/>
          </a:prstGeom>
          <a:solidFill>
            <a:srgbClr val="3EB489"/>
          </a:solidFill>
          <a:ln/>
        </p:spPr>
        <p:txBody>
          <a:bodyPr/>
          <a:lstStyle/>
          <a:p>
            <a:endParaRPr/>
          </a:p>
        </p:txBody>
      </p:sp>
      <p:sp>
        <p:nvSpPr>
          <p:cNvPr id="66" name="Shape 63"/>
          <p:cNvSpPr/>
          <p:nvPr/>
        </p:nvSpPr>
        <p:spPr>
          <a:xfrm>
            <a:off x="10486065" y="1627632"/>
            <a:ext cx="548640" cy="548640"/>
          </a:xfrm>
          <a:prstGeom prst="ellipse">
            <a:avLst/>
          </a:prstGeom>
          <a:solidFill>
            <a:srgbClr val="3EB489"/>
          </a:solidFill>
          <a:ln/>
        </p:spPr>
        <p:txBody>
          <a:bodyPr/>
          <a:lstStyle/>
          <a:p>
            <a:endParaRPr/>
          </a:p>
        </p:txBody>
      </p:sp>
      <p:sp>
        <p:nvSpPr>
          <p:cNvPr id="67" name="Text 64"/>
          <p:cNvSpPr/>
          <p:nvPr/>
        </p:nvSpPr>
        <p:spPr>
          <a:xfrm>
            <a:off x="1048606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68" name="Text 65"/>
          <p:cNvSpPr/>
          <p:nvPr/>
        </p:nvSpPr>
        <p:spPr>
          <a:xfrm>
            <a:off x="9978299" y="2267712"/>
            <a:ext cx="1564173"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Do / Don't</a:t>
            </a:r>
            <a:endParaRPr lang="en-US" sz="1500" dirty="0"/>
          </a:p>
        </p:txBody>
      </p:sp>
      <p:sp>
        <p:nvSpPr>
          <p:cNvPr id="69" name="Text 66"/>
          <p:cNvSpPr/>
          <p:nvPr/>
        </p:nvSpPr>
        <p:spPr>
          <a:xfrm>
            <a:off x="9996587" y="2871216"/>
            <a:ext cx="1527597"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The best practice beside the mistake that breaks real production systems.</a:t>
            </a:r>
            <a:endParaRPr lang="en-US" sz="1250" dirty="0"/>
          </a:p>
        </p:txBody>
      </p:sp>
      <p:sp>
        <p:nvSpPr>
          <p:cNvPr id="70" name="Shape 67"/>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71" name="Shape 68"/>
          <p:cNvSpPr/>
          <p:nvPr/>
        </p:nvSpPr>
        <p:spPr>
          <a:xfrm>
            <a:off x="502920" y="4718304"/>
            <a:ext cx="100584" cy="749808"/>
          </a:xfrm>
          <a:prstGeom prst="rect">
            <a:avLst/>
          </a:prstGeom>
          <a:solidFill>
            <a:srgbClr val="1F8F65"/>
          </a:solidFill>
          <a:ln/>
        </p:spPr>
        <p:txBody>
          <a:bodyPr/>
          <a:lstStyle/>
          <a:p>
            <a:endParaRPr/>
          </a:p>
        </p:txBody>
      </p:sp>
      <p:sp>
        <p:nvSpPr>
          <p:cNvPr id="72" name="Text 69"/>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Never start a topic with a tool. Start with the idea and finish with the do / don't table.</a:t>
            </a:r>
            <a:endParaRPr lang="en-US" sz="1250" dirty="0"/>
          </a:p>
        </p:txBody>
      </p:sp>
      <p:sp>
        <p:nvSpPr>
          <p:cNvPr id="73" name="Shape 70"/>
          <p:cNvSpPr/>
          <p:nvPr/>
        </p:nvSpPr>
        <p:spPr>
          <a:xfrm>
            <a:off x="502920" y="5687568"/>
            <a:ext cx="54864" cy="201168"/>
          </a:xfrm>
          <a:prstGeom prst="rect">
            <a:avLst/>
          </a:prstGeom>
          <a:solidFill>
            <a:srgbClr val="43BFB8"/>
          </a:solidFill>
          <a:ln/>
        </p:spPr>
        <p:txBody>
          <a:bodyPr/>
          <a:lstStyle/>
          <a:p>
            <a:endParaRPr/>
          </a:p>
        </p:txBody>
      </p:sp>
      <p:sp>
        <p:nvSpPr>
          <p:cNvPr id="74" name="Text 71"/>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The badge in the top-right corner of every slide tells you the stage: THEORY, GOAL, PRACTICE, CASE STUDY or CHECK.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800" b="1" dirty="0">
                <a:solidFill>
                  <a:srgbClr val="5F1B3C"/>
                </a:solidFill>
                <a:latin typeface="Segoe UI" pitchFamily="34" charset="0"/>
                <a:ea typeface="Segoe UI" pitchFamily="34" charset="-122"/>
                <a:cs typeface="Segoe UI" pitchFamily="34" charset="-120"/>
              </a:rPr>
              <a:t>Northline Shop today    the system we modernise all week</a:t>
            </a:r>
            <a:endParaRPr lang="en-US" sz="18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An online retailer in Riyadh. One old program from 2011 does everything.</a:t>
            </a:r>
            <a:endParaRPr lang="en-US" sz="1300" dirty="0"/>
          </a:p>
        </p:txBody>
      </p:sp>
      <p:sp>
        <p:nvSpPr>
          <p:cNvPr id="27" name="Shape 25"/>
          <p:cNvSpPr/>
          <p:nvPr/>
        </p:nvSpPr>
        <p:spPr>
          <a:xfrm>
            <a:off x="9585655" y="256032"/>
            <a:ext cx="2148840" cy="347472"/>
          </a:xfrm>
          <a:prstGeom prst="roundRect">
            <a:avLst>
              <a:gd name="adj" fmla="val 50000"/>
            </a:avLst>
          </a:prstGeom>
          <a:solidFill>
            <a:srgbClr val="0F1A2E"/>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CASE STUDY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a:t>
            </a:r>
            <a:endParaRPr lang="en-US" sz="1000" dirty="0"/>
          </a:p>
        </p:txBody>
      </p:sp>
      <p:sp>
        <p:nvSpPr>
          <p:cNvPr id="36" name="Shape 33"/>
          <p:cNvSpPr/>
          <p:nvPr/>
        </p:nvSpPr>
        <p:spPr>
          <a:xfrm>
            <a:off x="548640" y="1600200"/>
            <a:ext cx="2148840" cy="914400"/>
          </a:xfrm>
          <a:prstGeom prst="roundRect">
            <a:avLst>
              <a:gd name="adj" fmla="val 10000"/>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548640" y="1691640"/>
            <a:ext cx="2148840" cy="73152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Shopper</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(web + mobile)</a:t>
            </a:r>
            <a:endParaRPr lang="en-US" sz="1300" dirty="0"/>
          </a:p>
        </p:txBody>
      </p:sp>
      <p:sp>
        <p:nvSpPr>
          <p:cNvPr id="38" name="Shape 35"/>
          <p:cNvSpPr/>
          <p:nvPr/>
        </p:nvSpPr>
        <p:spPr>
          <a:xfrm>
            <a:off x="548640" y="2788920"/>
            <a:ext cx="2148840" cy="777240"/>
          </a:xfrm>
          <a:prstGeom prst="roundRect">
            <a:avLst>
              <a:gd name="adj" fmla="val 11765"/>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548640" y="2880360"/>
            <a:ext cx="2148840" cy="59436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Warehouse staff</a:t>
            </a:r>
            <a:endParaRPr lang="en-US" sz="1300" dirty="0"/>
          </a:p>
        </p:txBody>
      </p:sp>
      <p:sp>
        <p:nvSpPr>
          <p:cNvPr id="40" name="Shape 37"/>
          <p:cNvSpPr/>
          <p:nvPr/>
        </p:nvSpPr>
        <p:spPr>
          <a:xfrm>
            <a:off x="548640" y="3794760"/>
            <a:ext cx="2148840" cy="777240"/>
          </a:xfrm>
          <a:prstGeom prst="roundRect">
            <a:avLst>
              <a:gd name="adj" fmla="val 11765"/>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548640" y="3886200"/>
            <a:ext cx="2148840" cy="59436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Finance team</a:t>
            </a:r>
            <a:endParaRPr lang="en-US" sz="1300" dirty="0"/>
          </a:p>
        </p:txBody>
      </p:sp>
      <p:sp>
        <p:nvSpPr>
          <p:cNvPr id="42" name="Shape 39"/>
          <p:cNvSpPr/>
          <p:nvPr/>
        </p:nvSpPr>
        <p:spPr>
          <a:xfrm>
            <a:off x="3703320" y="2148840"/>
            <a:ext cx="3246120" cy="1783080"/>
          </a:xfrm>
          <a:prstGeom prst="roundRect">
            <a:avLst>
              <a:gd name="adj" fmla="val 5128"/>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3703320" y="2240280"/>
            <a:ext cx="3246120" cy="160020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NorthlineCore  (2011)</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catalog + cart + checkout</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 stock + shipping</a:t>
            </a:r>
            <a:endParaRPr lang="en-US" sz="1300" dirty="0"/>
          </a:p>
        </p:txBody>
      </p:sp>
      <p:sp>
        <p:nvSpPr>
          <p:cNvPr id="44" name="Shape 41"/>
          <p:cNvSpPr/>
          <p:nvPr/>
        </p:nvSpPr>
        <p:spPr>
          <a:xfrm>
            <a:off x="8275320" y="1600200"/>
            <a:ext cx="2377440" cy="777240"/>
          </a:xfrm>
          <a:prstGeom prst="roundRect">
            <a:avLst>
              <a:gd name="adj" fmla="val 11765"/>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5" name="Text 42"/>
          <p:cNvSpPr/>
          <p:nvPr/>
        </p:nvSpPr>
        <p:spPr>
          <a:xfrm>
            <a:off x="8275320" y="1691640"/>
            <a:ext cx="2377440" cy="59436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Payment gateway</a:t>
            </a:r>
            <a:endParaRPr lang="en-US" sz="1300" dirty="0"/>
          </a:p>
        </p:txBody>
      </p:sp>
      <p:sp>
        <p:nvSpPr>
          <p:cNvPr id="46" name="Shape 43"/>
          <p:cNvSpPr/>
          <p:nvPr/>
        </p:nvSpPr>
        <p:spPr>
          <a:xfrm>
            <a:off x="8275320" y="2651760"/>
            <a:ext cx="2377440" cy="777240"/>
          </a:xfrm>
          <a:prstGeom prst="roundRect">
            <a:avLst>
              <a:gd name="adj" fmla="val 11765"/>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7" name="Text 44"/>
          <p:cNvSpPr/>
          <p:nvPr/>
        </p:nvSpPr>
        <p:spPr>
          <a:xfrm>
            <a:off x="8275320" y="2743200"/>
            <a:ext cx="2377440" cy="59436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Courier company</a:t>
            </a:r>
            <a:endParaRPr lang="en-US" sz="1300" dirty="0"/>
          </a:p>
        </p:txBody>
      </p:sp>
      <p:sp>
        <p:nvSpPr>
          <p:cNvPr id="48" name="Shape 45"/>
          <p:cNvSpPr/>
          <p:nvPr/>
        </p:nvSpPr>
        <p:spPr>
          <a:xfrm>
            <a:off x="8275320" y="3703320"/>
            <a:ext cx="2377440" cy="777240"/>
          </a:xfrm>
          <a:prstGeom prst="roundRect">
            <a:avLst>
              <a:gd name="adj" fmla="val 11765"/>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9" name="Text 46"/>
          <p:cNvSpPr/>
          <p:nvPr/>
        </p:nvSpPr>
        <p:spPr>
          <a:xfrm>
            <a:off x="8275320" y="3794760"/>
            <a:ext cx="2377440" cy="59436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ERP (finance)</a:t>
            </a:r>
            <a:endParaRPr lang="en-US" sz="1300" dirty="0"/>
          </a:p>
        </p:txBody>
      </p:sp>
      <p:sp>
        <p:nvSpPr>
          <p:cNvPr id="50" name="Shape 47"/>
          <p:cNvSpPr/>
          <p:nvPr/>
        </p:nvSpPr>
        <p:spPr>
          <a:xfrm>
            <a:off x="2697480" y="2057400"/>
            <a:ext cx="1005840" cy="982980"/>
          </a:xfrm>
          <a:prstGeom prst="line">
            <a:avLst/>
          </a:prstGeom>
          <a:noFill/>
          <a:ln w="19050">
            <a:solidFill>
              <a:srgbClr val="43BFB8"/>
            </a:solidFill>
            <a:prstDash val="solid"/>
            <a:tailEnd type="triangle"/>
          </a:ln>
        </p:spPr>
        <p:txBody>
          <a:bodyPr/>
          <a:lstStyle/>
          <a:p>
            <a:endParaRPr/>
          </a:p>
        </p:txBody>
      </p:sp>
      <p:sp>
        <p:nvSpPr>
          <p:cNvPr id="51" name="Shape 48"/>
          <p:cNvSpPr/>
          <p:nvPr/>
        </p:nvSpPr>
        <p:spPr>
          <a:xfrm flipV="1">
            <a:off x="2697480" y="3040380"/>
            <a:ext cx="1005840" cy="137160"/>
          </a:xfrm>
          <a:prstGeom prst="line">
            <a:avLst/>
          </a:prstGeom>
          <a:noFill/>
          <a:ln w="19050">
            <a:solidFill>
              <a:srgbClr val="43BFB8"/>
            </a:solidFill>
            <a:prstDash val="solid"/>
            <a:tailEnd type="triangle"/>
          </a:ln>
        </p:spPr>
        <p:txBody>
          <a:bodyPr/>
          <a:lstStyle/>
          <a:p>
            <a:endParaRPr/>
          </a:p>
        </p:txBody>
      </p:sp>
      <p:sp>
        <p:nvSpPr>
          <p:cNvPr id="52" name="Shape 49"/>
          <p:cNvSpPr/>
          <p:nvPr/>
        </p:nvSpPr>
        <p:spPr>
          <a:xfrm flipV="1">
            <a:off x="2697480" y="3040380"/>
            <a:ext cx="1005840" cy="1143000"/>
          </a:xfrm>
          <a:prstGeom prst="line">
            <a:avLst/>
          </a:prstGeom>
          <a:noFill/>
          <a:ln w="19050">
            <a:solidFill>
              <a:srgbClr val="43BFB8"/>
            </a:solidFill>
            <a:prstDash val="solid"/>
            <a:tailEnd type="triangle"/>
          </a:ln>
        </p:spPr>
        <p:txBody>
          <a:bodyPr/>
          <a:lstStyle/>
          <a:p>
            <a:endParaRPr/>
          </a:p>
        </p:txBody>
      </p:sp>
      <p:sp>
        <p:nvSpPr>
          <p:cNvPr id="53" name="Shape 50"/>
          <p:cNvSpPr/>
          <p:nvPr/>
        </p:nvSpPr>
        <p:spPr>
          <a:xfrm flipV="1">
            <a:off x="6949440" y="1988820"/>
            <a:ext cx="1325880" cy="1051560"/>
          </a:xfrm>
          <a:prstGeom prst="line">
            <a:avLst/>
          </a:prstGeom>
          <a:noFill/>
          <a:ln w="19050">
            <a:solidFill>
              <a:srgbClr val="E76F30"/>
            </a:solidFill>
            <a:prstDash val="solid"/>
            <a:tailEnd type="triangle"/>
          </a:ln>
        </p:spPr>
        <p:txBody>
          <a:bodyPr/>
          <a:lstStyle/>
          <a:p>
            <a:endParaRPr/>
          </a:p>
        </p:txBody>
      </p:sp>
      <p:sp>
        <p:nvSpPr>
          <p:cNvPr id="54" name="Shape 51"/>
          <p:cNvSpPr/>
          <p:nvPr/>
        </p:nvSpPr>
        <p:spPr>
          <a:xfrm flipV="1">
            <a:off x="6949440" y="3040380"/>
            <a:ext cx="1325880" cy="914"/>
          </a:xfrm>
          <a:prstGeom prst="line">
            <a:avLst/>
          </a:prstGeom>
          <a:noFill/>
          <a:ln w="19050">
            <a:solidFill>
              <a:srgbClr val="E76F30"/>
            </a:solidFill>
            <a:prstDash val="solid"/>
            <a:tailEnd type="triangle"/>
          </a:ln>
        </p:spPr>
        <p:txBody>
          <a:bodyPr/>
          <a:lstStyle/>
          <a:p>
            <a:endParaRPr/>
          </a:p>
        </p:txBody>
      </p:sp>
      <p:sp>
        <p:nvSpPr>
          <p:cNvPr id="55" name="Shape 52"/>
          <p:cNvSpPr/>
          <p:nvPr/>
        </p:nvSpPr>
        <p:spPr>
          <a:xfrm>
            <a:off x="6949440" y="3040380"/>
            <a:ext cx="1325880" cy="1051560"/>
          </a:xfrm>
          <a:prstGeom prst="line">
            <a:avLst/>
          </a:prstGeom>
          <a:noFill/>
          <a:ln w="19050">
            <a:solidFill>
              <a:srgbClr val="E76F30"/>
            </a:solidFill>
            <a:prstDash val="solid"/>
            <a:tailEnd type="triangle"/>
          </a:ln>
        </p:spPr>
        <p:txBody>
          <a:bodyPr/>
          <a:lstStyle/>
          <a:p>
            <a:endParaRPr/>
          </a:p>
        </p:txBody>
      </p:sp>
      <p:sp>
        <p:nvSpPr>
          <p:cNvPr id="56" name="Shape 53"/>
          <p:cNvSpPr/>
          <p:nvPr/>
        </p:nvSpPr>
        <p:spPr>
          <a:xfrm>
            <a:off x="2423160" y="2420874"/>
            <a:ext cx="155448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7" name="Text 54"/>
          <p:cNvSpPr/>
          <p:nvPr/>
        </p:nvSpPr>
        <p:spPr>
          <a:xfrm>
            <a:off x="2423160" y="2420874"/>
            <a:ext cx="155448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browse, order</a:t>
            </a:r>
            <a:endParaRPr lang="en-US" sz="950" dirty="0"/>
          </a:p>
        </p:txBody>
      </p:sp>
      <p:sp>
        <p:nvSpPr>
          <p:cNvPr id="58" name="Shape 55"/>
          <p:cNvSpPr/>
          <p:nvPr/>
        </p:nvSpPr>
        <p:spPr>
          <a:xfrm>
            <a:off x="2560320" y="2980944"/>
            <a:ext cx="128016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9" name="Text 56"/>
          <p:cNvSpPr/>
          <p:nvPr/>
        </p:nvSpPr>
        <p:spPr>
          <a:xfrm>
            <a:off x="2560320" y="2980944"/>
            <a:ext cx="128016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pick, pack</a:t>
            </a:r>
            <a:endParaRPr lang="en-US" sz="950" dirty="0"/>
          </a:p>
        </p:txBody>
      </p:sp>
      <p:sp>
        <p:nvSpPr>
          <p:cNvPr id="60" name="Shape 57"/>
          <p:cNvSpPr/>
          <p:nvPr/>
        </p:nvSpPr>
        <p:spPr>
          <a:xfrm>
            <a:off x="2697480" y="348386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1" name="Text 58"/>
          <p:cNvSpPr/>
          <p:nvPr/>
        </p:nvSpPr>
        <p:spPr>
          <a:xfrm>
            <a:off x="2697480" y="348386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reports</a:t>
            </a:r>
            <a:endParaRPr lang="en-US" sz="950" dirty="0"/>
          </a:p>
        </p:txBody>
      </p:sp>
      <p:sp>
        <p:nvSpPr>
          <p:cNvPr id="62" name="Shape 59"/>
          <p:cNvSpPr/>
          <p:nvPr/>
        </p:nvSpPr>
        <p:spPr>
          <a:xfrm>
            <a:off x="6926580" y="2386584"/>
            <a:ext cx="137160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3" name="Text 60"/>
          <p:cNvSpPr/>
          <p:nvPr/>
        </p:nvSpPr>
        <p:spPr>
          <a:xfrm>
            <a:off x="6926580" y="2386584"/>
            <a:ext cx="137160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charge card</a:t>
            </a:r>
            <a:endParaRPr lang="en-US" sz="950" dirty="0"/>
          </a:p>
        </p:txBody>
      </p:sp>
      <p:sp>
        <p:nvSpPr>
          <p:cNvPr id="64" name="Shape 61"/>
          <p:cNvSpPr/>
          <p:nvPr/>
        </p:nvSpPr>
        <p:spPr>
          <a:xfrm>
            <a:off x="6835140" y="2912364"/>
            <a:ext cx="155448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5" name="Text 62"/>
          <p:cNvSpPr/>
          <p:nvPr/>
        </p:nvSpPr>
        <p:spPr>
          <a:xfrm>
            <a:off x="6835140" y="2912364"/>
            <a:ext cx="155448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book delivery</a:t>
            </a:r>
            <a:endParaRPr lang="en-US" sz="950" dirty="0"/>
          </a:p>
        </p:txBody>
      </p:sp>
      <p:sp>
        <p:nvSpPr>
          <p:cNvPr id="66" name="Shape 63"/>
          <p:cNvSpPr/>
          <p:nvPr/>
        </p:nvSpPr>
        <p:spPr>
          <a:xfrm>
            <a:off x="6835140" y="3438144"/>
            <a:ext cx="155448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7" name="Text 64"/>
          <p:cNvSpPr/>
          <p:nvPr/>
        </p:nvSpPr>
        <p:spPr>
          <a:xfrm>
            <a:off x="6835140" y="3438144"/>
            <a:ext cx="155448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nightly stock</a:t>
            </a:r>
            <a:endParaRPr lang="en-US" sz="950" dirty="0"/>
          </a:p>
        </p:txBody>
      </p:sp>
      <p:sp>
        <p:nvSpPr>
          <p:cNvPr id="68" name="Text 65"/>
          <p:cNvSpPr/>
          <p:nvPr/>
        </p:nvSpPr>
        <p:spPr>
          <a:xfrm>
            <a:off x="502920" y="4590288"/>
            <a:ext cx="11185855" cy="384048"/>
          </a:xfrm>
          <a:prstGeom prst="rect">
            <a:avLst/>
          </a:prstGeom>
          <a:noFill/>
          <a:ln/>
        </p:spPr>
        <p:txBody>
          <a:bodyPr wrap="square" rtlCol="0" anchor="ctr"/>
          <a:lstStyle/>
          <a:p>
            <a:pPr marL="0" indent="0" algn="l">
              <a:buNone/>
            </a:pPr>
            <a:r>
              <a:rPr lang="en-US" sz="1200" i="1" dirty="0">
                <a:solidFill>
                  <a:srgbClr val="6E637A"/>
                </a:solidFill>
                <a:latin typeface="Segoe UI" pitchFamily="34" charset="0"/>
                <a:ea typeface="Segoe UI" pitchFamily="34" charset="-122"/>
                <a:cs typeface="Segoe UI" pitchFamily="34" charset="-120"/>
              </a:rPr>
              <a:t>One box in the middle means one deploy, one database, one release. Every arrow is a real dependency.</a:t>
            </a:r>
            <a:endParaRPr lang="en-US" sz="1200" dirty="0"/>
          </a:p>
        </p:txBody>
      </p:sp>
      <p:sp>
        <p:nvSpPr>
          <p:cNvPr id="69" name="Shape 66"/>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70" name="Shape 67"/>
          <p:cNvSpPr/>
          <p:nvPr/>
        </p:nvSpPr>
        <p:spPr>
          <a:xfrm>
            <a:off x="502920" y="5010912"/>
            <a:ext cx="100584" cy="731520"/>
          </a:xfrm>
          <a:prstGeom prst="rect">
            <a:avLst/>
          </a:prstGeom>
          <a:solidFill>
            <a:srgbClr val="1F8F65"/>
          </a:solidFill>
          <a:ln/>
        </p:spPr>
        <p:txBody>
          <a:bodyPr/>
          <a:lstStyle/>
          <a:p>
            <a:endParaRPr/>
          </a:p>
        </p:txBody>
      </p:sp>
      <p:sp>
        <p:nvSpPr>
          <p:cNvPr id="71" name="Text 68"/>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Always draw the system as it is TODAY before you draw any target. A wish is not a diagram.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five days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Each day adds one piece to the same Northline design. Nothing is thrown away.</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a:t>
            </a:r>
            <a:endParaRPr lang="en-US" sz="1000" dirty="0"/>
          </a:p>
        </p:txBody>
      </p:sp>
      <p:sp>
        <p:nvSpPr>
          <p:cNvPr id="34" name="Shape 31"/>
          <p:cNvSpPr/>
          <p:nvPr/>
        </p:nvSpPr>
        <p:spPr>
          <a:xfrm>
            <a:off x="502920" y="1508760"/>
            <a:ext cx="1371600" cy="502920"/>
          </a:xfrm>
          <a:prstGeom prst="rect">
            <a:avLst/>
          </a:prstGeom>
          <a:solidFill>
            <a:srgbClr val="F6F5F8"/>
          </a:solidFill>
          <a:ln w="9525">
            <a:solidFill>
              <a:srgbClr val="E3E0E8"/>
            </a:solidFill>
            <a:prstDash val="solid"/>
          </a:ln>
        </p:spPr>
        <p:txBody>
          <a:bodyPr/>
          <a:lstStyle/>
          <a:p>
            <a:endParaRPr/>
          </a:p>
        </p:txBody>
      </p:sp>
      <p:sp>
        <p:nvSpPr>
          <p:cNvPr id="35" name="Text 32"/>
          <p:cNvSpPr/>
          <p:nvPr/>
        </p:nvSpPr>
        <p:spPr>
          <a:xfrm>
            <a:off x="502920" y="1508760"/>
            <a:ext cx="13716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Day</a:t>
            </a:r>
            <a:endParaRPr lang="en-US" sz="1200" dirty="0"/>
          </a:p>
        </p:txBody>
      </p:sp>
      <p:sp>
        <p:nvSpPr>
          <p:cNvPr id="36" name="Shape 33"/>
          <p:cNvSpPr/>
          <p:nvPr/>
        </p:nvSpPr>
        <p:spPr>
          <a:xfrm>
            <a:off x="1874520" y="1508760"/>
            <a:ext cx="475488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1874520" y="1508760"/>
            <a:ext cx="475488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Topic from the official outline</a:t>
            </a:r>
            <a:endParaRPr lang="en-US" sz="1200" dirty="0"/>
          </a:p>
        </p:txBody>
      </p:sp>
      <p:sp>
        <p:nvSpPr>
          <p:cNvPr id="38" name="Shape 35"/>
          <p:cNvSpPr/>
          <p:nvPr/>
        </p:nvSpPr>
        <p:spPr>
          <a:xfrm>
            <a:off x="6629400" y="1508760"/>
            <a:ext cx="502920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6629400" y="1508760"/>
            <a:ext cx="50292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What you produce that day</a:t>
            </a:r>
            <a:endParaRPr lang="en-US" sz="1200" dirty="0"/>
          </a:p>
        </p:txBody>
      </p:sp>
      <p:sp>
        <p:nvSpPr>
          <p:cNvPr id="40" name="Shape 37"/>
          <p:cNvSpPr/>
          <p:nvPr/>
        </p:nvSpPr>
        <p:spPr>
          <a:xfrm>
            <a:off x="502920" y="2011680"/>
            <a:ext cx="1371600" cy="594360"/>
          </a:xfrm>
          <a:prstGeom prst="rect">
            <a:avLst/>
          </a:prstGeom>
          <a:solidFill>
            <a:srgbClr val="FFFFFF"/>
          </a:solidFill>
          <a:ln w="6350">
            <a:solidFill>
              <a:srgbClr val="E3E0E8"/>
            </a:solidFill>
            <a:prstDash val="solid"/>
          </a:ln>
        </p:spPr>
        <p:txBody>
          <a:bodyPr/>
          <a:lstStyle/>
          <a:p>
            <a:endParaRPr/>
          </a:p>
        </p:txBody>
      </p:sp>
      <p:sp>
        <p:nvSpPr>
          <p:cNvPr id="41" name="Text 38"/>
          <p:cNvSpPr/>
          <p:nvPr/>
        </p:nvSpPr>
        <p:spPr>
          <a:xfrm>
            <a:off x="594360" y="2011680"/>
            <a:ext cx="1188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1</a:t>
            </a:r>
            <a:endParaRPr lang="en-US" sz="1200" dirty="0"/>
          </a:p>
        </p:txBody>
      </p:sp>
      <p:sp>
        <p:nvSpPr>
          <p:cNvPr id="42" name="Shape 39"/>
          <p:cNvSpPr/>
          <p:nvPr/>
        </p:nvSpPr>
        <p:spPr>
          <a:xfrm>
            <a:off x="1874520" y="2011680"/>
            <a:ext cx="475488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1965960" y="201168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EA frameworks, domains and viewpoints, stakeholder mapping</a:t>
            </a:r>
            <a:endParaRPr lang="en-US" sz="1200" dirty="0"/>
          </a:p>
        </p:txBody>
      </p:sp>
      <p:sp>
        <p:nvSpPr>
          <p:cNvPr id="44" name="Shape 41"/>
          <p:cNvSpPr/>
          <p:nvPr/>
        </p:nvSpPr>
        <p:spPr>
          <a:xfrm>
            <a:off x="6629400" y="2011680"/>
            <a:ext cx="502920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6720840" y="2011680"/>
            <a:ext cx="4846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Context diagram + ADR-001</a:t>
            </a:r>
            <a:endParaRPr lang="en-US" sz="1200" dirty="0"/>
          </a:p>
        </p:txBody>
      </p:sp>
      <p:sp>
        <p:nvSpPr>
          <p:cNvPr id="46" name="Shape 43"/>
          <p:cNvSpPr/>
          <p:nvPr/>
        </p:nvSpPr>
        <p:spPr>
          <a:xfrm>
            <a:off x="502920" y="2606040"/>
            <a:ext cx="1371600" cy="594360"/>
          </a:xfrm>
          <a:prstGeom prst="rect">
            <a:avLst/>
          </a:prstGeom>
          <a:solidFill>
            <a:srgbClr val="FBFCFD"/>
          </a:solidFill>
          <a:ln w="6350">
            <a:solidFill>
              <a:srgbClr val="E3E0E8"/>
            </a:solidFill>
            <a:prstDash val="solid"/>
          </a:ln>
        </p:spPr>
        <p:txBody>
          <a:bodyPr/>
          <a:lstStyle/>
          <a:p>
            <a:endParaRPr/>
          </a:p>
        </p:txBody>
      </p:sp>
      <p:sp>
        <p:nvSpPr>
          <p:cNvPr id="47" name="Text 44"/>
          <p:cNvSpPr/>
          <p:nvPr/>
        </p:nvSpPr>
        <p:spPr>
          <a:xfrm>
            <a:off x="594360" y="2606040"/>
            <a:ext cx="1188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2</a:t>
            </a:r>
            <a:endParaRPr lang="en-US" sz="1200" dirty="0"/>
          </a:p>
        </p:txBody>
      </p:sp>
      <p:sp>
        <p:nvSpPr>
          <p:cNvPr id="48" name="Shape 45"/>
          <p:cNvSpPr/>
          <p:nvPr/>
        </p:nvSpPr>
        <p:spPr>
          <a:xfrm>
            <a:off x="1874520" y="2606040"/>
            <a:ext cx="475488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1965960" y="260604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Design patterns and heuristics, decomposition, DDD</a:t>
            </a:r>
            <a:endParaRPr lang="en-US" sz="1200" dirty="0"/>
          </a:p>
        </p:txBody>
      </p:sp>
      <p:sp>
        <p:nvSpPr>
          <p:cNvPr id="50" name="Shape 47"/>
          <p:cNvSpPr/>
          <p:nvPr/>
        </p:nvSpPr>
        <p:spPr>
          <a:xfrm>
            <a:off x="6629400" y="2606040"/>
            <a:ext cx="502920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6720840" y="2606040"/>
            <a:ext cx="4846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Context map + a ranked split plan</a:t>
            </a:r>
            <a:endParaRPr lang="en-US" sz="1200" dirty="0"/>
          </a:p>
        </p:txBody>
      </p:sp>
      <p:sp>
        <p:nvSpPr>
          <p:cNvPr id="52" name="Shape 49"/>
          <p:cNvSpPr/>
          <p:nvPr/>
        </p:nvSpPr>
        <p:spPr>
          <a:xfrm>
            <a:off x="502920" y="3200400"/>
            <a:ext cx="1371600" cy="594360"/>
          </a:xfrm>
          <a:prstGeom prst="rect">
            <a:avLst/>
          </a:prstGeom>
          <a:solidFill>
            <a:srgbClr val="FFFFFF"/>
          </a:solidFill>
          <a:ln w="6350">
            <a:solidFill>
              <a:srgbClr val="E3E0E8"/>
            </a:solidFill>
            <a:prstDash val="solid"/>
          </a:ln>
        </p:spPr>
        <p:txBody>
          <a:bodyPr/>
          <a:lstStyle/>
          <a:p>
            <a:endParaRPr/>
          </a:p>
        </p:txBody>
      </p:sp>
      <p:sp>
        <p:nvSpPr>
          <p:cNvPr id="53" name="Text 50"/>
          <p:cNvSpPr/>
          <p:nvPr/>
        </p:nvSpPr>
        <p:spPr>
          <a:xfrm>
            <a:off x="594360" y="3200400"/>
            <a:ext cx="1188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3</a:t>
            </a:r>
            <a:endParaRPr lang="en-US" sz="1200" dirty="0"/>
          </a:p>
        </p:txBody>
      </p:sp>
      <p:sp>
        <p:nvSpPr>
          <p:cNvPr id="54" name="Shape 51"/>
          <p:cNvSpPr/>
          <p:nvPr/>
        </p:nvSpPr>
        <p:spPr>
          <a:xfrm>
            <a:off x="1874520" y="3200400"/>
            <a:ext cx="475488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1965960" y="320040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Integration patterns, API design, events, API gateway</a:t>
            </a:r>
            <a:endParaRPr lang="en-US" sz="1200" dirty="0"/>
          </a:p>
        </p:txBody>
      </p:sp>
      <p:sp>
        <p:nvSpPr>
          <p:cNvPr id="56" name="Shape 53"/>
          <p:cNvSpPr/>
          <p:nvPr/>
        </p:nvSpPr>
        <p:spPr>
          <a:xfrm>
            <a:off x="6629400" y="3200400"/>
            <a:ext cx="502920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6720840" y="3200400"/>
            <a:ext cx="4846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OpenAPI contract + one event</a:t>
            </a:r>
            <a:endParaRPr lang="en-US" sz="1200" dirty="0"/>
          </a:p>
        </p:txBody>
      </p:sp>
      <p:sp>
        <p:nvSpPr>
          <p:cNvPr id="58" name="Shape 55"/>
          <p:cNvSpPr/>
          <p:nvPr/>
        </p:nvSpPr>
        <p:spPr>
          <a:xfrm>
            <a:off x="502920" y="3794760"/>
            <a:ext cx="1371600" cy="594360"/>
          </a:xfrm>
          <a:prstGeom prst="rect">
            <a:avLst/>
          </a:prstGeom>
          <a:solidFill>
            <a:srgbClr val="FBFCFD"/>
          </a:solidFill>
          <a:ln w="6350">
            <a:solidFill>
              <a:srgbClr val="E3E0E8"/>
            </a:solidFill>
            <a:prstDash val="solid"/>
          </a:ln>
        </p:spPr>
        <p:txBody>
          <a:bodyPr/>
          <a:lstStyle/>
          <a:p>
            <a:endParaRPr/>
          </a:p>
        </p:txBody>
      </p:sp>
      <p:sp>
        <p:nvSpPr>
          <p:cNvPr id="59" name="Text 56"/>
          <p:cNvSpPr/>
          <p:nvPr/>
        </p:nvSpPr>
        <p:spPr>
          <a:xfrm>
            <a:off x="594360" y="3794760"/>
            <a:ext cx="1188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4</a:t>
            </a:r>
            <a:endParaRPr lang="en-US" sz="1200" dirty="0"/>
          </a:p>
        </p:txBody>
      </p:sp>
      <p:sp>
        <p:nvSpPr>
          <p:cNvPr id="60" name="Shape 57"/>
          <p:cNvSpPr/>
          <p:nvPr/>
        </p:nvSpPr>
        <p:spPr>
          <a:xfrm>
            <a:off x="1874520" y="3794760"/>
            <a:ext cx="475488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1965960" y="379476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Scalability, cloud-native, resilience, observability</a:t>
            </a:r>
            <a:endParaRPr lang="en-US" sz="1200" dirty="0"/>
          </a:p>
        </p:txBody>
      </p:sp>
      <p:sp>
        <p:nvSpPr>
          <p:cNvPr id="62" name="Shape 59"/>
          <p:cNvSpPr/>
          <p:nvPr/>
        </p:nvSpPr>
        <p:spPr>
          <a:xfrm>
            <a:off x="6629400" y="3794760"/>
            <a:ext cx="502920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6720840" y="3794760"/>
            <a:ext cx="4846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Scale plan + SLO with a stop rule</a:t>
            </a:r>
            <a:endParaRPr lang="en-US" sz="1200" dirty="0"/>
          </a:p>
        </p:txBody>
      </p:sp>
      <p:sp>
        <p:nvSpPr>
          <p:cNvPr id="64" name="Shape 61"/>
          <p:cNvSpPr/>
          <p:nvPr/>
        </p:nvSpPr>
        <p:spPr>
          <a:xfrm>
            <a:off x="502920" y="4389120"/>
            <a:ext cx="1371600" cy="594360"/>
          </a:xfrm>
          <a:prstGeom prst="rect">
            <a:avLst/>
          </a:prstGeom>
          <a:solidFill>
            <a:srgbClr val="FFFFFF"/>
          </a:solidFill>
          <a:ln w="6350">
            <a:solidFill>
              <a:srgbClr val="E3E0E8"/>
            </a:solidFill>
            <a:prstDash val="solid"/>
          </a:ln>
        </p:spPr>
        <p:txBody>
          <a:bodyPr/>
          <a:lstStyle/>
          <a:p>
            <a:endParaRPr/>
          </a:p>
        </p:txBody>
      </p:sp>
      <p:sp>
        <p:nvSpPr>
          <p:cNvPr id="65" name="Text 62"/>
          <p:cNvSpPr/>
          <p:nvPr/>
        </p:nvSpPr>
        <p:spPr>
          <a:xfrm>
            <a:off x="594360" y="4389120"/>
            <a:ext cx="1188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5</a:t>
            </a:r>
            <a:endParaRPr lang="en-US" sz="1200" dirty="0"/>
          </a:p>
        </p:txBody>
      </p:sp>
      <p:sp>
        <p:nvSpPr>
          <p:cNvPr id="66" name="Shape 63"/>
          <p:cNvSpPr/>
          <p:nvPr/>
        </p:nvSpPr>
        <p:spPr>
          <a:xfrm>
            <a:off x="1874520" y="4389120"/>
            <a:ext cx="475488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1965960" y="438912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Case study, final applied assessment, peer critique</a:t>
            </a:r>
            <a:endParaRPr lang="en-US" sz="1200" dirty="0"/>
          </a:p>
        </p:txBody>
      </p:sp>
      <p:sp>
        <p:nvSpPr>
          <p:cNvPr id="68" name="Shape 65"/>
          <p:cNvSpPr/>
          <p:nvPr/>
        </p:nvSpPr>
        <p:spPr>
          <a:xfrm>
            <a:off x="6629400" y="4389120"/>
            <a:ext cx="5029200" cy="594360"/>
          </a:xfrm>
          <a:prstGeom prst="rect">
            <a:avLst/>
          </a:prstGeom>
          <a:solidFill>
            <a:srgbClr val="FFFFFF"/>
          </a:solidFill>
          <a:ln w="6350">
            <a:solidFill>
              <a:srgbClr val="E3E0E8"/>
            </a:solidFill>
            <a:prstDash val="solid"/>
          </a:ln>
        </p:spPr>
        <p:txBody>
          <a:bodyPr/>
          <a:lstStyle/>
          <a:p>
            <a:endParaRPr/>
          </a:p>
        </p:txBody>
      </p:sp>
      <p:sp>
        <p:nvSpPr>
          <p:cNvPr id="69" name="Text 66"/>
          <p:cNvSpPr/>
          <p:nvPr/>
        </p:nvSpPr>
        <p:spPr>
          <a:xfrm>
            <a:off x="6720840" y="4389120"/>
            <a:ext cx="4846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Slice-one plan + fitness test + scorecard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Every topic in the official outline, and where we cover it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Use this to confirm nothing in the programme is skipped.</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Source: Software Architecture &amp; Solution Design  Strategic Program Overview, Learning Outcomes, Tools &amp; Use Cases, Daily Learning Journey.</a:t>
            </a:r>
            <a:endParaRPr lang="en-US" sz="1050" dirty="0"/>
          </a:p>
        </p:txBody>
      </p:sp>
      <p:sp>
        <p:nvSpPr>
          <p:cNvPr id="36" name="Shape 33"/>
          <p:cNvSpPr/>
          <p:nvPr/>
        </p:nvSpPr>
        <p:spPr>
          <a:xfrm>
            <a:off x="502920" y="1508760"/>
            <a:ext cx="393192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39319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Required area</a:t>
            </a:r>
            <a:endParaRPr lang="en-US" sz="1200" dirty="0"/>
          </a:p>
        </p:txBody>
      </p:sp>
      <p:sp>
        <p:nvSpPr>
          <p:cNvPr id="38" name="Shape 35"/>
          <p:cNvSpPr/>
          <p:nvPr/>
        </p:nvSpPr>
        <p:spPr>
          <a:xfrm>
            <a:off x="4434840" y="1508760"/>
            <a:ext cx="374904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4434840" y="1508760"/>
            <a:ext cx="374904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Where we do it</a:t>
            </a:r>
            <a:endParaRPr lang="en-US" sz="1200" dirty="0"/>
          </a:p>
        </p:txBody>
      </p:sp>
      <p:sp>
        <p:nvSpPr>
          <p:cNvPr id="40" name="Shape 37"/>
          <p:cNvSpPr/>
          <p:nvPr/>
        </p:nvSpPr>
        <p:spPr>
          <a:xfrm>
            <a:off x="8183880" y="1508760"/>
            <a:ext cx="347472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8183880" y="1508760"/>
            <a:ext cx="34747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Proof you produced</a:t>
            </a:r>
            <a:endParaRPr lang="en-US" sz="1200" dirty="0"/>
          </a:p>
        </p:txBody>
      </p:sp>
      <p:sp>
        <p:nvSpPr>
          <p:cNvPr id="42" name="Shape 39"/>
          <p:cNvSpPr/>
          <p:nvPr/>
        </p:nvSpPr>
        <p:spPr>
          <a:xfrm>
            <a:off x="502920" y="2011680"/>
            <a:ext cx="393192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594360" y="201168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Enterprise architecture frameworks</a:t>
            </a:r>
            <a:endParaRPr lang="en-US" sz="1200" dirty="0"/>
          </a:p>
        </p:txBody>
      </p:sp>
      <p:sp>
        <p:nvSpPr>
          <p:cNvPr id="44" name="Shape 41"/>
          <p:cNvSpPr/>
          <p:nvPr/>
        </p:nvSpPr>
        <p:spPr>
          <a:xfrm>
            <a:off x="4434840" y="2011680"/>
            <a:ext cx="374904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4526280" y="201168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Day 1  TOGAF, Zachman, C4</a:t>
            </a:r>
            <a:endParaRPr lang="en-US" sz="1200" dirty="0"/>
          </a:p>
        </p:txBody>
      </p:sp>
      <p:sp>
        <p:nvSpPr>
          <p:cNvPr id="46" name="Shape 43"/>
          <p:cNvSpPr/>
          <p:nvPr/>
        </p:nvSpPr>
        <p:spPr>
          <a:xfrm>
            <a:off x="8183880" y="2011680"/>
            <a:ext cx="347472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8275320" y="201168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C4 context diagram</a:t>
            </a:r>
            <a:endParaRPr lang="en-US" sz="1200" dirty="0"/>
          </a:p>
        </p:txBody>
      </p:sp>
      <p:sp>
        <p:nvSpPr>
          <p:cNvPr id="48" name="Shape 45"/>
          <p:cNvSpPr/>
          <p:nvPr/>
        </p:nvSpPr>
        <p:spPr>
          <a:xfrm>
            <a:off x="502920" y="2606040"/>
            <a:ext cx="393192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594360" y="260604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Solution design and microservices patterns</a:t>
            </a:r>
            <a:endParaRPr lang="en-US" sz="1200" dirty="0"/>
          </a:p>
        </p:txBody>
      </p:sp>
      <p:sp>
        <p:nvSpPr>
          <p:cNvPr id="50" name="Shape 47"/>
          <p:cNvSpPr/>
          <p:nvPr/>
        </p:nvSpPr>
        <p:spPr>
          <a:xfrm>
            <a:off x="4434840" y="2606040"/>
            <a:ext cx="374904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4526280" y="260604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Day 2  SOLID, DDD, decomposition</a:t>
            </a:r>
            <a:endParaRPr lang="en-US" sz="1200" dirty="0"/>
          </a:p>
        </p:txBody>
      </p:sp>
      <p:sp>
        <p:nvSpPr>
          <p:cNvPr id="52" name="Shape 49"/>
          <p:cNvSpPr/>
          <p:nvPr/>
        </p:nvSpPr>
        <p:spPr>
          <a:xfrm>
            <a:off x="8183880" y="2606040"/>
            <a:ext cx="347472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8275320" y="260604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Context map + split plan</a:t>
            </a:r>
            <a:endParaRPr lang="en-US" sz="1200" dirty="0"/>
          </a:p>
        </p:txBody>
      </p:sp>
      <p:sp>
        <p:nvSpPr>
          <p:cNvPr id="54" name="Shape 51"/>
          <p:cNvSpPr/>
          <p:nvPr/>
        </p:nvSpPr>
        <p:spPr>
          <a:xfrm>
            <a:off x="502920" y="3200400"/>
            <a:ext cx="393192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594360" y="320040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Integration patterns and API design</a:t>
            </a:r>
            <a:endParaRPr lang="en-US" sz="1200" dirty="0"/>
          </a:p>
        </p:txBody>
      </p:sp>
      <p:sp>
        <p:nvSpPr>
          <p:cNvPr id="56" name="Shape 53"/>
          <p:cNvSpPr/>
          <p:nvPr/>
        </p:nvSpPr>
        <p:spPr>
          <a:xfrm>
            <a:off x="4434840" y="3200400"/>
            <a:ext cx="374904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4526280" y="320040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Day 3  REST, events, gateway</a:t>
            </a:r>
            <a:endParaRPr lang="en-US" sz="1200" dirty="0"/>
          </a:p>
        </p:txBody>
      </p:sp>
      <p:sp>
        <p:nvSpPr>
          <p:cNvPr id="58" name="Shape 55"/>
          <p:cNvSpPr/>
          <p:nvPr/>
        </p:nvSpPr>
        <p:spPr>
          <a:xfrm>
            <a:off x="8183880" y="3200400"/>
            <a:ext cx="3474720" cy="594360"/>
          </a:xfrm>
          <a:prstGeom prst="rect">
            <a:avLst/>
          </a:prstGeom>
          <a:solidFill>
            <a:srgbClr val="FFFFFF"/>
          </a:solidFill>
          <a:ln w="6350">
            <a:solidFill>
              <a:srgbClr val="E3E0E8"/>
            </a:solidFill>
            <a:prstDash val="solid"/>
          </a:ln>
        </p:spPr>
        <p:txBody>
          <a:bodyPr/>
          <a:lstStyle/>
          <a:p>
            <a:endParaRPr/>
          </a:p>
        </p:txBody>
      </p:sp>
      <p:sp>
        <p:nvSpPr>
          <p:cNvPr id="59" name="Text 56"/>
          <p:cNvSpPr/>
          <p:nvPr/>
        </p:nvSpPr>
        <p:spPr>
          <a:xfrm>
            <a:off x="8275320" y="320040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OpenAPI file + event schema</a:t>
            </a:r>
            <a:endParaRPr lang="en-US" sz="1200" dirty="0"/>
          </a:p>
        </p:txBody>
      </p:sp>
      <p:sp>
        <p:nvSpPr>
          <p:cNvPr id="60" name="Shape 57"/>
          <p:cNvSpPr/>
          <p:nvPr/>
        </p:nvSpPr>
        <p:spPr>
          <a:xfrm>
            <a:off x="502920" y="3794760"/>
            <a:ext cx="393192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594360" y="379476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Scalability and resilience planning</a:t>
            </a:r>
            <a:endParaRPr lang="en-US" sz="1200" dirty="0"/>
          </a:p>
        </p:txBody>
      </p:sp>
      <p:sp>
        <p:nvSpPr>
          <p:cNvPr id="62" name="Shape 59"/>
          <p:cNvSpPr/>
          <p:nvPr/>
        </p:nvSpPr>
        <p:spPr>
          <a:xfrm>
            <a:off x="4434840" y="3794760"/>
            <a:ext cx="374904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4526280" y="379476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Day 4  cloud-native, k8s, SLO</a:t>
            </a:r>
            <a:endParaRPr lang="en-US" sz="1200" dirty="0"/>
          </a:p>
        </p:txBody>
      </p:sp>
      <p:sp>
        <p:nvSpPr>
          <p:cNvPr id="64" name="Shape 61"/>
          <p:cNvSpPr/>
          <p:nvPr/>
        </p:nvSpPr>
        <p:spPr>
          <a:xfrm>
            <a:off x="8183880" y="3794760"/>
            <a:ext cx="3474720" cy="594360"/>
          </a:xfrm>
          <a:prstGeom prst="rect">
            <a:avLst/>
          </a:prstGeom>
          <a:solidFill>
            <a:srgbClr val="FBFCFD"/>
          </a:solidFill>
          <a:ln w="6350">
            <a:solidFill>
              <a:srgbClr val="E3E0E8"/>
            </a:solidFill>
            <a:prstDash val="solid"/>
          </a:ln>
        </p:spPr>
        <p:txBody>
          <a:bodyPr/>
          <a:lstStyle/>
          <a:p>
            <a:endParaRPr/>
          </a:p>
        </p:txBody>
      </p:sp>
      <p:sp>
        <p:nvSpPr>
          <p:cNvPr id="65" name="Text 62"/>
          <p:cNvSpPr/>
          <p:nvPr/>
        </p:nvSpPr>
        <p:spPr>
          <a:xfrm>
            <a:off x="8275320" y="379476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Scale plan + SLO document</a:t>
            </a:r>
            <a:endParaRPr lang="en-US" sz="1200" dirty="0"/>
          </a:p>
        </p:txBody>
      </p:sp>
      <p:sp>
        <p:nvSpPr>
          <p:cNvPr id="66" name="Shape 63"/>
          <p:cNvSpPr/>
          <p:nvPr/>
        </p:nvSpPr>
        <p:spPr>
          <a:xfrm>
            <a:off x="502920" y="4389120"/>
            <a:ext cx="393192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594360" y="438912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Architecture governance and standards</a:t>
            </a:r>
            <a:endParaRPr lang="en-US" sz="1200" dirty="0"/>
          </a:p>
        </p:txBody>
      </p:sp>
      <p:sp>
        <p:nvSpPr>
          <p:cNvPr id="68" name="Shape 65"/>
          <p:cNvSpPr/>
          <p:nvPr/>
        </p:nvSpPr>
        <p:spPr>
          <a:xfrm>
            <a:off x="4434840" y="4389120"/>
            <a:ext cx="3749040" cy="594360"/>
          </a:xfrm>
          <a:prstGeom prst="rect">
            <a:avLst/>
          </a:prstGeom>
          <a:solidFill>
            <a:srgbClr val="FFFFFF"/>
          </a:solidFill>
          <a:ln w="6350">
            <a:solidFill>
              <a:srgbClr val="E3E0E8"/>
            </a:solidFill>
            <a:prstDash val="solid"/>
          </a:ln>
        </p:spPr>
        <p:txBody>
          <a:bodyPr/>
          <a:lstStyle/>
          <a:p>
            <a:endParaRPr/>
          </a:p>
        </p:txBody>
      </p:sp>
      <p:sp>
        <p:nvSpPr>
          <p:cNvPr id="69" name="Text 66"/>
          <p:cNvSpPr/>
          <p:nvPr/>
        </p:nvSpPr>
        <p:spPr>
          <a:xfrm>
            <a:off x="4526280" y="438912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Day 5  fitness functions, review</a:t>
            </a:r>
            <a:endParaRPr lang="en-US" sz="1200" dirty="0"/>
          </a:p>
        </p:txBody>
      </p:sp>
      <p:sp>
        <p:nvSpPr>
          <p:cNvPr id="70" name="Shape 67"/>
          <p:cNvSpPr/>
          <p:nvPr/>
        </p:nvSpPr>
        <p:spPr>
          <a:xfrm>
            <a:off x="8183880" y="4389120"/>
            <a:ext cx="3474720" cy="594360"/>
          </a:xfrm>
          <a:prstGeom prst="rect">
            <a:avLst/>
          </a:prstGeom>
          <a:solidFill>
            <a:srgbClr val="FFFFFF"/>
          </a:solidFill>
          <a:ln w="6350">
            <a:solidFill>
              <a:srgbClr val="E3E0E8"/>
            </a:solidFill>
            <a:prstDash val="solid"/>
          </a:ln>
        </p:spPr>
        <p:txBody>
          <a:bodyPr/>
          <a:lstStyle/>
          <a:p>
            <a:endParaRPr/>
          </a:p>
        </p:txBody>
      </p:sp>
      <p:sp>
        <p:nvSpPr>
          <p:cNvPr id="71" name="Text 68"/>
          <p:cNvSpPr/>
          <p:nvPr/>
        </p:nvSpPr>
        <p:spPr>
          <a:xfrm>
            <a:off x="8275320" y="438912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Fitness test + scorecard</a:t>
            </a:r>
            <a:endParaRPr lang="en-US" sz="1200" dirty="0"/>
          </a:p>
        </p:txBody>
      </p:sp>
      <p:sp>
        <p:nvSpPr>
          <p:cNvPr id="72" name="Shape 69"/>
          <p:cNvSpPr/>
          <p:nvPr/>
        </p:nvSpPr>
        <p:spPr>
          <a:xfrm>
            <a:off x="502920" y="4983480"/>
            <a:ext cx="393192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4360" y="4983480"/>
            <a:ext cx="3749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Legacy modernisation · Cloud-native · Integration · AI-ready · Platform engineering</a:t>
            </a:r>
            <a:endParaRPr lang="en-US" sz="1200" dirty="0"/>
          </a:p>
        </p:txBody>
      </p:sp>
      <p:sp>
        <p:nvSpPr>
          <p:cNvPr id="74" name="Shape 71"/>
          <p:cNvSpPr/>
          <p:nvPr/>
        </p:nvSpPr>
        <p:spPr>
          <a:xfrm>
            <a:off x="4434840" y="4983480"/>
            <a:ext cx="374904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4526280" y="4983480"/>
            <a:ext cx="35661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Use cases across all five days</a:t>
            </a:r>
            <a:endParaRPr lang="en-US" sz="1200" dirty="0"/>
          </a:p>
        </p:txBody>
      </p:sp>
      <p:sp>
        <p:nvSpPr>
          <p:cNvPr id="76" name="Shape 73"/>
          <p:cNvSpPr/>
          <p:nvPr/>
        </p:nvSpPr>
        <p:spPr>
          <a:xfrm>
            <a:off x="8183880" y="4983480"/>
            <a:ext cx="3474720" cy="594360"/>
          </a:xfrm>
          <a:prstGeom prst="rect">
            <a:avLst/>
          </a:prstGeom>
          <a:solidFill>
            <a:srgbClr val="FBFCFD"/>
          </a:solidFill>
          <a:ln w="6350">
            <a:solidFill>
              <a:srgbClr val="E3E0E8"/>
            </a:solidFill>
            <a:prstDash val="solid"/>
          </a:ln>
        </p:spPr>
        <p:txBody>
          <a:bodyPr/>
          <a:lstStyle/>
          <a:p>
            <a:endParaRPr/>
          </a:p>
        </p:txBody>
      </p:sp>
      <p:sp>
        <p:nvSpPr>
          <p:cNvPr id="77" name="Text 74"/>
          <p:cNvSpPr/>
          <p:nvPr/>
        </p:nvSpPr>
        <p:spPr>
          <a:xfrm>
            <a:off x="8275320" y="498348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Slice-one plan + AI-readiness check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nine documents you will produce this week</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Every one has a ready template in the labs folder. You fill it in, you do not start from a blank page.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labs / templates / *.docx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A blank page is the reason architecture documents never get written. Each template already has the headings, the questions to answer, and a filled example from Northline Shop, so a student only has to think about the content.</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Day 1</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01 Context diagram description  ·  02 Stakeholder and viewpoint map  ·  03 ADR (architecture decision record)</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Day 2</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04 Context map and bounded contexts  ·  05 Decomposition plan with a ranked first slice</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Day 3</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06 API contract description  ·  07 Event catalogue entry</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Day 4</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08 Service level objective, with error budget and stop rule</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Day 5</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09 Architecture review scorecard, used for the peer critique</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Hand out the templates on Day 1, not on Day 5. People write better when they can see the shape of the finished document.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1414455" y="0"/>
            <a:ext cx="777240" cy="6858000"/>
          </a:xfrm>
          <a:prstGeom prst="rect">
            <a:avLst/>
          </a:prstGeom>
          <a:solidFill>
            <a:srgbClr val="5F1B3C"/>
          </a:solidFill>
          <a:ln/>
        </p:spPr>
        <p:txBody>
          <a:bodyPr/>
          <a:lstStyle/>
          <a:p>
            <a:endParaRPr/>
          </a:p>
        </p:txBody>
      </p:sp>
      <p:sp>
        <p:nvSpPr>
          <p:cNvPr id="7" name="Shape 5"/>
          <p:cNvSpPr/>
          <p:nvPr/>
        </p:nvSpPr>
        <p:spPr>
          <a:xfrm>
            <a:off x="868680" y="1691640"/>
            <a:ext cx="502920" cy="73152"/>
          </a:xfrm>
          <a:prstGeom prst="rect">
            <a:avLst/>
          </a:prstGeom>
          <a:solidFill>
            <a:srgbClr val="43BFB8"/>
          </a:solidFill>
          <a:ln/>
        </p:spPr>
        <p:txBody>
          <a:bodyPr/>
          <a:lstStyle/>
          <a:p>
            <a:endParaRPr/>
          </a:p>
        </p:txBody>
      </p:sp>
      <p:sp>
        <p:nvSpPr>
          <p:cNvPr id="8" name="Text 6"/>
          <p:cNvSpPr/>
          <p:nvPr/>
        </p:nvSpPr>
        <p:spPr>
          <a:xfrm>
            <a:off x="868680" y="1783080"/>
            <a:ext cx="3657600" cy="320040"/>
          </a:xfrm>
          <a:prstGeom prst="rect">
            <a:avLst/>
          </a:prstGeom>
          <a:noFill/>
          <a:ln/>
        </p:spPr>
        <p:txBody>
          <a:bodyPr wrap="square" rtlCol="0" anchor="ctr"/>
          <a:lstStyle/>
          <a:p>
            <a:pPr marL="0" indent="0">
              <a:buNone/>
            </a:pPr>
            <a:r>
              <a:rPr lang="en-US" sz="1200" b="1" kern="0" spc="400" dirty="0">
                <a:solidFill>
                  <a:srgbClr val="5F1B3C"/>
                </a:solidFill>
                <a:latin typeface="Segoe UI" pitchFamily="34" charset="0"/>
                <a:ea typeface="Segoe UI" pitchFamily="34" charset="-122"/>
                <a:cs typeface="Segoe UI" pitchFamily="34" charset="-120"/>
              </a:rPr>
              <a:t>DAY 1</a:t>
            </a:r>
            <a:endParaRPr lang="en-US" sz="1200" dirty="0"/>
          </a:p>
        </p:txBody>
      </p:sp>
      <p:sp>
        <p:nvSpPr>
          <p:cNvPr id="9" name="Text 7"/>
          <p:cNvSpPr/>
          <p:nvPr/>
        </p:nvSpPr>
        <p:spPr>
          <a:xfrm>
            <a:off x="822960" y="2331720"/>
            <a:ext cx="2377440" cy="2194560"/>
          </a:xfrm>
          <a:prstGeom prst="rect">
            <a:avLst/>
          </a:prstGeom>
          <a:noFill/>
          <a:ln/>
        </p:spPr>
        <p:txBody>
          <a:bodyPr wrap="square" rtlCol="0" anchor="t"/>
          <a:lstStyle/>
          <a:p>
            <a:pPr marL="0" indent="0" algn="l">
              <a:buNone/>
            </a:pPr>
            <a:r>
              <a:rPr lang="en-US" sz="9600" b="1" dirty="0">
                <a:solidFill>
                  <a:srgbClr val="5F1B3C"/>
                </a:solidFill>
                <a:latin typeface="Segoe UI" pitchFamily="34" charset="0"/>
                <a:ea typeface="Segoe UI" pitchFamily="34" charset="-122"/>
                <a:cs typeface="Segoe UI" pitchFamily="34" charset="-120"/>
              </a:rPr>
              <a:t>01</a:t>
            </a:r>
            <a:endParaRPr lang="en-US" sz="9600" dirty="0"/>
          </a:p>
        </p:txBody>
      </p:sp>
      <p:sp>
        <p:nvSpPr>
          <p:cNvPr id="10" name="Text 8"/>
          <p:cNvSpPr/>
          <p:nvPr/>
        </p:nvSpPr>
        <p:spPr>
          <a:xfrm>
            <a:off x="3108960" y="2468880"/>
            <a:ext cx="7680960" cy="777240"/>
          </a:xfrm>
          <a:prstGeom prst="rect">
            <a:avLst/>
          </a:prstGeom>
          <a:noFill/>
          <a:ln/>
        </p:spPr>
        <p:txBody>
          <a:bodyPr wrap="square" rtlCol="0" anchor="t"/>
          <a:lstStyle/>
          <a:p>
            <a:pPr marL="0" indent="0" algn="l">
              <a:lnSpc>
                <a:spcPct val="110000"/>
              </a:lnSpc>
              <a:buNone/>
            </a:pPr>
            <a:r>
              <a:rPr lang="en-US" sz="3000" b="1" dirty="0">
                <a:solidFill>
                  <a:srgbClr val="5F1B3C"/>
                </a:solidFill>
                <a:latin typeface="Segoe UI" pitchFamily="34" charset="0"/>
                <a:ea typeface="Segoe UI" pitchFamily="34" charset="-122"/>
                <a:cs typeface="Segoe UI" pitchFamily="34" charset="-120"/>
              </a:rPr>
              <a:t>Enterprise architecture fundamentals</a:t>
            </a:r>
            <a:endParaRPr lang="en-US" sz="3000" dirty="0"/>
          </a:p>
        </p:txBody>
      </p:sp>
      <p:sp>
        <p:nvSpPr>
          <p:cNvPr id="11" name="Text 9"/>
          <p:cNvSpPr/>
          <p:nvPr/>
        </p:nvSpPr>
        <p:spPr>
          <a:xfrm>
            <a:off x="3108960" y="3337560"/>
            <a:ext cx="7680960" cy="1463040"/>
          </a:xfrm>
          <a:prstGeom prst="rect">
            <a:avLst/>
          </a:prstGeom>
          <a:noFill/>
          <a:ln/>
        </p:spPr>
        <p:txBody>
          <a:bodyPr wrap="square" rtlCol="0" anchor="t"/>
          <a:lstStyle/>
          <a:p>
            <a:pPr marL="0" indent="0" algn="l">
              <a:lnSpc>
                <a:spcPct val="125000"/>
              </a:lnSpc>
              <a:buNone/>
            </a:pPr>
            <a:r>
              <a:rPr lang="en-US" sz="1400" dirty="0">
                <a:solidFill>
                  <a:srgbClr val="2F9992"/>
                </a:solidFill>
                <a:latin typeface="Segoe UI" pitchFamily="34" charset="0"/>
                <a:ea typeface="Segoe UI" pitchFamily="34" charset="-122"/>
                <a:cs typeface="Segoe UI" pitchFamily="34" charset="-120"/>
              </a:rPr>
              <a:t>What architecture is. The four domains. Frameworks. Stakeholders. The first written decision.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1 what you will be able to do tonight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We read this list now, and we check it again at 13:50.</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a:t>
            </a:r>
            <a:endParaRPr lang="en-US" sz="1000" dirty="0"/>
          </a:p>
        </p:txBody>
      </p:sp>
      <p:sp>
        <p:nvSpPr>
          <p:cNvPr id="34" name="Shape 31"/>
          <p:cNvSpPr/>
          <p:nvPr/>
        </p:nvSpPr>
        <p:spPr>
          <a:xfrm>
            <a:off x="502920" y="1389888"/>
            <a:ext cx="402336" cy="402336"/>
          </a:xfrm>
          <a:prstGeom prst="ellipse">
            <a:avLst/>
          </a:prstGeom>
          <a:solidFill>
            <a:srgbClr val="5F1B3C"/>
          </a:solidFill>
          <a:ln/>
        </p:spPr>
        <p:txBody>
          <a:bodyPr/>
          <a:lstStyle/>
          <a:p>
            <a:endParaRPr/>
          </a:p>
        </p:txBody>
      </p:sp>
      <p:sp>
        <p:nvSpPr>
          <p:cNvPr id="35"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6"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Explain the difference between code design, solution architecture, and enterprise architecture.</a:t>
            </a:r>
            <a:endParaRPr lang="en-US" sz="1600" dirty="0"/>
          </a:p>
        </p:txBody>
      </p:sp>
      <p:sp>
        <p:nvSpPr>
          <p:cNvPr id="37" name="Shape 34"/>
          <p:cNvSpPr/>
          <p:nvPr/>
        </p:nvSpPr>
        <p:spPr>
          <a:xfrm>
            <a:off x="502920" y="2103120"/>
            <a:ext cx="402336" cy="402336"/>
          </a:xfrm>
          <a:prstGeom prst="ellipse">
            <a:avLst/>
          </a:prstGeom>
          <a:solidFill>
            <a:srgbClr val="5F1B3C"/>
          </a:solidFill>
          <a:ln/>
        </p:spPr>
        <p:txBody>
          <a:bodyPr/>
          <a:lstStyle/>
          <a:p>
            <a:endParaRPr/>
          </a:p>
        </p:txBody>
      </p:sp>
      <p:sp>
        <p:nvSpPr>
          <p:cNvPr id="38"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9"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Put any request into one of four domains: Business, Data, Application, Technology.</a:t>
            </a:r>
            <a:endParaRPr lang="en-US" sz="1600" dirty="0"/>
          </a:p>
        </p:txBody>
      </p:sp>
      <p:sp>
        <p:nvSpPr>
          <p:cNvPr id="40" name="Shape 37"/>
          <p:cNvSpPr/>
          <p:nvPr/>
        </p:nvSpPr>
        <p:spPr>
          <a:xfrm>
            <a:off x="502920" y="2816352"/>
            <a:ext cx="402336" cy="402336"/>
          </a:xfrm>
          <a:prstGeom prst="ellipse">
            <a:avLst/>
          </a:prstGeom>
          <a:solidFill>
            <a:srgbClr val="5F1B3C"/>
          </a:solidFill>
          <a:ln/>
        </p:spPr>
        <p:txBody>
          <a:bodyPr/>
          <a:lstStyle/>
          <a:p>
            <a:endParaRPr/>
          </a:p>
        </p:txBody>
      </p:sp>
      <p:sp>
        <p:nvSpPr>
          <p:cNvPr id="41"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2"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Say when to use TOGAF, when to use Zachman, and when to use C4.</a:t>
            </a:r>
            <a:endParaRPr lang="en-US" sz="1600" dirty="0"/>
          </a:p>
        </p:txBody>
      </p:sp>
      <p:sp>
        <p:nvSpPr>
          <p:cNvPr id="43" name="Shape 40"/>
          <p:cNvSpPr/>
          <p:nvPr/>
        </p:nvSpPr>
        <p:spPr>
          <a:xfrm>
            <a:off x="502920" y="3529584"/>
            <a:ext cx="402336" cy="402336"/>
          </a:xfrm>
          <a:prstGeom prst="ellipse">
            <a:avLst/>
          </a:prstGeom>
          <a:solidFill>
            <a:srgbClr val="5F1B3C"/>
          </a:solidFill>
          <a:ln/>
        </p:spPr>
        <p:txBody>
          <a:bodyPr/>
          <a:lstStyle/>
          <a:p>
            <a:endParaRPr/>
          </a:p>
        </p:txBody>
      </p:sp>
      <p:sp>
        <p:nvSpPr>
          <p:cNvPr id="44"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5"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Draw a C4 Level 1 context diagram of Northline as it is today.</a:t>
            </a:r>
            <a:endParaRPr lang="en-US" sz="1600" dirty="0"/>
          </a:p>
        </p:txBody>
      </p:sp>
      <p:sp>
        <p:nvSpPr>
          <p:cNvPr id="46" name="Shape 43"/>
          <p:cNvSpPr/>
          <p:nvPr/>
        </p:nvSpPr>
        <p:spPr>
          <a:xfrm>
            <a:off x="502920" y="4242816"/>
            <a:ext cx="402336" cy="402336"/>
          </a:xfrm>
          <a:prstGeom prst="ellipse">
            <a:avLst/>
          </a:prstGeom>
          <a:solidFill>
            <a:srgbClr val="5F1B3C"/>
          </a:solidFill>
          <a:ln/>
        </p:spPr>
        <p:txBody>
          <a:bodyPr/>
          <a:lstStyle/>
          <a:p>
            <a:endParaRPr/>
          </a:p>
        </p:txBody>
      </p:sp>
      <p:sp>
        <p:nvSpPr>
          <p:cNvPr id="47"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8"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one Architecture Decision Record that a colleague can read without you.</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What is architecture?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We start here, not with a framework or a tool.</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Architecture is the set of important decisions about a system: what the parts are, how the parts talk to each other, and the rules that keep the system healthy while it grows.</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 decision is “important” when changing it later is expensive. That is the real test.</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Choosing a variable name is cheap to change. It is not architecture.</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Choosing who owns the customer record is expensive to change. It is architecture.</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Architecture is written down. If it lives only in one person's head, the company does not have it.</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Teams argue for months because they mix small decisions with expensive ones. Naming the level ends most of those arguments in one minute.</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say if a question is cheap or expensive to change later.</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stop fixing a company problem with a code change.</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Business and engineering look at one shared picture.</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“Give Catalog its own database” is expensive to undo, so it needs a written decision. “Rename this class” does not.</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ISO/IEC/IEEE 42010  the international standard for architecture description (viewpoints, views, decisions).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Three levels    room, building, city</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Same word “design”, three very different jobs.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12</a:t>
            </a:r>
            <a:endParaRPr lang="en-US" sz="1000" dirty="0"/>
          </a:p>
        </p:txBody>
      </p:sp>
      <p:sp>
        <p:nvSpPr>
          <p:cNvPr id="36" name="Shape 33"/>
          <p:cNvSpPr/>
          <p:nvPr/>
        </p:nvSpPr>
        <p:spPr>
          <a:xfrm>
            <a:off x="502920" y="1280160"/>
            <a:ext cx="11185855" cy="960120"/>
          </a:xfrm>
          <a:prstGeom prst="roundRect">
            <a:avLst>
              <a:gd name="adj" fmla="val 9524"/>
            </a:avLst>
          </a:prstGeom>
          <a:solidFill>
            <a:srgbClr val="FFFFFF"/>
          </a:solidFill>
          <a:ln w="19050">
            <a:solidFill>
              <a:srgbClr val="5F1B3C"/>
            </a:solidFill>
            <a:prstDash val="solid"/>
          </a:ln>
          <a:effectLst>
            <a:outerShdw blurRad="63500" dist="25400" dir="5400000" algn="bl" rotWithShape="0">
              <a:srgbClr val="1F1F1F">
                <a:alpha val="7000"/>
              </a:srgbClr>
            </a:outerShdw>
          </a:effectLst>
        </p:spPr>
        <p:txBody>
          <a:bodyPr/>
          <a:lstStyle/>
          <a:p>
            <a:endParaRPr/>
          </a:p>
        </p:txBody>
      </p:sp>
      <p:sp>
        <p:nvSpPr>
          <p:cNvPr id="37" name="Shape 34"/>
          <p:cNvSpPr/>
          <p:nvPr/>
        </p:nvSpPr>
        <p:spPr>
          <a:xfrm>
            <a:off x="502920" y="1280160"/>
            <a:ext cx="2331720" cy="960120"/>
          </a:xfrm>
          <a:prstGeom prst="rect">
            <a:avLst/>
          </a:prstGeom>
          <a:solidFill>
            <a:srgbClr val="5F1B3C"/>
          </a:solidFill>
          <a:ln/>
        </p:spPr>
        <p:txBody>
          <a:bodyPr/>
          <a:lstStyle/>
          <a:p>
            <a:endParaRPr/>
          </a:p>
        </p:txBody>
      </p:sp>
      <p:sp>
        <p:nvSpPr>
          <p:cNvPr id="38" name="Text 35"/>
          <p:cNvSpPr/>
          <p:nvPr/>
        </p:nvSpPr>
        <p:spPr>
          <a:xfrm>
            <a:off x="630936" y="1280160"/>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Enterprise</a:t>
            </a:r>
            <a:endParaRPr lang="en-US" sz="1400" dirty="0"/>
          </a:p>
        </p:txBody>
      </p:sp>
      <p:sp>
        <p:nvSpPr>
          <p:cNvPr id="39" name="Text 36"/>
          <p:cNvSpPr/>
          <p:nvPr/>
        </p:nvSpPr>
        <p:spPr>
          <a:xfrm>
            <a:off x="3017520" y="1335024"/>
            <a:ext cx="8488375"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The city plan. ALL systems in the company and the roads between them. Who owns customer data across shop, ERP and payment.</a:t>
            </a:r>
            <a:endParaRPr lang="en-US" sz="1300" dirty="0"/>
          </a:p>
        </p:txBody>
      </p:sp>
      <p:sp>
        <p:nvSpPr>
          <p:cNvPr id="40" name="Text 37"/>
          <p:cNvSpPr/>
          <p:nvPr/>
        </p:nvSpPr>
        <p:spPr>
          <a:xfrm>
            <a:off x="9814255" y="1335024"/>
            <a:ext cx="1737360" cy="274320"/>
          </a:xfrm>
          <a:prstGeom prst="rect">
            <a:avLst/>
          </a:prstGeom>
          <a:noFill/>
          <a:ln/>
        </p:spPr>
        <p:txBody>
          <a:bodyPr wrap="square" rtlCol="0" anchor="ctr"/>
          <a:lstStyle/>
          <a:p>
            <a:pPr marL="0" indent="0" algn="r">
              <a:buNone/>
            </a:pPr>
            <a:r>
              <a:rPr lang="en-US" sz="1000" b="1" dirty="0">
                <a:solidFill>
                  <a:srgbClr val="5F1B3C"/>
                </a:solidFill>
                <a:latin typeface="Segoe UI" pitchFamily="34" charset="0"/>
                <a:ea typeface="Segoe UI" pitchFamily="34" charset="-122"/>
                <a:cs typeface="Segoe UI" pitchFamily="34" charset="-120"/>
              </a:rPr>
              <a:t>CITY</a:t>
            </a:r>
            <a:endParaRPr lang="en-US" sz="1000" dirty="0"/>
          </a:p>
        </p:txBody>
      </p:sp>
      <p:sp>
        <p:nvSpPr>
          <p:cNvPr id="41" name="Shape 38"/>
          <p:cNvSpPr/>
          <p:nvPr/>
        </p:nvSpPr>
        <p:spPr>
          <a:xfrm>
            <a:off x="886968" y="2386584"/>
            <a:ext cx="10417759" cy="960120"/>
          </a:xfrm>
          <a:prstGeom prst="roundRect">
            <a:avLst>
              <a:gd name="adj" fmla="val 9524"/>
            </a:avLst>
          </a:prstGeom>
          <a:solidFill>
            <a:srgbClr val="FFFFFF"/>
          </a:solidFill>
          <a:ln w="19050">
            <a:solidFill>
              <a:srgbClr val="E76F30"/>
            </a:solidFill>
            <a:prstDash val="solid"/>
          </a:ln>
          <a:effectLst>
            <a:outerShdw blurRad="63500" dist="25400" dir="5400000" algn="bl" rotWithShape="0">
              <a:srgbClr val="1F1F1F">
                <a:alpha val="7000"/>
              </a:srgbClr>
            </a:outerShdw>
          </a:effectLst>
        </p:spPr>
        <p:txBody>
          <a:bodyPr/>
          <a:lstStyle/>
          <a:p>
            <a:endParaRPr/>
          </a:p>
        </p:txBody>
      </p:sp>
      <p:sp>
        <p:nvSpPr>
          <p:cNvPr id="42" name="Shape 39"/>
          <p:cNvSpPr/>
          <p:nvPr/>
        </p:nvSpPr>
        <p:spPr>
          <a:xfrm>
            <a:off x="886968" y="2386584"/>
            <a:ext cx="2331720" cy="960120"/>
          </a:xfrm>
          <a:prstGeom prst="rect">
            <a:avLst/>
          </a:prstGeom>
          <a:solidFill>
            <a:srgbClr val="E76F30"/>
          </a:solidFill>
          <a:ln/>
        </p:spPr>
        <p:txBody>
          <a:bodyPr/>
          <a:lstStyle/>
          <a:p>
            <a:endParaRPr/>
          </a:p>
        </p:txBody>
      </p:sp>
      <p:sp>
        <p:nvSpPr>
          <p:cNvPr id="43" name="Text 40"/>
          <p:cNvSpPr/>
          <p:nvPr/>
        </p:nvSpPr>
        <p:spPr>
          <a:xfrm>
            <a:off x="1014984" y="2386584"/>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Solution</a:t>
            </a:r>
            <a:endParaRPr lang="en-US" sz="1400" dirty="0"/>
          </a:p>
        </p:txBody>
      </p:sp>
      <p:sp>
        <p:nvSpPr>
          <p:cNvPr id="44" name="Text 41"/>
          <p:cNvSpPr/>
          <p:nvPr/>
        </p:nvSpPr>
        <p:spPr>
          <a:xfrm>
            <a:off x="3401568" y="2441448"/>
            <a:ext cx="7720279"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One building. One system: its modules, its APIs, its database, how it is deployed and scaled.</a:t>
            </a:r>
            <a:endParaRPr lang="en-US" sz="1300" dirty="0"/>
          </a:p>
        </p:txBody>
      </p:sp>
      <p:sp>
        <p:nvSpPr>
          <p:cNvPr id="45" name="Text 42"/>
          <p:cNvSpPr/>
          <p:nvPr/>
        </p:nvSpPr>
        <p:spPr>
          <a:xfrm>
            <a:off x="9430207" y="2441448"/>
            <a:ext cx="1737360" cy="274320"/>
          </a:xfrm>
          <a:prstGeom prst="rect">
            <a:avLst/>
          </a:prstGeom>
          <a:noFill/>
          <a:ln/>
        </p:spPr>
        <p:txBody>
          <a:bodyPr wrap="square" rtlCol="0" anchor="ctr"/>
          <a:lstStyle/>
          <a:p>
            <a:pPr marL="0" indent="0" algn="r">
              <a:buNone/>
            </a:pPr>
            <a:r>
              <a:rPr lang="en-US" sz="1000" b="1" dirty="0">
                <a:solidFill>
                  <a:srgbClr val="E76F30"/>
                </a:solidFill>
                <a:latin typeface="Segoe UI" pitchFamily="34" charset="0"/>
                <a:ea typeface="Segoe UI" pitchFamily="34" charset="-122"/>
                <a:cs typeface="Segoe UI" pitchFamily="34" charset="-120"/>
              </a:rPr>
              <a:t>BUILDING</a:t>
            </a:r>
            <a:endParaRPr lang="en-US" sz="1000" dirty="0"/>
          </a:p>
        </p:txBody>
      </p:sp>
      <p:sp>
        <p:nvSpPr>
          <p:cNvPr id="46" name="Shape 43"/>
          <p:cNvSpPr/>
          <p:nvPr/>
        </p:nvSpPr>
        <p:spPr>
          <a:xfrm>
            <a:off x="1271016" y="3493008"/>
            <a:ext cx="9649663" cy="960120"/>
          </a:xfrm>
          <a:prstGeom prst="roundRect">
            <a:avLst>
              <a:gd name="adj" fmla="val 9524"/>
            </a:avLst>
          </a:prstGeom>
          <a:solidFill>
            <a:srgbClr val="FFFFFF"/>
          </a:solidFill>
          <a:ln w="19050">
            <a:solidFill>
              <a:srgbClr val="4A7DE0"/>
            </a:solidFill>
            <a:prstDash val="solid"/>
          </a:ln>
          <a:effectLst>
            <a:outerShdw blurRad="63500" dist="25400" dir="5400000" algn="bl" rotWithShape="0">
              <a:srgbClr val="1F1F1F">
                <a:alpha val="7000"/>
              </a:srgbClr>
            </a:outerShdw>
          </a:effectLst>
        </p:spPr>
        <p:txBody>
          <a:bodyPr/>
          <a:lstStyle/>
          <a:p>
            <a:endParaRPr/>
          </a:p>
        </p:txBody>
      </p:sp>
      <p:sp>
        <p:nvSpPr>
          <p:cNvPr id="47" name="Shape 44"/>
          <p:cNvSpPr/>
          <p:nvPr/>
        </p:nvSpPr>
        <p:spPr>
          <a:xfrm>
            <a:off x="1271016" y="3493008"/>
            <a:ext cx="2331720" cy="960120"/>
          </a:xfrm>
          <a:prstGeom prst="rect">
            <a:avLst/>
          </a:prstGeom>
          <a:solidFill>
            <a:srgbClr val="4A7DE0"/>
          </a:solidFill>
          <a:ln/>
        </p:spPr>
        <p:txBody>
          <a:bodyPr/>
          <a:lstStyle/>
          <a:p>
            <a:endParaRPr/>
          </a:p>
        </p:txBody>
      </p:sp>
      <p:sp>
        <p:nvSpPr>
          <p:cNvPr id="48" name="Text 45"/>
          <p:cNvSpPr/>
          <p:nvPr/>
        </p:nvSpPr>
        <p:spPr>
          <a:xfrm>
            <a:off x="1399032" y="3493008"/>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Code design</a:t>
            </a:r>
            <a:endParaRPr lang="en-US" sz="1400" dirty="0"/>
          </a:p>
        </p:txBody>
      </p:sp>
      <p:sp>
        <p:nvSpPr>
          <p:cNvPr id="49" name="Text 46"/>
          <p:cNvSpPr/>
          <p:nvPr/>
        </p:nvSpPr>
        <p:spPr>
          <a:xfrm>
            <a:off x="3785616" y="3547872"/>
            <a:ext cx="6952183"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One room. Classes, functions, files inside a single program.</a:t>
            </a:r>
            <a:endParaRPr lang="en-US" sz="1300" dirty="0"/>
          </a:p>
        </p:txBody>
      </p:sp>
      <p:sp>
        <p:nvSpPr>
          <p:cNvPr id="50" name="Text 47"/>
          <p:cNvSpPr/>
          <p:nvPr/>
        </p:nvSpPr>
        <p:spPr>
          <a:xfrm>
            <a:off x="9046159" y="3547872"/>
            <a:ext cx="1737360" cy="274320"/>
          </a:xfrm>
          <a:prstGeom prst="rect">
            <a:avLst/>
          </a:prstGeom>
          <a:noFill/>
          <a:ln/>
        </p:spPr>
        <p:txBody>
          <a:bodyPr wrap="square" rtlCol="0" anchor="ctr"/>
          <a:lstStyle/>
          <a:p>
            <a:pPr marL="0" indent="0" algn="r">
              <a:buNone/>
            </a:pPr>
            <a:r>
              <a:rPr lang="en-US" sz="1000" b="1" dirty="0">
                <a:solidFill>
                  <a:srgbClr val="4A7DE0"/>
                </a:solidFill>
                <a:latin typeface="Segoe UI" pitchFamily="34" charset="0"/>
                <a:ea typeface="Segoe UI" pitchFamily="34" charset="-122"/>
                <a:cs typeface="Segoe UI" pitchFamily="34" charset="-120"/>
              </a:rPr>
              <a:t>ROOM</a:t>
            </a:r>
            <a:endParaRPr lang="en-US" sz="1000" dirty="0"/>
          </a:p>
        </p:txBody>
      </p:sp>
      <p:sp>
        <p:nvSpPr>
          <p:cNvPr id="51" name="Shape 48"/>
          <p:cNvSpPr/>
          <p:nvPr/>
        </p:nvSpPr>
        <p:spPr>
          <a:xfrm>
            <a:off x="502920" y="4636008"/>
            <a:ext cx="11185855" cy="713232"/>
          </a:xfrm>
          <a:prstGeom prst="roundRect">
            <a:avLst>
              <a:gd name="adj" fmla="val 11538"/>
            </a:avLst>
          </a:prstGeom>
          <a:solidFill>
            <a:srgbClr val="E1F5EC"/>
          </a:solidFill>
          <a:ln/>
        </p:spPr>
        <p:txBody>
          <a:bodyPr/>
          <a:lstStyle/>
          <a:p>
            <a:endParaRPr/>
          </a:p>
        </p:txBody>
      </p:sp>
      <p:sp>
        <p:nvSpPr>
          <p:cNvPr id="52" name="Shape 49"/>
          <p:cNvSpPr/>
          <p:nvPr/>
        </p:nvSpPr>
        <p:spPr>
          <a:xfrm>
            <a:off x="502920" y="4636008"/>
            <a:ext cx="100584" cy="713232"/>
          </a:xfrm>
          <a:prstGeom prst="rect">
            <a:avLst/>
          </a:prstGeom>
          <a:solidFill>
            <a:srgbClr val="1F8F65"/>
          </a:solidFill>
          <a:ln/>
        </p:spPr>
        <p:txBody>
          <a:bodyPr/>
          <a:lstStyle/>
          <a:p>
            <a:endParaRPr/>
          </a:p>
        </p:txBody>
      </p:sp>
      <p:sp>
        <p:nvSpPr>
          <p:cNvPr id="53" name="Text 50"/>
          <p:cNvSpPr/>
          <p:nvPr/>
        </p:nvSpPr>
        <p:spPr>
          <a:xfrm>
            <a:off x="740664" y="4636008"/>
            <a:ext cx="10783519" cy="713232"/>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Say the level out loud before you propose a change. A city problem is never solved by moving furniture in one room.</a:t>
            </a:r>
            <a:endParaRPr lang="en-US" sz="1250" dirty="0"/>
          </a:p>
        </p:txBody>
      </p:sp>
      <p:sp>
        <p:nvSpPr>
          <p:cNvPr id="54" name="Shape 51"/>
          <p:cNvSpPr/>
          <p:nvPr/>
        </p:nvSpPr>
        <p:spPr>
          <a:xfrm>
            <a:off x="502920" y="5532120"/>
            <a:ext cx="54864" cy="201168"/>
          </a:xfrm>
          <a:prstGeom prst="rect">
            <a:avLst/>
          </a:prstGeom>
          <a:solidFill>
            <a:srgbClr val="43BFB8"/>
          </a:solidFill>
          <a:ln/>
        </p:spPr>
        <p:txBody>
          <a:bodyPr/>
          <a:lstStyle/>
          <a:p>
            <a:endParaRPr/>
          </a:p>
        </p:txBody>
      </p:sp>
      <p:sp>
        <p:nvSpPr>
          <p:cNvPr id="55" name="Text 52"/>
          <p:cNvSpPr/>
          <p:nvPr/>
        </p:nvSpPr>
        <p:spPr>
          <a:xfrm>
            <a:off x="667512" y="5440680"/>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The C4 model uses the same idea as zoom levels: Context, Container, Component, Code  c4model.com</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name the level</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10 minutes, in pairs. No drawing yet  only sorting.</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13</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Draw three columns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 paper: Code design | Solution architecture | Enterprise architecture.</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Sort four sentences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1) Add a private method. 2) Give Catalog its own database. 3) Move all shops onto one payment partner. 4) Change a button colour.</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Ask the cost question</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For each one: how long would it take to undo this in six months?</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Defend the hardest one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Each pair says one sentence out loud and why they placed it there.</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Worked example    sentence 2</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"Give Catalog its own database"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Level  : Solution architecture (one building)</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Why    : it changes data ownership and the way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checkout reads product information.</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Undo   : weeks  data must be merged back.</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Not code design : it is more than a rename.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Not enterprise  : unless every system in the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company must follow the rule.</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All four sentences placed in a column, each with a rough undo time in days, weeks or months.</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Sentences 1 and 4 = code design. 2 = solution architecture. 3 = enterprise architecture. Best practice: name the level and the undo cost before you propose the change.</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Reference: ISO/IEC/IEEE 42010 (architecture decisions and rationale).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four architecture domains    BDAT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Every request belongs to one main box before we design anything.</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14</a:t>
            </a:r>
            <a:endParaRPr lang="en-US" sz="1000" dirty="0"/>
          </a:p>
        </p:txBody>
      </p:sp>
      <p:sp>
        <p:nvSpPr>
          <p:cNvPr id="36" name="Shape 33"/>
          <p:cNvSpPr/>
          <p:nvPr/>
        </p:nvSpPr>
        <p:spPr>
          <a:xfrm>
            <a:off x="685800" y="1463040"/>
            <a:ext cx="4937760" cy="1417320"/>
          </a:xfrm>
          <a:prstGeom prst="roundRect">
            <a:avLst>
              <a:gd name="adj" fmla="val 6452"/>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685800" y="1554480"/>
            <a:ext cx="4937760" cy="123444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BUSINESS</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what the company does</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capabilities, processes</a:t>
            </a:r>
            <a:endParaRPr lang="en-US" sz="1300" dirty="0"/>
          </a:p>
        </p:txBody>
      </p:sp>
      <p:sp>
        <p:nvSpPr>
          <p:cNvPr id="38" name="Shape 35"/>
          <p:cNvSpPr/>
          <p:nvPr/>
        </p:nvSpPr>
        <p:spPr>
          <a:xfrm>
            <a:off x="6217920" y="1463040"/>
            <a:ext cx="4937760" cy="1417320"/>
          </a:xfrm>
          <a:prstGeom prst="roundRect">
            <a:avLst>
              <a:gd name="adj" fmla="val 6452"/>
            </a:avLst>
          </a:prstGeom>
          <a:solidFill>
            <a:srgbClr val="E7EEFC"/>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6217920" y="1554480"/>
            <a:ext cx="4937760" cy="1234440"/>
          </a:xfrm>
          <a:prstGeom prst="rect">
            <a:avLst/>
          </a:prstGeom>
          <a:noFill/>
          <a:ln/>
        </p:spPr>
        <p:txBody>
          <a:bodyPr wrap="square" rtlCol="0" anchor="ctr"/>
          <a:lstStyle/>
          <a:p>
            <a:pPr marL="0" indent="0" algn="ctr">
              <a:buNone/>
            </a:pPr>
            <a:r>
              <a:rPr lang="en-US" sz="1300" b="1" dirty="0">
                <a:solidFill>
                  <a:srgbClr val="4A7DE0"/>
                </a:solidFill>
                <a:latin typeface="Segoe UI" pitchFamily="34" charset="0"/>
                <a:ea typeface="Segoe UI" pitchFamily="34" charset="-122"/>
                <a:cs typeface="Segoe UI" pitchFamily="34" charset="-120"/>
              </a:rPr>
              <a:t>DATA</a:t>
            </a:r>
            <a:endParaRPr lang="en-US" sz="1300" dirty="0"/>
          </a:p>
          <a:p>
            <a:pPr marL="0" indent="0" algn="ctr">
              <a:buNone/>
            </a:pPr>
            <a:r>
              <a:rPr lang="en-US" sz="1300" b="1" dirty="0">
                <a:solidFill>
                  <a:srgbClr val="4A7DE0"/>
                </a:solidFill>
                <a:latin typeface="Segoe UI" pitchFamily="34" charset="0"/>
                <a:ea typeface="Segoe UI" pitchFamily="34" charset="-122"/>
                <a:cs typeface="Segoe UI" pitchFamily="34" charset="-120"/>
              </a:rPr>
              <a:t>what facts we keep</a:t>
            </a:r>
            <a:endParaRPr lang="en-US" sz="1300" dirty="0"/>
          </a:p>
          <a:p>
            <a:pPr marL="0" indent="0" algn="ctr">
              <a:buNone/>
            </a:pPr>
            <a:r>
              <a:rPr lang="en-US" sz="1300" b="1" dirty="0">
                <a:solidFill>
                  <a:srgbClr val="4A7DE0"/>
                </a:solidFill>
                <a:latin typeface="Segoe UI" pitchFamily="34" charset="0"/>
                <a:ea typeface="Segoe UI" pitchFamily="34" charset="-122"/>
                <a:cs typeface="Segoe UI" pitchFamily="34" charset="-120"/>
              </a:rPr>
              <a:t>who may write them</a:t>
            </a:r>
            <a:endParaRPr lang="en-US" sz="1300" dirty="0"/>
          </a:p>
        </p:txBody>
      </p:sp>
      <p:sp>
        <p:nvSpPr>
          <p:cNvPr id="40" name="Shape 37"/>
          <p:cNvSpPr/>
          <p:nvPr/>
        </p:nvSpPr>
        <p:spPr>
          <a:xfrm>
            <a:off x="685800" y="3291840"/>
            <a:ext cx="4937760" cy="1417320"/>
          </a:xfrm>
          <a:prstGeom prst="roundRect">
            <a:avLst>
              <a:gd name="adj" fmla="val 6452"/>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685800" y="3383280"/>
            <a:ext cx="4937760" cy="123444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APPLICATION</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which software does the work</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NorthlineCore, mobile app, ERP</a:t>
            </a:r>
            <a:endParaRPr lang="en-US" sz="1300" dirty="0"/>
          </a:p>
        </p:txBody>
      </p:sp>
      <p:sp>
        <p:nvSpPr>
          <p:cNvPr id="42" name="Shape 39"/>
          <p:cNvSpPr/>
          <p:nvPr/>
        </p:nvSpPr>
        <p:spPr>
          <a:xfrm>
            <a:off x="6217920" y="3291840"/>
            <a:ext cx="4937760" cy="1417320"/>
          </a:xfrm>
          <a:prstGeom prst="roundRect">
            <a:avLst>
              <a:gd name="adj" fmla="val 6452"/>
            </a:avLst>
          </a:prstGeom>
          <a:solidFill>
            <a:srgbClr val="E4F5F3"/>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6217920" y="3383280"/>
            <a:ext cx="4937760" cy="123444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TECHNOLOGY</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where it runs</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cloud, network, security</a:t>
            </a:r>
            <a:endParaRPr lang="en-US" sz="1300" dirty="0"/>
          </a:p>
        </p:txBody>
      </p:sp>
      <p:sp>
        <p:nvSpPr>
          <p:cNvPr id="44" name="Shape 41"/>
          <p:cNvSpPr/>
          <p:nvPr/>
        </p:nvSpPr>
        <p:spPr>
          <a:xfrm>
            <a:off x="5623560" y="2171700"/>
            <a:ext cx="594360" cy="914"/>
          </a:xfrm>
          <a:prstGeom prst="line">
            <a:avLst/>
          </a:prstGeom>
          <a:noFill/>
          <a:ln w="19050">
            <a:solidFill>
              <a:srgbClr val="6E637A"/>
            </a:solidFill>
            <a:prstDash val="solid"/>
            <a:tailEnd type="triangle"/>
          </a:ln>
        </p:spPr>
        <p:txBody>
          <a:bodyPr/>
          <a:lstStyle/>
          <a:p>
            <a:endParaRPr/>
          </a:p>
        </p:txBody>
      </p:sp>
      <p:sp>
        <p:nvSpPr>
          <p:cNvPr id="45" name="Shape 42"/>
          <p:cNvSpPr/>
          <p:nvPr/>
        </p:nvSpPr>
        <p:spPr>
          <a:xfrm>
            <a:off x="3154680" y="2880360"/>
            <a:ext cx="914" cy="411480"/>
          </a:xfrm>
          <a:prstGeom prst="line">
            <a:avLst/>
          </a:prstGeom>
          <a:noFill/>
          <a:ln w="19050">
            <a:solidFill>
              <a:srgbClr val="6E637A"/>
            </a:solidFill>
            <a:prstDash val="solid"/>
            <a:tailEnd type="triangle"/>
          </a:ln>
        </p:spPr>
        <p:txBody>
          <a:bodyPr/>
          <a:lstStyle/>
          <a:p>
            <a:endParaRPr/>
          </a:p>
        </p:txBody>
      </p:sp>
      <p:sp>
        <p:nvSpPr>
          <p:cNvPr id="46" name="Shape 43"/>
          <p:cNvSpPr/>
          <p:nvPr/>
        </p:nvSpPr>
        <p:spPr>
          <a:xfrm>
            <a:off x="8686800" y="2880360"/>
            <a:ext cx="914" cy="411480"/>
          </a:xfrm>
          <a:prstGeom prst="line">
            <a:avLst/>
          </a:prstGeom>
          <a:noFill/>
          <a:ln w="19050">
            <a:solidFill>
              <a:srgbClr val="6E637A"/>
            </a:solidFill>
            <a:prstDash val="solid"/>
            <a:tailEnd type="triangle"/>
          </a:ln>
        </p:spPr>
        <p:txBody>
          <a:bodyPr/>
          <a:lstStyle/>
          <a:p>
            <a:endParaRPr/>
          </a:p>
        </p:txBody>
      </p:sp>
      <p:sp>
        <p:nvSpPr>
          <p:cNvPr id="47" name="Shape 44"/>
          <p:cNvSpPr/>
          <p:nvPr/>
        </p:nvSpPr>
        <p:spPr>
          <a:xfrm>
            <a:off x="5623560" y="4000500"/>
            <a:ext cx="594360" cy="914"/>
          </a:xfrm>
          <a:prstGeom prst="line">
            <a:avLst/>
          </a:prstGeom>
          <a:noFill/>
          <a:ln w="19050">
            <a:solidFill>
              <a:srgbClr val="6E637A"/>
            </a:solidFill>
            <a:prstDash val="solid"/>
            <a:tailEnd type="triangle"/>
          </a:ln>
        </p:spPr>
        <p:txBody>
          <a:bodyPr/>
          <a:lstStyle/>
          <a:p>
            <a:endParaRPr/>
          </a:p>
        </p:txBody>
      </p:sp>
      <p:sp>
        <p:nvSpPr>
          <p:cNvPr id="48" name="Shape 45"/>
          <p:cNvSpPr/>
          <p:nvPr/>
        </p:nvSpPr>
        <p:spPr>
          <a:xfrm>
            <a:off x="5234940" y="2043684"/>
            <a:ext cx="137160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49" name="Text 46"/>
          <p:cNvSpPr/>
          <p:nvPr/>
        </p:nvSpPr>
        <p:spPr>
          <a:xfrm>
            <a:off x="5234940" y="2043684"/>
            <a:ext cx="137160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needs facts</a:t>
            </a:r>
            <a:endParaRPr lang="en-US" sz="950" dirty="0"/>
          </a:p>
        </p:txBody>
      </p:sp>
      <p:sp>
        <p:nvSpPr>
          <p:cNvPr id="50" name="Shape 47"/>
          <p:cNvSpPr/>
          <p:nvPr/>
        </p:nvSpPr>
        <p:spPr>
          <a:xfrm>
            <a:off x="2423160" y="2958084"/>
            <a:ext cx="14630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1" name="Text 48"/>
          <p:cNvSpPr/>
          <p:nvPr/>
        </p:nvSpPr>
        <p:spPr>
          <a:xfrm>
            <a:off x="2423160" y="2958084"/>
            <a:ext cx="14630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is served by</a:t>
            </a:r>
            <a:endParaRPr lang="en-US" sz="950" dirty="0"/>
          </a:p>
        </p:txBody>
      </p:sp>
      <p:sp>
        <p:nvSpPr>
          <p:cNvPr id="52" name="Shape 49"/>
          <p:cNvSpPr/>
          <p:nvPr/>
        </p:nvSpPr>
        <p:spPr>
          <a:xfrm>
            <a:off x="7955280" y="2958084"/>
            <a:ext cx="14630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3" name="Text 50"/>
          <p:cNvSpPr/>
          <p:nvPr/>
        </p:nvSpPr>
        <p:spPr>
          <a:xfrm>
            <a:off x="7955280" y="2958084"/>
            <a:ext cx="14630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is stored on</a:t>
            </a:r>
            <a:endParaRPr lang="en-US" sz="950" dirty="0"/>
          </a:p>
        </p:txBody>
      </p:sp>
      <p:sp>
        <p:nvSpPr>
          <p:cNvPr id="54" name="Shape 51"/>
          <p:cNvSpPr/>
          <p:nvPr/>
        </p:nvSpPr>
        <p:spPr>
          <a:xfrm>
            <a:off x="5417820" y="387248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5" name="Text 52"/>
          <p:cNvSpPr/>
          <p:nvPr/>
        </p:nvSpPr>
        <p:spPr>
          <a:xfrm>
            <a:off x="5417820" y="387248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runs on</a:t>
            </a:r>
            <a:endParaRPr lang="en-US" sz="950" dirty="0"/>
          </a:p>
        </p:txBody>
      </p:sp>
      <p:sp>
        <p:nvSpPr>
          <p:cNvPr id="56" name="Shape 53"/>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57" name="Shape 54"/>
          <p:cNvSpPr/>
          <p:nvPr/>
        </p:nvSpPr>
        <p:spPr>
          <a:xfrm>
            <a:off x="502920" y="5010912"/>
            <a:ext cx="100584" cy="731520"/>
          </a:xfrm>
          <a:prstGeom prst="rect">
            <a:avLst/>
          </a:prstGeom>
          <a:solidFill>
            <a:srgbClr val="1F8F65"/>
          </a:solidFill>
          <a:ln/>
        </p:spPr>
        <p:txBody>
          <a:bodyPr/>
          <a:lstStyle/>
          <a:p>
            <a:endParaRPr/>
          </a:p>
        </p:txBody>
      </p:sp>
      <p:sp>
        <p:nvSpPr>
          <p:cNvPr id="58" name="Text 55"/>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Sort the request into ONE main domain first, then invite only the people who own that domain.</a:t>
            </a:r>
            <a:endParaRPr lang="en-US" sz="1250" dirty="0"/>
          </a:p>
        </p:txBody>
      </p:sp>
      <p:sp>
        <p:nvSpPr>
          <p:cNvPr id="59" name="Shape 56"/>
          <p:cNvSpPr/>
          <p:nvPr/>
        </p:nvSpPr>
        <p:spPr>
          <a:xfrm>
            <a:off x="502920" y="5925312"/>
            <a:ext cx="54864" cy="201168"/>
          </a:xfrm>
          <a:prstGeom prst="rect">
            <a:avLst/>
          </a:prstGeom>
          <a:solidFill>
            <a:srgbClr val="43BFB8"/>
          </a:solidFill>
          <a:ln/>
        </p:spPr>
        <p:txBody>
          <a:bodyPr/>
          <a:lstStyle/>
          <a:p>
            <a:endParaRPr/>
          </a:p>
        </p:txBody>
      </p:sp>
      <p:sp>
        <p:nvSpPr>
          <p:cNvPr id="60" name="Text 57"/>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TOGAF Standard, 10th Edition  Business, Data, Application and Technology architectures. opengroup.org/togaf</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sort Northline pain into domains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in groups of three.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15</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four domains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Business / Data / Application / Technology across the top of a page.</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Place four real pains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Slow checkout. No owner at night. Product page and warehouse disagree on stock. A small change takes three weeks.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Circle the main domain</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A pain can touch two domains. Circle only the primary one.</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first question</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For each pain, the first question you would ask the business  not the first tool.</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Worked example</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Pain    : product page says 12 in stock,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warehouse has 3.</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Domain  : DATA  (not Technology)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Why     : two systems write the same fact.</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First question:</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Who is ALLOWED to change stock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the shop, or the warehouse?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A bigger server will not fix two writers.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Four pains, each with one circled domain and one written business question.</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Slow checkout = Application (often with Technology). No night owner = Business. Stock disagreement = Data. Three-week change = Application. Best practice: one primary domain, then list the secondary ones.</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TOGAF ADM Phases B, C and D map exactly to Business, Data/Application and Technology.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000" b="1" dirty="0">
                <a:solidFill>
                  <a:srgbClr val="5F1B3C"/>
                </a:solidFill>
                <a:latin typeface="Segoe UI" pitchFamily="34" charset="0"/>
                <a:ea typeface="Segoe UI" pitchFamily="34" charset="-122"/>
                <a:cs typeface="Segoe UI" pitchFamily="34" charset="-120"/>
              </a:rPr>
              <a:t>Architecture principles    the rules you agree once</a:t>
            </a:r>
            <a:endParaRPr lang="en-US" sz="20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Frameworks give you phases. Principles give you answers in the meeting.</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16</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An architecture principle is a short rule the company agrees in advance, so that hundreds of small decisions do not need a new argument. A good principle has a name, a rule, a reason, and what it costs you.</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Weak principle: “we prefer modern technology.” Nobody can be wrong, so it decides nothing.</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Strong principle: “one writer per fact.” It can be checked, and it will sometimes hurt.</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 principle you never refuse anything with is not a principle, it is a poster.</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Between five and ten principles is enough for a whole company. Twenty means nobody remembers any.</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Northline argues about the same three questions in every design meeting. Four written principles remove most of that argument permanently.</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write a principle in four lines: name, rule, reason, cost.</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reject a design by pointing at a principle instead of at a person.</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know the difference between a principle and a preference.</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Northline P-01  “One writer per fact.” Reason: two writers always disagree eventually. Cost: some data must be copied and synced by an event.</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TOGAF Standard  Architecture Principles (statement, rationale, implications)  ·  opengroup.org/togaf</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Which framework, and when</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Pick by the job in front of you. Fame is not a reason.</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17</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opengroup.org/togaf  ·  zachman.com  ·  c4model.com  ·  opengroup.org/archimate-forum  ·  adr.github.io</a:t>
            </a:r>
            <a:endParaRPr lang="en-US" sz="1050" dirty="0"/>
          </a:p>
        </p:txBody>
      </p:sp>
      <p:sp>
        <p:nvSpPr>
          <p:cNvPr id="36" name="Shape 33"/>
          <p:cNvSpPr/>
          <p:nvPr/>
        </p:nvSpPr>
        <p:spPr>
          <a:xfrm>
            <a:off x="502920" y="1508760"/>
            <a:ext cx="173736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173736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Framework</a:t>
            </a:r>
            <a:endParaRPr lang="en-US" sz="1200" dirty="0"/>
          </a:p>
        </p:txBody>
      </p:sp>
      <p:sp>
        <p:nvSpPr>
          <p:cNvPr id="38" name="Shape 35"/>
          <p:cNvSpPr/>
          <p:nvPr/>
        </p:nvSpPr>
        <p:spPr>
          <a:xfrm>
            <a:off x="2240280" y="1508760"/>
            <a:ext cx="365760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2240280" y="1508760"/>
            <a:ext cx="36576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What it gives you</a:t>
            </a:r>
            <a:endParaRPr lang="en-US" sz="1200" dirty="0"/>
          </a:p>
        </p:txBody>
      </p:sp>
      <p:sp>
        <p:nvSpPr>
          <p:cNvPr id="40" name="Shape 37"/>
          <p:cNvSpPr/>
          <p:nvPr/>
        </p:nvSpPr>
        <p:spPr>
          <a:xfrm>
            <a:off x="5897880" y="1508760"/>
            <a:ext cx="301752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5897880" y="1508760"/>
            <a:ext cx="30175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Use it when</a:t>
            </a:r>
            <a:endParaRPr lang="en-US" sz="1200" dirty="0"/>
          </a:p>
        </p:txBody>
      </p:sp>
      <p:sp>
        <p:nvSpPr>
          <p:cNvPr id="42" name="Shape 39"/>
          <p:cNvSpPr/>
          <p:nvPr/>
        </p:nvSpPr>
        <p:spPr>
          <a:xfrm>
            <a:off x="8915400" y="1508760"/>
            <a:ext cx="2743200" cy="502920"/>
          </a:xfrm>
          <a:prstGeom prst="rect">
            <a:avLst/>
          </a:prstGeom>
          <a:solidFill>
            <a:srgbClr val="F6F5F8"/>
          </a:solidFill>
          <a:ln w="9525">
            <a:solidFill>
              <a:srgbClr val="E3E0E8"/>
            </a:solidFill>
            <a:prstDash val="solid"/>
          </a:ln>
        </p:spPr>
        <p:txBody>
          <a:bodyPr/>
          <a:lstStyle/>
          <a:p>
            <a:endParaRPr/>
          </a:p>
        </p:txBody>
      </p:sp>
      <p:sp>
        <p:nvSpPr>
          <p:cNvPr id="43" name="Text 40"/>
          <p:cNvSpPr/>
          <p:nvPr/>
        </p:nvSpPr>
        <p:spPr>
          <a:xfrm>
            <a:off x="8915400" y="1508760"/>
            <a:ext cx="27432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Do not use it when</a:t>
            </a:r>
            <a:endParaRPr lang="en-US" sz="1200" dirty="0"/>
          </a:p>
        </p:txBody>
      </p:sp>
      <p:sp>
        <p:nvSpPr>
          <p:cNvPr id="44" name="Shape 41"/>
          <p:cNvSpPr/>
          <p:nvPr/>
        </p:nvSpPr>
        <p:spPr>
          <a:xfrm>
            <a:off x="502920" y="2011680"/>
            <a:ext cx="173736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594360" y="201168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TOGAF ADM</a:t>
            </a:r>
            <a:endParaRPr lang="en-US" sz="1200" dirty="0"/>
          </a:p>
        </p:txBody>
      </p:sp>
      <p:sp>
        <p:nvSpPr>
          <p:cNvPr id="46" name="Shape 43"/>
          <p:cNvSpPr/>
          <p:nvPr/>
        </p:nvSpPr>
        <p:spPr>
          <a:xfrm>
            <a:off x="2240280" y="2011680"/>
            <a:ext cx="365760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2331720" y="201168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Eight phases, A to H, with defined outputs</a:t>
            </a:r>
            <a:endParaRPr lang="en-US" sz="1200" dirty="0"/>
          </a:p>
        </p:txBody>
      </p:sp>
      <p:sp>
        <p:nvSpPr>
          <p:cNvPr id="48" name="Shape 45"/>
          <p:cNvSpPr/>
          <p:nvPr/>
        </p:nvSpPr>
        <p:spPr>
          <a:xfrm>
            <a:off x="5897880" y="2011680"/>
            <a:ext cx="3017520" cy="594360"/>
          </a:xfrm>
          <a:prstGeom prst="rect">
            <a:avLst/>
          </a:prstGeom>
          <a:solidFill>
            <a:srgbClr val="FFFFFF"/>
          </a:solidFill>
          <a:ln w="6350">
            <a:solidFill>
              <a:srgbClr val="E3E0E8"/>
            </a:solidFill>
            <a:prstDash val="solid"/>
          </a:ln>
        </p:spPr>
        <p:txBody>
          <a:bodyPr/>
          <a:lstStyle/>
          <a:p>
            <a:endParaRPr/>
          </a:p>
        </p:txBody>
      </p:sp>
      <p:sp>
        <p:nvSpPr>
          <p:cNvPr id="49" name="Text 46"/>
          <p:cNvSpPr/>
          <p:nvPr/>
        </p:nvSpPr>
        <p:spPr>
          <a:xfrm>
            <a:off x="5989320" y="201168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large estate with a central architecture team</a:t>
            </a:r>
            <a:endParaRPr lang="en-US" sz="1200" dirty="0"/>
          </a:p>
        </p:txBody>
      </p:sp>
      <p:sp>
        <p:nvSpPr>
          <p:cNvPr id="50" name="Shape 47"/>
          <p:cNvSpPr/>
          <p:nvPr/>
        </p:nvSpPr>
        <p:spPr>
          <a:xfrm>
            <a:off x="8915400" y="2011680"/>
            <a:ext cx="2743200" cy="594360"/>
          </a:xfrm>
          <a:prstGeom prst="rect">
            <a:avLst/>
          </a:prstGeom>
          <a:solidFill>
            <a:srgbClr val="FFFFFF"/>
          </a:solidFill>
          <a:ln w="6350">
            <a:solidFill>
              <a:srgbClr val="E3E0E8"/>
            </a:solidFill>
            <a:prstDash val="solid"/>
          </a:ln>
        </p:spPr>
        <p:txBody>
          <a:bodyPr/>
          <a:lstStyle/>
          <a:p>
            <a:endParaRPr/>
          </a:p>
        </p:txBody>
      </p:sp>
      <p:sp>
        <p:nvSpPr>
          <p:cNvPr id="51" name="Text 48"/>
          <p:cNvSpPr/>
          <p:nvPr/>
        </p:nvSpPr>
        <p:spPr>
          <a:xfrm>
            <a:off x="9006840" y="201168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need a diagram this morning</a:t>
            </a:r>
            <a:endParaRPr lang="en-US" sz="1200" dirty="0"/>
          </a:p>
        </p:txBody>
      </p:sp>
      <p:sp>
        <p:nvSpPr>
          <p:cNvPr id="52" name="Shape 49"/>
          <p:cNvSpPr/>
          <p:nvPr/>
        </p:nvSpPr>
        <p:spPr>
          <a:xfrm>
            <a:off x="502920" y="2606040"/>
            <a:ext cx="173736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594360" y="260604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Zachman</a:t>
            </a:r>
            <a:endParaRPr lang="en-US" sz="1200" dirty="0"/>
          </a:p>
        </p:txBody>
      </p:sp>
      <p:sp>
        <p:nvSpPr>
          <p:cNvPr id="54" name="Shape 51"/>
          <p:cNvSpPr/>
          <p:nvPr/>
        </p:nvSpPr>
        <p:spPr>
          <a:xfrm>
            <a:off x="2240280" y="2606040"/>
            <a:ext cx="3657600" cy="594360"/>
          </a:xfrm>
          <a:prstGeom prst="rect">
            <a:avLst/>
          </a:prstGeom>
          <a:solidFill>
            <a:srgbClr val="FBFCFD"/>
          </a:solidFill>
          <a:ln w="6350">
            <a:solidFill>
              <a:srgbClr val="E3E0E8"/>
            </a:solidFill>
            <a:prstDash val="solid"/>
          </a:ln>
        </p:spPr>
        <p:txBody>
          <a:bodyPr/>
          <a:lstStyle/>
          <a:p>
            <a:endParaRPr/>
          </a:p>
        </p:txBody>
      </p:sp>
      <p:sp>
        <p:nvSpPr>
          <p:cNvPr id="55" name="Text 52"/>
          <p:cNvSpPr/>
          <p:nvPr/>
        </p:nvSpPr>
        <p:spPr>
          <a:xfrm>
            <a:off x="2331720" y="260604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6-column matrix: What, How, Where, Who, When, Why</a:t>
            </a:r>
            <a:endParaRPr lang="en-US" sz="1200" dirty="0"/>
          </a:p>
        </p:txBody>
      </p:sp>
      <p:sp>
        <p:nvSpPr>
          <p:cNvPr id="56" name="Shape 53"/>
          <p:cNvSpPr/>
          <p:nvPr/>
        </p:nvSpPr>
        <p:spPr>
          <a:xfrm>
            <a:off x="5897880" y="2606040"/>
            <a:ext cx="3017520" cy="594360"/>
          </a:xfrm>
          <a:prstGeom prst="rect">
            <a:avLst/>
          </a:prstGeom>
          <a:solidFill>
            <a:srgbClr val="FBFCFD"/>
          </a:solidFill>
          <a:ln w="6350">
            <a:solidFill>
              <a:srgbClr val="E3E0E8"/>
            </a:solidFill>
            <a:prstDash val="solid"/>
          </a:ln>
        </p:spPr>
        <p:txBody>
          <a:bodyPr/>
          <a:lstStyle/>
          <a:p>
            <a:endParaRPr/>
          </a:p>
        </p:txBody>
      </p:sp>
      <p:sp>
        <p:nvSpPr>
          <p:cNvPr id="57" name="Text 54"/>
          <p:cNvSpPr/>
          <p:nvPr/>
        </p:nvSpPr>
        <p:spPr>
          <a:xfrm>
            <a:off x="5989320" y="260604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must find the question nobody answered</a:t>
            </a:r>
            <a:endParaRPr lang="en-US" sz="1200" dirty="0"/>
          </a:p>
        </p:txBody>
      </p:sp>
      <p:sp>
        <p:nvSpPr>
          <p:cNvPr id="58" name="Shape 55"/>
          <p:cNvSpPr/>
          <p:nvPr/>
        </p:nvSpPr>
        <p:spPr>
          <a:xfrm>
            <a:off x="8915400" y="2606040"/>
            <a:ext cx="2743200" cy="594360"/>
          </a:xfrm>
          <a:prstGeom prst="rect">
            <a:avLst/>
          </a:prstGeom>
          <a:solidFill>
            <a:srgbClr val="FBFCFD"/>
          </a:solidFill>
          <a:ln w="6350">
            <a:solidFill>
              <a:srgbClr val="E3E0E8"/>
            </a:solidFill>
            <a:prstDash val="solid"/>
          </a:ln>
        </p:spPr>
        <p:txBody>
          <a:bodyPr/>
          <a:lstStyle/>
          <a:p>
            <a:endParaRPr/>
          </a:p>
        </p:txBody>
      </p:sp>
      <p:sp>
        <p:nvSpPr>
          <p:cNvPr id="59" name="Text 56"/>
          <p:cNvSpPr/>
          <p:nvPr/>
        </p:nvSpPr>
        <p:spPr>
          <a:xfrm>
            <a:off x="9006840" y="260604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want a delivery method</a:t>
            </a:r>
            <a:endParaRPr lang="en-US" sz="1200" dirty="0"/>
          </a:p>
        </p:txBody>
      </p:sp>
      <p:sp>
        <p:nvSpPr>
          <p:cNvPr id="60" name="Shape 57"/>
          <p:cNvSpPr/>
          <p:nvPr/>
        </p:nvSpPr>
        <p:spPr>
          <a:xfrm>
            <a:off x="502920" y="3200400"/>
            <a:ext cx="1737360" cy="594360"/>
          </a:xfrm>
          <a:prstGeom prst="rect">
            <a:avLst/>
          </a:prstGeom>
          <a:solidFill>
            <a:srgbClr val="FFFFFF"/>
          </a:solidFill>
          <a:ln w="6350">
            <a:solidFill>
              <a:srgbClr val="E3E0E8"/>
            </a:solidFill>
            <a:prstDash val="solid"/>
          </a:ln>
        </p:spPr>
        <p:txBody>
          <a:bodyPr/>
          <a:lstStyle/>
          <a:p>
            <a:endParaRPr/>
          </a:p>
        </p:txBody>
      </p:sp>
      <p:sp>
        <p:nvSpPr>
          <p:cNvPr id="61" name="Text 58"/>
          <p:cNvSpPr/>
          <p:nvPr/>
        </p:nvSpPr>
        <p:spPr>
          <a:xfrm>
            <a:off x="594360" y="320040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C4 model</a:t>
            </a:r>
            <a:endParaRPr lang="en-US" sz="1200" dirty="0"/>
          </a:p>
        </p:txBody>
      </p:sp>
      <p:sp>
        <p:nvSpPr>
          <p:cNvPr id="62" name="Shape 59"/>
          <p:cNvSpPr/>
          <p:nvPr/>
        </p:nvSpPr>
        <p:spPr>
          <a:xfrm>
            <a:off x="2240280" y="3200400"/>
            <a:ext cx="3657600" cy="594360"/>
          </a:xfrm>
          <a:prstGeom prst="rect">
            <a:avLst/>
          </a:prstGeom>
          <a:solidFill>
            <a:srgbClr val="FFFFFF"/>
          </a:solidFill>
          <a:ln w="6350">
            <a:solidFill>
              <a:srgbClr val="E3E0E8"/>
            </a:solidFill>
            <a:prstDash val="solid"/>
          </a:ln>
        </p:spPr>
        <p:txBody>
          <a:bodyPr/>
          <a:lstStyle/>
          <a:p>
            <a:endParaRPr/>
          </a:p>
        </p:txBody>
      </p:sp>
      <p:sp>
        <p:nvSpPr>
          <p:cNvPr id="63" name="Text 60"/>
          <p:cNvSpPr/>
          <p:nvPr/>
        </p:nvSpPr>
        <p:spPr>
          <a:xfrm>
            <a:off x="2331720" y="320040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Four zoom levels: Context, Container, Component, Code</a:t>
            </a:r>
            <a:endParaRPr lang="en-US" sz="1200" dirty="0"/>
          </a:p>
        </p:txBody>
      </p:sp>
      <p:sp>
        <p:nvSpPr>
          <p:cNvPr id="64" name="Shape 61"/>
          <p:cNvSpPr/>
          <p:nvPr/>
        </p:nvSpPr>
        <p:spPr>
          <a:xfrm>
            <a:off x="5897880" y="3200400"/>
            <a:ext cx="3017520" cy="594360"/>
          </a:xfrm>
          <a:prstGeom prst="rect">
            <a:avLst/>
          </a:prstGeom>
          <a:solidFill>
            <a:srgbClr val="FFFFFF"/>
          </a:solidFill>
          <a:ln w="6350">
            <a:solidFill>
              <a:srgbClr val="E3E0E8"/>
            </a:solidFill>
            <a:prstDash val="solid"/>
          </a:ln>
        </p:spPr>
        <p:txBody>
          <a:bodyPr/>
          <a:lstStyle/>
          <a:p>
            <a:endParaRPr/>
          </a:p>
        </p:txBody>
      </p:sp>
      <p:sp>
        <p:nvSpPr>
          <p:cNvPr id="65" name="Text 62"/>
          <p:cNvSpPr/>
          <p:nvPr/>
        </p:nvSpPr>
        <p:spPr>
          <a:xfrm>
            <a:off x="5989320" y="320040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Engineers must draw and agree fast</a:t>
            </a:r>
            <a:endParaRPr lang="en-US" sz="1200" dirty="0"/>
          </a:p>
        </p:txBody>
      </p:sp>
      <p:sp>
        <p:nvSpPr>
          <p:cNvPr id="66" name="Shape 63"/>
          <p:cNvSpPr/>
          <p:nvPr/>
        </p:nvSpPr>
        <p:spPr>
          <a:xfrm>
            <a:off x="8915400" y="3200400"/>
            <a:ext cx="274320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9006840" y="320040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need governance and phases</a:t>
            </a:r>
            <a:endParaRPr lang="en-US" sz="1200" dirty="0"/>
          </a:p>
        </p:txBody>
      </p:sp>
      <p:sp>
        <p:nvSpPr>
          <p:cNvPr id="68" name="Shape 65"/>
          <p:cNvSpPr/>
          <p:nvPr/>
        </p:nvSpPr>
        <p:spPr>
          <a:xfrm>
            <a:off x="502920" y="3794760"/>
            <a:ext cx="1737360" cy="594360"/>
          </a:xfrm>
          <a:prstGeom prst="rect">
            <a:avLst/>
          </a:prstGeom>
          <a:solidFill>
            <a:srgbClr val="FBFCFD"/>
          </a:solidFill>
          <a:ln w="6350">
            <a:solidFill>
              <a:srgbClr val="E3E0E8"/>
            </a:solidFill>
            <a:prstDash val="solid"/>
          </a:ln>
        </p:spPr>
        <p:txBody>
          <a:bodyPr/>
          <a:lstStyle/>
          <a:p>
            <a:endParaRPr/>
          </a:p>
        </p:txBody>
      </p:sp>
      <p:sp>
        <p:nvSpPr>
          <p:cNvPr id="69" name="Text 66"/>
          <p:cNvSpPr/>
          <p:nvPr/>
        </p:nvSpPr>
        <p:spPr>
          <a:xfrm>
            <a:off x="594360" y="379476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ArchiMate</a:t>
            </a:r>
            <a:endParaRPr lang="en-US" sz="1200" dirty="0"/>
          </a:p>
        </p:txBody>
      </p:sp>
      <p:sp>
        <p:nvSpPr>
          <p:cNvPr id="70" name="Shape 67"/>
          <p:cNvSpPr/>
          <p:nvPr/>
        </p:nvSpPr>
        <p:spPr>
          <a:xfrm>
            <a:off x="2240280" y="3794760"/>
            <a:ext cx="3657600" cy="594360"/>
          </a:xfrm>
          <a:prstGeom prst="rect">
            <a:avLst/>
          </a:prstGeom>
          <a:solidFill>
            <a:srgbClr val="FBFCFD"/>
          </a:solidFill>
          <a:ln w="6350">
            <a:solidFill>
              <a:srgbClr val="E3E0E8"/>
            </a:solidFill>
            <a:prstDash val="solid"/>
          </a:ln>
        </p:spPr>
        <p:txBody>
          <a:bodyPr/>
          <a:lstStyle/>
          <a:p>
            <a:endParaRPr/>
          </a:p>
        </p:txBody>
      </p:sp>
      <p:sp>
        <p:nvSpPr>
          <p:cNvPr id="71" name="Text 68"/>
          <p:cNvSpPr/>
          <p:nvPr/>
        </p:nvSpPr>
        <p:spPr>
          <a:xfrm>
            <a:off x="2331720" y="379476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formal modelling language for all four domains</a:t>
            </a:r>
            <a:endParaRPr lang="en-US" sz="1200" dirty="0"/>
          </a:p>
        </p:txBody>
      </p:sp>
      <p:sp>
        <p:nvSpPr>
          <p:cNvPr id="72" name="Shape 69"/>
          <p:cNvSpPr/>
          <p:nvPr/>
        </p:nvSpPr>
        <p:spPr>
          <a:xfrm>
            <a:off x="5897880" y="3794760"/>
            <a:ext cx="301752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89320" y="379476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maintain a long-lived enterprise model</a:t>
            </a:r>
            <a:endParaRPr lang="en-US" sz="1200" dirty="0"/>
          </a:p>
        </p:txBody>
      </p:sp>
      <p:sp>
        <p:nvSpPr>
          <p:cNvPr id="74" name="Shape 71"/>
          <p:cNvSpPr/>
          <p:nvPr/>
        </p:nvSpPr>
        <p:spPr>
          <a:xfrm>
            <a:off x="8915400" y="3794760"/>
            <a:ext cx="274320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9006840" y="379476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The audience is a delivery team</a:t>
            </a:r>
            <a:endParaRPr lang="en-US" sz="1200" dirty="0"/>
          </a:p>
        </p:txBody>
      </p:sp>
      <p:sp>
        <p:nvSpPr>
          <p:cNvPr id="76" name="Shape 73"/>
          <p:cNvSpPr/>
          <p:nvPr/>
        </p:nvSpPr>
        <p:spPr>
          <a:xfrm>
            <a:off x="502920" y="4389120"/>
            <a:ext cx="1737360" cy="594360"/>
          </a:xfrm>
          <a:prstGeom prst="rect">
            <a:avLst/>
          </a:prstGeom>
          <a:solidFill>
            <a:srgbClr val="FFFFFF"/>
          </a:solidFill>
          <a:ln w="6350">
            <a:solidFill>
              <a:srgbClr val="E3E0E8"/>
            </a:solidFill>
            <a:prstDash val="solid"/>
          </a:ln>
        </p:spPr>
        <p:txBody>
          <a:bodyPr/>
          <a:lstStyle/>
          <a:p>
            <a:endParaRPr/>
          </a:p>
        </p:txBody>
      </p:sp>
      <p:sp>
        <p:nvSpPr>
          <p:cNvPr id="77" name="Text 74"/>
          <p:cNvSpPr/>
          <p:nvPr/>
        </p:nvSpPr>
        <p:spPr>
          <a:xfrm>
            <a:off x="594360" y="438912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ADR</a:t>
            </a:r>
            <a:endParaRPr lang="en-US" sz="1200" dirty="0"/>
          </a:p>
        </p:txBody>
      </p:sp>
      <p:sp>
        <p:nvSpPr>
          <p:cNvPr id="78" name="Shape 75"/>
          <p:cNvSpPr/>
          <p:nvPr/>
        </p:nvSpPr>
        <p:spPr>
          <a:xfrm>
            <a:off x="2240280" y="4389120"/>
            <a:ext cx="3657600" cy="594360"/>
          </a:xfrm>
          <a:prstGeom prst="rect">
            <a:avLst/>
          </a:prstGeom>
          <a:solidFill>
            <a:srgbClr val="FFFFFF"/>
          </a:solidFill>
          <a:ln w="6350">
            <a:solidFill>
              <a:srgbClr val="E3E0E8"/>
            </a:solidFill>
            <a:prstDash val="solid"/>
          </a:ln>
        </p:spPr>
        <p:txBody>
          <a:bodyPr/>
          <a:lstStyle/>
          <a:p>
            <a:endParaRPr/>
          </a:p>
        </p:txBody>
      </p:sp>
      <p:sp>
        <p:nvSpPr>
          <p:cNvPr id="79" name="Text 76"/>
          <p:cNvSpPr/>
          <p:nvPr/>
        </p:nvSpPr>
        <p:spPr>
          <a:xfrm>
            <a:off x="2331720" y="438912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page per important decision</a:t>
            </a:r>
            <a:endParaRPr lang="en-US" sz="1200" dirty="0"/>
          </a:p>
        </p:txBody>
      </p:sp>
      <p:sp>
        <p:nvSpPr>
          <p:cNvPr id="80" name="Shape 77"/>
          <p:cNvSpPr/>
          <p:nvPr/>
        </p:nvSpPr>
        <p:spPr>
          <a:xfrm>
            <a:off x="5897880" y="4389120"/>
            <a:ext cx="3017520" cy="594360"/>
          </a:xfrm>
          <a:prstGeom prst="rect">
            <a:avLst/>
          </a:prstGeom>
          <a:solidFill>
            <a:srgbClr val="FFFFFF"/>
          </a:solidFill>
          <a:ln w="6350">
            <a:solidFill>
              <a:srgbClr val="E3E0E8"/>
            </a:solidFill>
            <a:prstDash val="solid"/>
          </a:ln>
        </p:spPr>
        <p:txBody>
          <a:bodyPr/>
          <a:lstStyle/>
          <a:p>
            <a:endParaRPr/>
          </a:p>
        </p:txBody>
      </p:sp>
      <p:sp>
        <p:nvSpPr>
          <p:cNvPr id="81" name="Text 78"/>
          <p:cNvSpPr/>
          <p:nvPr/>
        </p:nvSpPr>
        <p:spPr>
          <a:xfrm>
            <a:off x="5989320" y="438912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Always. Every framework needs memory</a:t>
            </a:r>
            <a:endParaRPr lang="en-US" sz="1200" dirty="0"/>
          </a:p>
        </p:txBody>
      </p:sp>
      <p:sp>
        <p:nvSpPr>
          <p:cNvPr id="82" name="Shape 79"/>
          <p:cNvSpPr/>
          <p:nvPr/>
        </p:nvSpPr>
        <p:spPr>
          <a:xfrm>
            <a:off x="8915400" y="4389120"/>
            <a:ext cx="2743200" cy="594360"/>
          </a:xfrm>
          <a:prstGeom prst="rect">
            <a:avLst/>
          </a:prstGeom>
          <a:solidFill>
            <a:srgbClr val="FFFFFF"/>
          </a:solidFill>
          <a:ln w="6350">
            <a:solidFill>
              <a:srgbClr val="E3E0E8"/>
            </a:solidFill>
            <a:prstDash val="solid"/>
          </a:ln>
        </p:spPr>
        <p:txBody>
          <a:bodyPr/>
          <a:lstStyle/>
          <a:p>
            <a:endParaRPr/>
          </a:p>
        </p:txBody>
      </p:sp>
      <p:sp>
        <p:nvSpPr>
          <p:cNvPr id="83" name="Text 80"/>
          <p:cNvSpPr/>
          <p:nvPr/>
        </p:nvSpPr>
        <p:spPr>
          <a:xfrm>
            <a:off x="9006840" y="438912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Never  the cost is one page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TOGAF ADM    the eight phases in plain English</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You do not have to run all eight. You do have to know which one you are in.</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18</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The TOGAF Standard, 10th Edition  Architecture Development Method (ADM), phases Preliminary and A to H.</a:t>
            </a:r>
            <a:endParaRPr lang="en-US" sz="1050" dirty="0"/>
          </a:p>
        </p:txBody>
      </p:sp>
      <p:sp>
        <p:nvSpPr>
          <p:cNvPr id="36" name="Shape 33"/>
          <p:cNvSpPr/>
          <p:nvPr/>
        </p:nvSpPr>
        <p:spPr>
          <a:xfrm>
            <a:off x="502920" y="1508760"/>
            <a:ext cx="219456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219456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Phase</a:t>
            </a:r>
            <a:endParaRPr lang="en-US" sz="1200" dirty="0"/>
          </a:p>
        </p:txBody>
      </p:sp>
      <p:sp>
        <p:nvSpPr>
          <p:cNvPr id="38" name="Shape 35"/>
          <p:cNvSpPr/>
          <p:nvPr/>
        </p:nvSpPr>
        <p:spPr>
          <a:xfrm>
            <a:off x="2697480" y="1508760"/>
            <a:ext cx="484632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2697480" y="1508760"/>
            <a:ext cx="48463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Plain-English question</a:t>
            </a:r>
            <a:endParaRPr lang="en-US" sz="1200" dirty="0"/>
          </a:p>
        </p:txBody>
      </p:sp>
      <p:sp>
        <p:nvSpPr>
          <p:cNvPr id="40" name="Shape 37"/>
          <p:cNvSpPr/>
          <p:nvPr/>
        </p:nvSpPr>
        <p:spPr>
          <a:xfrm>
            <a:off x="7543800" y="1508760"/>
            <a:ext cx="411480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7543800" y="1508760"/>
            <a:ext cx="41148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What comes out of it</a:t>
            </a:r>
            <a:endParaRPr lang="en-US" sz="1200" dirty="0"/>
          </a:p>
        </p:txBody>
      </p:sp>
      <p:sp>
        <p:nvSpPr>
          <p:cNvPr id="42" name="Shape 39"/>
          <p:cNvSpPr/>
          <p:nvPr/>
        </p:nvSpPr>
        <p:spPr>
          <a:xfrm>
            <a:off x="502920" y="2011680"/>
            <a:ext cx="219456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594360" y="201168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Prelim  +  A  Vision</a:t>
            </a:r>
            <a:endParaRPr lang="en-US" sz="1200" dirty="0"/>
          </a:p>
        </p:txBody>
      </p:sp>
      <p:sp>
        <p:nvSpPr>
          <p:cNvPr id="44" name="Shape 41"/>
          <p:cNvSpPr/>
          <p:nvPr/>
        </p:nvSpPr>
        <p:spPr>
          <a:xfrm>
            <a:off x="2697480" y="2011680"/>
            <a:ext cx="484632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2788920" y="201168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Why are we doing this, and who agreed?</a:t>
            </a:r>
            <a:endParaRPr lang="en-US" sz="1200" dirty="0"/>
          </a:p>
        </p:txBody>
      </p:sp>
      <p:sp>
        <p:nvSpPr>
          <p:cNvPr id="46" name="Shape 43"/>
          <p:cNvSpPr/>
          <p:nvPr/>
        </p:nvSpPr>
        <p:spPr>
          <a:xfrm>
            <a:off x="7543800" y="2011680"/>
            <a:ext cx="411480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7635240" y="201168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Scope, stakeholders, a signed vision</a:t>
            </a:r>
            <a:endParaRPr lang="en-US" sz="1200" dirty="0"/>
          </a:p>
        </p:txBody>
      </p:sp>
      <p:sp>
        <p:nvSpPr>
          <p:cNvPr id="48" name="Shape 45"/>
          <p:cNvSpPr/>
          <p:nvPr/>
        </p:nvSpPr>
        <p:spPr>
          <a:xfrm>
            <a:off x="502920" y="2606040"/>
            <a:ext cx="219456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594360" y="260604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  Business</a:t>
            </a:r>
            <a:endParaRPr lang="en-US" sz="1200" dirty="0"/>
          </a:p>
        </p:txBody>
      </p:sp>
      <p:sp>
        <p:nvSpPr>
          <p:cNvPr id="50" name="Shape 47"/>
          <p:cNvSpPr/>
          <p:nvPr/>
        </p:nvSpPr>
        <p:spPr>
          <a:xfrm>
            <a:off x="2697480" y="2606040"/>
            <a:ext cx="484632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2788920" y="260604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What does the company actually do?</a:t>
            </a:r>
            <a:endParaRPr lang="en-US" sz="1200" dirty="0"/>
          </a:p>
        </p:txBody>
      </p:sp>
      <p:sp>
        <p:nvSpPr>
          <p:cNvPr id="52" name="Shape 49"/>
          <p:cNvSpPr/>
          <p:nvPr/>
        </p:nvSpPr>
        <p:spPr>
          <a:xfrm>
            <a:off x="7543800" y="2606040"/>
            <a:ext cx="411480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7635240" y="260604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Capability map, process gaps</a:t>
            </a:r>
            <a:endParaRPr lang="en-US" sz="1200" dirty="0"/>
          </a:p>
        </p:txBody>
      </p:sp>
      <p:sp>
        <p:nvSpPr>
          <p:cNvPr id="54" name="Shape 51"/>
          <p:cNvSpPr/>
          <p:nvPr/>
        </p:nvSpPr>
        <p:spPr>
          <a:xfrm>
            <a:off x="502920" y="3200400"/>
            <a:ext cx="219456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594360" y="320040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  Data + Application</a:t>
            </a:r>
            <a:endParaRPr lang="en-US" sz="1200" dirty="0"/>
          </a:p>
        </p:txBody>
      </p:sp>
      <p:sp>
        <p:nvSpPr>
          <p:cNvPr id="56" name="Shape 53"/>
          <p:cNvSpPr/>
          <p:nvPr/>
        </p:nvSpPr>
        <p:spPr>
          <a:xfrm>
            <a:off x="2697480" y="3200400"/>
            <a:ext cx="484632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2788920" y="320040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What facts do we keep, and which software holds them?</a:t>
            </a:r>
            <a:endParaRPr lang="en-US" sz="1200" dirty="0"/>
          </a:p>
        </p:txBody>
      </p:sp>
      <p:sp>
        <p:nvSpPr>
          <p:cNvPr id="58" name="Shape 55"/>
          <p:cNvSpPr/>
          <p:nvPr/>
        </p:nvSpPr>
        <p:spPr>
          <a:xfrm>
            <a:off x="7543800" y="3200400"/>
            <a:ext cx="4114800" cy="594360"/>
          </a:xfrm>
          <a:prstGeom prst="rect">
            <a:avLst/>
          </a:prstGeom>
          <a:solidFill>
            <a:srgbClr val="FFFFFF"/>
          </a:solidFill>
          <a:ln w="6350">
            <a:solidFill>
              <a:srgbClr val="E3E0E8"/>
            </a:solidFill>
            <a:prstDash val="solid"/>
          </a:ln>
        </p:spPr>
        <p:txBody>
          <a:bodyPr/>
          <a:lstStyle/>
          <a:p>
            <a:endParaRPr/>
          </a:p>
        </p:txBody>
      </p:sp>
      <p:sp>
        <p:nvSpPr>
          <p:cNvPr id="59" name="Text 56"/>
          <p:cNvSpPr/>
          <p:nvPr/>
        </p:nvSpPr>
        <p:spPr>
          <a:xfrm>
            <a:off x="7635240" y="320040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Data ownership, application map</a:t>
            </a:r>
            <a:endParaRPr lang="en-US" sz="1200" dirty="0"/>
          </a:p>
        </p:txBody>
      </p:sp>
      <p:sp>
        <p:nvSpPr>
          <p:cNvPr id="60" name="Shape 57"/>
          <p:cNvSpPr/>
          <p:nvPr/>
        </p:nvSpPr>
        <p:spPr>
          <a:xfrm>
            <a:off x="502920" y="3794760"/>
            <a:ext cx="219456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594360" y="379476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  Technology</a:t>
            </a:r>
            <a:endParaRPr lang="en-US" sz="1200" dirty="0"/>
          </a:p>
        </p:txBody>
      </p:sp>
      <p:sp>
        <p:nvSpPr>
          <p:cNvPr id="62" name="Shape 59"/>
          <p:cNvSpPr/>
          <p:nvPr/>
        </p:nvSpPr>
        <p:spPr>
          <a:xfrm>
            <a:off x="2697480" y="3794760"/>
            <a:ext cx="484632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2788920" y="379476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Where does it run, and how is it protected?</a:t>
            </a:r>
            <a:endParaRPr lang="en-US" sz="1200" dirty="0"/>
          </a:p>
        </p:txBody>
      </p:sp>
      <p:sp>
        <p:nvSpPr>
          <p:cNvPr id="64" name="Shape 61"/>
          <p:cNvSpPr/>
          <p:nvPr/>
        </p:nvSpPr>
        <p:spPr>
          <a:xfrm>
            <a:off x="7543800" y="3794760"/>
            <a:ext cx="4114800" cy="594360"/>
          </a:xfrm>
          <a:prstGeom prst="rect">
            <a:avLst/>
          </a:prstGeom>
          <a:solidFill>
            <a:srgbClr val="FBFCFD"/>
          </a:solidFill>
          <a:ln w="6350">
            <a:solidFill>
              <a:srgbClr val="E3E0E8"/>
            </a:solidFill>
            <a:prstDash val="solid"/>
          </a:ln>
        </p:spPr>
        <p:txBody>
          <a:bodyPr/>
          <a:lstStyle/>
          <a:p>
            <a:endParaRPr/>
          </a:p>
        </p:txBody>
      </p:sp>
      <p:sp>
        <p:nvSpPr>
          <p:cNvPr id="65" name="Text 62"/>
          <p:cNvSpPr/>
          <p:nvPr/>
        </p:nvSpPr>
        <p:spPr>
          <a:xfrm>
            <a:off x="7635240" y="379476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Platform and security choices</a:t>
            </a:r>
            <a:endParaRPr lang="en-US" sz="1200" dirty="0"/>
          </a:p>
        </p:txBody>
      </p:sp>
      <p:sp>
        <p:nvSpPr>
          <p:cNvPr id="66" name="Shape 63"/>
          <p:cNvSpPr/>
          <p:nvPr/>
        </p:nvSpPr>
        <p:spPr>
          <a:xfrm>
            <a:off x="502920" y="4389120"/>
            <a:ext cx="219456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594360" y="438912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  +  F  Plan</a:t>
            </a:r>
            <a:endParaRPr lang="en-US" sz="1200" dirty="0"/>
          </a:p>
        </p:txBody>
      </p:sp>
      <p:sp>
        <p:nvSpPr>
          <p:cNvPr id="68" name="Shape 65"/>
          <p:cNvSpPr/>
          <p:nvPr/>
        </p:nvSpPr>
        <p:spPr>
          <a:xfrm>
            <a:off x="2697480" y="4389120"/>
            <a:ext cx="4846320" cy="594360"/>
          </a:xfrm>
          <a:prstGeom prst="rect">
            <a:avLst/>
          </a:prstGeom>
          <a:solidFill>
            <a:srgbClr val="FFFFFF"/>
          </a:solidFill>
          <a:ln w="6350">
            <a:solidFill>
              <a:srgbClr val="E3E0E8"/>
            </a:solidFill>
            <a:prstDash val="solid"/>
          </a:ln>
        </p:spPr>
        <p:txBody>
          <a:bodyPr/>
          <a:lstStyle/>
          <a:p>
            <a:endParaRPr/>
          </a:p>
        </p:txBody>
      </p:sp>
      <p:sp>
        <p:nvSpPr>
          <p:cNvPr id="69" name="Text 66"/>
          <p:cNvSpPr/>
          <p:nvPr/>
        </p:nvSpPr>
        <p:spPr>
          <a:xfrm>
            <a:off x="2788920" y="438912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What is slice one, and in which order?</a:t>
            </a:r>
            <a:endParaRPr lang="en-US" sz="1200" dirty="0"/>
          </a:p>
        </p:txBody>
      </p:sp>
      <p:sp>
        <p:nvSpPr>
          <p:cNvPr id="70" name="Shape 67"/>
          <p:cNvSpPr/>
          <p:nvPr/>
        </p:nvSpPr>
        <p:spPr>
          <a:xfrm>
            <a:off x="7543800" y="4389120"/>
            <a:ext cx="4114800" cy="594360"/>
          </a:xfrm>
          <a:prstGeom prst="rect">
            <a:avLst/>
          </a:prstGeom>
          <a:solidFill>
            <a:srgbClr val="FFFFFF"/>
          </a:solidFill>
          <a:ln w="6350">
            <a:solidFill>
              <a:srgbClr val="E3E0E8"/>
            </a:solidFill>
            <a:prstDash val="solid"/>
          </a:ln>
        </p:spPr>
        <p:txBody>
          <a:bodyPr/>
          <a:lstStyle/>
          <a:p>
            <a:endParaRPr/>
          </a:p>
        </p:txBody>
      </p:sp>
      <p:sp>
        <p:nvSpPr>
          <p:cNvPr id="71" name="Text 68"/>
          <p:cNvSpPr/>
          <p:nvPr/>
        </p:nvSpPr>
        <p:spPr>
          <a:xfrm>
            <a:off x="7635240" y="438912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Roadmap, ranked slices</a:t>
            </a:r>
            <a:endParaRPr lang="en-US" sz="1200" dirty="0"/>
          </a:p>
        </p:txBody>
      </p:sp>
      <p:sp>
        <p:nvSpPr>
          <p:cNvPr id="72" name="Shape 69"/>
          <p:cNvSpPr/>
          <p:nvPr/>
        </p:nvSpPr>
        <p:spPr>
          <a:xfrm>
            <a:off x="502920" y="4983480"/>
            <a:ext cx="219456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4360" y="4983480"/>
            <a:ext cx="20116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G  +  H  Govern + Change</a:t>
            </a:r>
            <a:endParaRPr lang="en-US" sz="1200" dirty="0"/>
          </a:p>
        </p:txBody>
      </p:sp>
      <p:sp>
        <p:nvSpPr>
          <p:cNvPr id="74" name="Shape 71"/>
          <p:cNvSpPr/>
          <p:nvPr/>
        </p:nvSpPr>
        <p:spPr>
          <a:xfrm>
            <a:off x="2697480" y="4983480"/>
            <a:ext cx="484632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2788920" y="4983480"/>
            <a:ext cx="4663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Who checks it was built as agreed, and how do we adapt?</a:t>
            </a:r>
            <a:endParaRPr lang="en-US" sz="1200" dirty="0"/>
          </a:p>
        </p:txBody>
      </p:sp>
      <p:sp>
        <p:nvSpPr>
          <p:cNvPr id="76" name="Shape 73"/>
          <p:cNvSpPr/>
          <p:nvPr/>
        </p:nvSpPr>
        <p:spPr>
          <a:xfrm>
            <a:off x="7543800" y="4983480"/>
            <a:ext cx="4114800" cy="594360"/>
          </a:xfrm>
          <a:prstGeom prst="rect">
            <a:avLst/>
          </a:prstGeom>
          <a:solidFill>
            <a:srgbClr val="FBFCFD"/>
          </a:solidFill>
          <a:ln w="6350">
            <a:solidFill>
              <a:srgbClr val="E3E0E8"/>
            </a:solidFill>
            <a:prstDash val="solid"/>
          </a:ln>
        </p:spPr>
        <p:txBody>
          <a:bodyPr/>
          <a:lstStyle/>
          <a:p>
            <a:endParaRPr/>
          </a:p>
        </p:txBody>
      </p:sp>
      <p:sp>
        <p:nvSpPr>
          <p:cNvPr id="77" name="Text 74"/>
          <p:cNvSpPr/>
          <p:nvPr/>
        </p:nvSpPr>
        <p:spPr>
          <a:xfrm>
            <a:off x="7635240" y="4983480"/>
            <a:ext cx="39319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Reviews, fitness functions, ADRs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TOGAF ADM    Northline in one journey</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picture. Same eight phases, told as a week of real work at the Riyadh shop.</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19</a:t>
            </a:r>
            <a:endParaRPr lang="en-US" sz="1000" dirty="0"/>
          </a:p>
        </p:txBody>
      </p:sp>
      <p:sp>
        <p:nvSpPr>
          <p:cNvPr id="35" name="Rounded Rectangle 34"/>
          <p:cNvSpPr/>
          <p:nvPr/>
        </p:nvSpPr>
        <p:spPr>
          <a:xfrm>
            <a:off x="502920" y="1325880"/>
            <a:ext cx="1783080" cy="2148840"/>
          </a:xfrm>
          <a:prstGeom prst="roundRect">
            <a:avLst>
              <a:gd name="adj" fmla="val 12000"/>
            </a:avLst>
          </a:prstGeom>
          <a:solidFill>
            <a:srgbClr val="FFFFFF"/>
          </a:solidFill>
          <a:ln w="15875">
            <a:solidFill>
              <a:srgbClr val="5F1B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2920" y="1325880"/>
            <a:ext cx="1783080" cy="50292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A</a:t>
            </a:r>
          </a:p>
        </p:txBody>
      </p:sp>
      <p:sp>
        <p:nvSpPr>
          <p:cNvPr id="38" name="TextBox 37"/>
          <p:cNvSpPr txBox="1"/>
          <p:nvPr/>
        </p:nvSpPr>
        <p:spPr>
          <a:xfrm>
            <a:off x="502920"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Vision</a:t>
            </a:r>
          </a:p>
        </p:txBody>
      </p:sp>
      <p:sp>
        <p:nvSpPr>
          <p:cNvPr id="39" name="TextBox 38"/>
          <p:cNvSpPr txBox="1"/>
          <p:nvPr/>
        </p:nvSpPr>
        <p:spPr>
          <a:xfrm>
            <a:off x="576072"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Board: cut checkout failures
before next sale day</a:t>
            </a:r>
          </a:p>
        </p:txBody>
      </p:sp>
      <p:sp>
        <p:nvSpPr>
          <p:cNvPr id="40" name="TextBox 39"/>
          <p:cNvSpPr txBox="1"/>
          <p:nvPr/>
        </p:nvSpPr>
        <p:spPr>
          <a:xfrm>
            <a:off x="2304288" y="2240280"/>
            <a:ext cx="164592" cy="320040"/>
          </a:xfrm>
          <a:prstGeom prst="rect">
            <a:avLst/>
          </a:prstGeom>
          <a:noFill/>
        </p:spPr>
        <p:txBody>
          <a:bodyPr wrap="square" anchor="t"/>
          <a:lstStyle/>
          <a:p>
            <a:pPr algn="ctr">
              <a:spcBef>
                <a:spcPts val="0"/>
              </a:spcBef>
              <a:spcAft>
                <a:spcPts val="0"/>
              </a:spcAft>
            </a:pPr>
            <a:r>
              <a:rPr sz="1600" b="1">
                <a:solidFill>
                  <a:srgbClr val="5F1B3C"/>
                </a:solidFill>
                <a:latin typeface="Segoe UI"/>
              </a:rPr>
              <a:t>→</a:t>
            </a:r>
          </a:p>
        </p:txBody>
      </p:sp>
      <p:sp>
        <p:nvSpPr>
          <p:cNvPr id="41" name="Rounded Rectangle 40"/>
          <p:cNvSpPr/>
          <p:nvPr/>
        </p:nvSpPr>
        <p:spPr>
          <a:xfrm>
            <a:off x="2450592" y="1325880"/>
            <a:ext cx="1783080" cy="214884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450592" y="1325880"/>
            <a:ext cx="1783080" cy="502920"/>
          </a:xfrm>
          <a:prstGeom prst="rect">
            <a:avLst/>
          </a:prstGeom>
          <a:solidFill>
            <a:srgbClr val="E76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50592"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B</a:t>
            </a:r>
          </a:p>
        </p:txBody>
      </p:sp>
      <p:sp>
        <p:nvSpPr>
          <p:cNvPr id="44" name="TextBox 43"/>
          <p:cNvSpPr txBox="1"/>
          <p:nvPr/>
        </p:nvSpPr>
        <p:spPr>
          <a:xfrm>
            <a:off x="2450592"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Business</a:t>
            </a:r>
          </a:p>
        </p:txBody>
      </p:sp>
      <p:sp>
        <p:nvSpPr>
          <p:cNvPr id="45" name="TextBox 44"/>
          <p:cNvSpPr txBox="1"/>
          <p:nvPr/>
        </p:nvSpPr>
        <p:spPr>
          <a:xfrm>
            <a:off x="2523744"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Map sell / pick / refund
capabilities and gaps</a:t>
            </a:r>
          </a:p>
        </p:txBody>
      </p:sp>
      <p:sp>
        <p:nvSpPr>
          <p:cNvPr id="46" name="TextBox 45"/>
          <p:cNvSpPr txBox="1"/>
          <p:nvPr/>
        </p:nvSpPr>
        <p:spPr>
          <a:xfrm>
            <a:off x="4251960" y="2240280"/>
            <a:ext cx="164592" cy="320040"/>
          </a:xfrm>
          <a:prstGeom prst="rect">
            <a:avLst/>
          </a:prstGeom>
          <a:noFill/>
        </p:spPr>
        <p:txBody>
          <a:bodyPr wrap="square" anchor="t"/>
          <a:lstStyle/>
          <a:p>
            <a:pPr algn="ctr">
              <a:spcBef>
                <a:spcPts val="0"/>
              </a:spcBef>
              <a:spcAft>
                <a:spcPts val="0"/>
              </a:spcAft>
            </a:pPr>
            <a:r>
              <a:rPr sz="1600" b="1">
                <a:solidFill>
                  <a:srgbClr val="E76F30"/>
                </a:solidFill>
                <a:latin typeface="Segoe UI"/>
              </a:rPr>
              <a:t>→</a:t>
            </a:r>
          </a:p>
        </p:txBody>
      </p:sp>
      <p:sp>
        <p:nvSpPr>
          <p:cNvPr id="47" name="Rounded Rectangle 46"/>
          <p:cNvSpPr/>
          <p:nvPr/>
        </p:nvSpPr>
        <p:spPr>
          <a:xfrm>
            <a:off x="4398264" y="1325880"/>
            <a:ext cx="1783080" cy="214884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398264" y="1325880"/>
            <a:ext cx="1783080" cy="502920"/>
          </a:xfrm>
          <a:prstGeom prst="rect">
            <a:avLst/>
          </a:prstGeom>
          <a:solidFill>
            <a:srgbClr val="4A7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398264"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C</a:t>
            </a:r>
          </a:p>
        </p:txBody>
      </p:sp>
      <p:sp>
        <p:nvSpPr>
          <p:cNvPr id="50" name="TextBox 49"/>
          <p:cNvSpPr txBox="1"/>
          <p:nvPr/>
        </p:nvSpPr>
        <p:spPr>
          <a:xfrm>
            <a:off x="4398264"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Data + Apps</a:t>
            </a:r>
          </a:p>
        </p:txBody>
      </p:sp>
      <p:sp>
        <p:nvSpPr>
          <p:cNvPr id="51" name="TextBox 50"/>
          <p:cNvSpPr txBox="1"/>
          <p:nvPr/>
        </p:nvSpPr>
        <p:spPr>
          <a:xfrm>
            <a:off x="4471416"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Order lives in NorthlineCore;
payment is a separate fact</a:t>
            </a:r>
          </a:p>
        </p:txBody>
      </p:sp>
      <p:sp>
        <p:nvSpPr>
          <p:cNvPr id="52" name="TextBox 51"/>
          <p:cNvSpPr txBox="1"/>
          <p:nvPr/>
        </p:nvSpPr>
        <p:spPr>
          <a:xfrm>
            <a:off x="6199632" y="2240280"/>
            <a:ext cx="164592" cy="320040"/>
          </a:xfrm>
          <a:prstGeom prst="rect">
            <a:avLst/>
          </a:prstGeom>
          <a:noFill/>
        </p:spPr>
        <p:txBody>
          <a:bodyPr wrap="square" anchor="t"/>
          <a:lstStyle/>
          <a:p>
            <a:pPr algn="ctr">
              <a:spcBef>
                <a:spcPts val="0"/>
              </a:spcBef>
              <a:spcAft>
                <a:spcPts val="0"/>
              </a:spcAft>
            </a:pPr>
            <a:r>
              <a:rPr sz="1600" b="1">
                <a:solidFill>
                  <a:srgbClr val="4A7DE0"/>
                </a:solidFill>
                <a:latin typeface="Segoe UI"/>
              </a:rPr>
              <a:t>→</a:t>
            </a:r>
          </a:p>
        </p:txBody>
      </p:sp>
      <p:sp>
        <p:nvSpPr>
          <p:cNvPr id="53" name="Rounded Rectangle 52"/>
          <p:cNvSpPr/>
          <p:nvPr/>
        </p:nvSpPr>
        <p:spPr>
          <a:xfrm>
            <a:off x="6345936" y="1325880"/>
            <a:ext cx="1783080" cy="214884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345936" y="1325880"/>
            <a:ext cx="1783080" cy="502920"/>
          </a:xfrm>
          <a:prstGeom prst="rect">
            <a:avLst/>
          </a:prstGeom>
          <a:solidFill>
            <a:srgbClr val="2F9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45936"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D</a:t>
            </a:r>
          </a:p>
        </p:txBody>
      </p:sp>
      <p:sp>
        <p:nvSpPr>
          <p:cNvPr id="56" name="TextBox 55"/>
          <p:cNvSpPr txBox="1"/>
          <p:nvPr/>
        </p:nvSpPr>
        <p:spPr>
          <a:xfrm>
            <a:off x="6345936"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Technology</a:t>
            </a:r>
          </a:p>
        </p:txBody>
      </p:sp>
      <p:sp>
        <p:nvSpPr>
          <p:cNvPr id="57" name="TextBox 56"/>
          <p:cNvSpPr txBox="1"/>
          <p:nvPr/>
        </p:nvSpPr>
        <p:spPr>
          <a:xfrm>
            <a:off x="6419088"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Keep on-prem for now;
add queue + health checks</a:t>
            </a:r>
          </a:p>
        </p:txBody>
      </p:sp>
      <p:sp>
        <p:nvSpPr>
          <p:cNvPr id="58" name="TextBox 57"/>
          <p:cNvSpPr txBox="1"/>
          <p:nvPr/>
        </p:nvSpPr>
        <p:spPr>
          <a:xfrm>
            <a:off x="8147304" y="2240280"/>
            <a:ext cx="164592" cy="320040"/>
          </a:xfrm>
          <a:prstGeom prst="rect">
            <a:avLst/>
          </a:prstGeom>
          <a:noFill/>
        </p:spPr>
        <p:txBody>
          <a:bodyPr wrap="square" anchor="t"/>
          <a:lstStyle/>
          <a:p>
            <a:pPr algn="ctr">
              <a:spcBef>
                <a:spcPts val="0"/>
              </a:spcBef>
              <a:spcAft>
                <a:spcPts val="0"/>
              </a:spcAft>
            </a:pPr>
            <a:r>
              <a:rPr sz="1600" b="1">
                <a:solidFill>
                  <a:srgbClr val="2F9992"/>
                </a:solidFill>
                <a:latin typeface="Segoe UI"/>
              </a:rPr>
              <a:t>→</a:t>
            </a:r>
          </a:p>
        </p:txBody>
      </p:sp>
      <p:sp>
        <p:nvSpPr>
          <p:cNvPr id="59" name="Rounded Rectangle 58"/>
          <p:cNvSpPr/>
          <p:nvPr/>
        </p:nvSpPr>
        <p:spPr>
          <a:xfrm>
            <a:off x="8293608" y="1325880"/>
            <a:ext cx="1783080" cy="2148840"/>
          </a:xfrm>
          <a:prstGeom prst="roundRect">
            <a:avLst>
              <a:gd name="adj" fmla="val 12000"/>
            </a:avLst>
          </a:prstGeom>
          <a:solidFill>
            <a:srgbClr val="FFFFFF"/>
          </a:solidFill>
          <a:ln w="15875">
            <a:solidFill>
              <a:srgbClr val="7A4F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293608" y="1325880"/>
            <a:ext cx="1783080" cy="502920"/>
          </a:xfrm>
          <a:prstGeom prst="rect">
            <a:avLst/>
          </a:prstGeom>
          <a:solidFill>
            <a:srgbClr val="7A4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93608"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E+F</a:t>
            </a:r>
          </a:p>
        </p:txBody>
      </p:sp>
      <p:sp>
        <p:nvSpPr>
          <p:cNvPr id="62" name="TextBox 61"/>
          <p:cNvSpPr txBox="1"/>
          <p:nvPr/>
        </p:nvSpPr>
        <p:spPr>
          <a:xfrm>
            <a:off x="8293608"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Plan</a:t>
            </a:r>
          </a:p>
        </p:txBody>
      </p:sp>
      <p:sp>
        <p:nvSpPr>
          <p:cNvPr id="63" name="TextBox 62"/>
          <p:cNvSpPr txBox="1"/>
          <p:nvPr/>
        </p:nvSpPr>
        <p:spPr>
          <a:xfrm>
            <a:off x="8366760"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Slice one = extract
Payment behind an API</a:t>
            </a:r>
          </a:p>
        </p:txBody>
      </p:sp>
      <p:sp>
        <p:nvSpPr>
          <p:cNvPr id="64" name="TextBox 63"/>
          <p:cNvSpPr txBox="1"/>
          <p:nvPr/>
        </p:nvSpPr>
        <p:spPr>
          <a:xfrm>
            <a:off x="10094976" y="2240280"/>
            <a:ext cx="164592" cy="320040"/>
          </a:xfrm>
          <a:prstGeom prst="rect">
            <a:avLst/>
          </a:prstGeom>
          <a:noFill/>
        </p:spPr>
        <p:txBody>
          <a:bodyPr wrap="square" anchor="t"/>
          <a:lstStyle/>
          <a:p>
            <a:pPr algn="ctr">
              <a:spcBef>
                <a:spcPts val="0"/>
              </a:spcBef>
              <a:spcAft>
                <a:spcPts val="0"/>
              </a:spcAft>
            </a:pPr>
            <a:r>
              <a:rPr sz="1600" b="1">
                <a:solidFill>
                  <a:srgbClr val="7A4FA0"/>
                </a:solidFill>
                <a:latin typeface="Segoe UI"/>
              </a:rPr>
              <a:t>→</a:t>
            </a:r>
          </a:p>
        </p:txBody>
      </p:sp>
      <p:sp>
        <p:nvSpPr>
          <p:cNvPr id="65" name="Rounded Rectangle 64"/>
          <p:cNvSpPr/>
          <p:nvPr/>
        </p:nvSpPr>
        <p:spPr>
          <a:xfrm>
            <a:off x="10241280" y="1325880"/>
            <a:ext cx="1783080" cy="2148840"/>
          </a:xfrm>
          <a:prstGeom prst="roundRect">
            <a:avLst>
              <a:gd name="adj" fmla="val 12000"/>
            </a:avLst>
          </a:prstGeom>
          <a:solidFill>
            <a:srgbClr val="FFFFFF"/>
          </a:solidFill>
          <a:ln w="15875">
            <a:solidFill>
              <a:srgbClr val="1F8F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0241280" y="1325880"/>
            <a:ext cx="1783080" cy="5029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41280" y="1371600"/>
            <a:ext cx="1783080" cy="201168"/>
          </a:xfrm>
          <a:prstGeom prst="rect">
            <a:avLst/>
          </a:prstGeom>
          <a:noFill/>
        </p:spPr>
        <p:txBody>
          <a:bodyPr wrap="square" anchor="t"/>
          <a:lstStyle/>
          <a:p>
            <a:pPr algn="ctr">
              <a:spcBef>
                <a:spcPts val="0"/>
              </a:spcBef>
              <a:spcAft>
                <a:spcPts val="0"/>
              </a:spcAft>
            </a:pPr>
            <a:r>
              <a:rPr sz="1100" b="1">
                <a:solidFill>
                  <a:srgbClr val="FFFFFF"/>
                </a:solidFill>
                <a:latin typeface="Segoe UI"/>
              </a:rPr>
              <a:t>G+H</a:t>
            </a:r>
          </a:p>
        </p:txBody>
      </p:sp>
      <p:sp>
        <p:nvSpPr>
          <p:cNvPr id="68" name="TextBox 67"/>
          <p:cNvSpPr txBox="1"/>
          <p:nvPr/>
        </p:nvSpPr>
        <p:spPr>
          <a:xfrm>
            <a:off x="10241280" y="1563624"/>
            <a:ext cx="1783080" cy="228600"/>
          </a:xfrm>
          <a:prstGeom prst="rect">
            <a:avLst/>
          </a:prstGeom>
          <a:noFill/>
        </p:spPr>
        <p:txBody>
          <a:bodyPr wrap="square" anchor="t"/>
          <a:lstStyle/>
          <a:p>
            <a:pPr algn="ctr">
              <a:spcBef>
                <a:spcPts val="0"/>
              </a:spcBef>
              <a:spcAft>
                <a:spcPts val="0"/>
              </a:spcAft>
            </a:pPr>
            <a:r>
              <a:rPr sz="1200" b="1">
                <a:solidFill>
                  <a:srgbClr val="FFFFFF"/>
                </a:solidFill>
                <a:latin typeface="Segoe UI"/>
              </a:rPr>
              <a:t>Govern</a:t>
            </a:r>
          </a:p>
        </p:txBody>
      </p:sp>
      <p:sp>
        <p:nvSpPr>
          <p:cNvPr id="69" name="TextBox 68"/>
          <p:cNvSpPr txBox="1"/>
          <p:nvPr/>
        </p:nvSpPr>
        <p:spPr>
          <a:xfrm>
            <a:off x="10314432" y="1965960"/>
            <a:ext cx="1636776" cy="1371600"/>
          </a:xfrm>
          <a:prstGeom prst="rect">
            <a:avLst/>
          </a:prstGeom>
          <a:noFill/>
        </p:spPr>
        <p:txBody>
          <a:bodyPr wrap="square" anchor="t"/>
          <a:lstStyle/>
          <a:p>
            <a:pPr algn="ctr">
              <a:spcBef>
                <a:spcPts val="0"/>
              </a:spcBef>
              <a:spcAft>
                <a:spcPts val="0"/>
              </a:spcAft>
            </a:pPr>
            <a:r>
              <a:rPr sz="1100" b="0">
                <a:solidFill>
                  <a:srgbClr val="24162A"/>
                </a:solidFill>
                <a:latin typeface="Segoe UI"/>
              </a:rPr>
              <a:t>ADR-001 + fitness test:
no direct bank SDK calls</a:t>
            </a:r>
          </a:p>
        </p:txBody>
      </p:sp>
      <p:sp>
        <p:nvSpPr>
          <p:cNvPr id="70" name="Rounded Rectangle 69"/>
          <p:cNvSpPr/>
          <p:nvPr/>
        </p:nvSpPr>
        <p:spPr>
          <a:xfrm>
            <a:off x="502920" y="3657600"/>
            <a:ext cx="11247120" cy="868680"/>
          </a:xfrm>
          <a:prstGeom prst="roundRect">
            <a:avLst>
              <a:gd name="adj" fmla="val 12000"/>
            </a:avLst>
          </a:prstGeom>
          <a:solidFill>
            <a:srgbClr val="F7F4F8"/>
          </a:solidFill>
          <a:ln w="15875">
            <a:solidFill>
              <a:srgbClr val="5F1B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85800" y="3767328"/>
            <a:ext cx="10881360" cy="685800"/>
          </a:xfrm>
          <a:prstGeom prst="rect">
            <a:avLst/>
          </a:prstGeom>
          <a:noFill/>
        </p:spPr>
        <p:txBody>
          <a:bodyPr wrap="square" anchor="t">
            <a:spAutoFit/>
          </a:bodyPr>
          <a:lstStyle/>
          <a:p>
            <a:pPr algn="l">
              <a:spcBef>
                <a:spcPts val="0"/>
              </a:spcBef>
              <a:spcAft>
                <a:spcPts val="200"/>
              </a:spcAft>
            </a:pPr>
            <a:r>
              <a:rPr sz="1300" b="1">
                <a:solidFill>
                  <a:srgbClr val="5F1B3C"/>
                </a:solidFill>
                <a:latin typeface="Segoe UI"/>
              </a:rPr>
              <a:t>Requirements stay in the middle of the wheel</a:t>
            </a:r>
          </a:p>
          <a:p>
            <a:pPr algn="l">
              <a:spcBef>
                <a:spcPts val="200"/>
              </a:spcBef>
              <a:spcAft>
                <a:spcPts val="200"/>
              </a:spcAft>
            </a:pPr>
            <a:r>
              <a:rPr sz="1200" b="0">
                <a:solidFill>
                  <a:srgbClr val="24162A"/>
                </a:solidFill>
                <a:latin typeface="Segoe UI"/>
              </a:rPr>
              <a:t>Every phase can send a new fact back: a risk, a constraint, a change request. That is why ADM is a cycle, not a waterfall.</a:t>
            </a:r>
          </a:p>
        </p:txBody>
      </p:sp>
      <p:sp>
        <p:nvSpPr>
          <p:cNvPr id="72" name="Rectangle 71"/>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a:solidFill>
                  <a:srgbClr val="24162A"/>
                </a:solidFill>
                <a:latin typeface="Segoe UI"/>
              </a:rPr>
              <a:t>BEST PRACTICE   Name the phase you are in before the meeting starts. If you are arguing about servers in a Vision meeting, you jumped ahead.</a:t>
            </a:r>
          </a:p>
        </p:txBody>
      </p:sp>
      <p:sp>
        <p:nvSpPr>
          <p:cNvPr id="75" name="Rectangle 74"/>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TOGAF Standard 10th Edition — ADM cycle. Map each Northline meeting to one letter A–H.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Zachman    six questions, not a method</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idea and the goal. A checklist matrix so no important question is left blank.</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20</a:t>
            </a:r>
            <a:endParaRPr lang="en-US" sz="1000" dirty="0"/>
          </a:p>
        </p:txBody>
      </p:sp>
      <p:sp>
        <p:nvSpPr>
          <p:cNvPr id="35" name="Rounded Rectangle 34"/>
          <p:cNvSpPr/>
          <p:nvPr/>
        </p:nvSpPr>
        <p:spPr>
          <a:xfrm>
            <a:off x="502920" y="1325880"/>
            <a:ext cx="1783080" cy="2331720"/>
          </a:xfrm>
          <a:prstGeom prst="roundRect">
            <a:avLst>
              <a:gd name="adj" fmla="val 12000"/>
            </a:avLst>
          </a:prstGeom>
          <a:solidFill>
            <a:srgbClr val="FFFFFF"/>
          </a:solidFill>
          <a:ln w="15875">
            <a:solidFill>
              <a:srgbClr val="5F1B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2920" y="1325880"/>
            <a:ext cx="1783080" cy="64008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What</a:t>
            </a:r>
          </a:p>
        </p:txBody>
      </p:sp>
      <p:sp>
        <p:nvSpPr>
          <p:cNvPr id="38" name="TextBox 37"/>
          <p:cNvSpPr txBox="1"/>
          <p:nvPr/>
        </p:nvSpPr>
        <p:spPr>
          <a:xfrm>
            <a:off x="502920"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Things / data</a:t>
            </a:r>
          </a:p>
        </p:txBody>
      </p:sp>
      <p:sp>
        <p:nvSpPr>
          <p:cNvPr id="39" name="TextBox 38"/>
          <p:cNvSpPr txBox="1"/>
          <p:nvPr/>
        </p:nvSpPr>
        <p:spPr>
          <a:xfrm>
            <a:off x="594360" y="2194560"/>
            <a:ext cx="1600200" cy="365760"/>
          </a:xfrm>
          <a:prstGeom prst="rect">
            <a:avLst/>
          </a:prstGeom>
          <a:noFill/>
        </p:spPr>
        <p:txBody>
          <a:bodyPr wrap="square" anchor="t"/>
          <a:lstStyle/>
          <a:p>
            <a:pPr algn="ctr">
              <a:spcBef>
                <a:spcPts val="0"/>
              </a:spcBef>
              <a:spcAft>
                <a:spcPts val="0"/>
              </a:spcAft>
            </a:pPr>
            <a:r>
              <a:rPr sz="1000" b="1">
                <a:solidFill>
                  <a:srgbClr val="5F1B3C"/>
                </a:solidFill>
                <a:latin typeface="Segoe UI"/>
              </a:rPr>
              <a:t>Northline example</a:t>
            </a:r>
          </a:p>
        </p:txBody>
      </p:sp>
      <p:sp>
        <p:nvSpPr>
          <p:cNvPr id="40" name="TextBox 39"/>
          <p:cNvSpPr txBox="1"/>
          <p:nvPr/>
        </p:nvSpPr>
        <p:spPr>
          <a:xfrm>
            <a:off x="594360"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Order, Stock, Customer</a:t>
            </a:r>
          </a:p>
        </p:txBody>
      </p:sp>
      <p:sp>
        <p:nvSpPr>
          <p:cNvPr id="41" name="Rounded Rectangle 40"/>
          <p:cNvSpPr/>
          <p:nvPr/>
        </p:nvSpPr>
        <p:spPr>
          <a:xfrm>
            <a:off x="2450592" y="1325880"/>
            <a:ext cx="1783080" cy="233172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450592" y="1325880"/>
            <a:ext cx="1783080" cy="640080"/>
          </a:xfrm>
          <a:prstGeom prst="rect">
            <a:avLst/>
          </a:prstGeom>
          <a:solidFill>
            <a:srgbClr val="E76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50592"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How</a:t>
            </a:r>
          </a:p>
        </p:txBody>
      </p:sp>
      <p:sp>
        <p:nvSpPr>
          <p:cNvPr id="44" name="TextBox 43"/>
          <p:cNvSpPr txBox="1"/>
          <p:nvPr/>
        </p:nvSpPr>
        <p:spPr>
          <a:xfrm>
            <a:off x="2450592"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Process</a:t>
            </a:r>
          </a:p>
        </p:txBody>
      </p:sp>
      <p:sp>
        <p:nvSpPr>
          <p:cNvPr id="45" name="TextBox 44"/>
          <p:cNvSpPr txBox="1"/>
          <p:nvPr/>
        </p:nvSpPr>
        <p:spPr>
          <a:xfrm>
            <a:off x="2542032" y="2194560"/>
            <a:ext cx="1600200" cy="365760"/>
          </a:xfrm>
          <a:prstGeom prst="rect">
            <a:avLst/>
          </a:prstGeom>
          <a:noFill/>
        </p:spPr>
        <p:txBody>
          <a:bodyPr wrap="square" anchor="t"/>
          <a:lstStyle/>
          <a:p>
            <a:pPr algn="ctr">
              <a:spcBef>
                <a:spcPts val="0"/>
              </a:spcBef>
              <a:spcAft>
                <a:spcPts val="0"/>
              </a:spcAft>
            </a:pPr>
            <a:r>
              <a:rPr sz="1000" b="1">
                <a:solidFill>
                  <a:srgbClr val="E76F30"/>
                </a:solidFill>
                <a:latin typeface="Segoe UI"/>
              </a:rPr>
              <a:t>Northline example</a:t>
            </a:r>
          </a:p>
        </p:txBody>
      </p:sp>
      <p:sp>
        <p:nvSpPr>
          <p:cNvPr id="46" name="TextBox 45"/>
          <p:cNvSpPr txBox="1"/>
          <p:nvPr/>
        </p:nvSpPr>
        <p:spPr>
          <a:xfrm>
            <a:off x="2542032"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Checkout, Refund, Pick</a:t>
            </a:r>
          </a:p>
        </p:txBody>
      </p:sp>
      <p:sp>
        <p:nvSpPr>
          <p:cNvPr id="47" name="Rounded Rectangle 46"/>
          <p:cNvSpPr/>
          <p:nvPr/>
        </p:nvSpPr>
        <p:spPr>
          <a:xfrm>
            <a:off x="4398264" y="1325880"/>
            <a:ext cx="1783080" cy="233172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398264" y="1325880"/>
            <a:ext cx="1783080" cy="640080"/>
          </a:xfrm>
          <a:prstGeom prst="rect">
            <a:avLst/>
          </a:prstGeom>
          <a:solidFill>
            <a:srgbClr val="4A7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398264"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Where</a:t>
            </a:r>
          </a:p>
        </p:txBody>
      </p:sp>
      <p:sp>
        <p:nvSpPr>
          <p:cNvPr id="50" name="TextBox 49"/>
          <p:cNvSpPr txBox="1"/>
          <p:nvPr/>
        </p:nvSpPr>
        <p:spPr>
          <a:xfrm>
            <a:off x="4398264"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Locations</a:t>
            </a:r>
          </a:p>
        </p:txBody>
      </p:sp>
      <p:sp>
        <p:nvSpPr>
          <p:cNvPr id="51" name="TextBox 50"/>
          <p:cNvSpPr txBox="1"/>
          <p:nvPr/>
        </p:nvSpPr>
        <p:spPr>
          <a:xfrm>
            <a:off x="4489704" y="2194560"/>
            <a:ext cx="1600200" cy="365760"/>
          </a:xfrm>
          <a:prstGeom prst="rect">
            <a:avLst/>
          </a:prstGeom>
          <a:noFill/>
        </p:spPr>
        <p:txBody>
          <a:bodyPr wrap="square" anchor="t"/>
          <a:lstStyle/>
          <a:p>
            <a:pPr algn="ctr">
              <a:spcBef>
                <a:spcPts val="0"/>
              </a:spcBef>
              <a:spcAft>
                <a:spcPts val="0"/>
              </a:spcAft>
            </a:pPr>
            <a:r>
              <a:rPr sz="1000" b="1">
                <a:solidFill>
                  <a:srgbClr val="4A7DE0"/>
                </a:solidFill>
                <a:latin typeface="Segoe UI"/>
              </a:rPr>
              <a:t>Northline example</a:t>
            </a:r>
          </a:p>
        </p:txBody>
      </p:sp>
      <p:sp>
        <p:nvSpPr>
          <p:cNvPr id="52" name="TextBox 51"/>
          <p:cNvSpPr txBox="1"/>
          <p:nvPr/>
        </p:nvSpPr>
        <p:spPr>
          <a:xfrm>
            <a:off x="4489704"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Riyadh DC, Cloud, Shop</a:t>
            </a:r>
          </a:p>
        </p:txBody>
      </p:sp>
      <p:sp>
        <p:nvSpPr>
          <p:cNvPr id="53" name="Rounded Rectangle 52"/>
          <p:cNvSpPr/>
          <p:nvPr/>
        </p:nvSpPr>
        <p:spPr>
          <a:xfrm>
            <a:off x="6345936" y="1325880"/>
            <a:ext cx="1783080" cy="233172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345936" y="1325880"/>
            <a:ext cx="1783080" cy="640080"/>
          </a:xfrm>
          <a:prstGeom prst="rect">
            <a:avLst/>
          </a:prstGeom>
          <a:solidFill>
            <a:srgbClr val="2F9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45936"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Who</a:t>
            </a:r>
          </a:p>
        </p:txBody>
      </p:sp>
      <p:sp>
        <p:nvSpPr>
          <p:cNvPr id="56" name="TextBox 55"/>
          <p:cNvSpPr txBox="1"/>
          <p:nvPr/>
        </p:nvSpPr>
        <p:spPr>
          <a:xfrm>
            <a:off x="6345936"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People / roles</a:t>
            </a:r>
          </a:p>
        </p:txBody>
      </p:sp>
      <p:sp>
        <p:nvSpPr>
          <p:cNvPr id="57" name="TextBox 56"/>
          <p:cNvSpPr txBox="1"/>
          <p:nvPr/>
        </p:nvSpPr>
        <p:spPr>
          <a:xfrm>
            <a:off x="6437376" y="2194560"/>
            <a:ext cx="1600200" cy="365760"/>
          </a:xfrm>
          <a:prstGeom prst="rect">
            <a:avLst/>
          </a:prstGeom>
          <a:noFill/>
        </p:spPr>
        <p:txBody>
          <a:bodyPr wrap="square" anchor="t"/>
          <a:lstStyle/>
          <a:p>
            <a:pPr algn="ctr">
              <a:spcBef>
                <a:spcPts val="0"/>
              </a:spcBef>
              <a:spcAft>
                <a:spcPts val="0"/>
              </a:spcAft>
            </a:pPr>
            <a:r>
              <a:rPr sz="1000" b="1">
                <a:solidFill>
                  <a:srgbClr val="2F9992"/>
                </a:solidFill>
                <a:latin typeface="Segoe UI"/>
              </a:rPr>
              <a:t>Northline example</a:t>
            </a:r>
          </a:p>
        </p:txBody>
      </p:sp>
      <p:sp>
        <p:nvSpPr>
          <p:cNvPr id="58" name="TextBox 57"/>
          <p:cNvSpPr txBox="1"/>
          <p:nvPr/>
        </p:nvSpPr>
        <p:spPr>
          <a:xfrm>
            <a:off x="6437376"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Shopper, Ops, Finance</a:t>
            </a:r>
          </a:p>
        </p:txBody>
      </p:sp>
      <p:sp>
        <p:nvSpPr>
          <p:cNvPr id="59" name="Rounded Rectangle 58"/>
          <p:cNvSpPr/>
          <p:nvPr/>
        </p:nvSpPr>
        <p:spPr>
          <a:xfrm>
            <a:off x="8293608" y="1325880"/>
            <a:ext cx="1783080" cy="2331720"/>
          </a:xfrm>
          <a:prstGeom prst="roundRect">
            <a:avLst>
              <a:gd name="adj" fmla="val 12000"/>
            </a:avLst>
          </a:prstGeom>
          <a:solidFill>
            <a:srgbClr val="FFFFFF"/>
          </a:solidFill>
          <a:ln w="15875">
            <a:solidFill>
              <a:srgbClr val="7A4F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293608" y="1325880"/>
            <a:ext cx="1783080" cy="640080"/>
          </a:xfrm>
          <a:prstGeom prst="rect">
            <a:avLst/>
          </a:prstGeom>
          <a:solidFill>
            <a:srgbClr val="7A4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93608"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When</a:t>
            </a:r>
          </a:p>
        </p:txBody>
      </p:sp>
      <p:sp>
        <p:nvSpPr>
          <p:cNvPr id="62" name="TextBox 61"/>
          <p:cNvSpPr txBox="1"/>
          <p:nvPr/>
        </p:nvSpPr>
        <p:spPr>
          <a:xfrm>
            <a:off x="8293608"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Timing</a:t>
            </a:r>
          </a:p>
        </p:txBody>
      </p:sp>
      <p:sp>
        <p:nvSpPr>
          <p:cNvPr id="63" name="TextBox 62"/>
          <p:cNvSpPr txBox="1"/>
          <p:nvPr/>
        </p:nvSpPr>
        <p:spPr>
          <a:xfrm>
            <a:off x="8385048" y="2194560"/>
            <a:ext cx="1600200" cy="365760"/>
          </a:xfrm>
          <a:prstGeom prst="rect">
            <a:avLst/>
          </a:prstGeom>
          <a:noFill/>
        </p:spPr>
        <p:txBody>
          <a:bodyPr wrap="square" anchor="t"/>
          <a:lstStyle/>
          <a:p>
            <a:pPr algn="ctr">
              <a:spcBef>
                <a:spcPts val="0"/>
              </a:spcBef>
              <a:spcAft>
                <a:spcPts val="0"/>
              </a:spcAft>
            </a:pPr>
            <a:r>
              <a:rPr sz="1000" b="1">
                <a:solidFill>
                  <a:srgbClr val="7A4FA0"/>
                </a:solidFill>
                <a:latin typeface="Segoe UI"/>
              </a:rPr>
              <a:t>Northline example</a:t>
            </a:r>
          </a:p>
        </p:txBody>
      </p:sp>
      <p:sp>
        <p:nvSpPr>
          <p:cNvPr id="64" name="TextBox 63"/>
          <p:cNvSpPr txBox="1"/>
          <p:nvPr/>
        </p:nvSpPr>
        <p:spPr>
          <a:xfrm>
            <a:off x="8385048"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Sale day, nightly batch</a:t>
            </a:r>
          </a:p>
        </p:txBody>
      </p:sp>
      <p:sp>
        <p:nvSpPr>
          <p:cNvPr id="65" name="Rounded Rectangle 64"/>
          <p:cNvSpPr/>
          <p:nvPr/>
        </p:nvSpPr>
        <p:spPr>
          <a:xfrm>
            <a:off x="10241280" y="1325880"/>
            <a:ext cx="1783080" cy="2331720"/>
          </a:xfrm>
          <a:prstGeom prst="roundRect">
            <a:avLst>
              <a:gd name="adj" fmla="val 12000"/>
            </a:avLst>
          </a:prstGeom>
          <a:solidFill>
            <a:srgbClr val="FFFFFF"/>
          </a:solidFill>
          <a:ln w="15875">
            <a:solidFill>
              <a:srgbClr val="1F8F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0241280" y="1325880"/>
            <a:ext cx="1783080" cy="64008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41280" y="1435608"/>
            <a:ext cx="1783080" cy="228600"/>
          </a:xfrm>
          <a:prstGeom prst="rect">
            <a:avLst/>
          </a:prstGeom>
          <a:noFill/>
        </p:spPr>
        <p:txBody>
          <a:bodyPr wrap="square" anchor="t"/>
          <a:lstStyle/>
          <a:p>
            <a:pPr algn="ctr">
              <a:spcBef>
                <a:spcPts val="0"/>
              </a:spcBef>
              <a:spcAft>
                <a:spcPts val="0"/>
              </a:spcAft>
            </a:pPr>
            <a:r>
              <a:rPr sz="1600" b="1">
                <a:solidFill>
                  <a:srgbClr val="FFFFFF"/>
                </a:solidFill>
                <a:latin typeface="Segoe UI"/>
              </a:rPr>
              <a:t>Why</a:t>
            </a:r>
          </a:p>
        </p:txBody>
      </p:sp>
      <p:sp>
        <p:nvSpPr>
          <p:cNvPr id="68" name="TextBox 67"/>
          <p:cNvSpPr txBox="1"/>
          <p:nvPr/>
        </p:nvSpPr>
        <p:spPr>
          <a:xfrm>
            <a:off x="10241280" y="1691640"/>
            <a:ext cx="1783080" cy="228600"/>
          </a:xfrm>
          <a:prstGeom prst="rect">
            <a:avLst/>
          </a:prstGeom>
          <a:noFill/>
        </p:spPr>
        <p:txBody>
          <a:bodyPr wrap="square" anchor="t"/>
          <a:lstStyle/>
          <a:p>
            <a:pPr algn="ctr">
              <a:spcBef>
                <a:spcPts val="0"/>
              </a:spcBef>
              <a:spcAft>
                <a:spcPts val="0"/>
              </a:spcAft>
            </a:pPr>
            <a:r>
              <a:rPr sz="1100" b="0">
                <a:solidFill>
                  <a:srgbClr val="FFFFFF"/>
                </a:solidFill>
                <a:latin typeface="Segoe UI"/>
              </a:rPr>
              <a:t>Motivation</a:t>
            </a:r>
          </a:p>
        </p:txBody>
      </p:sp>
      <p:sp>
        <p:nvSpPr>
          <p:cNvPr id="69" name="TextBox 68"/>
          <p:cNvSpPr txBox="1"/>
          <p:nvPr/>
        </p:nvSpPr>
        <p:spPr>
          <a:xfrm>
            <a:off x="10332720" y="2194560"/>
            <a:ext cx="1600200" cy="365760"/>
          </a:xfrm>
          <a:prstGeom prst="rect">
            <a:avLst/>
          </a:prstGeom>
          <a:noFill/>
        </p:spPr>
        <p:txBody>
          <a:bodyPr wrap="square" anchor="t"/>
          <a:lstStyle/>
          <a:p>
            <a:pPr algn="ctr">
              <a:spcBef>
                <a:spcPts val="0"/>
              </a:spcBef>
              <a:spcAft>
                <a:spcPts val="0"/>
              </a:spcAft>
            </a:pPr>
            <a:r>
              <a:rPr sz="1000" b="1">
                <a:solidFill>
                  <a:srgbClr val="1F8F65"/>
                </a:solidFill>
                <a:latin typeface="Segoe UI"/>
              </a:rPr>
              <a:t>Northline example</a:t>
            </a:r>
          </a:p>
        </p:txBody>
      </p:sp>
      <p:sp>
        <p:nvSpPr>
          <p:cNvPr id="70" name="TextBox 69"/>
          <p:cNvSpPr txBox="1"/>
          <p:nvPr/>
        </p:nvSpPr>
        <p:spPr>
          <a:xfrm>
            <a:off x="10332720" y="2560320"/>
            <a:ext cx="1600200" cy="822960"/>
          </a:xfrm>
          <a:prstGeom prst="rect">
            <a:avLst/>
          </a:prstGeom>
          <a:noFill/>
        </p:spPr>
        <p:txBody>
          <a:bodyPr wrap="square" anchor="t"/>
          <a:lstStyle/>
          <a:p>
            <a:pPr algn="ctr">
              <a:spcBef>
                <a:spcPts val="0"/>
              </a:spcBef>
              <a:spcAft>
                <a:spcPts val="0"/>
              </a:spcAft>
            </a:pPr>
            <a:r>
              <a:rPr sz="1200" b="0">
                <a:solidFill>
                  <a:srgbClr val="24162A"/>
                </a:solidFill>
                <a:latin typeface="Segoe UI"/>
              </a:rPr>
              <a:t>Fewer failed payments</a:t>
            </a:r>
          </a:p>
        </p:txBody>
      </p:sp>
      <p:sp>
        <p:nvSpPr>
          <p:cNvPr id="71" name="Rounded Rectangle 70"/>
          <p:cNvSpPr/>
          <p:nvPr/>
        </p:nvSpPr>
        <p:spPr>
          <a:xfrm>
            <a:off x="502920" y="3840480"/>
            <a:ext cx="11247120" cy="685800"/>
          </a:xfrm>
          <a:prstGeom prst="roundRect">
            <a:avLst>
              <a:gd name="adj" fmla="val 12000"/>
            </a:avLst>
          </a:prstGeom>
          <a:solidFill>
            <a:srgbClr val="F7F4F8"/>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85800" y="3977639"/>
            <a:ext cx="10881360" cy="457200"/>
          </a:xfrm>
          <a:prstGeom prst="rect">
            <a:avLst/>
          </a:prstGeom>
          <a:noFill/>
        </p:spPr>
        <p:txBody>
          <a:bodyPr wrap="square" anchor="ctr"/>
          <a:lstStyle/>
          <a:p>
            <a:pPr algn="l">
              <a:spcBef>
                <a:spcPts val="0"/>
              </a:spcBef>
              <a:spcAft>
                <a:spcPts val="0"/>
              </a:spcAft>
            </a:pPr>
            <a:r>
              <a:rPr sz="1300" b="0">
                <a:solidFill>
                  <a:srgbClr val="24162A"/>
                </a:solidFill>
                <a:latin typeface="Segoe UI"/>
              </a:rPr>
              <a:t>Zachman does not tell you the order of work. It tells you which cell is empty. Empty cell = risk.</a:t>
            </a:r>
          </a:p>
        </p:txBody>
      </p:sp>
      <p:sp>
        <p:nvSpPr>
          <p:cNvPr id="73" name="Rectangle 72"/>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a:solidFill>
                  <a:srgbClr val="24162A"/>
                </a:solidFill>
                <a:latin typeface="Segoe UI"/>
              </a:rPr>
              <a:t>BEST PRACTICE   Use Zachman when stakeholders disagree about scope. Walk the six questions once; the missing answer is usually the real fight.</a:t>
            </a:r>
          </a:p>
        </p:txBody>
      </p:sp>
      <p:sp>
        <p:nvSpPr>
          <p:cNvPr id="76" name="Rectangle 75"/>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zachman.com — Framework for Enterprise Architecture. Columns = interrogatives; rows = perspectives.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Zachman    one Northline cell filled in</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picture. We only fill the cells that unblock today's decision — not the whole grid.</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21</a:t>
            </a:r>
            <a:endParaRPr lang="en-US" sz="1000" dirty="0"/>
          </a:p>
        </p:txBody>
      </p:sp>
      <p:sp>
        <p:nvSpPr>
          <p:cNvPr id="35" name="Rectangle 34"/>
          <p:cNvSpPr/>
          <p:nvPr/>
        </p:nvSpPr>
        <p:spPr>
          <a:xfrm>
            <a:off x="502920" y="1280160"/>
            <a:ext cx="1371600" cy="411480"/>
          </a:xfrm>
          <a:prstGeom prst="rect">
            <a:avLst/>
          </a:prstGeom>
          <a:solidFill>
            <a:srgbClr val="2F9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1353312"/>
            <a:ext cx="1371600" cy="274320"/>
          </a:xfrm>
          <a:prstGeom prst="rect">
            <a:avLst/>
          </a:prstGeom>
          <a:noFill/>
        </p:spPr>
        <p:txBody>
          <a:bodyPr wrap="square" anchor="t"/>
          <a:lstStyle/>
          <a:p>
            <a:pPr algn="ctr">
              <a:spcBef>
                <a:spcPts val="0"/>
              </a:spcBef>
              <a:spcAft>
                <a:spcPts val="0"/>
              </a:spcAft>
            </a:pPr>
            <a:endParaRPr/>
          </a:p>
        </p:txBody>
      </p:sp>
      <p:sp>
        <p:nvSpPr>
          <p:cNvPr id="37" name="Rectangle 36"/>
          <p:cNvSpPr/>
          <p:nvPr/>
        </p:nvSpPr>
        <p:spPr>
          <a:xfrm>
            <a:off x="1874520" y="1280160"/>
            <a:ext cx="2468880" cy="41148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74520" y="1353312"/>
            <a:ext cx="2468880" cy="274320"/>
          </a:xfrm>
          <a:prstGeom prst="rect">
            <a:avLst/>
          </a:prstGeom>
          <a:noFill/>
        </p:spPr>
        <p:txBody>
          <a:bodyPr wrap="square" anchor="t"/>
          <a:lstStyle/>
          <a:p>
            <a:pPr algn="ctr">
              <a:spcBef>
                <a:spcPts val="0"/>
              </a:spcBef>
              <a:spcAft>
                <a:spcPts val="0"/>
              </a:spcAft>
            </a:pPr>
            <a:r>
              <a:rPr sz="1200" b="1">
                <a:solidFill>
                  <a:srgbClr val="FFFFFF"/>
                </a:solidFill>
                <a:latin typeface="Segoe UI"/>
              </a:rPr>
              <a:t>What</a:t>
            </a:r>
          </a:p>
        </p:txBody>
      </p:sp>
      <p:sp>
        <p:nvSpPr>
          <p:cNvPr id="39" name="Rectangle 38"/>
          <p:cNvSpPr/>
          <p:nvPr/>
        </p:nvSpPr>
        <p:spPr>
          <a:xfrm>
            <a:off x="4343400" y="1280160"/>
            <a:ext cx="2651760" cy="41148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43400" y="1353312"/>
            <a:ext cx="2651760" cy="274320"/>
          </a:xfrm>
          <a:prstGeom prst="rect">
            <a:avLst/>
          </a:prstGeom>
          <a:noFill/>
        </p:spPr>
        <p:txBody>
          <a:bodyPr wrap="square" anchor="t"/>
          <a:lstStyle/>
          <a:p>
            <a:pPr algn="ctr">
              <a:spcBef>
                <a:spcPts val="0"/>
              </a:spcBef>
              <a:spcAft>
                <a:spcPts val="0"/>
              </a:spcAft>
            </a:pPr>
            <a:r>
              <a:rPr sz="1200" b="1">
                <a:solidFill>
                  <a:srgbClr val="FFFFFF"/>
                </a:solidFill>
                <a:latin typeface="Segoe UI"/>
              </a:rPr>
              <a:t>How</a:t>
            </a:r>
          </a:p>
        </p:txBody>
      </p:sp>
      <p:sp>
        <p:nvSpPr>
          <p:cNvPr id="41" name="Rectangle 40"/>
          <p:cNvSpPr/>
          <p:nvPr/>
        </p:nvSpPr>
        <p:spPr>
          <a:xfrm>
            <a:off x="6995160" y="1280160"/>
            <a:ext cx="2286000" cy="41148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95160" y="1353312"/>
            <a:ext cx="2286000" cy="274320"/>
          </a:xfrm>
          <a:prstGeom prst="rect">
            <a:avLst/>
          </a:prstGeom>
          <a:noFill/>
        </p:spPr>
        <p:txBody>
          <a:bodyPr wrap="square" anchor="t"/>
          <a:lstStyle/>
          <a:p>
            <a:pPr algn="ctr">
              <a:spcBef>
                <a:spcPts val="0"/>
              </a:spcBef>
              <a:spcAft>
                <a:spcPts val="0"/>
              </a:spcAft>
            </a:pPr>
            <a:r>
              <a:rPr sz="1200" b="1">
                <a:solidFill>
                  <a:srgbClr val="FFFFFF"/>
                </a:solidFill>
                <a:latin typeface="Segoe UI"/>
              </a:rPr>
              <a:t>Who</a:t>
            </a:r>
          </a:p>
        </p:txBody>
      </p:sp>
      <p:sp>
        <p:nvSpPr>
          <p:cNvPr id="43" name="Rectangle 42"/>
          <p:cNvSpPr/>
          <p:nvPr/>
        </p:nvSpPr>
        <p:spPr>
          <a:xfrm>
            <a:off x="9281160" y="1280160"/>
            <a:ext cx="2377440" cy="411480"/>
          </a:xfrm>
          <a:prstGeom prst="rect">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281160" y="1353312"/>
            <a:ext cx="2377440" cy="274320"/>
          </a:xfrm>
          <a:prstGeom prst="rect">
            <a:avLst/>
          </a:prstGeom>
          <a:noFill/>
        </p:spPr>
        <p:txBody>
          <a:bodyPr wrap="square" anchor="t"/>
          <a:lstStyle/>
          <a:p>
            <a:pPr algn="ctr">
              <a:spcBef>
                <a:spcPts val="0"/>
              </a:spcBef>
              <a:spcAft>
                <a:spcPts val="0"/>
              </a:spcAft>
            </a:pPr>
            <a:r>
              <a:rPr sz="1200" b="1">
                <a:solidFill>
                  <a:srgbClr val="FFFFFF"/>
                </a:solidFill>
                <a:latin typeface="Segoe UI"/>
              </a:rPr>
              <a:t>Why</a:t>
            </a:r>
          </a:p>
        </p:txBody>
      </p:sp>
      <p:sp>
        <p:nvSpPr>
          <p:cNvPr id="45" name="Rectangle 44"/>
          <p:cNvSpPr/>
          <p:nvPr/>
        </p:nvSpPr>
        <p:spPr>
          <a:xfrm>
            <a:off x="502920" y="1691640"/>
            <a:ext cx="137160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76072" y="1892808"/>
            <a:ext cx="1225296" cy="411480"/>
          </a:xfrm>
          <a:prstGeom prst="rect">
            <a:avLst/>
          </a:prstGeom>
          <a:noFill/>
        </p:spPr>
        <p:txBody>
          <a:bodyPr wrap="square" anchor="t"/>
          <a:lstStyle/>
          <a:p>
            <a:pPr algn="ctr">
              <a:spcBef>
                <a:spcPts val="0"/>
              </a:spcBef>
              <a:spcAft>
                <a:spcPts val="0"/>
              </a:spcAft>
            </a:pPr>
            <a:r>
              <a:rPr sz="1200" b="1">
                <a:solidFill>
                  <a:srgbClr val="24162A"/>
                </a:solidFill>
                <a:latin typeface="Segoe UI"/>
              </a:rPr>
              <a:t>Exec</a:t>
            </a:r>
          </a:p>
        </p:txBody>
      </p:sp>
      <p:sp>
        <p:nvSpPr>
          <p:cNvPr id="47" name="Rectangle 46"/>
          <p:cNvSpPr/>
          <p:nvPr/>
        </p:nvSpPr>
        <p:spPr>
          <a:xfrm>
            <a:off x="1874520" y="1691640"/>
            <a:ext cx="246888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947672" y="1892808"/>
            <a:ext cx="232257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Grow online sales</a:t>
            </a:r>
          </a:p>
        </p:txBody>
      </p:sp>
      <p:sp>
        <p:nvSpPr>
          <p:cNvPr id="49" name="Rectangle 48"/>
          <p:cNvSpPr/>
          <p:nvPr/>
        </p:nvSpPr>
        <p:spPr>
          <a:xfrm>
            <a:off x="4343400" y="1691640"/>
            <a:ext cx="265176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16552" y="1892808"/>
            <a:ext cx="250545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Approve sale-day plan</a:t>
            </a:r>
          </a:p>
        </p:txBody>
      </p:sp>
      <p:sp>
        <p:nvSpPr>
          <p:cNvPr id="51" name="Rectangle 50"/>
          <p:cNvSpPr/>
          <p:nvPr/>
        </p:nvSpPr>
        <p:spPr>
          <a:xfrm>
            <a:off x="6995160" y="1691640"/>
            <a:ext cx="228600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068312" y="1892808"/>
            <a:ext cx="213969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CEO / CFO</a:t>
            </a:r>
          </a:p>
        </p:txBody>
      </p:sp>
      <p:sp>
        <p:nvSpPr>
          <p:cNvPr id="53" name="Rectangle 52"/>
          <p:cNvSpPr/>
          <p:nvPr/>
        </p:nvSpPr>
        <p:spPr>
          <a:xfrm>
            <a:off x="9281160" y="1691640"/>
            <a:ext cx="237744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354312" y="1892808"/>
            <a:ext cx="223113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Revenue + trust</a:t>
            </a:r>
          </a:p>
        </p:txBody>
      </p:sp>
      <p:sp>
        <p:nvSpPr>
          <p:cNvPr id="55" name="Rectangle 54"/>
          <p:cNvSpPr/>
          <p:nvPr/>
        </p:nvSpPr>
        <p:spPr>
          <a:xfrm>
            <a:off x="502920" y="2468880"/>
            <a:ext cx="1371600" cy="777240"/>
          </a:xfrm>
          <a:prstGeom prst="rect">
            <a:avLst/>
          </a:prstGeom>
          <a:solidFill>
            <a:srgbClr val="F7F4F8"/>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76072" y="2670048"/>
            <a:ext cx="1225296" cy="411480"/>
          </a:xfrm>
          <a:prstGeom prst="rect">
            <a:avLst/>
          </a:prstGeom>
          <a:noFill/>
        </p:spPr>
        <p:txBody>
          <a:bodyPr wrap="square" anchor="t"/>
          <a:lstStyle/>
          <a:p>
            <a:pPr algn="ctr">
              <a:spcBef>
                <a:spcPts val="0"/>
              </a:spcBef>
              <a:spcAft>
                <a:spcPts val="0"/>
              </a:spcAft>
            </a:pPr>
            <a:r>
              <a:rPr sz="1200" b="1">
                <a:solidFill>
                  <a:srgbClr val="24162A"/>
                </a:solidFill>
                <a:latin typeface="Segoe UI"/>
              </a:rPr>
              <a:t>Biz</a:t>
            </a:r>
          </a:p>
        </p:txBody>
      </p:sp>
      <p:sp>
        <p:nvSpPr>
          <p:cNvPr id="57" name="Rectangle 56"/>
          <p:cNvSpPr/>
          <p:nvPr/>
        </p:nvSpPr>
        <p:spPr>
          <a:xfrm>
            <a:off x="1874520" y="2468880"/>
            <a:ext cx="2468880" cy="777240"/>
          </a:xfrm>
          <a:prstGeom prst="rect">
            <a:avLst/>
          </a:prstGeom>
          <a:solidFill>
            <a:srgbClr val="F7F4F8"/>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947672" y="2670048"/>
            <a:ext cx="232257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Order, Stock</a:t>
            </a:r>
          </a:p>
        </p:txBody>
      </p:sp>
      <p:sp>
        <p:nvSpPr>
          <p:cNvPr id="59" name="Rectangle 58"/>
          <p:cNvSpPr/>
          <p:nvPr/>
        </p:nvSpPr>
        <p:spPr>
          <a:xfrm>
            <a:off x="4343400" y="2468880"/>
            <a:ext cx="2651760" cy="777240"/>
          </a:xfrm>
          <a:prstGeom prst="rect">
            <a:avLst/>
          </a:prstGeom>
          <a:solidFill>
            <a:srgbClr val="F7F4F8"/>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416552" y="2670048"/>
            <a:ext cx="250545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Checkout process</a:t>
            </a:r>
          </a:p>
        </p:txBody>
      </p:sp>
      <p:sp>
        <p:nvSpPr>
          <p:cNvPr id="61" name="Rectangle 60"/>
          <p:cNvSpPr/>
          <p:nvPr/>
        </p:nvSpPr>
        <p:spPr>
          <a:xfrm>
            <a:off x="6995160" y="2468880"/>
            <a:ext cx="2286000" cy="777240"/>
          </a:xfrm>
          <a:prstGeom prst="rect">
            <a:avLst/>
          </a:prstGeom>
          <a:solidFill>
            <a:srgbClr val="F7F4F8"/>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68312" y="2670048"/>
            <a:ext cx="213969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Ops lead</a:t>
            </a:r>
          </a:p>
        </p:txBody>
      </p:sp>
      <p:sp>
        <p:nvSpPr>
          <p:cNvPr id="63" name="Rectangle 62"/>
          <p:cNvSpPr/>
          <p:nvPr/>
        </p:nvSpPr>
        <p:spPr>
          <a:xfrm>
            <a:off x="9281160" y="2468880"/>
            <a:ext cx="2377440" cy="777240"/>
          </a:xfrm>
          <a:prstGeom prst="rect">
            <a:avLst/>
          </a:prstGeom>
          <a:solidFill>
            <a:srgbClr val="F7F4F8"/>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354312" y="2670048"/>
            <a:ext cx="223113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Fewer failed pays</a:t>
            </a:r>
          </a:p>
        </p:txBody>
      </p:sp>
      <p:sp>
        <p:nvSpPr>
          <p:cNvPr id="65" name="Rectangle 64"/>
          <p:cNvSpPr/>
          <p:nvPr/>
        </p:nvSpPr>
        <p:spPr>
          <a:xfrm>
            <a:off x="502920" y="3246120"/>
            <a:ext cx="137160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76072" y="3447288"/>
            <a:ext cx="1225296" cy="411480"/>
          </a:xfrm>
          <a:prstGeom prst="rect">
            <a:avLst/>
          </a:prstGeom>
          <a:noFill/>
        </p:spPr>
        <p:txBody>
          <a:bodyPr wrap="square" anchor="t"/>
          <a:lstStyle/>
          <a:p>
            <a:pPr algn="ctr">
              <a:spcBef>
                <a:spcPts val="0"/>
              </a:spcBef>
              <a:spcAft>
                <a:spcPts val="0"/>
              </a:spcAft>
            </a:pPr>
            <a:r>
              <a:rPr sz="1200" b="1">
                <a:solidFill>
                  <a:srgbClr val="24162A"/>
                </a:solidFill>
                <a:latin typeface="Segoe UI"/>
              </a:rPr>
              <a:t>Builder</a:t>
            </a:r>
          </a:p>
        </p:txBody>
      </p:sp>
      <p:sp>
        <p:nvSpPr>
          <p:cNvPr id="67" name="Rectangle 66"/>
          <p:cNvSpPr/>
          <p:nvPr/>
        </p:nvSpPr>
        <p:spPr>
          <a:xfrm>
            <a:off x="1874520" y="3246120"/>
            <a:ext cx="246888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947672" y="3447288"/>
            <a:ext cx="232257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Order table</a:t>
            </a:r>
          </a:p>
        </p:txBody>
      </p:sp>
      <p:sp>
        <p:nvSpPr>
          <p:cNvPr id="69" name="Rectangle 68"/>
          <p:cNvSpPr/>
          <p:nvPr/>
        </p:nvSpPr>
        <p:spPr>
          <a:xfrm>
            <a:off x="4343400" y="3246120"/>
            <a:ext cx="2651760" cy="777240"/>
          </a:xfrm>
          <a:prstGeom prst="rect">
            <a:avLst/>
          </a:prstGeom>
          <a:solidFill>
            <a:srgbClr val="FFF0E6"/>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416552" y="3447288"/>
            <a:ext cx="2505456" cy="411480"/>
          </a:xfrm>
          <a:prstGeom prst="rect">
            <a:avLst/>
          </a:prstGeom>
          <a:noFill/>
        </p:spPr>
        <p:txBody>
          <a:bodyPr wrap="square" anchor="t"/>
          <a:lstStyle/>
          <a:p>
            <a:pPr algn="ctr">
              <a:spcBef>
                <a:spcPts val="0"/>
              </a:spcBef>
              <a:spcAft>
                <a:spcPts val="0"/>
              </a:spcAft>
            </a:pPr>
            <a:r>
              <a:rPr sz="1200" b="1">
                <a:solidFill>
                  <a:srgbClr val="E76F30"/>
                </a:solidFill>
                <a:latin typeface="Segoe UI"/>
              </a:rPr>
              <a:t>Payment API call</a:t>
            </a:r>
          </a:p>
        </p:txBody>
      </p:sp>
      <p:sp>
        <p:nvSpPr>
          <p:cNvPr id="71" name="Rectangle 70"/>
          <p:cNvSpPr/>
          <p:nvPr/>
        </p:nvSpPr>
        <p:spPr>
          <a:xfrm>
            <a:off x="6995160" y="3246120"/>
            <a:ext cx="228600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068312" y="3447288"/>
            <a:ext cx="213969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Dev team</a:t>
            </a:r>
          </a:p>
        </p:txBody>
      </p:sp>
      <p:sp>
        <p:nvSpPr>
          <p:cNvPr id="73" name="Rectangle 72"/>
          <p:cNvSpPr/>
          <p:nvPr/>
        </p:nvSpPr>
        <p:spPr>
          <a:xfrm>
            <a:off x="9281160" y="3246120"/>
            <a:ext cx="2377440" cy="777240"/>
          </a:xfrm>
          <a:prstGeom prst="rect">
            <a:avLst/>
          </a:prstGeom>
          <a:solidFill>
            <a:srgbClr val="FFFFFF"/>
          </a:solidFill>
          <a:ln w="15875">
            <a:solidFill>
              <a:srgbClr val="D0C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354312" y="3447288"/>
            <a:ext cx="2231136" cy="411480"/>
          </a:xfrm>
          <a:prstGeom prst="rect">
            <a:avLst/>
          </a:prstGeom>
          <a:noFill/>
        </p:spPr>
        <p:txBody>
          <a:bodyPr wrap="square" anchor="t"/>
          <a:lstStyle/>
          <a:p>
            <a:pPr algn="ctr">
              <a:spcBef>
                <a:spcPts val="0"/>
              </a:spcBef>
              <a:spcAft>
                <a:spcPts val="0"/>
              </a:spcAft>
            </a:pPr>
            <a:r>
              <a:rPr sz="1200" b="0">
                <a:solidFill>
                  <a:srgbClr val="24162A"/>
                </a:solidFill>
                <a:latin typeface="Segoe UI"/>
              </a:rPr>
              <a:t>Swap bank safely</a:t>
            </a:r>
          </a:p>
        </p:txBody>
      </p:sp>
      <p:sp>
        <p:nvSpPr>
          <p:cNvPr id="75" name="Rounded Rectangle 74"/>
          <p:cNvSpPr/>
          <p:nvPr/>
        </p:nvSpPr>
        <p:spPr>
          <a:xfrm>
            <a:off x="502920" y="4247387"/>
            <a:ext cx="11247120" cy="685800"/>
          </a:xfrm>
          <a:prstGeom prst="roundRect">
            <a:avLst>
              <a:gd name="adj" fmla="val 12000"/>
            </a:avLst>
          </a:prstGeom>
          <a:solidFill>
            <a:srgbClr val="FFF0E6"/>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92035" y="4361687"/>
            <a:ext cx="10881360" cy="457200"/>
          </a:xfrm>
          <a:prstGeom prst="rect">
            <a:avLst/>
          </a:prstGeom>
          <a:noFill/>
        </p:spPr>
        <p:txBody>
          <a:bodyPr wrap="square" anchor="ctr"/>
          <a:lstStyle/>
          <a:p>
            <a:pPr algn="l">
              <a:spcBef>
                <a:spcPts val="0"/>
              </a:spcBef>
              <a:spcAft>
                <a:spcPts val="0"/>
              </a:spcAft>
            </a:pPr>
            <a:r>
              <a:rPr sz="1300" b="0" dirty="0">
                <a:solidFill>
                  <a:srgbClr val="24162A"/>
                </a:solidFill>
                <a:latin typeface="Segoe UI"/>
              </a:rPr>
              <a:t>Highlighted cell: Builder × How → “Payment is an API call, not a hard-coded bank SDK.” That one cell becomes ADR-001.</a:t>
            </a:r>
          </a:p>
        </p:txBody>
      </p:sp>
      <p:sp>
        <p:nvSpPr>
          <p:cNvPr id="77" name="Rectangle 76"/>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a:solidFill>
                  <a:srgbClr val="24162A"/>
                </a:solidFill>
                <a:latin typeface="Segoe UI"/>
              </a:rPr>
              <a:t>BEST PRACTICE   Never try to fill every cell in one workshop. Fill the one empty cell that is blocking a decision, write the ADR, move on.</a:t>
            </a:r>
          </a:p>
        </p:txBody>
      </p:sp>
      <p:sp>
        <p:nvSpPr>
          <p:cNvPr id="80" name="Rectangle 79"/>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Use Zachman to find gaps; use TOGAF to sequence work; use C4 to draw what you found.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C4    four zoom levels of one system</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Stop zooming as soon as the question is answered.</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22</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C1 Context</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One box for our system. The people and the outside systems around it. Answers: who uses us, what do we depend on.</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C2 Container</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Inside our system: the apps, services and databases. Answers: what runs, and where does data live.</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C3 Component</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Inside one service: its main parts. Answers: how is this service organised.</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C4 Code</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Classes. Usually the IDE draws it. Rarely worth putting in a slide.</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Most meetings only need C1 and C2. Going to C4 in a business meeting is a common waste of an hour.</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c4model.com  notation, examples and free tooling (Structurizr, draw.io templates).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C4    Northline Level 1 (today)</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picture. One system box, the people, and the outside systems. Stop here until a new question appears.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23</a:t>
            </a:r>
            <a:endParaRPr lang="en-US" sz="1000" dirty="0"/>
          </a:p>
        </p:txBody>
      </p:sp>
      <p:sp>
        <p:nvSpPr>
          <p:cNvPr id="35" name="Rounded Rectangle 34"/>
          <p:cNvSpPr/>
          <p:nvPr/>
        </p:nvSpPr>
        <p:spPr>
          <a:xfrm>
            <a:off x="502920" y="1417320"/>
            <a:ext cx="1554480" cy="86868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1554480"/>
            <a:ext cx="1554480" cy="365760"/>
          </a:xfrm>
          <a:prstGeom prst="rect">
            <a:avLst/>
          </a:prstGeom>
          <a:noFill/>
        </p:spPr>
        <p:txBody>
          <a:bodyPr wrap="square" anchor="t"/>
          <a:lstStyle/>
          <a:p>
            <a:pPr algn="ctr">
              <a:spcBef>
                <a:spcPts val="0"/>
              </a:spcBef>
              <a:spcAft>
                <a:spcPts val="0"/>
              </a:spcAft>
            </a:pPr>
            <a:r>
              <a:rPr sz="1200" b="1">
                <a:solidFill>
                  <a:srgbClr val="E76F30"/>
                </a:solidFill>
                <a:latin typeface="Segoe UI"/>
              </a:rPr>
              <a:t>Shopper</a:t>
            </a:r>
          </a:p>
        </p:txBody>
      </p:sp>
      <p:sp>
        <p:nvSpPr>
          <p:cNvPr id="37" name="TextBox 36"/>
          <p:cNvSpPr txBox="1"/>
          <p:nvPr/>
        </p:nvSpPr>
        <p:spPr>
          <a:xfrm>
            <a:off x="502920" y="1920240"/>
            <a:ext cx="155448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Buys online</a:t>
            </a:r>
          </a:p>
        </p:txBody>
      </p:sp>
      <p:sp>
        <p:nvSpPr>
          <p:cNvPr id="38" name="Rounded Rectangle 37"/>
          <p:cNvSpPr/>
          <p:nvPr/>
        </p:nvSpPr>
        <p:spPr>
          <a:xfrm>
            <a:off x="502920" y="2468880"/>
            <a:ext cx="1554480" cy="86868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2920" y="2606040"/>
            <a:ext cx="1554480" cy="365760"/>
          </a:xfrm>
          <a:prstGeom prst="rect">
            <a:avLst/>
          </a:prstGeom>
          <a:noFill/>
        </p:spPr>
        <p:txBody>
          <a:bodyPr wrap="square" anchor="t"/>
          <a:lstStyle/>
          <a:p>
            <a:pPr algn="ctr">
              <a:spcBef>
                <a:spcPts val="0"/>
              </a:spcBef>
              <a:spcAft>
                <a:spcPts val="0"/>
              </a:spcAft>
            </a:pPr>
            <a:r>
              <a:rPr sz="1200" b="1">
                <a:solidFill>
                  <a:srgbClr val="E76F30"/>
                </a:solidFill>
                <a:latin typeface="Segoe UI"/>
              </a:rPr>
              <a:t>Warehouse
staff</a:t>
            </a:r>
          </a:p>
        </p:txBody>
      </p:sp>
      <p:sp>
        <p:nvSpPr>
          <p:cNvPr id="40" name="TextBox 39"/>
          <p:cNvSpPr txBox="1"/>
          <p:nvPr/>
        </p:nvSpPr>
        <p:spPr>
          <a:xfrm>
            <a:off x="502920" y="2971800"/>
            <a:ext cx="155448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Picks orders</a:t>
            </a:r>
          </a:p>
        </p:txBody>
      </p:sp>
      <p:sp>
        <p:nvSpPr>
          <p:cNvPr id="41" name="Rounded Rectangle 40"/>
          <p:cNvSpPr/>
          <p:nvPr/>
        </p:nvSpPr>
        <p:spPr>
          <a:xfrm>
            <a:off x="502920" y="3520440"/>
            <a:ext cx="1554480" cy="86868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3657600"/>
            <a:ext cx="1554480" cy="365760"/>
          </a:xfrm>
          <a:prstGeom prst="rect">
            <a:avLst/>
          </a:prstGeom>
          <a:noFill/>
        </p:spPr>
        <p:txBody>
          <a:bodyPr wrap="square" anchor="t"/>
          <a:lstStyle/>
          <a:p>
            <a:pPr algn="ctr">
              <a:spcBef>
                <a:spcPts val="0"/>
              </a:spcBef>
              <a:spcAft>
                <a:spcPts val="0"/>
              </a:spcAft>
            </a:pPr>
            <a:r>
              <a:rPr sz="1200" b="1">
                <a:solidFill>
                  <a:srgbClr val="E76F30"/>
                </a:solidFill>
                <a:latin typeface="Segoe UI"/>
              </a:rPr>
              <a:t>Finance</a:t>
            </a:r>
          </a:p>
        </p:txBody>
      </p:sp>
      <p:sp>
        <p:nvSpPr>
          <p:cNvPr id="43" name="TextBox 42"/>
          <p:cNvSpPr txBox="1"/>
          <p:nvPr/>
        </p:nvSpPr>
        <p:spPr>
          <a:xfrm>
            <a:off x="502920" y="4023360"/>
            <a:ext cx="155448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Sees charges</a:t>
            </a:r>
          </a:p>
        </p:txBody>
      </p:sp>
      <p:sp>
        <p:nvSpPr>
          <p:cNvPr id="44" name="Rounded Rectangle 43"/>
          <p:cNvSpPr/>
          <p:nvPr/>
        </p:nvSpPr>
        <p:spPr>
          <a:xfrm>
            <a:off x="2834640" y="2011680"/>
            <a:ext cx="4023360" cy="2194560"/>
          </a:xfrm>
          <a:prstGeom prst="roundRect">
            <a:avLst>
              <a:gd name="adj" fmla="val 12000"/>
            </a:avLst>
          </a:prstGeom>
          <a:solidFill>
            <a:srgbClr val="5F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926080" y="2331720"/>
            <a:ext cx="3840480" cy="365760"/>
          </a:xfrm>
          <a:prstGeom prst="rect">
            <a:avLst/>
          </a:prstGeom>
          <a:noFill/>
        </p:spPr>
        <p:txBody>
          <a:bodyPr wrap="square" anchor="t"/>
          <a:lstStyle/>
          <a:p>
            <a:pPr algn="ctr">
              <a:spcBef>
                <a:spcPts val="0"/>
              </a:spcBef>
              <a:spcAft>
                <a:spcPts val="0"/>
              </a:spcAft>
            </a:pPr>
            <a:r>
              <a:rPr sz="1800" b="1">
                <a:solidFill>
                  <a:srgbClr val="FFFFFF"/>
                </a:solidFill>
                <a:latin typeface="Segoe UI"/>
              </a:rPr>
              <a:t>Northline Shop</a:t>
            </a:r>
          </a:p>
        </p:txBody>
      </p:sp>
      <p:sp>
        <p:nvSpPr>
          <p:cNvPr id="46" name="TextBox 45"/>
          <p:cNvSpPr txBox="1"/>
          <p:nvPr/>
        </p:nvSpPr>
        <p:spPr>
          <a:xfrm>
            <a:off x="3017520" y="2834640"/>
            <a:ext cx="3657600" cy="1005840"/>
          </a:xfrm>
          <a:prstGeom prst="rect">
            <a:avLst/>
          </a:prstGeom>
          <a:noFill/>
        </p:spPr>
        <p:txBody>
          <a:bodyPr wrap="square" anchor="t"/>
          <a:lstStyle/>
          <a:p>
            <a:pPr algn="ctr">
              <a:spcBef>
                <a:spcPts val="0"/>
              </a:spcBef>
              <a:spcAft>
                <a:spcPts val="0"/>
              </a:spcAft>
            </a:pPr>
            <a:r>
              <a:rPr sz="1200" b="0">
                <a:solidFill>
                  <a:srgbClr val="FFFFFF"/>
                </a:solidFill>
                <a:latin typeface="Segoe UI"/>
              </a:rPr>
              <a:t>The software boundary we own.
Today: one old program
(NorthlineCore, 2011).</a:t>
            </a:r>
          </a:p>
        </p:txBody>
      </p:sp>
      <p:sp>
        <p:nvSpPr>
          <p:cNvPr id="47" name="Rounded Rectangle 46"/>
          <p:cNvSpPr/>
          <p:nvPr/>
        </p:nvSpPr>
        <p:spPr>
          <a:xfrm>
            <a:off x="7680960" y="1417320"/>
            <a:ext cx="1828800" cy="86868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680960" y="1527048"/>
            <a:ext cx="1828800" cy="411480"/>
          </a:xfrm>
          <a:prstGeom prst="rect">
            <a:avLst/>
          </a:prstGeom>
          <a:noFill/>
        </p:spPr>
        <p:txBody>
          <a:bodyPr wrap="square" anchor="t"/>
          <a:lstStyle/>
          <a:p>
            <a:pPr algn="ctr">
              <a:spcBef>
                <a:spcPts val="0"/>
              </a:spcBef>
              <a:spcAft>
                <a:spcPts val="0"/>
              </a:spcAft>
            </a:pPr>
            <a:r>
              <a:rPr sz="1200" b="1">
                <a:solidFill>
                  <a:srgbClr val="4A7DE0"/>
                </a:solidFill>
                <a:latin typeface="Segoe UI"/>
              </a:rPr>
              <a:t>Payment
bank API</a:t>
            </a:r>
          </a:p>
        </p:txBody>
      </p:sp>
      <p:sp>
        <p:nvSpPr>
          <p:cNvPr id="49" name="TextBox 48"/>
          <p:cNvSpPr txBox="1"/>
          <p:nvPr/>
        </p:nvSpPr>
        <p:spPr>
          <a:xfrm>
            <a:off x="7680960" y="1920240"/>
            <a:ext cx="182880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Charges cards</a:t>
            </a:r>
          </a:p>
        </p:txBody>
      </p:sp>
      <p:sp>
        <p:nvSpPr>
          <p:cNvPr id="50" name="Rounded Rectangle 49"/>
          <p:cNvSpPr/>
          <p:nvPr/>
        </p:nvSpPr>
        <p:spPr>
          <a:xfrm>
            <a:off x="7680960" y="2468880"/>
            <a:ext cx="1828800" cy="86868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80960" y="2578608"/>
            <a:ext cx="1828800" cy="411480"/>
          </a:xfrm>
          <a:prstGeom prst="rect">
            <a:avLst/>
          </a:prstGeom>
          <a:noFill/>
        </p:spPr>
        <p:txBody>
          <a:bodyPr wrap="square" anchor="t"/>
          <a:lstStyle/>
          <a:p>
            <a:pPr algn="ctr">
              <a:spcBef>
                <a:spcPts val="0"/>
              </a:spcBef>
              <a:spcAft>
                <a:spcPts val="0"/>
              </a:spcAft>
            </a:pPr>
            <a:r>
              <a:rPr sz="1200" b="1">
                <a:solidFill>
                  <a:srgbClr val="4A7DE0"/>
                </a:solidFill>
                <a:latin typeface="Segoe UI"/>
              </a:rPr>
              <a:t>SMS / email
gateway</a:t>
            </a:r>
          </a:p>
        </p:txBody>
      </p:sp>
      <p:sp>
        <p:nvSpPr>
          <p:cNvPr id="52" name="TextBox 51"/>
          <p:cNvSpPr txBox="1"/>
          <p:nvPr/>
        </p:nvSpPr>
        <p:spPr>
          <a:xfrm>
            <a:off x="7680960" y="2971800"/>
            <a:ext cx="182880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Sends receipts</a:t>
            </a:r>
          </a:p>
        </p:txBody>
      </p:sp>
      <p:sp>
        <p:nvSpPr>
          <p:cNvPr id="53" name="Rounded Rectangle 52"/>
          <p:cNvSpPr/>
          <p:nvPr/>
        </p:nvSpPr>
        <p:spPr>
          <a:xfrm>
            <a:off x="7680960" y="3520440"/>
            <a:ext cx="1828800" cy="86868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680960" y="3630168"/>
            <a:ext cx="1828800" cy="411480"/>
          </a:xfrm>
          <a:prstGeom prst="rect">
            <a:avLst/>
          </a:prstGeom>
          <a:noFill/>
        </p:spPr>
        <p:txBody>
          <a:bodyPr wrap="square" anchor="t"/>
          <a:lstStyle/>
          <a:p>
            <a:pPr algn="ctr">
              <a:spcBef>
                <a:spcPts val="0"/>
              </a:spcBef>
              <a:spcAft>
                <a:spcPts val="0"/>
              </a:spcAft>
            </a:pPr>
            <a:r>
              <a:rPr sz="1200" b="1">
                <a:solidFill>
                  <a:srgbClr val="4A7DE0"/>
                </a:solidFill>
                <a:latin typeface="Segoe UI"/>
              </a:rPr>
              <a:t>Shipping
carrier</a:t>
            </a:r>
          </a:p>
        </p:txBody>
      </p:sp>
      <p:sp>
        <p:nvSpPr>
          <p:cNvPr id="55" name="TextBox 54"/>
          <p:cNvSpPr txBox="1"/>
          <p:nvPr/>
        </p:nvSpPr>
        <p:spPr>
          <a:xfrm>
            <a:off x="7680960" y="4023360"/>
            <a:ext cx="1828800" cy="274320"/>
          </a:xfrm>
          <a:prstGeom prst="rect">
            <a:avLst/>
          </a:prstGeom>
          <a:noFill/>
        </p:spPr>
        <p:txBody>
          <a:bodyPr wrap="square" anchor="t"/>
          <a:lstStyle/>
          <a:p>
            <a:pPr algn="ctr">
              <a:spcBef>
                <a:spcPts val="0"/>
              </a:spcBef>
              <a:spcAft>
                <a:spcPts val="0"/>
              </a:spcAft>
            </a:pPr>
            <a:r>
              <a:rPr sz="1000" b="0">
                <a:solidFill>
                  <a:srgbClr val="6E637A"/>
                </a:solidFill>
                <a:latin typeface="Segoe UI"/>
              </a:rPr>
              <a:t>Tracking updates</a:t>
            </a:r>
          </a:p>
        </p:txBody>
      </p:sp>
      <p:sp>
        <p:nvSpPr>
          <p:cNvPr id="56" name="Rounded Rectangle 55"/>
          <p:cNvSpPr/>
          <p:nvPr/>
        </p:nvSpPr>
        <p:spPr>
          <a:xfrm>
            <a:off x="9784080" y="1417320"/>
            <a:ext cx="2011680" cy="2971800"/>
          </a:xfrm>
          <a:prstGeom prst="roundRect">
            <a:avLst>
              <a:gd name="adj" fmla="val 12000"/>
            </a:avLst>
          </a:prstGeom>
          <a:solidFill>
            <a:srgbClr val="F7F4F8"/>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875520" y="1554480"/>
            <a:ext cx="1828800" cy="320040"/>
          </a:xfrm>
          <a:prstGeom prst="rect">
            <a:avLst/>
          </a:prstGeom>
          <a:noFill/>
        </p:spPr>
        <p:txBody>
          <a:bodyPr wrap="square" anchor="t"/>
          <a:lstStyle/>
          <a:p>
            <a:pPr algn="ctr">
              <a:spcBef>
                <a:spcPts val="0"/>
              </a:spcBef>
              <a:spcAft>
                <a:spcPts val="0"/>
              </a:spcAft>
            </a:pPr>
            <a:r>
              <a:rPr sz="1100" b="1">
                <a:solidFill>
                  <a:srgbClr val="2F9992"/>
                </a:solidFill>
                <a:latin typeface="Segoe UI"/>
              </a:rPr>
              <a:t>Zoom to C2 later</a:t>
            </a:r>
          </a:p>
        </p:txBody>
      </p:sp>
      <p:sp>
        <p:nvSpPr>
          <p:cNvPr id="58" name="TextBox 57"/>
          <p:cNvSpPr txBox="1"/>
          <p:nvPr/>
        </p:nvSpPr>
        <p:spPr>
          <a:xfrm>
            <a:off x="9921240" y="1965960"/>
            <a:ext cx="1737360" cy="2194560"/>
          </a:xfrm>
          <a:prstGeom prst="rect">
            <a:avLst/>
          </a:prstGeom>
          <a:noFill/>
        </p:spPr>
        <p:txBody>
          <a:bodyPr wrap="square" anchor="t"/>
          <a:lstStyle/>
          <a:p>
            <a:pPr algn="l">
              <a:spcBef>
                <a:spcPts val="0"/>
              </a:spcBef>
              <a:spcAft>
                <a:spcPts val="0"/>
              </a:spcAft>
            </a:pPr>
            <a:r>
              <a:rPr sz="1100" b="0">
                <a:solidFill>
                  <a:srgbClr val="24162A"/>
                </a:solidFill>
                <a:latin typeface="Segoe UI"/>
              </a:rPr>
              <a:t>Inside the maroon box you will find:
• Web app
• NorthlineCore
• Database
Only open C2 when C1 is agreed.</a:t>
            </a:r>
          </a:p>
        </p:txBody>
      </p:sp>
      <p:sp>
        <p:nvSpPr>
          <p:cNvPr id="59" name="TextBox 58"/>
          <p:cNvSpPr txBox="1"/>
          <p:nvPr/>
        </p:nvSpPr>
        <p:spPr>
          <a:xfrm>
            <a:off x="2057400" y="2286000"/>
            <a:ext cx="777240" cy="274320"/>
          </a:xfrm>
          <a:prstGeom prst="rect">
            <a:avLst/>
          </a:prstGeom>
          <a:noFill/>
        </p:spPr>
        <p:txBody>
          <a:bodyPr wrap="square" anchor="t"/>
          <a:lstStyle/>
          <a:p>
            <a:pPr algn="ctr">
              <a:spcBef>
                <a:spcPts val="0"/>
              </a:spcBef>
              <a:spcAft>
                <a:spcPts val="0"/>
              </a:spcAft>
            </a:pPr>
            <a:r>
              <a:rPr sz="1100" b="1">
                <a:solidFill>
                  <a:srgbClr val="E76F30"/>
                </a:solidFill>
                <a:latin typeface="Segoe UI"/>
              </a:rPr>
              <a:t>uses →</a:t>
            </a:r>
          </a:p>
        </p:txBody>
      </p:sp>
      <p:sp>
        <p:nvSpPr>
          <p:cNvPr id="60" name="TextBox 59"/>
          <p:cNvSpPr txBox="1"/>
          <p:nvPr/>
        </p:nvSpPr>
        <p:spPr>
          <a:xfrm>
            <a:off x="6858000" y="2286000"/>
            <a:ext cx="822960" cy="274320"/>
          </a:xfrm>
          <a:prstGeom prst="rect">
            <a:avLst/>
          </a:prstGeom>
          <a:noFill/>
        </p:spPr>
        <p:txBody>
          <a:bodyPr wrap="square" anchor="t"/>
          <a:lstStyle/>
          <a:p>
            <a:pPr algn="ctr">
              <a:spcBef>
                <a:spcPts val="0"/>
              </a:spcBef>
              <a:spcAft>
                <a:spcPts val="0"/>
              </a:spcAft>
            </a:pPr>
            <a:r>
              <a:rPr sz="1100" b="1">
                <a:solidFill>
                  <a:srgbClr val="4A7DE0"/>
                </a:solidFill>
                <a:latin typeface="Segoe UI"/>
              </a:rPr>
              <a:t>→ calls</a:t>
            </a:r>
          </a:p>
        </p:txBody>
      </p:sp>
      <p:sp>
        <p:nvSpPr>
          <p:cNvPr id="61" name="Rectangle 60"/>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dirty="0">
                <a:solidFill>
                  <a:srgbClr val="24162A"/>
                </a:solidFill>
                <a:latin typeface="Segoe UI"/>
              </a:rPr>
              <a:t>BEST PRACTICE   Most meetings only need C1 and C2. If someone asks for classes in a business meeting, park it  that is C4, and the IDE already draws it.</a:t>
            </a:r>
          </a:p>
        </p:txBody>
      </p:sp>
      <p:sp>
        <p:nvSpPr>
          <p:cNvPr id="64" name="Rectangle 63"/>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c4model.com — Context, Container, Component, Code. Next slide: students draw this Level 1 themselves.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ArchiMate    one language for all four domains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idea and the goal. A shared drawing language so Business, Data, App and Tech speak on one page.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24</a:t>
            </a:r>
            <a:endParaRPr lang="en-US" sz="1000" dirty="0"/>
          </a:p>
        </p:txBody>
      </p:sp>
      <p:sp>
        <p:nvSpPr>
          <p:cNvPr id="35" name="Rounded Rectangle 34"/>
          <p:cNvSpPr/>
          <p:nvPr/>
        </p:nvSpPr>
        <p:spPr>
          <a:xfrm>
            <a:off x="640080" y="1325880"/>
            <a:ext cx="10972800" cy="86868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40080" y="1325880"/>
            <a:ext cx="2194560" cy="868680"/>
          </a:xfrm>
          <a:prstGeom prst="rect">
            <a:avLst/>
          </a:prstGeom>
          <a:solidFill>
            <a:srgbClr val="E76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1520" y="1600200"/>
            <a:ext cx="2011680" cy="365760"/>
          </a:xfrm>
          <a:prstGeom prst="rect">
            <a:avLst/>
          </a:prstGeom>
          <a:noFill/>
        </p:spPr>
        <p:txBody>
          <a:bodyPr wrap="square" anchor="t"/>
          <a:lstStyle/>
          <a:p>
            <a:pPr algn="ctr">
              <a:spcBef>
                <a:spcPts val="0"/>
              </a:spcBef>
              <a:spcAft>
                <a:spcPts val="0"/>
              </a:spcAft>
            </a:pPr>
            <a:r>
              <a:rPr sz="1400" b="1">
                <a:solidFill>
                  <a:srgbClr val="FFFFFF"/>
                </a:solidFill>
                <a:latin typeface="Segoe UI"/>
              </a:rPr>
              <a:t>Business</a:t>
            </a:r>
          </a:p>
        </p:txBody>
      </p:sp>
      <p:sp>
        <p:nvSpPr>
          <p:cNvPr id="38" name="TextBox 37"/>
          <p:cNvSpPr txBox="1"/>
          <p:nvPr/>
        </p:nvSpPr>
        <p:spPr>
          <a:xfrm>
            <a:off x="3017520" y="1463040"/>
            <a:ext cx="4114800" cy="594360"/>
          </a:xfrm>
          <a:prstGeom prst="rect">
            <a:avLst/>
          </a:prstGeom>
          <a:noFill/>
        </p:spPr>
        <p:txBody>
          <a:bodyPr wrap="square" anchor="ctr"/>
          <a:lstStyle/>
          <a:p>
            <a:pPr algn="l">
              <a:spcBef>
                <a:spcPts val="0"/>
              </a:spcBef>
              <a:spcAft>
                <a:spcPts val="0"/>
              </a:spcAft>
            </a:pPr>
            <a:r>
              <a:rPr sz="1400" b="1">
                <a:solidFill>
                  <a:srgbClr val="24162A"/>
                </a:solidFill>
                <a:latin typeface="Segoe UI"/>
              </a:rPr>
              <a:t>What the company does</a:t>
            </a:r>
          </a:p>
        </p:txBody>
      </p:sp>
      <p:sp>
        <p:nvSpPr>
          <p:cNvPr id="39" name="TextBox 38"/>
          <p:cNvSpPr txBox="1"/>
          <p:nvPr/>
        </p:nvSpPr>
        <p:spPr>
          <a:xfrm>
            <a:off x="7223760" y="1463040"/>
            <a:ext cx="4114800" cy="594360"/>
          </a:xfrm>
          <a:prstGeom prst="rect">
            <a:avLst/>
          </a:prstGeom>
          <a:noFill/>
        </p:spPr>
        <p:txBody>
          <a:bodyPr wrap="square" anchor="ctr"/>
          <a:lstStyle/>
          <a:p>
            <a:pPr algn="l">
              <a:spcBef>
                <a:spcPts val="0"/>
              </a:spcBef>
              <a:spcAft>
                <a:spcPts val="0"/>
              </a:spcAft>
            </a:pPr>
            <a:r>
              <a:rPr sz="1300" b="0">
                <a:solidFill>
                  <a:srgbClr val="3D3348"/>
                </a:solidFill>
                <a:latin typeface="Segoe UI"/>
              </a:rPr>
              <a:t>Sell online, pick order, refund</a:t>
            </a:r>
          </a:p>
        </p:txBody>
      </p:sp>
      <p:sp>
        <p:nvSpPr>
          <p:cNvPr id="40" name="Rounded Rectangle 39"/>
          <p:cNvSpPr/>
          <p:nvPr/>
        </p:nvSpPr>
        <p:spPr>
          <a:xfrm>
            <a:off x="640080" y="2331720"/>
            <a:ext cx="10972800" cy="86868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40080" y="2331720"/>
            <a:ext cx="2194560" cy="868680"/>
          </a:xfrm>
          <a:prstGeom prst="rect">
            <a:avLst/>
          </a:prstGeom>
          <a:solidFill>
            <a:srgbClr val="4A7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2606040"/>
            <a:ext cx="2011680" cy="365760"/>
          </a:xfrm>
          <a:prstGeom prst="rect">
            <a:avLst/>
          </a:prstGeom>
          <a:noFill/>
        </p:spPr>
        <p:txBody>
          <a:bodyPr wrap="square" anchor="t"/>
          <a:lstStyle/>
          <a:p>
            <a:pPr algn="ctr">
              <a:spcBef>
                <a:spcPts val="0"/>
              </a:spcBef>
              <a:spcAft>
                <a:spcPts val="0"/>
              </a:spcAft>
            </a:pPr>
            <a:r>
              <a:rPr sz="1400" b="1">
                <a:solidFill>
                  <a:srgbClr val="FFFFFF"/>
                </a:solidFill>
                <a:latin typeface="Segoe UI"/>
              </a:rPr>
              <a:t>Application</a:t>
            </a:r>
          </a:p>
        </p:txBody>
      </p:sp>
      <p:sp>
        <p:nvSpPr>
          <p:cNvPr id="43" name="TextBox 42"/>
          <p:cNvSpPr txBox="1"/>
          <p:nvPr/>
        </p:nvSpPr>
        <p:spPr>
          <a:xfrm>
            <a:off x="3017520" y="2468880"/>
            <a:ext cx="4114800" cy="594360"/>
          </a:xfrm>
          <a:prstGeom prst="rect">
            <a:avLst/>
          </a:prstGeom>
          <a:noFill/>
        </p:spPr>
        <p:txBody>
          <a:bodyPr wrap="square" anchor="ctr"/>
          <a:lstStyle/>
          <a:p>
            <a:pPr algn="l">
              <a:spcBef>
                <a:spcPts val="0"/>
              </a:spcBef>
              <a:spcAft>
                <a:spcPts val="0"/>
              </a:spcAft>
            </a:pPr>
            <a:r>
              <a:rPr sz="1400" b="1">
                <a:solidFill>
                  <a:srgbClr val="24162A"/>
                </a:solidFill>
                <a:latin typeface="Segoe UI"/>
              </a:rPr>
              <a:t>Software that serves it</a:t>
            </a:r>
          </a:p>
        </p:txBody>
      </p:sp>
      <p:sp>
        <p:nvSpPr>
          <p:cNvPr id="44" name="TextBox 43"/>
          <p:cNvSpPr txBox="1"/>
          <p:nvPr/>
        </p:nvSpPr>
        <p:spPr>
          <a:xfrm>
            <a:off x="7223760" y="2468880"/>
            <a:ext cx="4114800" cy="594360"/>
          </a:xfrm>
          <a:prstGeom prst="rect">
            <a:avLst/>
          </a:prstGeom>
          <a:noFill/>
        </p:spPr>
        <p:txBody>
          <a:bodyPr wrap="square" anchor="ctr"/>
          <a:lstStyle/>
          <a:p>
            <a:pPr algn="l">
              <a:spcBef>
                <a:spcPts val="0"/>
              </a:spcBef>
              <a:spcAft>
                <a:spcPts val="0"/>
              </a:spcAft>
            </a:pPr>
            <a:r>
              <a:rPr sz="1300" b="0">
                <a:solidFill>
                  <a:srgbClr val="3D3348"/>
                </a:solidFill>
                <a:latin typeface="Segoe UI"/>
              </a:rPr>
              <a:t>NorthlineCore, payment adapter</a:t>
            </a:r>
          </a:p>
        </p:txBody>
      </p:sp>
      <p:sp>
        <p:nvSpPr>
          <p:cNvPr id="45" name="Rounded Rectangle 44"/>
          <p:cNvSpPr/>
          <p:nvPr/>
        </p:nvSpPr>
        <p:spPr>
          <a:xfrm>
            <a:off x="640080" y="3337560"/>
            <a:ext cx="10972800" cy="86868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40080" y="3337560"/>
            <a:ext cx="2194560" cy="868680"/>
          </a:xfrm>
          <a:prstGeom prst="rect">
            <a:avLst/>
          </a:prstGeom>
          <a:solidFill>
            <a:srgbClr val="2F9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1520" y="3611880"/>
            <a:ext cx="2011680" cy="365760"/>
          </a:xfrm>
          <a:prstGeom prst="rect">
            <a:avLst/>
          </a:prstGeom>
          <a:noFill/>
        </p:spPr>
        <p:txBody>
          <a:bodyPr wrap="square" anchor="t"/>
          <a:lstStyle/>
          <a:p>
            <a:pPr algn="ctr">
              <a:spcBef>
                <a:spcPts val="0"/>
              </a:spcBef>
              <a:spcAft>
                <a:spcPts val="0"/>
              </a:spcAft>
            </a:pPr>
            <a:r>
              <a:rPr sz="1400" b="1">
                <a:solidFill>
                  <a:srgbClr val="FFFFFF"/>
                </a:solidFill>
                <a:latin typeface="Segoe UI"/>
              </a:rPr>
              <a:t>Technology</a:t>
            </a:r>
          </a:p>
        </p:txBody>
      </p:sp>
      <p:sp>
        <p:nvSpPr>
          <p:cNvPr id="48" name="TextBox 47"/>
          <p:cNvSpPr txBox="1"/>
          <p:nvPr/>
        </p:nvSpPr>
        <p:spPr>
          <a:xfrm>
            <a:off x="3017520" y="3474720"/>
            <a:ext cx="4114800" cy="594360"/>
          </a:xfrm>
          <a:prstGeom prst="rect">
            <a:avLst/>
          </a:prstGeom>
          <a:noFill/>
        </p:spPr>
        <p:txBody>
          <a:bodyPr wrap="square" anchor="ctr"/>
          <a:lstStyle/>
          <a:p>
            <a:pPr algn="l">
              <a:spcBef>
                <a:spcPts val="0"/>
              </a:spcBef>
              <a:spcAft>
                <a:spcPts val="0"/>
              </a:spcAft>
            </a:pPr>
            <a:r>
              <a:rPr sz="1400" b="1">
                <a:solidFill>
                  <a:srgbClr val="24162A"/>
                </a:solidFill>
                <a:latin typeface="Segoe UI"/>
              </a:rPr>
              <a:t>Where software runs</a:t>
            </a:r>
          </a:p>
        </p:txBody>
      </p:sp>
      <p:sp>
        <p:nvSpPr>
          <p:cNvPr id="49" name="TextBox 48"/>
          <p:cNvSpPr txBox="1"/>
          <p:nvPr/>
        </p:nvSpPr>
        <p:spPr>
          <a:xfrm>
            <a:off x="7223760" y="3474720"/>
            <a:ext cx="4114800" cy="594360"/>
          </a:xfrm>
          <a:prstGeom prst="rect">
            <a:avLst/>
          </a:prstGeom>
          <a:noFill/>
        </p:spPr>
        <p:txBody>
          <a:bodyPr wrap="square" anchor="ctr"/>
          <a:lstStyle/>
          <a:p>
            <a:pPr algn="l">
              <a:spcBef>
                <a:spcPts val="0"/>
              </a:spcBef>
              <a:spcAft>
                <a:spcPts val="0"/>
              </a:spcAft>
            </a:pPr>
            <a:r>
              <a:rPr sz="1300" b="0">
                <a:solidFill>
                  <a:srgbClr val="3D3348"/>
                </a:solidFill>
                <a:latin typeface="Segoe UI"/>
              </a:rPr>
              <a:t>Servers, network, queue, DB</a:t>
            </a:r>
          </a:p>
        </p:txBody>
      </p:sp>
      <p:sp>
        <p:nvSpPr>
          <p:cNvPr id="50" name="Rounded Rectangle 49"/>
          <p:cNvSpPr/>
          <p:nvPr/>
        </p:nvSpPr>
        <p:spPr>
          <a:xfrm>
            <a:off x="640080" y="4389120"/>
            <a:ext cx="10972800" cy="502920"/>
          </a:xfrm>
          <a:prstGeom prst="roundRect">
            <a:avLst>
              <a:gd name="adj" fmla="val 12000"/>
            </a:avLst>
          </a:prstGeom>
          <a:solidFill>
            <a:srgbClr val="F7F4F8"/>
          </a:solidFill>
          <a:ln w="15875">
            <a:solidFill>
              <a:srgbClr val="5F1B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480560"/>
            <a:ext cx="10607040" cy="365760"/>
          </a:xfrm>
          <a:prstGeom prst="rect">
            <a:avLst/>
          </a:prstGeom>
          <a:noFill/>
        </p:spPr>
        <p:txBody>
          <a:bodyPr wrap="square" anchor="ctr"/>
          <a:lstStyle/>
          <a:p>
            <a:pPr algn="l">
              <a:spcBef>
                <a:spcPts val="0"/>
              </a:spcBef>
              <a:spcAft>
                <a:spcPts val="0"/>
              </a:spcAft>
            </a:pPr>
            <a:r>
              <a:rPr sz="1200" b="0">
                <a:solidFill>
                  <a:srgbClr val="24162A"/>
                </a:solidFill>
                <a:latin typeface="Segoe UI"/>
              </a:rPr>
              <a:t>ArchiMate is a language. TOGAF is a method. C4 is a zoom habit. You can use all three on the same Northline programme.</a:t>
            </a:r>
          </a:p>
        </p:txBody>
      </p:sp>
      <p:sp>
        <p:nvSpPr>
          <p:cNvPr id="52" name="Rectangle 51"/>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a:solidFill>
                  <a:srgbClr val="24162A"/>
                </a:solidFill>
                <a:latin typeface="Segoe UI"/>
              </a:rPr>
              <a:t>BEST PRACTICE   Use ArchiMate when the model must live for years. Use C4 when a delivery team must agree this week.</a:t>
            </a:r>
          </a:p>
        </p:txBody>
      </p:sp>
      <p:sp>
        <p:nvSpPr>
          <p:cNvPr id="55" name="Rectangle 54"/>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opengroup.org/archimate-forum — Business, Application and Technology layers (plus Motivation &amp; Strategy).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ArchiMate    Northline on three layers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b="0" dirty="0">
                <a:solidFill>
                  <a:srgbClr val="3D3348"/>
                </a:solidFill>
                <a:latin typeface="Segoe UI" pitchFamily="34" charset="0"/>
                <a:ea typeface="Segoe UI" pitchFamily="34" charset="-122"/>
                <a:cs typeface="Segoe UI" pitchFamily="34" charset="-120"/>
              </a:rPr>
              <a:t>The picture. One vertical slice: from “sell online” down to the machine that runs it.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25</a:t>
            </a:r>
            <a:endParaRPr lang="en-US" sz="1000" dirty="0"/>
          </a:p>
        </p:txBody>
      </p:sp>
      <p:sp>
        <p:nvSpPr>
          <p:cNvPr id="35" name="Rounded Rectangle 34"/>
          <p:cNvSpPr/>
          <p:nvPr/>
        </p:nvSpPr>
        <p:spPr>
          <a:xfrm>
            <a:off x="548640" y="1280160"/>
            <a:ext cx="11155680" cy="1051560"/>
          </a:xfrm>
          <a:prstGeom prst="roundRect">
            <a:avLst>
              <a:gd name="adj" fmla="val 12000"/>
            </a:avLst>
          </a:prstGeom>
          <a:solidFill>
            <a:srgbClr val="FFF0E6"/>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1371600"/>
            <a:ext cx="1828800" cy="274320"/>
          </a:xfrm>
          <a:prstGeom prst="rect">
            <a:avLst/>
          </a:prstGeom>
          <a:noFill/>
        </p:spPr>
        <p:txBody>
          <a:bodyPr wrap="square" anchor="t"/>
          <a:lstStyle/>
          <a:p>
            <a:pPr algn="l">
              <a:spcBef>
                <a:spcPts val="0"/>
              </a:spcBef>
              <a:spcAft>
                <a:spcPts val="0"/>
              </a:spcAft>
            </a:pPr>
            <a:r>
              <a:rPr sz="1100" b="1">
                <a:solidFill>
                  <a:srgbClr val="E76F30"/>
                </a:solidFill>
                <a:latin typeface="Segoe UI"/>
              </a:rPr>
              <a:t>BUSINESS</a:t>
            </a:r>
          </a:p>
        </p:txBody>
      </p:sp>
      <p:sp>
        <p:nvSpPr>
          <p:cNvPr id="37" name="Rounded Rectangle 36"/>
          <p:cNvSpPr/>
          <p:nvPr/>
        </p:nvSpPr>
        <p:spPr>
          <a:xfrm>
            <a:off x="2743200" y="1417320"/>
            <a:ext cx="2011680" cy="77724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43200" y="155448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Capability:
Sell online</a:t>
            </a:r>
          </a:p>
        </p:txBody>
      </p:sp>
      <p:sp>
        <p:nvSpPr>
          <p:cNvPr id="39" name="Rounded Rectangle 38"/>
          <p:cNvSpPr/>
          <p:nvPr/>
        </p:nvSpPr>
        <p:spPr>
          <a:xfrm>
            <a:off x="5029200" y="1417320"/>
            <a:ext cx="2011680" cy="77724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0" y="155448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Process:
Checkout</a:t>
            </a:r>
          </a:p>
        </p:txBody>
      </p:sp>
      <p:sp>
        <p:nvSpPr>
          <p:cNvPr id="41" name="Rounded Rectangle 40"/>
          <p:cNvSpPr/>
          <p:nvPr/>
        </p:nvSpPr>
        <p:spPr>
          <a:xfrm>
            <a:off x="7315200" y="1417320"/>
            <a:ext cx="2011680" cy="777240"/>
          </a:xfrm>
          <a:prstGeom prst="roundRect">
            <a:avLst>
              <a:gd name="adj" fmla="val 12000"/>
            </a:avLst>
          </a:prstGeom>
          <a:solidFill>
            <a:srgbClr val="FFFFFF"/>
          </a:solidFill>
          <a:ln w="15875">
            <a:solidFill>
              <a:srgbClr val="E76F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0" y="155448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Role:
Shopper</a:t>
            </a:r>
          </a:p>
        </p:txBody>
      </p:sp>
      <p:sp>
        <p:nvSpPr>
          <p:cNvPr id="43" name="Rounded Rectangle 42"/>
          <p:cNvSpPr/>
          <p:nvPr/>
        </p:nvSpPr>
        <p:spPr>
          <a:xfrm>
            <a:off x="548640" y="2514600"/>
            <a:ext cx="11155680" cy="1051560"/>
          </a:xfrm>
          <a:prstGeom prst="roundRect">
            <a:avLst>
              <a:gd name="adj" fmla="val 12000"/>
            </a:avLst>
          </a:prstGeom>
          <a:solidFill>
            <a:srgbClr val="E8F0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5800" y="2606040"/>
            <a:ext cx="1828800" cy="274320"/>
          </a:xfrm>
          <a:prstGeom prst="rect">
            <a:avLst/>
          </a:prstGeom>
          <a:noFill/>
        </p:spPr>
        <p:txBody>
          <a:bodyPr wrap="square" anchor="t"/>
          <a:lstStyle/>
          <a:p>
            <a:pPr algn="l">
              <a:spcBef>
                <a:spcPts val="0"/>
              </a:spcBef>
              <a:spcAft>
                <a:spcPts val="0"/>
              </a:spcAft>
            </a:pPr>
            <a:r>
              <a:rPr sz="1100" b="1">
                <a:solidFill>
                  <a:srgbClr val="4A7DE0"/>
                </a:solidFill>
                <a:latin typeface="Segoe UI"/>
              </a:rPr>
              <a:t>APPLICATION</a:t>
            </a:r>
          </a:p>
        </p:txBody>
      </p:sp>
      <p:sp>
        <p:nvSpPr>
          <p:cNvPr id="45" name="Rounded Rectangle 44"/>
          <p:cNvSpPr/>
          <p:nvPr/>
        </p:nvSpPr>
        <p:spPr>
          <a:xfrm>
            <a:off x="2743200" y="2651760"/>
            <a:ext cx="2011680" cy="77724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43200" y="278892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App:
Web shop</a:t>
            </a:r>
          </a:p>
        </p:txBody>
      </p:sp>
      <p:sp>
        <p:nvSpPr>
          <p:cNvPr id="47" name="Rounded Rectangle 46"/>
          <p:cNvSpPr/>
          <p:nvPr/>
        </p:nvSpPr>
        <p:spPr>
          <a:xfrm>
            <a:off x="5029200" y="2651760"/>
            <a:ext cx="2011680" cy="77724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0" y="278892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App:
NorthlineCore</a:t>
            </a:r>
          </a:p>
        </p:txBody>
      </p:sp>
      <p:sp>
        <p:nvSpPr>
          <p:cNvPr id="49" name="Rounded Rectangle 48"/>
          <p:cNvSpPr/>
          <p:nvPr/>
        </p:nvSpPr>
        <p:spPr>
          <a:xfrm>
            <a:off x="7315200" y="2651760"/>
            <a:ext cx="2011680" cy="777240"/>
          </a:xfrm>
          <a:prstGeom prst="roundRect">
            <a:avLst>
              <a:gd name="adj" fmla="val 12000"/>
            </a:avLst>
          </a:prstGeom>
          <a:solidFill>
            <a:srgbClr val="FFFFFF"/>
          </a:solidFill>
          <a:ln w="15875">
            <a:solidFill>
              <a:srgbClr val="4A7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0" y="278892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Interface:
Payment API</a:t>
            </a:r>
          </a:p>
        </p:txBody>
      </p:sp>
      <p:sp>
        <p:nvSpPr>
          <p:cNvPr id="51" name="Rounded Rectangle 50"/>
          <p:cNvSpPr/>
          <p:nvPr/>
        </p:nvSpPr>
        <p:spPr>
          <a:xfrm>
            <a:off x="548640" y="3749039"/>
            <a:ext cx="11155680" cy="1051560"/>
          </a:xfrm>
          <a:prstGeom prst="roundRect">
            <a:avLst>
              <a:gd name="adj" fmla="val 12000"/>
            </a:avLst>
          </a:prstGeom>
          <a:solidFill>
            <a:srgbClr val="E6F7F6"/>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00" y="3840480"/>
            <a:ext cx="1828800" cy="274320"/>
          </a:xfrm>
          <a:prstGeom prst="rect">
            <a:avLst/>
          </a:prstGeom>
          <a:noFill/>
        </p:spPr>
        <p:txBody>
          <a:bodyPr wrap="square" anchor="t"/>
          <a:lstStyle/>
          <a:p>
            <a:pPr algn="l">
              <a:spcBef>
                <a:spcPts val="0"/>
              </a:spcBef>
              <a:spcAft>
                <a:spcPts val="0"/>
              </a:spcAft>
            </a:pPr>
            <a:r>
              <a:rPr sz="1100" b="1">
                <a:solidFill>
                  <a:srgbClr val="2F9992"/>
                </a:solidFill>
                <a:latin typeface="Segoe UI"/>
              </a:rPr>
              <a:t>TECHNOLOGY</a:t>
            </a:r>
          </a:p>
        </p:txBody>
      </p:sp>
      <p:sp>
        <p:nvSpPr>
          <p:cNvPr id="53" name="Rounded Rectangle 52"/>
          <p:cNvSpPr/>
          <p:nvPr/>
        </p:nvSpPr>
        <p:spPr>
          <a:xfrm>
            <a:off x="2743200" y="3886200"/>
            <a:ext cx="2011680" cy="77724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43200" y="402336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Node:
App server</a:t>
            </a:r>
          </a:p>
        </p:txBody>
      </p:sp>
      <p:sp>
        <p:nvSpPr>
          <p:cNvPr id="55" name="Rounded Rectangle 54"/>
          <p:cNvSpPr/>
          <p:nvPr/>
        </p:nvSpPr>
        <p:spPr>
          <a:xfrm>
            <a:off x="5029200" y="3886200"/>
            <a:ext cx="2011680" cy="77724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029200" y="402336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Node:
Database</a:t>
            </a:r>
          </a:p>
        </p:txBody>
      </p:sp>
      <p:sp>
        <p:nvSpPr>
          <p:cNvPr id="57" name="Rounded Rectangle 56"/>
          <p:cNvSpPr/>
          <p:nvPr/>
        </p:nvSpPr>
        <p:spPr>
          <a:xfrm>
            <a:off x="7315200" y="3886200"/>
            <a:ext cx="2011680" cy="777240"/>
          </a:xfrm>
          <a:prstGeom prst="roundRect">
            <a:avLst>
              <a:gd name="adj" fmla="val 12000"/>
            </a:avLst>
          </a:prstGeom>
          <a:solidFill>
            <a:srgbClr val="FFFFFF"/>
          </a:solidFill>
          <a:ln w="15875">
            <a:solidFill>
              <a:srgbClr val="2F99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315200" y="4023360"/>
            <a:ext cx="2011680" cy="548640"/>
          </a:xfrm>
          <a:prstGeom prst="rect">
            <a:avLst/>
          </a:prstGeom>
          <a:noFill/>
        </p:spPr>
        <p:txBody>
          <a:bodyPr wrap="square" anchor="t"/>
          <a:lstStyle/>
          <a:p>
            <a:pPr algn="ctr">
              <a:spcBef>
                <a:spcPts val="0"/>
              </a:spcBef>
              <a:spcAft>
                <a:spcPts val="0"/>
              </a:spcAft>
            </a:pPr>
            <a:r>
              <a:rPr sz="1200" b="0">
                <a:solidFill>
                  <a:srgbClr val="24162A"/>
                </a:solidFill>
                <a:latin typeface="Segoe UI"/>
              </a:rPr>
              <a:t>Path:
HTTPS + VPN</a:t>
            </a:r>
          </a:p>
        </p:txBody>
      </p:sp>
      <p:sp>
        <p:nvSpPr>
          <p:cNvPr id="60" name="Rectangle 59"/>
          <p:cNvSpPr/>
          <p:nvPr/>
        </p:nvSpPr>
        <p:spPr>
          <a:xfrm>
            <a:off x="740664" y="5010912"/>
            <a:ext cx="10780776" cy="731520"/>
          </a:xfrm>
          <a:prstGeom prst="rect">
            <a:avLst/>
          </a:prstGeom>
          <a:solidFill>
            <a:srgbClr val="E1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40664" y="5010912"/>
            <a:ext cx="109728" cy="731520"/>
          </a:xfrm>
          <a:prstGeom prst="rect">
            <a:avLst/>
          </a:prstGeom>
          <a:solidFill>
            <a:srgbClr val="1F8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60120" y="5102352"/>
            <a:ext cx="10332720" cy="548640"/>
          </a:xfrm>
          <a:prstGeom prst="rect">
            <a:avLst/>
          </a:prstGeom>
          <a:noFill/>
        </p:spPr>
        <p:txBody>
          <a:bodyPr wrap="square" anchor="ctr"/>
          <a:lstStyle/>
          <a:p>
            <a:pPr algn="l">
              <a:spcBef>
                <a:spcPts val="0"/>
              </a:spcBef>
              <a:spcAft>
                <a:spcPts val="0"/>
              </a:spcAft>
            </a:pPr>
            <a:r>
              <a:rPr sz="1200" b="0">
                <a:solidFill>
                  <a:srgbClr val="24162A"/>
                </a:solidFill>
                <a:latin typeface="Segoe UI"/>
              </a:rPr>
              <a:t>BEST PRACTICE   Draw one vertical slice end-to-end before you draw the whole estate. A thin true story beats a wide empty model.</a:t>
            </a:r>
          </a:p>
        </p:txBody>
      </p:sp>
      <p:sp>
        <p:nvSpPr>
          <p:cNvPr id="63" name="Rectangle 62"/>
          <p:cNvSpPr/>
          <p:nvPr/>
        </p:nvSpPr>
        <p:spPr>
          <a:xfrm>
            <a:off x="667512" y="5833872"/>
            <a:ext cx="11000232" cy="365760"/>
          </a:xfrm>
          <a:prstGeom prst="rect">
            <a:avLst/>
          </a:prstGeom>
          <a:solidFill>
            <a:srgbClr val="43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60" y="5870448"/>
            <a:ext cx="10698480" cy="292608"/>
          </a:xfrm>
          <a:prstGeom prst="rect">
            <a:avLst/>
          </a:prstGeom>
          <a:noFill/>
        </p:spPr>
        <p:txBody>
          <a:bodyPr wrap="square" anchor="ctr"/>
          <a:lstStyle/>
          <a:p>
            <a:pPr algn="l">
              <a:spcBef>
                <a:spcPts val="0"/>
              </a:spcBef>
              <a:spcAft>
                <a:spcPts val="0"/>
              </a:spcAft>
            </a:pPr>
            <a:r>
              <a:rPr sz="1000" b="0">
                <a:solidFill>
                  <a:srgbClr val="1A4A47"/>
                </a:solidFill>
                <a:latin typeface="Segoe UI"/>
              </a:rPr>
              <a:t>Read more:  ArchiMate 3.x Layered View. Free tooling often used with it: Archi (archimatetool.com).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draw C4 Level 1 for Northline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15 minutes, groups of three. Today's world only  no future boxes.</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26</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One box in the middle</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Write NorthlineCore. This is the software that exists today.</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People on the left</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Shopper, warehouse staff, finance. People are not systems.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Outside systems on the right</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Payment gateway, courier, ERP. Only systems that already exist.</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Put a verb on every arrow</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browse, charge card, book delivery, send nightly stock. No verb means no arrow.</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docs/context.puml</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Shopper        -&gt; NorthlineCore   : browse, order</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Warehouse      -&gt; NorthlineCore   : pick, pack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Finance        -&gt; NorthlineCore   : reports</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NorthlineCore  -&gt; Payment gateway : charge card</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NorthlineCore  -&gt; Courier         : book delivery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NorthlineCore  -&gt; ERP             : nightly stock</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6 arrows. 1 system box. No future boxes.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No classes. No cloud logos.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page. One system box in the middle. Every person and system has a reason to be there. Every arrow carries a verb.</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Six arrows as above. Best practice: a context diagram answers only two questions  who uses us, and what do we depend on.</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Free tools: draw.io (diagrams.net) with the C4 shape library, or Structurizr DSL for diagrams-as-code.</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000" b="1" dirty="0">
                <a:solidFill>
                  <a:srgbClr val="5F1B3C"/>
                </a:solidFill>
                <a:latin typeface="Segoe UI" pitchFamily="34" charset="0"/>
                <a:ea typeface="Segoe UI" pitchFamily="34" charset="-122"/>
                <a:cs typeface="Segoe UI" pitchFamily="34" charset="-120"/>
              </a:rPr>
              <a:t>Diagrams    best practice against the usual mistake</a:t>
            </a:r>
            <a:endParaRPr lang="en-US" sz="20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These four rules remove most confusion in architecture reviews.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27</a:t>
            </a:r>
            <a:endParaRPr lang="en-US" sz="1000" dirty="0"/>
          </a:p>
        </p:txBody>
      </p:sp>
      <p:sp>
        <p:nvSpPr>
          <p:cNvPr id="36" name="Shape 33"/>
          <p:cNvSpPr/>
          <p:nvPr/>
        </p:nvSpPr>
        <p:spPr>
          <a:xfrm>
            <a:off x="502920" y="1243584"/>
            <a:ext cx="5455768" cy="420624"/>
          </a:xfrm>
          <a:prstGeom prst="roundRect">
            <a:avLst>
              <a:gd name="adj" fmla="val 19565"/>
            </a:avLst>
          </a:prstGeom>
          <a:solidFill>
            <a:srgbClr val="1F8F65"/>
          </a:solidFill>
          <a:ln/>
        </p:spPr>
        <p:txBody>
          <a:bodyPr/>
          <a:lstStyle/>
          <a:p>
            <a:endParaRPr/>
          </a:p>
        </p:txBody>
      </p:sp>
      <p:sp>
        <p:nvSpPr>
          <p:cNvPr id="37" name="Text 34"/>
          <p:cNvSpPr/>
          <p:nvPr/>
        </p:nvSpPr>
        <p:spPr>
          <a:xfrm>
            <a:off x="685800"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    best practice</a:t>
            </a:r>
            <a:endParaRPr lang="en-US" sz="1300" dirty="0"/>
          </a:p>
        </p:txBody>
      </p:sp>
      <p:sp>
        <p:nvSpPr>
          <p:cNvPr id="38" name="Shape 35"/>
          <p:cNvSpPr/>
          <p:nvPr/>
        </p:nvSpPr>
        <p:spPr>
          <a:xfrm>
            <a:off x="6233008" y="1243584"/>
            <a:ext cx="5455768" cy="420624"/>
          </a:xfrm>
          <a:prstGeom prst="roundRect">
            <a:avLst>
              <a:gd name="adj" fmla="val 19565"/>
            </a:avLst>
          </a:prstGeom>
          <a:solidFill>
            <a:srgbClr val="DC2626"/>
          </a:solidFill>
          <a:ln/>
        </p:spPr>
        <p:txBody>
          <a:bodyPr/>
          <a:lstStyle/>
          <a:p>
            <a:endParaRPr/>
          </a:p>
        </p:txBody>
      </p:sp>
      <p:sp>
        <p:nvSpPr>
          <p:cNvPr id="39" name="Text 36"/>
          <p:cNvSpPr/>
          <p:nvPr/>
        </p:nvSpPr>
        <p:spPr>
          <a:xfrm>
            <a:off x="6415888"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DON'T    what breaks in production</a:t>
            </a:r>
            <a:endParaRPr lang="en-US" sz="1300" dirty="0"/>
          </a:p>
        </p:txBody>
      </p:sp>
      <p:sp>
        <p:nvSpPr>
          <p:cNvPr id="40" name="Shape 37"/>
          <p:cNvSpPr/>
          <p:nvPr/>
        </p:nvSpPr>
        <p:spPr>
          <a:xfrm>
            <a:off x="502920" y="1792224"/>
            <a:ext cx="5455768" cy="681228"/>
          </a:xfrm>
          <a:prstGeom prst="roundRect">
            <a:avLst>
              <a:gd name="adj" fmla="val 12081"/>
            </a:avLst>
          </a:prstGeom>
          <a:solidFill>
            <a:srgbClr val="E1F5EC"/>
          </a:solidFill>
          <a:ln/>
        </p:spPr>
        <p:txBody>
          <a:bodyPr/>
          <a:lstStyle/>
          <a:p>
            <a:endParaRPr/>
          </a:p>
        </p:txBody>
      </p:sp>
      <p:sp>
        <p:nvSpPr>
          <p:cNvPr id="41" name="Text 38"/>
          <p:cNvSpPr/>
          <p:nvPr/>
        </p:nvSpPr>
        <p:spPr>
          <a:xfrm>
            <a:off x="612648" y="1847088"/>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2" name="Text 39"/>
          <p:cNvSpPr/>
          <p:nvPr/>
        </p:nvSpPr>
        <p:spPr>
          <a:xfrm>
            <a:off x="960120"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Label every arrow with a verb: “charges card”, “sends nightly stock file”.</a:t>
            </a:r>
            <a:endParaRPr lang="en-US" sz="1150" dirty="0"/>
          </a:p>
        </p:txBody>
      </p:sp>
      <p:sp>
        <p:nvSpPr>
          <p:cNvPr id="43" name="Shape 40"/>
          <p:cNvSpPr/>
          <p:nvPr/>
        </p:nvSpPr>
        <p:spPr>
          <a:xfrm>
            <a:off x="6233008" y="1792224"/>
            <a:ext cx="5455768" cy="681228"/>
          </a:xfrm>
          <a:prstGeom prst="roundRect">
            <a:avLst>
              <a:gd name="adj" fmla="val 12081"/>
            </a:avLst>
          </a:prstGeom>
          <a:solidFill>
            <a:srgbClr val="FEE2E2"/>
          </a:solidFill>
          <a:ln/>
        </p:spPr>
        <p:txBody>
          <a:bodyPr/>
          <a:lstStyle/>
          <a:p>
            <a:endParaRPr/>
          </a:p>
        </p:txBody>
      </p:sp>
      <p:sp>
        <p:nvSpPr>
          <p:cNvPr id="44" name="Text 41"/>
          <p:cNvSpPr/>
          <p:nvPr/>
        </p:nvSpPr>
        <p:spPr>
          <a:xfrm>
            <a:off x="6342736" y="1847088"/>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45" name="Text 42"/>
          <p:cNvSpPr/>
          <p:nvPr/>
        </p:nvSpPr>
        <p:spPr>
          <a:xfrm>
            <a:off x="6690208"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Draw naked arrows. Nobody knows if it is a call, a file, or a hope.</a:t>
            </a:r>
            <a:endParaRPr lang="en-US" sz="1150" dirty="0"/>
          </a:p>
        </p:txBody>
      </p:sp>
      <p:sp>
        <p:nvSpPr>
          <p:cNvPr id="46" name="Shape 43"/>
          <p:cNvSpPr/>
          <p:nvPr/>
        </p:nvSpPr>
        <p:spPr>
          <a:xfrm>
            <a:off x="502920" y="2583180"/>
            <a:ext cx="5455768" cy="681228"/>
          </a:xfrm>
          <a:prstGeom prst="roundRect">
            <a:avLst>
              <a:gd name="adj" fmla="val 12081"/>
            </a:avLst>
          </a:prstGeom>
          <a:solidFill>
            <a:srgbClr val="E1F5EC"/>
          </a:solidFill>
          <a:ln/>
        </p:spPr>
        <p:txBody>
          <a:bodyPr/>
          <a:lstStyle/>
          <a:p>
            <a:endParaRPr/>
          </a:p>
        </p:txBody>
      </p:sp>
      <p:sp>
        <p:nvSpPr>
          <p:cNvPr id="47" name="Text 44"/>
          <p:cNvSpPr/>
          <p:nvPr/>
        </p:nvSpPr>
        <p:spPr>
          <a:xfrm>
            <a:off x="612648" y="2638044"/>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8" name="Text 45"/>
          <p:cNvSpPr/>
          <p:nvPr/>
        </p:nvSpPr>
        <p:spPr>
          <a:xfrm>
            <a:off x="960120"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One diagram answers one question, and you write that question in the title.</a:t>
            </a:r>
            <a:endParaRPr lang="en-US" sz="1150" dirty="0"/>
          </a:p>
        </p:txBody>
      </p:sp>
      <p:sp>
        <p:nvSpPr>
          <p:cNvPr id="49" name="Shape 46"/>
          <p:cNvSpPr/>
          <p:nvPr/>
        </p:nvSpPr>
        <p:spPr>
          <a:xfrm>
            <a:off x="6233008" y="2583180"/>
            <a:ext cx="5455768" cy="681228"/>
          </a:xfrm>
          <a:prstGeom prst="roundRect">
            <a:avLst>
              <a:gd name="adj" fmla="val 12081"/>
            </a:avLst>
          </a:prstGeom>
          <a:solidFill>
            <a:srgbClr val="FEE2E2"/>
          </a:solidFill>
          <a:ln/>
        </p:spPr>
        <p:txBody>
          <a:bodyPr/>
          <a:lstStyle/>
          <a:p>
            <a:endParaRPr/>
          </a:p>
        </p:txBody>
      </p:sp>
      <p:sp>
        <p:nvSpPr>
          <p:cNvPr id="50" name="Text 47"/>
          <p:cNvSpPr/>
          <p:nvPr/>
        </p:nvSpPr>
        <p:spPr>
          <a:xfrm>
            <a:off x="6342736" y="2638044"/>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1" name="Text 48"/>
          <p:cNvSpPr/>
          <p:nvPr/>
        </p:nvSpPr>
        <p:spPr>
          <a:xfrm>
            <a:off x="6690208"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One giant diagram with 40 boxes that answers nothing and scares the business.</a:t>
            </a:r>
            <a:endParaRPr lang="en-US" sz="1150" dirty="0"/>
          </a:p>
        </p:txBody>
      </p:sp>
      <p:sp>
        <p:nvSpPr>
          <p:cNvPr id="52" name="Shape 49"/>
          <p:cNvSpPr/>
          <p:nvPr/>
        </p:nvSpPr>
        <p:spPr>
          <a:xfrm>
            <a:off x="502920" y="3374136"/>
            <a:ext cx="5455768" cy="681228"/>
          </a:xfrm>
          <a:prstGeom prst="roundRect">
            <a:avLst>
              <a:gd name="adj" fmla="val 12081"/>
            </a:avLst>
          </a:prstGeom>
          <a:solidFill>
            <a:srgbClr val="E1F5EC"/>
          </a:solidFill>
          <a:ln/>
        </p:spPr>
        <p:txBody>
          <a:bodyPr/>
          <a:lstStyle/>
          <a:p>
            <a:endParaRPr/>
          </a:p>
        </p:txBody>
      </p:sp>
      <p:sp>
        <p:nvSpPr>
          <p:cNvPr id="53" name="Text 50"/>
          <p:cNvSpPr/>
          <p:nvPr/>
        </p:nvSpPr>
        <p:spPr>
          <a:xfrm>
            <a:off x="612648" y="3429000"/>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54" name="Text 51"/>
          <p:cNvSpPr/>
          <p:nvPr/>
        </p:nvSpPr>
        <p:spPr>
          <a:xfrm>
            <a:off x="960120"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Keep current and target as two separate diagrams, clearly named.</a:t>
            </a:r>
            <a:endParaRPr lang="en-US" sz="1150" dirty="0"/>
          </a:p>
        </p:txBody>
      </p:sp>
      <p:sp>
        <p:nvSpPr>
          <p:cNvPr id="55" name="Shape 52"/>
          <p:cNvSpPr/>
          <p:nvPr/>
        </p:nvSpPr>
        <p:spPr>
          <a:xfrm>
            <a:off x="6233008" y="3374136"/>
            <a:ext cx="5455768" cy="681228"/>
          </a:xfrm>
          <a:prstGeom prst="roundRect">
            <a:avLst>
              <a:gd name="adj" fmla="val 12081"/>
            </a:avLst>
          </a:prstGeom>
          <a:solidFill>
            <a:srgbClr val="FEE2E2"/>
          </a:solidFill>
          <a:ln/>
        </p:spPr>
        <p:txBody>
          <a:bodyPr/>
          <a:lstStyle/>
          <a:p>
            <a:endParaRPr/>
          </a:p>
        </p:txBody>
      </p:sp>
      <p:sp>
        <p:nvSpPr>
          <p:cNvPr id="56" name="Text 53"/>
          <p:cNvSpPr/>
          <p:nvPr/>
        </p:nvSpPr>
        <p:spPr>
          <a:xfrm>
            <a:off x="6342736" y="3429000"/>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7" name="Text 54"/>
          <p:cNvSpPr/>
          <p:nvPr/>
        </p:nvSpPr>
        <p:spPr>
          <a:xfrm>
            <a:off x="6690208"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Mix today's boxes with next year's dream in the same picture.</a:t>
            </a:r>
            <a:endParaRPr lang="en-US" sz="1150" dirty="0"/>
          </a:p>
        </p:txBody>
      </p:sp>
      <p:sp>
        <p:nvSpPr>
          <p:cNvPr id="58" name="Shape 55"/>
          <p:cNvSpPr/>
          <p:nvPr/>
        </p:nvSpPr>
        <p:spPr>
          <a:xfrm>
            <a:off x="502920" y="4165092"/>
            <a:ext cx="5455768" cy="681228"/>
          </a:xfrm>
          <a:prstGeom prst="roundRect">
            <a:avLst>
              <a:gd name="adj" fmla="val 12081"/>
            </a:avLst>
          </a:prstGeom>
          <a:solidFill>
            <a:srgbClr val="E1F5EC"/>
          </a:solidFill>
          <a:ln/>
        </p:spPr>
        <p:txBody>
          <a:bodyPr/>
          <a:lstStyle/>
          <a:p>
            <a:endParaRPr/>
          </a:p>
        </p:txBody>
      </p:sp>
      <p:sp>
        <p:nvSpPr>
          <p:cNvPr id="59" name="Text 56"/>
          <p:cNvSpPr/>
          <p:nvPr/>
        </p:nvSpPr>
        <p:spPr>
          <a:xfrm>
            <a:off x="612648" y="4219956"/>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60" name="Text 57"/>
          <p:cNvSpPr/>
          <p:nvPr/>
        </p:nvSpPr>
        <p:spPr>
          <a:xfrm>
            <a:off x="960120"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Keep the diagram source in Git next to the code (a .puml, .dsl or .drawio file).</a:t>
            </a:r>
            <a:endParaRPr lang="en-US" sz="1150" dirty="0"/>
          </a:p>
        </p:txBody>
      </p:sp>
      <p:sp>
        <p:nvSpPr>
          <p:cNvPr id="61" name="Shape 58"/>
          <p:cNvSpPr/>
          <p:nvPr/>
        </p:nvSpPr>
        <p:spPr>
          <a:xfrm>
            <a:off x="6233008" y="4165092"/>
            <a:ext cx="5455768" cy="681228"/>
          </a:xfrm>
          <a:prstGeom prst="roundRect">
            <a:avLst>
              <a:gd name="adj" fmla="val 12081"/>
            </a:avLst>
          </a:prstGeom>
          <a:solidFill>
            <a:srgbClr val="FEE2E2"/>
          </a:solidFill>
          <a:ln/>
        </p:spPr>
        <p:txBody>
          <a:bodyPr/>
          <a:lstStyle/>
          <a:p>
            <a:endParaRPr/>
          </a:p>
        </p:txBody>
      </p:sp>
      <p:sp>
        <p:nvSpPr>
          <p:cNvPr id="62" name="Text 59"/>
          <p:cNvSpPr/>
          <p:nvPr/>
        </p:nvSpPr>
        <p:spPr>
          <a:xfrm>
            <a:off x="6342736" y="4219956"/>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63" name="Text 60"/>
          <p:cNvSpPr/>
          <p:nvPr/>
        </p:nvSpPr>
        <p:spPr>
          <a:xfrm>
            <a:off x="6690208"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Ship a screenshot in a slide. Six months later nobody can edit it.</a:t>
            </a:r>
            <a:endParaRPr lang="en-US" sz="1150" dirty="0"/>
          </a:p>
        </p:txBody>
      </p:sp>
      <p:sp>
        <p:nvSpPr>
          <p:cNvPr id="64" name="Shape 61"/>
          <p:cNvSpPr/>
          <p:nvPr/>
        </p:nvSpPr>
        <p:spPr>
          <a:xfrm>
            <a:off x="502920" y="4992624"/>
            <a:ext cx="11185855" cy="658368"/>
          </a:xfrm>
          <a:prstGeom prst="roundRect">
            <a:avLst>
              <a:gd name="adj" fmla="val 12500"/>
            </a:avLst>
          </a:prstGeom>
          <a:solidFill>
            <a:srgbClr val="E1F5EC"/>
          </a:solidFill>
          <a:ln/>
        </p:spPr>
        <p:txBody>
          <a:bodyPr/>
          <a:lstStyle/>
          <a:p>
            <a:endParaRPr/>
          </a:p>
        </p:txBody>
      </p:sp>
      <p:sp>
        <p:nvSpPr>
          <p:cNvPr id="65" name="Shape 62"/>
          <p:cNvSpPr/>
          <p:nvPr/>
        </p:nvSpPr>
        <p:spPr>
          <a:xfrm>
            <a:off x="502920" y="4992624"/>
            <a:ext cx="100584" cy="658368"/>
          </a:xfrm>
          <a:prstGeom prst="rect">
            <a:avLst/>
          </a:prstGeom>
          <a:solidFill>
            <a:srgbClr val="1F8F65"/>
          </a:solidFill>
          <a:ln/>
        </p:spPr>
        <p:txBody>
          <a:bodyPr/>
          <a:lstStyle/>
          <a:p>
            <a:endParaRPr/>
          </a:p>
        </p:txBody>
      </p:sp>
      <p:sp>
        <p:nvSpPr>
          <p:cNvPr id="66" name="Text 63"/>
          <p:cNvSpPr/>
          <p:nvPr/>
        </p:nvSpPr>
        <p:spPr>
          <a:xfrm>
            <a:off x="740664" y="4992624"/>
            <a:ext cx="10783519" cy="65836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A diagram is a product with an owner and a version, not decoration for a slide.</a:t>
            </a:r>
            <a:endParaRPr lang="en-US" sz="1250" dirty="0"/>
          </a:p>
        </p:txBody>
      </p:sp>
      <p:sp>
        <p:nvSpPr>
          <p:cNvPr id="67" name="Shape 64"/>
          <p:cNvSpPr/>
          <p:nvPr/>
        </p:nvSpPr>
        <p:spPr>
          <a:xfrm>
            <a:off x="502920" y="5815584"/>
            <a:ext cx="54864" cy="201168"/>
          </a:xfrm>
          <a:prstGeom prst="rect">
            <a:avLst/>
          </a:prstGeom>
          <a:solidFill>
            <a:srgbClr val="43BFB8"/>
          </a:solidFill>
          <a:ln/>
        </p:spPr>
        <p:txBody>
          <a:bodyPr/>
          <a:lstStyle/>
          <a:p>
            <a:endParaRPr/>
          </a:p>
        </p:txBody>
      </p:sp>
      <p:sp>
        <p:nvSpPr>
          <p:cNvPr id="68" name="Text 65"/>
          <p:cNvSpPr/>
          <p:nvPr/>
        </p:nvSpPr>
        <p:spPr>
          <a:xfrm>
            <a:off x="667512" y="5724144"/>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c4model.com/#Notation  ·  Simon Brown, “Software Architecture for Developers”.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100" b="1" dirty="0">
                <a:solidFill>
                  <a:srgbClr val="5F1B3C"/>
                </a:solidFill>
                <a:latin typeface="Segoe UI" pitchFamily="34" charset="0"/>
                <a:ea typeface="Segoe UI" pitchFamily="34" charset="-122"/>
                <a:cs typeface="Segoe UI" pitchFamily="34" charset="-120"/>
              </a:rPr>
              <a:t>Modelling tools    what to open on Sunday morning</a:t>
            </a:r>
            <a:endParaRPr lang="en-US" sz="21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All six are free or have a free tier. Choose by the job, not by the logo.</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28</a:t>
            </a:r>
            <a:endParaRPr lang="en-US" sz="1000" dirty="0"/>
          </a:p>
        </p:txBody>
      </p:sp>
      <p:sp>
        <p:nvSpPr>
          <p:cNvPr id="36" name="Shape 33"/>
          <p:cNvSpPr/>
          <p:nvPr/>
        </p:nvSpPr>
        <p:spPr>
          <a:xfrm>
            <a:off x="502920"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243584"/>
            <a:ext cx="3594506" cy="384048"/>
          </a:xfrm>
          <a:prstGeom prst="rect">
            <a:avLst/>
          </a:prstGeom>
          <a:solidFill>
            <a:srgbClr val="43BFB8"/>
          </a:solidFill>
          <a:ln/>
        </p:spPr>
        <p:txBody>
          <a:bodyPr/>
          <a:lstStyle/>
          <a:p>
            <a:endParaRPr/>
          </a:p>
        </p:txBody>
      </p:sp>
      <p:sp>
        <p:nvSpPr>
          <p:cNvPr id="38" name="Text 35"/>
          <p:cNvSpPr/>
          <p:nvPr/>
        </p:nvSpPr>
        <p:spPr>
          <a:xfrm>
            <a:off x="649224"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draw.io</a:t>
            </a:r>
            <a:endParaRPr lang="en-US" sz="1150" dirty="0"/>
          </a:p>
        </p:txBody>
      </p:sp>
      <p:sp>
        <p:nvSpPr>
          <p:cNvPr id="39" name="Text 36"/>
          <p:cNvSpPr/>
          <p:nvPr/>
        </p:nvSpPr>
        <p:spPr>
          <a:xfrm>
            <a:off x="649224"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0" name="Text 37"/>
          <p:cNvSpPr/>
          <p:nvPr/>
        </p:nvSpPr>
        <p:spPr>
          <a:xfrm>
            <a:off x="649224"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You need a diagram in 20 minutes, for a business audience.</a:t>
            </a:r>
            <a:endParaRPr lang="en-US" sz="1150" dirty="0"/>
          </a:p>
        </p:txBody>
      </p:sp>
      <p:sp>
        <p:nvSpPr>
          <p:cNvPr id="41" name="Text 38"/>
          <p:cNvSpPr/>
          <p:nvPr/>
        </p:nvSpPr>
        <p:spPr>
          <a:xfrm>
            <a:off x="649224"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2" name="Text 39"/>
          <p:cNvSpPr/>
          <p:nvPr/>
        </p:nvSpPr>
        <p:spPr>
          <a:xfrm>
            <a:off x="649224"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Workshops and quick C1 pictures. Ready C4 shape library. Keep the file in Git.</a:t>
            </a:r>
            <a:endParaRPr lang="en-US" sz="1150" dirty="0"/>
          </a:p>
        </p:txBody>
      </p:sp>
      <p:sp>
        <p:nvSpPr>
          <p:cNvPr id="43" name="Shape 40"/>
          <p:cNvSpPr/>
          <p:nvPr/>
        </p:nvSpPr>
        <p:spPr>
          <a:xfrm>
            <a:off x="4298594"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4298594" y="1243584"/>
            <a:ext cx="3594506" cy="384048"/>
          </a:xfrm>
          <a:prstGeom prst="rect">
            <a:avLst/>
          </a:prstGeom>
          <a:solidFill>
            <a:srgbClr val="E76F30"/>
          </a:solidFill>
          <a:ln/>
        </p:spPr>
        <p:txBody>
          <a:bodyPr/>
          <a:lstStyle/>
          <a:p>
            <a:endParaRPr/>
          </a:p>
        </p:txBody>
      </p:sp>
      <p:sp>
        <p:nvSpPr>
          <p:cNvPr id="45" name="Text 42"/>
          <p:cNvSpPr/>
          <p:nvPr/>
        </p:nvSpPr>
        <p:spPr>
          <a:xfrm>
            <a:off x="4444898"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PlantUML</a:t>
            </a:r>
            <a:endParaRPr lang="en-US" sz="1150" dirty="0"/>
          </a:p>
        </p:txBody>
      </p:sp>
      <p:sp>
        <p:nvSpPr>
          <p:cNvPr id="46" name="Text 43"/>
          <p:cNvSpPr/>
          <p:nvPr/>
        </p:nvSpPr>
        <p:spPr>
          <a:xfrm>
            <a:off x="4444898"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7" name="Text 44"/>
          <p:cNvSpPr/>
          <p:nvPr/>
        </p:nvSpPr>
        <p:spPr>
          <a:xfrm>
            <a:off x="4444898"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Screenshots go stale and nobody can edit them later.</a:t>
            </a:r>
            <a:endParaRPr lang="en-US" sz="1150" dirty="0"/>
          </a:p>
        </p:txBody>
      </p:sp>
      <p:sp>
        <p:nvSpPr>
          <p:cNvPr id="48" name="Text 45"/>
          <p:cNvSpPr/>
          <p:nvPr/>
        </p:nvSpPr>
        <p:spPr>
          <a:xfrm>
            <a:off x="4444898"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9" name="Text 46"/>
          <p:cNvSpPr/>
          <p:nvPr/>
        </p:nvSpPr>
        <p:spPr>
          <a:xfrm>
            <a:off x="4444898"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Diagrams as code: you write text, the tool draws. Reviewable in a pull request.</a:t>
            </a:r>
            <a:endParaRPr lang="en-US" sz="1150" dirty="0"/>
          </a:p>
        </p:txBody>
      </p:sp>
      <p:sp>
        <p:nvSpPr>
          <p:cNvPr id="50" name="Shape 47"/>
          <p:cNvSpPr/>
          <p:nvPr/>
        </p:nvSpPr>
        <p:spPr>
          <a:xfrm>
            <a:off x="8094269"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8094269" y="1243584"/>
            <a:ext cx="3594506" cy="384048"/>
          </a:xfrm>
          <a:prstGeom prst="rect">
            <a:avLst/>
          </a:prstGeom>
          <a:solidFill>
            <a:srgbClr val="4A7DE0"/>
          </a:solidFill>
          <a:ln/>
        </p:spPr>
        <p:txBody>
          <a:bodyPr/>
          <a:lstStyle/>
          <a:p>
            <a:endParaRPr/>
          </a:p>
        </p:txBody>
      </p:sp>
      <p:sp>
        <p:nvSpPr>
          <p:cNvPr id="52" name="Text 49"/>
          <p:cNvSpPr/>
          <p:nvPr/>
        </p:nvSpPr>
        <p:spPr>
          <a:xfrm>
            <a:off x="8240573"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Structurizr DSL</a:t>
            </a:r>
            <a:endParaRPr lang="en-US" sz="1150" dirty="0"/>
          </a:p>
        </p:txBody>
      </p:sp>
      <p:sp>
        <p:nvSpPr>
          <p:cNvPr id="53" name="Text 50"/>
          <p:cNvSpPr/>
          <p:nvPr/>
        </p:nvSpPr>
        <p:spPr>
          <a:xfrm>
            <a:off x="8240573"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54" name="Text 51"/>
          <p:cNvSpPr/>
          <p:nvPr/>
        </p:nvSpPr>
        <p:spPr>
          <a:xfrm>
            <a:off x="8240573"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You drew the same boxes four times for four audiences.</a:t>
            </a:r>
            <a:endParaRPr lang="en-US" sz="1150" dirty="0"/>
          </a:p>
        </p:txBody>
      </p:sp>
      <p:sp>
        <p:nvSpPr>
          <p:cNvPr id="55" name="Text 52"/>
          <p:cNvSpPr/>
          <p:nvPr/>
        </p:nvSpPr>
        <p:spPr>
          <a:xfrm>
            <a:off x="8240573"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56" name="Text 53"/>
          <p:cNvSpPr/>
          <p:nvPr/>
        </p:nvSpPr>
        <p:spPr>
          <a:xfrm>
            <a:off x="8240573"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model, many views. Write it once, generate C1, C2 and C3 from it.</a:t>
            </a:r>
            <a:endParaRPr lang="en-US" sz="1150" dirty="0"/>
          </a:p>
        </p:txBody>
      </p:sp>
      <p:sp>
        <p:nvSpPr>
          <p:cNvPr id="57" name="Shape 54"/>
          <p:cNvSpPr/>
          <p:nvPr/>
        </p:nvSpPr>
        <p:spPr>
          <a:xfrm>
            <a:off x="502920"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502920" y="3401568"/>
            <a:ext cx="3594506" cy="384048"/>
          </a:xfrm>
          <a:prstGeom prst="rect">
            <a:avLst/>
          </a:prstGeom>
          <a:solidFill>
            <a:srgbClr val="5F1B3C"/>
          </a:solidFill>
          <a:ln/>
        </p:spPr>
        <p:txBody>
          <a:bodyPr/>
          <a:lstStyle/>
          <a:p>
            <a:endParaRPr/>
          </a:p>
        </p:txBody>
      </p:sp>
      <p:sp>
        <p:nvSpPr>
          <p:cNvPr id="59" name="Text 56"/>
          <p:cNvSpPr/>
          <p:nvPr/>
        </p:nvSpPr>
        <p:spPr>
          <a:xfrm>
            <a:off x="649224"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Mermaid</a:t>
            </a:r>
            <a:endParaRPr lang="en-US" sz="1150" dirty="0"/>
          </a:p>
        </p:txBody>
      </p:sp>
      <p:sp>
        <p:nvSpPr>
          <p:cNvPr id="60" name="Text 57"/>
          <p:cNvSpPr/>
          <p:nvPr/>
        </p:nvSpPr>
        <p:spPr>
          <a:xfrm>
            <a:off x="649224"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1" name="Text 58"/>
          <p:cNvSpPr/>
          <p:nvPr/>
        </p:nvSpPr>
        <p:spPr>
          <a:xfrm>
            <a:off x="649224"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The diagram must live in the README so developers see it.</a:t>
            </a:r>
            <a:endParaRPr lang="en-US" sz="1150" dirty="0"/>
          </a:p>
        </p:txBody>
      </p:sp>
      <p:sp>
        <p:nvSpPr>
          <p:cNvPr id="62" name="Text 59"/>
          <p:cNvSpPr/>
          <p:nvPr/>
        </p:nvSpPr>
        <p:spPr>
          <a:xfrm>
            <a:off x="649224"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63" name="Text 60"/>
          <p:cNvSpPr/>
          <p:nvPr/>
        </p:nvSpPr>
        <p:spPr>
          <a:xfrm>
            <a:off x="649224"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GitHub, GitLab and most wikis render it for free. Best for small flows.</a:t>
            </a:r>
            <a:endParaRPr lang="en-US" sz="1150" dirty="0"/>
          </a:p>
        </p:txBody>
      </p:sp>
      <p:sp>
        <p:nvSpPr>
          <p:cNvPr id="64" name="Shape 61"/>
          <p:cNvSpPr/>
          <p:nvPr/>
        </p:nvSpPr>
        <p:spPr>
          <a:xfrm>
            <a:off x="4298594"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4298594" y="3401568"/>
            <a:ext cx="3594506" cy="384048"/>
          </a:xfrm>
          <a:prstGeom prst="rect">
            <a:avLst/>
          </a:prstGeom>
          <a:solidFill>
            <a:srgbClr val="1F8F65"/>
          </a:solidFill>
          <a:ln/>
        </p:spPr>
        <p:txBody>
          <a:bodyPr/>
          <a:lstStyle/>
          <a:p>
            <a:endParaRPr/>
          </a:p>
        </p:txBody>
      </p:sp>
      <p:sp>
        <p:nvSpPr>
          <p:cNvPr id="66" name="Text 63"/>
          <p:cNvSpPr/>
          <p:nvPr/>
        </p:nvSpPr>
        <p:spPr>
          <a:xfrm>
            <a:off x="4444898"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ArchiMate  (Archi)</a:t>
            </a:r>
            <a:endParaRPr lang="en-US" sz="1150" dirty="0"/>
          </a:p>
        </p:txBody>
      </p:sp>
      <p:sp>
        <p:nvSpPr>
          <p:cNvPr id="67" name="Text 64"/>
          <p:cNvSpPr/>
          <p:nvPr/>
        </p:nvSpPr>
        <p:spPr>
          <a:xfrm>
            <a:off x="4444898"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8" name="Text 65"/>
          <p:cNvSpPr/>
          <p:nvPr/>
        </p:nvSpPr>
        <p:spPr>
          <a:xfrm>
            <a:off x="4444898"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You keep a formal enterprise model for years.</a:t>
            </a:r>
            <a:endParaRPr lang="en-US" sz="1150" dirty="0"/>
          </a:p>
        </p:txBody>
      </p:sp>
      <p:sp>
        <p:nvSpPr>
          <p:cNvPr id="69" name="Text 66"/>
          <p:cNvSpPr/>
          <p:nvPr/>
        </p:nvSpPr>
        <p:spPr>
          <a:xfrm>
            <a:off x="4444898"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0" name="Text 67"/>
          <p:cNvSpPr/>
          <p:nvPr/>
        </p:nvSpPr>
        <p:spPr>
          <a:xfrm>
            <a:off x="4444898"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EA teams with a long-lived repository. Heavier than a delivery team needs.</a:t>
            </a:r>
            <a:endParaRPr lang="en-US" sz="1150" dirty="0"/>
          </a:p>
        </p:txBody>
      </p:sp>
      <p:sp>
        <p:nvSpPr>
          <p:cNvPr id="71" name="Shape 68"/>
          <p:cNvSpPr/>
          <p:nvPr/>
        </p:nvSpPr>
        <p:spPr>
          <a:xfrm>
            <a:off x="8094269"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72" name="Shape 69"/>
          <p:cNvSpPr/>
          <p:nvPr/>
        </p:nvSpPr>
        <p:spPr>
          <a:xfrm>
            <a:off x="8094269" y="3401568"/>
            <a:ext cx="3594506" cy="384048"/>
          </a:xfrm>
          <a:prstGeom prst="rect">
            <a:avLst/>
          </a:prstGeom>
          <a:solidFill>
            <a:srgbClr val="2F9992"/>
          </a:solidFill>
          <a:ln/>
        </p:spPr>
        <p:txBody>
          <a:bodyPr/>
          <a:lstStyle/>
          <a:p>
            <a:endParaRPr/>
          </a:p>
        </p:txBody>
      </p:sp>
      <p:sp>
        <p:nvSpPr>
          <p:cNvPr id="73" name="Text 70"/>
          <p:cNvSpPr/>
          <p:nvPr/>
        </p:nvSpPr>
        <p:spPr>
          <a:xfrm>
            <a:off x="8240573"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Your whiteboard</a:t>
            </a:r>
            <a:endParaRPr lang="en-US" sz="1150" dirty="0"/>
          </a:p>
        </p:txBody>
      </p:sp>
      <p:sp>
        <p:nvSpPr>
          <p:cNvPr id="74" name="Text 71"/>
          <p:cNvSpPr/>
          <p:nvPr/>
        </p:nvSpPr>
        <p:spPr>
          <a:xfrm>
            <a:off x="8240573"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75" name="Text 72"/>
          <p:cNvSpPr/>
          <p:nvPr/>
        </p:nvSpPr>
        <p:spPr>
          <a:xfrm>
            <a:off x="8240573"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Tool choice is hiding the real conversation.</a:t>
            </a:r>
            <a:endParaRPr lang="en-US" sz="1150" dirty="0"/>
          </a:p>
        </p:txBody>
      </p:sp>
      <p:sp>
        <p:nvSpPr>
          <p:cNvPr id="76" name="Text 73"/>
          <p:cNvSpPr/>
          <p:nvPr/>
        </p:nvSpPr>
        <p:spPr>
          <a:xfrm>
            <a:off x="8240573"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7" name="Text 74"/>
          <p:cNvSpPr/>
          <p:nvPr/>
        </p:nvSpPr>
        <p:spPr>
          <a:xfrm>
            <a:off x="8240573"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first. Draw by hand, agree, then move it into a tool. Photograph it.</a:t>
            </a:r>
            <a:endParaRPr lang="en-US" sz="1150" dirty="0"/>
          </a:p>
        </p:txBody>
      </p:sp>
      <p:sp>
        <p:nvSpPr>
          <p:cNvPr id="78" name="Shape 75"/>
          <p:cNvSpPr/>
          <p:nvPr/>
        </p:nvSpPr>
        <p:spPr>
          <a:xfrm>
            <a:off x="502920" y="5486400"/>
            <a:ext cx="91440" cy="457200"/>
          </a:xfrm>
          <a:prstGeom prst="rect">
            <a:avLst/>
          </a:prstGeom>
          <a:solidFill>
            <a:srgbClr val="1F8F65"/>
          </a:solidFill>
          <a:ln/>
        </p:spPr>
        <p:txBody>
          <a:bodyPr/>
          <a:lstStyle/>
          <a:p>
            <a:endParaRPr/>
          </a:p>
        </p:txBody>
      </p:sp>
      <p:sp>
        <p:nvSpPr>
          <p:cNvPr id="79" name="Text 76"/>
          <p:cNvSpPr/>
          <p:nvPr/>
        </p:nvSpPr>
        <p:spPr>
          <a:xfrm>
            <a:off x="704088" y="5486400"/>
            <a:ext cx="10911535" cy="457200"/>
          </a:xfrm>
          <a:prstGeom prst="rect">
            <a:avLst/>
          </a:prstGeom>
          <a:noFill/>
          <a:ln/>
        </p:spPr>
        <p:txBody>
          <a:bodyPr wrap="square" rtlCol="0" anchor="ctr"/>
          <a:lstStyle/>
          <a:p>
            <a:pPr marL="0" indent="0">
              <a:buNone/>
            </a:pPr>
            <a:r>
              <a:rPr lang="en-US" sz="1200" b="1" kern="0" spc="100" dirty="0">
                <a:solidFill>
                  <a:srgbClr val="1F8F65"/>
                </a:solidFill>
                <a:latin typeface="Segoe UI" pitchFamily="34" charset="0"/>
                <a:ea typeface="Segoe UI" pitchFamily="34" charset="-122"/>
                <a:cs typeface="Segoe UI" pitchFamily="34" charset="-120"/>
              </a:rPr>
              <a:t>BEST PRACTICE   </a:t>
            </a:r>
            <a:r>
              <a:rPr lang="en-US" sz="1200" dirty="0">
                <a:solidFill>
                  <a:srgbClr val="24162A"/>
                </a:solidFill>
                <a:latin typeface="Segoe UI" pitchFamily="34" charset="0"/>
                <a:ea typeface="Segoe UI" pitchFamily="34" charset="-122"/>
                <a:cs typeface="Segoe UI" pitchFamily="34" charset="-120"/>
              </a:rPr>
              <a:t>Whatever you pick, the source file lives in Git beside the code and is reviewed like code.</a:t>
            </a:r>
            <a:endParaRPr lang="en-US" sz="1200" dirty="0"/>
          </a:p>
        </p:txBody>
      </p:sp>
      <p:sp>
        <p:nvSpPr>
          <p:cNvPr id="80" name="Shape 77"/>
          <p:cNvSpPr/>
          <p:nvPr/>
        </p:nvSpPr>
        <p:spPr>
          <a:xfrm>
            <a:off x="502920" y="6071616"/>
            <a:ext cx="54864" cy="201168"/>
          </a:xfrm>
          <a:prstGeom prst="rect">
            <a:avLst/>
          </a:prstGeom>
          <a:solidFill>
            <a:srgbClr val="43BFB8"/>
          </a:solidFill>
          <a:ln/>
        </p:spPr>
        <p:txBody>
          <a:bodyPr/>
          <a:lstStyle/>
          <a:p>
            <a:endParaRPr/>
          </a:p>
        </p:txBody>
      </p:sp>
      <p:sp>
        <p:nvSpPr>
          <p:cNvPr id="81" name="Text 78"/>
          <p:cNvSpPr/>
          <p:nvPr/>
        </p:nvSpPr>
        <p:spPr>
          <a:xfrm>
            <a:off x="667512" y="598017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diagrams.net  ·  plantuml.com  ·  structurizr.com/dsl  ·  mermaid.js.org  ·  archimatetool.com</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Your context diagram as code    line by 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This is the whole file. Read it with the class one line at a time. Nobody needs to be a programmer.</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29</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docs/context.puml</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PLANTUML</a:t>
            </a:r>
            <a:endParaRPr lang="en-US" sz="850" dirty="0"/>
          </a:p>
        </p:txBody>
      </p:sp>
      <p:sp>
        <p:nvSpPr>
          <p:cNvPr id="43" name="Text 40"/>
          <p:cNvSpPr/>
          <p:nvPr/>
        </p:nvSpPr>
        <p:spPr>
          <a:xfrm>
            <a:off x="594360" y="159105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1</a:t>
            </a:r>
            <a:endParaRPr lang="en-US" sz="950" dirty="0"/>
          </a:p>
        </p:txBody>
      </p:sp>
      <p:sp>
        <p:nvSpPr>
          <p:cNvPr id="44" name="Text 41"/>
          <p:cNvSpPr/>
          <p:nvPr/>
        </p:nvSpPr>
        <p:spPr>
          <a:xfrm>
            <a:off x="960120" y="159105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@startuml northline-context</a:t>
            </a:r>
            <a:endParaRPr lang="en-US" sz="1100" dirty="0"/>
          </a:p>
        </p:txBody>
      </p:sp>
      <p:sp>
        <p:nvSpPr>
          <p:cNvPr id="45" name="Shape 42"/>
          <p:cNvSpPr/>
          <p:nvPr/>
        </p:nvSpPr>
        <p:spPr>
          <a:xfrm>
            <a:off x="6035040" y="1733931"/>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Start the file and give the picture a name.</a:t>
            </a:r>
            <a:endParaRPr lang="en-US" sz="1250" dirty="0"/>
          </a:p>
        </p:txBody>
      </p:sp>
      <p:sp>
        <p:nvSpPr>
          <p:cNvPr id="47" name="Text 44"/>
          <p:cNvSpPr/>
          <p:nvPr/>
        </p:nvSpPr>
        <p:spPr>
          <a:xfrm>
            <a:off x="594360" y="202311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2</a:t>
            </a:r>
            <a:endParaRPr lang="en-US" sz="950" dirty="0"/>
          </a:p>
        </p:txBody>
      </p:sp>
      <p:sp>
        <p:nvSpPr>
          <p:cNvPr id="48" name="Text 45"/>
          <p:cNvSpPr/>
          <p:nvPr/>
        </p:nvSpPr>
        <p:spPr>
          <a:xfrm>
            <a:off x="960120" y="202311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!include &lt;C4/C4_Context&gt;</a:t>
            </a:r>
            <a:endParaRPr lang="en-US" sz="1100" dirty="0"/>
          </a:p>
        </p:txBody>
      </p:sp>
      <p:sp>
        <p:nvSpPr>
          <p:cNvPr id="49" name="Shape 46"/>
          <p:cNvSpPr/>
          <p:nvPr/>
        </p:nvSpPr>
        <p:spPr>
          <a:xfrm>
            <a:off x="6035040" y="2165985"/>
            <a:ext cx="155448" cy="155448"/>
          </a:xfrm>
          <a:prstGeom prst="ellipse">
            <a:avLst/>
          </a:prstGeom>
          <a:solidFill>
            <a:srgbClr val="43BFB8"/>
          </a:solidFill>
          <a:ln/>
        </p:spPr>
        <p:txBody>
          <a:bodyPr/>
          <a:lstStyle/>
          <a:p>
            <a:endParaRPr/>
          </a:p>
        </p:txBody>
      </p:sp>
      <p:sp>
        <p:nvSpPr>
          <p:cNvPr id="50" name="Text 47"/>
          <p:cNvSpPr/>
          <p:nvPr/>
        </p:nvSpPr>
        <p:spPr>
          <a:xfrm>
            <a:off x="6291072" y="202311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Borrow the ready-made C4 shapes so we do not draw boxes by hand.</a:t>
            </a:r>
            <a:endParaRPr lang="en-US" sz="1250" dirty="0"/>
          </a:p>
        </p:txBody>
      </p:sp>
      <p:sp>
        <p:nvSpPr>
          <p:cNvPr id="51" name="Text 48"/>
          <p:cNvSpPr/>
          <p:nvPr/>
        </p:nvSpPr>
        <p:spPr>
          <a:xfrm>
            <a:off x="594360" y="245516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3</a:t>
            </a:r>
            <a:endParaRPr lang="en-US" sz="950" dirty="0"/>
          </a:p>
        </p:txBody>
      </p:sp>
      <p:sp>
        <p:nvSpPr>
          <p:cNvPr id="52" name="Text 49"/>
          <p:cNvSpPr/>
          <p:nvPr/>
        </p:nvSpPr>
        <p:spPr>
          <a:xfrm>
            <a:off x="960120" y="245516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Person(shopper, "Shopper", "Buys online")</a:t>
            </a:r>
            <a:endParaRPr lang="en-US" sz="1100" dirty="0"/>
          </a:p>
        </p:txBody>
      </p:sp>
      <p:sp>
        <p:nvSpPr>
          <p:cNvPr id="53" name="Shape 50"/>
          <p:cNvSpPr/>
          <p:nvPr/>
        </p:nvSpPr>
        <p:spPr>
          <a:xfrm>
            <a:off x="6035040" y="2598039"/>
            <a:ext cx="155448" cy="155448"/>
          </a:xfrm>
          <a:prstGeom prst="ellipse">
            <a:avLst/>
          </a:prstGeom>
          <a:solidFill>
            <a:srgbClr val="43BFB8"/>
          </a:solidFill>
          <a:ln/>
        </p:spPr>
        <p:txBody>
          <a:bodyPr/>
          <a:lstStyle/>
          <a:p>
            <a:endParaRPr/>
          </a:p>
        </p:txBody>
      </p:sp>
      <p:sp>
        <p:nvSpPr>
          <p:cNvPr id="54" name="Text 51"/>
          <p:cNvSpPr/>
          <p:nvPr/>
        </p:nvSpPr>
        <p:spPr>
          <a:xfrm>
            <a:off x="6291072" y="245516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A person. First word is the short id, then the label, then a one-line description.</a:t>
            </a:r>
            <a:endParaRPr lang="en-US" sz="1250" dirty="0"/>
          </a:p>
        </p:txBody>
      </p:sp>
      <p:sp>
        <p:nvSpPr>
          <p:cNvPr id="55" name="Text 52"/>
          <p:cNvSpPr/>
          <p:nvPr/>
        </p:nvSpPr>
        <p:spPr>
          <a:xfrm>
            <a:off x="594360" y="2887218"/>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4</a:t>
            </a:r>
            <a:endParaRPr lang="en-US" sz="950" dirty="0"/>
          </a:p>
        </p:txBody>
      </p:sp>
      <p:sp>
        <p:nvSpPr>
          <p:cNvPr id="56" name="Text 53"/>
          <p:cNvSpPr/>
          <p:nvPr/>
        </p:nvSpPr>
        <p:spPr>
          <a:xfrm>
            <a:off x="960120" y="2887218"/>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System(core, "NorthlineCore", "2011 system")</a:t>
            </a:r>
            <a:endParaRPr lang="en-US" sz="1100" dirty="0"/>
          </a:p>
        </p:txBody>
      </p:sp>
      <p:sp>
        <p:nvSpPr>
          <p:cNvPr id="57" name="Shape 54"/>
          <p:cNvSpPr/>
          <p:nvPr/>
        </p:nvSpPr>
        <p:spPr>
          <a:xfrm>
            <a:off x="6035040" y="3030093"/>
            <a:ext cx="155448" cy="155448"/>
          </a:xfrm>
          <a:prstGeom prst="ellipse">
            <a:avLst/>
          </a:prstGeom>
          <a:solidFill>
            <a:srgbClr val="43BFB8"/>
          </a:solidFill>
          <a:ln/>
        </p:spPr>
        <p:txBody>
          <a:bodyPr/>
          <a:lstStyle/>
          <a:p>
            <a:endParaRPr/>
          </a:p>
        </p:txBody>
      </p:sp>
      <p:sp>
        <p:nvSpPr>
          <p:cNvPr id="58" name="Text 55"/>
          <p:cNvSpPr/>
          <p:nvPr/>
        </p:nvSpPr>
        <p:spPr>
          <a:xfrm>
            <a:off x="6291072" y="2887218"/>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Our system. This is the single box in the middle of the picture.</a:t>
            </a:r>
            <a:endParaRPr lang="en-US" sz="1250" dirty="0"/>
          </a:p>
        </p:txBody>
      </p:sp>
      <p:sp>
        <p:nvSpPr>
          <p:cNvPr id="59" name="Text 56"/>
          <p:cNvSpPr/>
          <p:nvPr/>
        </p:nvSpPr>
        <p:spPr>
          <a:xfrm>
            <a:off x="594360" y="3319272"/>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5</a:t>
            </a:r>
            <a:endParaRPr lang="en-US" sz="950" dirty="0"/>
          </a:p>
        </p:txBody>
      </p:sp>
      <p:sp>
        <p:nvSpPr>
          <p:cNvPr id="60" name="Text 57"/>
          <p:cNvSpPr/>
          <p:nvPr/>
        </p:nvSpPr>
        <p:spPr>
          <a:xfrm>
            <a:off x="960120" y="3319272"/>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System_Ext(pay, "Payment gateway")</a:t>
            </a:r>
            <a:endParaRPr lang="en-US" sz="1100" dirty="0"/>
          </a:p>
        </p:txBody>
      </p:sp>
      <p:sp>
        <p:nvSpPr>
          <p:cNvPr id="61" name="Shape 58"/>
          <p:cNvSpPr/>
          <p:nvPr/>
        </p:nvSpPr>
        <p:spPr>
          <a:xfrm>
            <a:off x="6035040" y="3462147"/>
            <a:ext cx="155448" cy="155448"/>
          </a:xfrm>
          <a:prstGeom prst="ellipse">
            <a:avLst/>
          </a:prstGeom>
          <a:solidFill>
            <a:srgbClr val="43BFB8"/>
          </a:solidFill>
          <a:ln/>
        </p:spPr>
        <p:txBody>
          <a:bodyPr/>
          <a:lstStyle/>
          <a:p>
            <a:endParaRPr/>
          </a:p>
        </p:txBody>
      </p:sp>
      <p:sp>
        <p:nvSpPr>
          <p:cNvPr id="62" name="Text 59"/>
          <p:cNvSpPr/>
          <p:nvPr/>
        </p:nvSpPr>
        <p:spPr>
          <a:xfrm>
            <a:off x="6291072" y="3319272"/>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`_Ext` means it belongs to someone else. It is drawn in grey.</a:t>
            </a:r>
            <a:endParaRPr lang="en-US" sz="1250" dirty="0"/>
          </a:p>
        </p:txBody>
      </p:sp>
      <p:sp>
        <p:nvSpPr>
          <p:cNvPr id="63" name="Text 60"/>
          <p:cNvSpPr/>
          <p:nvPr/>
        </p:nvSpPr>
        <p:spPr>
          <a:xfrm>
            <a:off x="594360" y="375132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6</a:t>
            </a:r>
            <a:endParaRPr lang="en-US" sz="950" dirty="0"/>
          </a:p>
        </p:txBody>
      </p:sp>
      <p:sp>
        <p:nvSpPr>
          <p:cNvPr id="64" name="Text 61"/>
          <p:cNvSpPr/>
          <p:nvPr/>
        </p:nvSpPr>
        <p:spPr>
          <a:xfrm>
            <a:off x="960120" y="375132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Rel(shopper, core, "browses and orders")</a:t>
            </a:r>
            <a:endParaRPr lang="en-US" sz="1100" dirty="0"/>
          </a:p>
        </p:txBody>
      </p:sp>
      <p:sp>
        <p:nvSpPr>
          <p:cNvPr id="65" name="Shape 62"/>
          <p:cNvSpPr/>
          <p:nvPr/>
        </p:nvSpPr>
        <p:spPr>
          <a:xfrm>
            <a:off x="6035040" y="3894201"/>
            <a:ext cx="155448" cy="155448"/>
          </a:xfrm>
          <a:prstGeom prst="ellipse">
            <a:avLst/>
          </a:prstGeom>
          <a:solidFill>
            <a:srgbClr val="43BFB8"/>
          </a:solidFill>
          <a:ln/>
        </p:spPr>
        <p:txBody>
          <a:bodyPr/>
          <a:lstStyle/>
          <a:p>
            <a:endParaRPr/>
          </a:p>
        </p:txBody>
      </p:sp>
      <p:sp>
        <p:nvSpPr>
          <p:cNvPr id="66" name="Text 63"/>
          <p:cNvSpPr/>
          <p:nvPr/>
        </p:nvSpPr>
        <p:spPr>
          <a:xfrm>
            <a:off x="6291072" y="375132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An arrow, and the verb on it. Never write `Rel` without a verb.</a:t>
            </a:r>
            <a:endParaRPr lang="en-US" sz="1250" dirty="0"/>
          </a:p>
        </p:txBody>
      </p:sp>
      <p:sp>
        <p:nvSpPr>
          <p:cNvPr id="67" name="Text 64"/>
          <p:cNvSpPr/>
          <p:nvPr/>
        </p:nvSpPr>
        <p:spPr>
          <a:xfrm>
            <a:off x="594360" y="418338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7</a:t>
            </a:r>
            <a:endParaRPr lang="en-US" sz="950" dirty="0"/>
          </a:p>
        </p:txBody>
      </p:sp>
      <p:sp>
        <p:nvSpPr>
          <p:cNvPr id="68" name="Text 65"/>
          <p:cNvSpPr/>
          <p:nvPr/>
        </p:nvSpPr>
        <p:spPr>
          <a:xfrm>
            <a:off x="960120" y="418338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Rel(core, pay, "charges card", "HTTPS")</a:t>
            </a:r>
            <a:endParaRPr lang="en-US" sz="1100" dirty="0"/>
          </a:p>
        </p:txBody>
      </p:sp>
      <p:sp>
        <p:nvSpPr>
          <p:cNvPr id="69" name="Shape 66"/>
          <p:cNvSpPr/>
          <p:nvPr/>
        </p:nvSpPr>
        <p:spPr>
          <a:xfrm>
            <a:off x="6035040" y="4326255"/>
            <a:ext cx="155448" cy="155448"/>
          </a:xfrm>
          <a:prstGeom prst="ellipse">
            <a:avLst/>
          </a:prstGeom>
          <a:solidFill>
            <a:srgbClr val="43BFB8"/>
          </a:solidFill>
          <a:ln/>
        </p:spPr>
        <p:txBody>
          <a:bodyPr/>
          <a:lstStyle/>
          <a:p>
            <a:endParaRPr/>
          </a:p>
        </p:txBody>
      </p:sp>
      <p:sp>
        <p:nvSpPr>
          <p:cNvPr id="70" name="Text 67"/>
          <p:cNvSpPr/>
          <p:nvPr/>
        </p:nvSpPr>
        <p:spPr>
          <a:xfrm>
            <a:off x="6291072" y="418338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The fourth value is the technology. Now nobody has to guess.</a:t>
            </a:r>
            <a:endParaRPr lang="en-US" sz="1250" dirty="0"/>
          </a:p>
        </p:txBody>
      </p:sp>
      <p:sp>
        <p:nvSpPr>
          <p:cNvPr id="71" name="Text 68"/>
          <p:cNvSpPr/>
          <p:nvPr/>
        </p:nvSpPr>
        <p:spPr>
          <a:xfrm>
            <a:off x="594360" y="461543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8</a:t>
            </a:r>
            <a:endParaRPr lang="en-US" sz="950" dirty="0"/>
          </a:p>
        </p:txBody>
      </p:sp>
      <p:sp>
        <p:nvSpPr>
          <p:cNvPr id="72" name="Text 69"/>
          <p:cNvSpPr/>
          <p:nvPr/>
        </p:nvSpPr>
        <p:spPr>
          <a:xfrm>
            <a:off x="960120" y="461543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@enduml</a:t>
            </a:r>
            <a:endParaRPr lang="en-US" sz="1100" dirty="0"/>
          </a:p>
        </p:txBody>
      </p:sp>
      <p:sp>
        <p:nvSpPr>
          <p:cNvPr id="73" name="Shape 70"/>
          <p:cNvSpPr/>
          <p:nvPr/>
        </p:nvSpPr>
        <p:spPr>
          <a:xfrm>
            <a:off x="6035040" y="4758309"/>
            <a:ext cx="155448" cy="155448"/>
          </a:xfrm>
          <a:prstGeom prst="ellipse">
            <a:avLst/>
          </a:prstGeom>
          <a:solidFill>
            <a:srgbClr val="43BFB8"/>
          </a:solidFill>
          <a:ln/>
        </p:spPr>
        <p:txBody>
          <a:bodyPr/>
          <a:lstStyle/>
          <a:p>
            <a:endParaRPr/>
          </a:p>
        </p:txBody>
      </p:sp>
      <p:sp>
        <p:nvSpPr>
          <p:cNvPr id="74" name="Text 71"/>
          <p:cNvSpPr/>
          <p:nvPr/>
        </p:nvSpPr>
        <p:spPr>
          <a:xfrm>
            <a:off x="6291072" y="461543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End the file. Save it, and the tool draws the diagram for you.</a:t>
            </a:r>
            <a:endParaRPr lang="en-US" sz="1250" dirty="0"/>
          </a:p>
        </p:txBody>
      </p:sp>
      <p:sp>
        <p:nvSpPr>
          <p:cNvPr id="75" name="Shape 72"/>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76" name="Shape 73"/>
          <p:cNvSpPr/>
          <p:nvPr/>
        </p:nvSpPr>
        <p:spPr>
          <a:xfrm>
            <a:off x="502920" y="5175504"/>
            <a:ext cx="100584" cy="676656"/>
          </a:xfrm>
          <a:prstGeom prst="rect">
            <a:avLst/>
          </a:prstGeom>
          <a:solidFill>
            <a:srgbClr val="E76F30"/>
          </a:solidFill>
          <a:ln/>
        </p:spPr>
        <p:txBody>
          <a:bodyPr/>
          <a:lstStyle/>
          <a:p>
            <a:endParaRPr/>
          </a:p>
        </p:txBody>
      </p:sp>
      <p:sp>
        <p:nvSpPr>
          <p:cNvPr id="77" name="Text 74"/>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The picture is generated from text. Text can be reviewed in a pull request, it shows a clean history, and it can never go stale in a slide. That is the whole reason to write a diagram as code.</a:t>
            </a:r>
            <a:endParaRPr lang="en-US" sz="1250" dirty="0"/>
          </a:p>
        </p:txBody>
      </p:sp>
      <p:sp>
        <p:nvSpPr>
          <p:cNvPr id="78" name="Shape 75"/>
          <p:cNvSpPr/>
          <p:nvPr/>
        </p:nvSpPr>
        <p:spPr>
          <a:xfrm>
            <a:off x="502920" y="5980176"/>
            <a:ext cx="54864" cy="201168"/>
          </a:xfrm>
          <a:prstGeom prst="rect">
            <a:avLst/>
          </a:prstGeom>
          <a:solidFill>
            <a:srgbClr val="43BFB8"/>
          </a:solidFill>
          <a:ln/>
        </p:spPr>
        <p:txBody>
          <a:bodyPr/>
          <a:lstStyle/>
          <a:p>
            <a:endParaRPr/>
          </a:p>
        </p:txBody>
      </p:sp>
      <p:sp>
        <p:nvSpPr>
          <p:cNvPr id="79" name="Text 76"/>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plantuml.com/starting  ·  github.com/plantuml-stdlib/C4-PlantUML  ·  render it with the plantuml/plantuml container (no install needed).</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Stakeholders and viewpoints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One system, several correct pictures.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30</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A stakeholder is anyone who affects the system or is affected by it. A viewpoint is the picture we build for that person, containing only what they need to make their next decision.</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The finance director needs cost and risk, not class names.</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The developer needs modules and interfaces, not the five-year strategy.</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The night operator needs to know what breaks and who to call.</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Auditors and security need data flow and who can read what.</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Most architecture failures are communication failures. One picture sent to everybody guarantees someone decides with the wrong information.</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list Northline stakeholders by role, not by name.</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choose one view per role, with one decision in mind.</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stop sending the same diagram to the board and the developers.</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Northline: CEO wants growth and cost. Warehouse manager wants stock truth. Checkout engineer wants to change checkout without breaking catalog.</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ISO/IEC/IEEE 42010 (viewpoints)  ·  Kruchten's 4+1 view model: logical, process, development, physical, plus scenarios.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800" b="1" dirty="0">
                <a:solidFill>
                  <a:srgbClr val="5F1B3C"/>
                </a:solidFill>
                <a:latin typeface="Segoe UI" pitchFamily="34" charset="0"/>
                <a:ea typeface="Segoe UI" pitchFamily="34" charset="-122"/>
                <a:cs typeface="Segoe UI" pitchFamily="34" charset="-120"/>
              </a:rPr>
              <a:t>Stakeholder map    how much of your time each person gets</a:t>
            </a:r>
            <a:endParaRPr lang="en-US" sz="18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Two questions only: can they stop this, and do they care?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31</a:t>
            </a:r>
            <a:endParaRPr lang="en-US" sz="1000" dirty="0"/>
          </a:p>
        </p:txBody>
      </p:sp>
      <p:sp>
        <p:nvSpPr>
          <p:cNvPr id="36" name="Shape 33"/>
          <p:cNvSpPr/>
          <p:nvPr/>
        </p:nvSpPr>
        <p:spPr>
          <a:xfrm>
            <a:off x="1874520" y="1298448"/>
            <a:ext cx="4297680" cy="1600200"/>
          </a:xfrm>
          <a:prstGeom prst="roundRect">
            <a:avLst>
              <a:gd name="adj" fmla="val 5714"/>
            </a:avLst>
          </a:prstGeom>
          <a:solidFill>
            <a:srgbClr val="FDECDF"/>
          </a:solidFill>
          <a:ln w="17780">
            <a:solidFill>
              <a:srgbClr val="E76F30"/>
            </a:solidFill>
            <a:prstDash val="solid"/>
          </a:ln>
        </p:spPr>
        <p:txBody>
          <a:bodyPr/>
          <a:lstStyle/>
          <a:p>
            <a:endParaRPr/>
          </a:p>
        </p:txBody>
      </p:sp>
      <p:sp>
        <p:nvSpPr>
          <p:cNvPr id="37" name="Text 34"/>
          <p:cNvSpPr/>
          <p:nvPr/>
        </p:nvSpPr>
        <p:spPr>
          <a:xfrm>
            <a:off x="2057400" y="1408176"/>
            <a:ext cx="3931920" cy="310896"/>
          </a:xfrm>
          <a:prstGeom prst="rect">
            <a:avLst/>
          </a:prstGeom>
          <a:noFill/>
          <a:ln/>
        </p:spPr>
        <p:txBody>
          <a:bodyPr wrap="square" rtlCol="0" anchor="ctr"/>
          <a:lstStyle/>
          <a:p>
            <a:pPr marL="0" indent="0">
              <a:buNone/>
            </a:pPr>
            <a:r>
              <a:rPr lang="en-US" sz="1300" b="1" dirty="0">
                <a:solidFill>
                  <a:srgbClr val="E76F30"/>
                </a:solidFill>
                <a:latin typeface="Segoe UI" pitchFamily="34" charset="0"/>
                <a:ea typeface="Segoe UI" pitchFamily="34" charset="-122"/>
                <a:cs typeface="Segoe UI" pitchFamily="34" charset="-120"/>
              </a:rPr>
              <a:t>Keep satisfied</a:t>
            </a:r>
            <a:endParaRPr lang="en-US" sz="1300" dirty="0"/>
          </a:p>
        </p:txBody>
      </p:sp>
      <p:sp>
        <p:nvSpPr>
          <p:cNvPr id="38" name="Text 35"/>
          <p:cNvSpPr/>
          <p:nvPr/>
        </p:nvSpPr>
        <p:spPr>
          <a:xfrm>
            <a:off x="2057400" y="175564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CFO, group CIO. Short updates. Cost and risk only. If you surprise them late, the project stops.</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Give them: one page, once a month.</a:t>
            </a:r>
            <a:endParaRPr lang="en-US" sz="1200" dirty="0"/>
          </a:p>
        </p:txBody>
      </p:sp>
      <p:sp>
        <p:nvSpPr>
          <p:cNvPr id="39" name="Shape 36"/>
          <p:cNvSpPr/>
          <p:nvPr/>
        </p:nvSpPr>
        <p:spPr>
          <a:xfrm>
            <a:off x="6355080" y="1298448"/>
            <a:ext cx="4297680" cy="1600200"/>
          </a:xfrm>
          <a:prstGeom prst="roundRect">
            <a:avLst>
              <a:gd name="adj" fmla="val 5714"/>
            </a:avLst>
          </a:prstGeom>
          <a:solidFill>
            <a:srgbClr val="E1F5EC"/>
          </a:solidFill>
          <a:ln w="17780">
            <a:solidFill>
              <a:srgbClr val="1F8F65"/>
            </a:solidFill>
            <a:prstDash val="solid"/>
          </a:ln>
        </p:spPr>
        <p:txBody>
          <a:bodyPr/>
          <a:lstStyle/>
          <a:p>
            <a:endParaRPr/>
          </a:p>
        </p:txBody>
      </p:sp>
      <p:sp>
        <p:nvSpPr>
          <p:cNvPr id="40" name="Text 37"/>
          <p:cNvSpPr/>
          <p:nvPr/>
        </p:nvSpPr>
        <p:spPr>
          <a:xfrm>
            <a:off x="6537960" y="1408176"/>
            <a:ext cx="3931920" cy="310896"/>
          </a:xfrm>
          <a:prstGeom prst="rect">
            <a:avLst/>
          </a:prstGeom>
          <a:noFill/>
          <a:ln/>
        </p:spPr>
        <p:txBody>
          <a:bodyPr wrap="square" rtlCol="0" anchor="ctr"/>
          <a:lstStyle/>
          <a:p>
            <a:pPr marL="0" indent="0">
              <a:buNone/>
            </a:pPr>
            <a:r>
              <a:rPr lang="en-US" sz="1300" b="1" dirty="0">
                <a:solidFill>
                  <a:srgbClr val="1F8F65"/>
                </a:solidFill>
                <a:latin typeface="Segoe UI" pitchFamily="34" charset="0"/>
                <a:ea typeface="Segoe UI" pitchFamily="34" charset="-122"/>
                <a:cs typeface="Segoe UI" pitchFamily="34" charset="-120"/>
              </a:rPr>
              <a:t>Manage closely</a:t>
            </a:r>
            <a:endParaRPr lang="en-US" sz="1300" dirty="0"/>
          </a:p>
        </p:txBody>
      </p:sp>
      <p:sp>
        <p:nvSpPr>
          <p:cNvPr id="41" name="Text 38"/>
          <p:cNvSpPr/>
          <p:nvPr/>
        </p:nvSpPr>
        <p:spPr>
          <a:xfrm>
            <a:off x="6537960" y="175564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Head of e-commerce, checkout team lead. Your real partners.</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Give them: the C2 view, the ADRs, and a seat in the review.</a:t>
            </a:r>
            <a:endParaRPr lang="en-US" sz="1200" dirty="0"/>
          </a:p>
        </p:txBody>
      </p:sp>
      <p:sp>
        <p:nvSpPr>
          <p:cNvPr id="42" name="Shape 39"/>
          <p:cNvSpPr/>
          <p:nvPr/>
        </p:nvSpPr>
        <p:spPr>
          <a:xfrm>
            <a:off x="1874520" y="3081528"/>
            <a:ext cx="4297680" cy="1600200"/>
          </a:xfrm>
          <a:prstGeom prst="roundRect">
            <a:avLst>
              <a:gd name="adj" fmla="val 5714"/>
            </a:avLst>
          </a:prstGeom>
          <a:solidFill>
            <a:srgbClr val="F6F5F8"/>
          </a:solidFill>
          <a:ln w="17780">
            <a:solidFill>
              <a:srgbClr val="6E637A"/>
            </a:solidFill>
            <a:prstDash val="solid"/>
          </a:ln>
        </p:spPr>
        <p:txBody>
          <a:bodyPr/>
          <a:lstStyle/>
          <a:p>
            <a:endParaRPr/>
          </a:p>
        </p:txBody>
      </p:sp>
      <p:sp>
        <p:nvSpPr>
          <p:cNvPr id="43" name="Text 40"/>
          <p:cNvSpPr/>
          <p:nvPr/>
        </p:nvSpPr>
        <p:spPr>
          <a:xfrm>
            <a:off x="2057400" y="3191256"/>
            <a:ext cx="3931920" cy="310896"/>
          </a:xfrm>
          <a:prstGeom prst="rect">
            <a:avLst/>
          </a:prstGeom>
          <a:noFill/>
          <a:ln/>
        </p:spPr>
        <p:txBody>
          <a:bodyPr wrap="square" rtlCol="0" anchor="ctr"/>
          <a:lstStyle/>
          <a:p>
            <a:pPr marL="0" indent="0">
              <a:buNone/>
            </a:pPr>
            <a:r>
              <a:rPr lang="en-US" sz="1300" b="1" dirty="0">
                <a:solidFill>
                  <a:srgbClr val="6E637A"/>
                </a:solidFill>
                <a:latin typeface="Segoe UI" pitchFamily="34" charset="0"/>
                <a:ea typeface="Segoe UI" pitchFamily="34" charset="-122"/>
                <a:cs typeface="Segoe UI" pitchFamily="34" charset="-120"/>
              </a:rPr>
              <a:t>Monitor</a:t>
            </a:r>
            <a:endParaRPr lang="en-US" sz="1300" dirty="0"/>
          </a:p>
        </p:txBody>
      </p:sp>
      <p:sp>
        <p:nvSpPr>
          <p:cNvPr id="44" name="Text 41"/>
          <p:cNvSpPr/>
          <p:nvPr/>
        </p:nvSpPr>
        <p:spPr>
          <a:xfrm>
            <a:off x="2057400" y="353872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Marketing, HR, other product lines. Tell them when something visible changes.</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Give them: the release note. Nothing more.</a:t>
            </a:r>
            <a:endParaRPr lang="en-US" sz="1200" dirty="0"/>
          </a:p>
        </p:txBody>
      </p:sp>
      <p:sp>
        <p:nvSpPr>
          <p:cNvPr id="45" name="Shape 42"/>
          <p:cNvSpPr/>
          <p:nvPr/>
        </p:nvSpPr>
        <p:spPr>
          <a:xfrm>
            <a:off x="6355080" y="3081528"/>
            <a:ext cx="4297680" cy="1600200"/>
          </a:xfrm>
          <a:prstGeom prst="roundRect">
            <a:avLst>
              <a:gd name="adj" fmla="val 5714"/>
            </a:avLst>
          </a:prstGeom>
          <a:solidFill>
            <a:srgbClr val="FEE2E2"/>
          </a:solidFill>
          <a:ln w="17780">
            <a:solidFill>
              <a:srgbClr val="DC2626"/>
            </a:solidFill>
            <a:prstDash val="solid"/>
          </a:ln>
        </p:spPr>
        <p:txBody>
          <a:bodyPr/>
          <a:lstStyle/>
          <a:p>
            <a:endParaRPr/>
          </a:p>
        </p:txBody>
      </p:sp>
      <p:sp>
        <p:nvSpPr>
          <p:cNvPr id="46" name="Text 43"/>
          <p:cNvSpPr/>
          <p:nvPr/>
        </p:nvSpPr>
        <p:spPr>
          <a:xfrm>
            <a:off x="6537960" y="3191256"/>
            <a:ext cx="3931920" cy="310896"/>
          </a:xfrm>
          <a:prstGeom prst="rect">
            <a:avLst/>
          </a:prstGeom>
          <a:noFill/>
          <a:ln/>
        </p:spPr>
        <p:txBody>
          <a:bodyPr wrap="square" rtlCol="0" anchor="ctr"/>
          <a:lstStyle/>
          <a:p>
            <a:pPr marL="0" indent="0">
              <a:buNone/>
            </a:pPr>
            <a:r>
              <a:rPr lang="en-US" sz="1300" b="1" dirty="0">
                <a:solidFill>
                  <a:srgbClr val="DC2626"/>
                </a:solidFill>
                <a:latin typeface="Segoe UI" pitchFamily="34" charset="0"/>
                <a:ea typeface="Segoe UI" pitchFamily="34" charset="-122"/>
                <a:cs typeface="Segoe UI" pitchFamily="34" charset="-120"/>
              </a:rPr>
              <a:t>Keep informed</a:t>
            </a:r>
            <a:endParaRPr lang="en-US" sz="1300" dirty="0"/>
          </a:p>
        </p:txBody>
      </p:sp>
      <p:sp>
        <p:nvSpPr>
          <p:cNvPr id="47" name="Text 44"/>
          <p:cNvSpPr/>
          <p:nvPr/>
        </p:nvSpPr>
        <p:spPr>
          <a:xfrm>
            <a:off x="6537960" y="353872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Night operators, support agents, warehouse staff. Low power, very high interest  and the ones who feel every mistake.</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Give them: the run-book and the owner list.</a:t>
            </a:r>
            <a:endParaRPr lang="en-US" sz="1200" dirty="0"/>
          </a:p>
        </p:txBody>
      </p:sp>
      <p:sp>
        <p:nvSpPr>
          <p:cNvPr id="48" name="Text 45"/>
          <p:cNvSpPr/>
          <p:nvPr/>
        </p:nvSpPr>
        <p:spPr>
          <a:xfrm>
            <a:off x="502920" y="1298448"/>
            <a:ext cx="1280160" cy="1600200"/>
          </a:xfrm>
          <a:prstGeom prst="rect">
            <a:avLst/>
          </a:prstGeom>
          <a:noFill/>
          <a:ln/>
        </p:spPr>
        <p:txBody>
          <a:bodyPr wrap="square" rtlCol="0" anchor="ctr"/>
          <a:lstStyle/>
          <a:p>
            <a:pPr marL="0" indent="0" algn="r">
              <a:buNone/>
            </a:pPr>
            <a:r>
              <a:rPr lang="en-US" sz="1100" b="1" dirty="0">
                <a:solidFill>
                  <a:srgbClr val="6E637A"/>
                </a:solidFill>
                <a:latin typeface="Segoe UI" pitchFamily="34" charset="0"/>
                <a:ea typeface="Segoe UI" pitchFamily="34" charset="-122"/>
                <a:cs typeface="Segoe UI" pitchFamily="34" charset="-120"/>
              </a:rPr>
              <a:t>HIGH power</a:t>
            </a:r>
            <a:endParaRPr lang="en-US" sz="1100" dirty="0"/>
          </a:p>
          <a:p>
            <a:pPr marL="0" indent="0" algn="r">
              <a:buNone/>
            </a:pPr>
            <a:r>
              <a:rPr lang="en-US" sz="1100" b="1" dirty="0">
                <a:solidFill>
                  <a:srgbClr val="6E637A"/>
                </a:solidFill>
                <a:latin typeface="Segoe UI" pitchFamily="34" charset="0"/>
                <a:ea typeface="Segoe UI" pitchFamily="34" charset="-122"/>
                <a:cs typeface="Segoe UI" pitchFamily="34" charset="-120"/>
              </a:rPr>
              <a:t>can stop the work</a:t>
            </a:r>
            <a:endParaRPr lang="en-US" sz="1100" dirty="0"/>
          </a:p>
        </p:txBody>
      </p:sp>
      <p:sp>
        <p:nvSpPr>
          <p:cNvPr id="49" name="Text 46"/>
          <p:cNvSpPr/>
          <p:nvPr/>
        </p:nvSpPr>
        <p:spPr>
          <a:xfrm>
            <a:off x="502920" y="3081528"/>
            <a:ext cx="1280160" cy="1600200"/>
          </a:xfrm>
          <a:prstGeom prst="rect">
            <a:avLst/>
          </a:prstGeom>
          <a:noFill/>
          <a:ln/>
        </p:spPr>
        <p:txBody>
          <a:bodyPr wrap="square" rtlCol="0" anchor="ctr"/>
          <a:lstStyle/>
          <a:p>
            <a:pPr marL="0" indent="0" algn="r">
              <a:buNone/>
            </a:pPr>
            <a:r>
              <a:rPr lang="en-US" sz="1100" b="1" dirty="0">
                <a:solidFill>
                  <a:srgbClr val="6E637A"/>
                </a:solidFill>
                <a:latin typeface="Segoe UI" pitchFamily="34" charset="0"/>
                <a:ea typeface="Segoe UI" pitchFamily="34" charset="-122"/>
                <a:cs typeface="Segoe UI" pitchFamily="34" charset="-120"/>
              </a:rPr>
              <a:t>LOW power</a:t>
            </a:r>
            <a:endParaRPr lang="en-US" sz="1100" dirty="0"/>
          </a:p>
          <a:p>
            <a:pPr marL="0" indent="0" algn="r">
              <a:buNone/>
            </a:pPr>
            <a:r>
              <a:rPr lang="en-US" sz="1100" b="1" dirty="0">
                <a:solidFill>
                  <a:srgbClr val="6E637A"/>
                </a:solidFill>
                <a:latin typeface="Segoe UI" pitchFamily="34" charset="0"/>
                <a:ea typeface="Segoe UI" pitchFamily="34" charset="-122"/>
                <a:cs typeface="Segoe UI" pitchFamily="34" charset="-120"/>
              </a:rPr>
              <a:t>cannot stop it</a:t>
            </a:r>
            <a:endParaRPr lang="en-US" sz="1100" dirty="0"/>
          </a:p>
        </p:txBody>
      </p:sp>
      <p:sp>
        <p:nvSpPr>
          <p:cNvPr id="50" name="Text 47"/>
          <p:cNvSpPr/>
          <p:nvPr/>
        </p:nvSpPr>
        <p:spPr>
          <a:xfrm>
            <a:off x="1874520" y="4736592"/>
            <a:ext cx="4297680" cy="292608"/>
          </a:xfrm>
          <a:prstGeom prst="rect">
            <a:avLst/>
          </a:prstGeom>
          <a:noFill/>
          <a:ln/>
        </p:spPr>
        <p:txBody>
          <a:bodyPr wrap="square" rtlCol="0" anchor="ctr"/>
          <a:lstStyle/>
          <a:p>
            <a:pPr marL="0" indent="0" algn="ctr">
              <a:buNone/>
            </a:pPr>
            <a:r>
              <a:rPr lang="en-US" sz="1100" b="1" dirty="0">
                <a:solidFill>
                  <a:srgbClr val="6E637A"/>
                </a:solidFill>
                <a:latin typeface="Segoe UI" pitchFamily="34" charset="0"/>
                <a:ea typeface="Segoe UI" pitchFamily="34" charset="-122"/>
                <a:cs typeface="Segoe UI" pitchFamily="34" charset="-120"/>
              </a:rPr>
              <a:t>LOW interest    does not follow the detail</a:t>
            </a:r>
            <a:endParaRPr lang="en-US" sz="1100" dirty="0"/>
          </a:p>
        </p:txBody>
      </p:sp>
      <p:sp>
        <p:nvSpPr>
          <p:cNvPr id="51" name="Text 48"/>
          <p:cNvSpPr/>
          <p:nvPr/>
        </p:nvSpPr>
        <p:spPr>
          <a:xfrm>
            <a:off x="6355080" y="4736592"/>
            <a:ext cx="4297680" cy="292608"/>
          </a:xfrm>
          <a:prstGeom prst="rect">
            <a:avLst/>
          </a:prstGeom>
          <a:noFill/>
          <a:ln/>
        </p:spPr>
        <p:txBody>
          <a:bodyPr wrap="square" rtlCol="0" anchor="ctr"/>
          <a:lstStyle/>
          <a:p>
            <a:pPr marL="0" indent="0" algn="ctr">
              <a:buNone/>
            </a:pPr>
            <a:r>
              <a:rPr lang="en-US" sz="1100" b="1" dirty="0">
                <a:solidFill>
                  <a:srgbClr val="6E637A"/>
                </a:solidFill>
                <a:latin typeface="Segoe UI" pitchFamily="34" charset="0"/>
                <a:ea typeface="Segoe UI" pitchFamily="34" charset="-122"/>
                <a:cs typeface="Segoe UI" pitchFamily="34" charset="-120"/>
              </a:rPr>
              <a:t>HIGH interest    follows every week</a:t>
            </a:r>
            <a:endParaRPr lang="en-US" sz="1100" dirty="0"/>
          </a:p>
        </p:txBody>
      </p:sp>
      <p:sp>
        <p:nvSpPr>
          <p:cNvPr id="52" name="Shape 49"/>
          <p:cNvSpPr/>
          <p:nvPr/>
        </p:nvSpPr>
        <p:spPr>
          <a:xfrm>
            <a:off x="502920" y="5120640"/>
            <a:ext cx="11185855" cy="676656"/>
          </a:xfrm>
          <a:prstGeom prst="roundRect">
            <a:avLst>
              <a:gd name="adj" fmla="val 12162"/>
            </a:avLst>
          </a:prstGeom>
          <a:solidFill>
            <a:srgbClr val="E1F5EC"/>
          </a:solidFill>
          <a:ln/>
        </p:spPr>
        <p:txBody>
          <a:bodyPr/>
          <a:lstStyle/>
          <a:p>
            <a:endParaRPr/>
          </a:p>
        </p:txBody>
      </p:sp>
      <p:sp>
        <p:nvSpPr>
          <p:cNvPr id="53" name="Shape 50"/>
          <p:cNvSpPr/>
          <p:nvPr/>
        </p:nvSpPr>
        <p:spPr>
          <a:xfrm>
            <a:off x="502920" y="5120640"/>
            <a:ext cx="100584" cy="676656"/>
          </a:xfrm>
          <a:prstGeom prst="rect">
            <a:avLst/>
          </a:prstGeom>
          <a:solidFill>
            <a:srgbClr val="1F8F65"/>
          </a:solidFill>
          <a:ln/>
        </p:spPr>
        <p:txBody>
          <a:bodyPr/>
          <a:lstStyle/>
          <a:p>
            <a:endParaRPr/>
          </a:p>
        </p:txBody>
      </p:sp>
      <p:sp>
        <p:nvSpPr>
          <p:cNvPr id="54" name="Text 51"/>
          <p:cNvSpPr/>
          <p:nvPr/>
        </p:nvSpPr>
        <p:spPr>
          <a:xfrm>
            <a:off x="740664" y="5120640"/>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The bottom-right box is the one teams forget, and it is where outages are discovered. Talk to support and operators in week one.</a:t>
            </a:r>
            <a:endParaRPr lang="en-US" sz="1250" dirty="0"/>
          </a:p>
        </p:txBody>
      </p:sp>
      <p:sp>
        <p:nvSpPr>
          <p:cNvPr id="55" name="Shape 52"/>
          <p:cNvSpPr/>
          <p:nvPr/>
        </p:nvSpPr>
        <p:spPr>
          <a:xfrm>
            <a:off x="502920" y="5980176"/>
            <a:ext cx="54864" cy="201168"/>
          </a:xfrm>
          <a:prstGeom prst="rect">
            <a:avLst/>
          </a:prstGeom>
          <a:solidFill>
            <a:srgbClr val="43BFB8"/>
          </a:solidFill>
          <a:ln/>
        </p:spPr>
        <p:txBody>
          <a:bodyPr/>
          <a:lstStyle/>
          <a:p>
            <a:endParaRPr/>
          </a:p>
        </p:txBody>
      </p:sp>
      <p:sp>
        <p:nvSpPr>
          <p:cNvPr id="56" name="Text 53"/>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Power/interest grid  Mendelow's matrix, widely used in TOGAF stakeholder management (TOGAF Standard, Stakeholder Management technique).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match each stakeholder to one view</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10 minutes, in pairs. Five roles, five views.</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32</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List five roles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CEO, finance, warehouse manager, checkout engineer, night operator.</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their real question</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One question that person would actually ask this week.</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Choose one view</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Context diagram, process picture, data ownership map, or an operations run-book.</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what you will hide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One thing that would only waste their time.</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Worked example    night operator</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Role     : night operator</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Question : checkout died at 02:00  who do I</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call, and what may I restart?</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View     : operations run-book + simple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runtime picture with owners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Hide     : TOGAF phases, class diagrams,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the five-year roadmap</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Decision they must make: restart or escalate.</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A five-row table: role, question, chosen view, what you will not show.</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CEO = context plus cost. Engineer = container view. Operator = runtime plus run-book. Best practice: one view serves one decision.</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Kruchten 4+1 view model (IEEE Software, 1995)  ·  ISO/IEC/IEEE 42010.</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Architecture Decision Record    four parts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One page per important decision. Nothing more.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33</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Context</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What is true today and what hurts. Two or three sentences. Facts, no blame.</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Decision</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One sentence, active voice, with a named owner. “Catalog will own product data.”</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Consequences</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What this makes harder. Always write a cost, not only the benefit.</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Status</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Proposed → Accepted → Superseded. A page without a status is a diary.</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One decision per file. Number them adr-001, adr-002. Never edit a decided ADR  write a new one that supersedes it.</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adr.github.io  ·  Michael Nygard, “Documenting Architecture Decisions” (2011)  ·  GitHub: joelparkerhenderson/architecture-decision-record</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ADR template you will hand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Students do not invent the format. They fill this in. Show this slide, then give them the file.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34</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03-ADR-template.docx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One page that records one important decision, so that in six months a new colleague can understand why the system looks like this  without finding the person who decided it.</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Title + number</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“ADR-001 Catalog owns product data”. One decision per file. Numbers never get reused.</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Context</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What is true today, and what hurts. Two or three sentences of fact. No blame, no names of people.</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Decision</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sentence, active voice, with a named owner. “Catalog will have a private data store. Owner: ...”</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Consequences</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cost, not only the benefit. What becomes harder? What must we now build that we did not need before?</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Status + date</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Proposed, Accepted, or Superseded by ADR-00x. A page with no status is a personal diary.</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Reviewers should check the Consequences section first. An ADR with only benefits has not been thought through.</a:t>
            </a:r>
            <a:endParaRPr lang="en-US" sz="1250" dirty="0"/>
          </a:p>
        </p:txBody>
      </p:sp>
      <p:sp>
        <p:nvSpPr>
          <p:cNvPr id="68" name="Shape 65"/>
          <p:cNvSpPr/>
          <p:nvPr/>
        </p:nvSpPr>
        <p:spPr>
          <a:xfrm>
            <a:off x="502920" y="5925312"/>
            <a:ext cx="54864" cy="201168"/>
          </a:xfrm>
          <a:prstGeom prst="rect">
            <a:avLst/>
          </a:prstGeom>
          <a:solidFill>
            <a:srgbClr val="43BFB8"/>
          </a:solidFill>
          <a:ln/>
        </p:spPr>
        <p:txBody>
          <a:bodyPr/>
          <a:lstStyle/>
          <a:p>
            <a:endParaRPr/>
          </a:p>
        </p:txBody>
      </p:sp>
      <p:sp>
        <p:nvSpPr>
          <p:cNvPr id="69" name="Text 6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adr.github.io/</a:t>
            </a:r>
            <a:r>
              <a:rPr lang="en-US" sz="1050" dirty="0" err="1">
                <a:solidFill>
                  <a:srgbClr val="6E637A"/>
                </a:solidFill>
                <a:latin typeface="Segoe UI" pitchFamily="34" charset="0"/>
                <a:ea typeface="Segoe UI" pitchFamily="34" charset="-122"/>
                <a:cs typeface="Segoe UI" pitchFamily="34" charset="-120"/>
              </a:rPr>
              <a:t>madr</a:t>
            </a:r>
            <a:r>
              <a:rPr lang="en-US" sz="1050" dirty="0">
                <a:solidFill>
                  <a:srgbClr val="6E637A"/>
                </a:solidFill>
                <a:latin typeface="Segoe UI" pitchFamily="34" charset="0"/>
                <a:ea typeface="Segoe UI" pitchFamily="34" charset="-122"/>
                <a:cs typeface="Segoe UI" pitchFamily="34" charset="-120"/>
              </a:rPr>
              <a:t>  Markdown ADR template  ·  Nygard's original four-heading template.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write ADR-001</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in pairs. One real Northline decision.</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35</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Open the template</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labs/templates/03-ADR-template.docx  or the Markdown version in the practical guide.</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four headings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Context. Decision. Consequences. Status.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Fill each with one or two lines</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Context = today's pain. Decision = one sentence. Consequences = one real cost. Status = Proposed.</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Swap and test it</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Your partner must repeat the decision without you speaking.</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docs/adr/adr-001.md</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ADR-001  Catalog owns product data</a:t>
            </a:r>
            <a:endParaRPr lang="en-US" sz="1001" dirty="0"/>
          </a:p>
          <a:p>
            <a:pPr marL="0" indent="0">
              <a:lnSpc>
                <a:spcPct val="112000"/>
              </a:lnSpc>
              <a:buNone/>
            </a:pP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Context</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Checkout waits on slow catalog queries inside</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the shared NorthlineCore database.</a:t>
            </a:r>
            <a:endParaRPr lang="en-US" sz="1001" dirty="0"/>
          </a:p>
          <a:p>
            <a:pPr marL="0" indent="0">
              <a:lnSpc>
                <a:spcPct val="112000"/>
              </a:lnSpc>
              <a:buNone/>
            </a:pP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Decision</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Catalog will have a private data store.</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Owner: &lt;one named person&gt;</a:t>
            </a:r>
            <a:endParaRPr lang="en-US" sz="1001" dirty="0"/>
          </a:p>
          <a:p>
            <a:pPr marL="0" indent="0">
              <a:lnSpc>
                <a:spcPct val="112000"/>
              </a:lnSpc>
              <a:buNone/>
            </a:pP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Consequences</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Stock is no longer in the same table.</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We must sync stock with an event.</a:t>
            </a:r>
            <a:endParaRPr lang="en-US" sz="1001" dirty="0"/>
          </a:p>
          <a:p>
            <a:pPr marL="0" indent="0">
              <a:lnSpc>
                <a:spcPct val="112000"/>
              </a:lnSpc>
              <a:buNone/>
            </a:pP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Status</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Proposed  (2026-09-05)</a:t>
            </a:r>
            <a:endParaRPr lang="en-US" sz="1001"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page with four headings. A partner can repeat the decision. A real cost is written down.</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Catalog owns product data. Cost: stock needs an event sync. Best practice: one decision, one owner, one written cost, one status.</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Template and examples: adr.github.io/madr (Markdown ADR)  ·  Nygard's original template.</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Real case 1    nobody owns checkout at 2 a.m.</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Use only today's theory. Do not invent new technology.</a:t>
            </a:r>
            <a:endParaRPr lang="en-US" sz="1300" dirty="0"/>
          </a:p>
        </p:txBody>
      </p:sp>
      <p:sp>
        <p:nvSpPr>
          <p:cNvPr id="27" name="Shape 25"/>
          <p:cNvSpPr/>
          <p:nvPr/>
        </p:nvSpPr>
        <p:spPr>
          <a:xfrm>
            <a:off x="9585655" y="256032"/>
            <a:ext cx="2148840" cy="347472"/>
          </a:xfrm>
          <a:prstGeom prst="roundRect">
            <a:avLst>
              <a:gd name="adj" fmla="val 50000"/>
            </a:avLst>
          </a:prstGeom>
          <a:solidFill>
            <a:srgbClr val="0F1A2E"/>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CASE STUDY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36</a:t>
            </a:r>
            <a:endParaRPr lang="en-US" sz="1000" dirty="0"/>
          </a:p>
        </p:txBody>
      </p:sp>
      <p:sp>
        <p:nvSpPr>
          <p:cNvPr id="36" name="Shape 33"/>
          <p:cNvSpPr/>
          <p:nvPr/>
        </p:nvSpPr>
        <p:spPr>
          <a:xfrm>
            <a:off x="502920" y="1417320"/>
            <a:ext cx="11185855" cy="868680"/>
          </a:xfrm>
          <a:prstGeom prst="roundRect">
            <a:avLst>
              <a:gd name="adj" fmla="val 10526"/>
            </a:avLst>
          </a:prstGeom>
          <a:solidFill>
            <a:srgbClr val="0F1A2E"/>
          </a:solidFill>
          <a:ln/>
        </p:spPr>
        <p:txBody>
          <a:bodyPr/>
          <a:lstStyle/>
          <a:p>
            <a:endParaRPr/>
          </a:p>
        </p:txBody>
      </p:sp>
      <p:sp>
        <p:nvSpPr>
          <p:cNvPr id="37" name="Text 34"/>
          <p:cNvSpPr/>
          <p:nvPr/>
        </p:nvSpPr>
        <p:spPr>
          <a:xfrm>
            <a:off x="685800" y="1417320"/>
            <a:ext cx="548640" cy="868680"/>
          </a:xfrm>
          <a:prstGeom prst="rect">
            <a:avLst/>
          </a:prstGeom>
          <a:noFill/>
          <a:ln/>
        </p:spPr>
        <p:txBody>
          <a:bodyPr wrap="square" rtlCol="0" anchor="ctr"/>
          <a:lstStyle/>
          <a:p>
            <a:pPr marL="0" indent="0" algn="ctr">
              <a:buNone/>
            </a:pPr>
            <a:r>
              <a:rPr lang="en-US" sz="2400" dirty="0">
                <a:solidFill>
                  <a:srgbClr val="F5C239"/>
                </a:solidFill>
                <a:latin typeface="Segoe UI Symbol" pitchFamily="34" charset="0"/>
                <a:ea typeface="Segoe UI Symbol" pitchFamily="34" charset="-122"/>
                <a:cs typeface="Segoe UI Symbol" pitchFamily="34" charset="-120"/>
              </a:rPr>
              <a:t>⚠</a:t>
            </a:r>
            <a:endParaRPr lang="en-US" sz="2400" dirty="0"/>
          </a:p>
        </p:txBody>
      </p:sp>
      <p:sp>
        <p:nvSpPr>
          <p:cNvPr id="38" name="Text 35"/>
          <p:cNvSpPr/>
          <p:nvPr/>
        </p:nvSpPr>
        <p:spPr>
          <a:xfrm>
            <a:off x="1325880" y="1417320"/>
            <a:ext cx="10180015" cy="868680"/>
          </a:xfrm>
          <a:prstGeom prst="rect">
            <a:avLst/>
          </a:prstGeom>
          <a:noFill/>
          <a:ln/>
        </p:spPr>
        <p:txBody>
          <a:bodyPr wrap="square" rtlCol="0" anchor="ctr"/>
          <a:lstStyle/>
          <a:p>
            <a:pPr marL="0" indent="0">
              <a:lnSpc>
                <a:spcPct val="115000"/>
              </a:lnSpc>
              <a:buNone/>
            </a:pPr>
            <a:r>
              <a:rPr lang="en-US" sz="1300" b="1" kern="0" spc="200" dirty="0">
                <a:solidFill>
                  <a:srgbClr val="F5C239"/>
                </a:solidFill>
                <a:latin typeface="Segoe UI" pitchFamily="34" charset="0"/>
                <a:ea typeface="Segoe UI" pitchFamily="34" charset="-122"/>
                <a:cs typeface="Segoe UI" pitchFamily="34" charset="-120"/>
              </a:rPr>
              <a:t>Scenario:  </a:t>
            </a:r>
            <a:r>
              <a:rPr lang="en-US" sz="1300" dirty="0">
                <a:solidFill>
                  <a:srgbClr val="FFFFFF"/>
                </a:solidFill>
                <a:latin typeface="Segoe UI" pitchFamily="34" charset="0"/>
                <a:ea typeface="Segoe UI" pitchFamily="34" charset="-122"/>
                <a:cs typeface="Segoe UI" pitchFamily="34" charset="-120"/>
              </a:rPr>
              <a:t>Checkout failed at 02:10. The operator called three teams. Each said it was not theirs. Sales were lost for 40 minutes before anyone acted.</a:t>
            </a:r>
            <a:endParaRPr lang="en-US" sz="1300" dirty="0"/>
          </a:p>
        </p:txBody>
      </p:sp>
      <p:sp>
        <p:nvSpPr>
          <p:cNvPr id="39" name="Shape 36"/>
          <p:cNvSpPr/>
          <p:nvPr/>
        </p:nvSpPr>
        <p:spPr>
          <a:xfrm>
            <a:off x="502920"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0" name="Shape 37"/>
          <p:cNvSpPr/>
          <p:nvPr/>
        </p:nvSpPr>
        <p:spPr>
          <a:xfrm>
            <a:off x="1505674" y="2715768"/>
            <a:ext cx="594360" cy="594360"/>
          </a:xfrm>
          <a:prstGeom prst="ellipse">
            <a:avLst/>
          </a:prstGeom>
          <a:solidFill>
            <a:srgbClr val="E4F5F3"/>
          </a:solidFill>
          <a:ln w="12700">
            <a:solidFill>
              <a:srgbClr val="43BFB8"/>
            </a:solidFill>
            <a:prstDash val="solid"/>
          </a:ln>
        </p:spPr>
        <p:txBody>
          <a:bodyPr/>
          <a:lstStyle/>
          <a:p>
            <a:endParaRPr/>
          </a:p>
        </p:txBody>
      </p:sp>
      <p:sp>
        <p:nvSpPr>
          <p:cNvPr id="41" name="Text 38"/>
          <p:cNvSpPr/>
          <p:nvPr/>
        </p:nvSpPr>
        <p:spPr>
          <a:xfrm>
            <a:off x="1505674" y="2715768"/>
            <a:ext cx="594360" cy="594360"/>
          </a:xfrm>
          <a:prstGeom prst="rect">
            <a:avLst/>
          </a:prstGeom>
          <a:noFill/>
          <a:ln/>
        </p:spPr>
        <p:txBody>
          <a:bodyPr wrap="square" rtlCol="0" anchor="ctr"/>
          <a:lstStyle/>
          <a:p>
            <a:pPr marL="0" indent="0" algn="ctr">
              <a:buNone/>
            </a:pPr>
            <a:r>
              <a:rPr lang="en-US" sz="2000" b="1" dirty="0">
                <a:solidFill>
                  <a:srgbClr val="43BFB8"/>
                </a:solidFill>
                <a:latin typeface="Segoe UI Symbol" pitchFamily="34" charset="0"/>
                <a:ea typeface="Segoe UI Symbol" pitchFamily="34" charset="-122"/>
                <a:cs typeface="Segoe UI Symbol" pitchFamily="34" charset="-120"/>
              </a:rPr>
              <a:t>👁</a:t>
            </a:r>
            <a:endParaRPr lang="en-US" sz="2000" dirty="0"/>
          </a:p>
        </p:txBody>
      </p:sp>
      <p:sp>
        <p:nvSpPr>
          <p:cNvPr id="42" name="Text 39"/>
          <p:cNvSpPr/>
          <p:nvPr/>
        </p:nvSpPr>
        <p:spPr>
          <a:xfrm>
            <a:off x="502920" y="3383280"/>
            <a:ext cx="2590724" cy="365760"/>
          </a:xfrm>
          <a:prstGeom prst="rect">
            <a:avLst/>
          </a:prstGeom>
          <a:noFill/>
          <a:ln/>
        </p:spPr>
        <p:txBody>
          <a:bodyPr wrap="square" rtlCol="0" anchor="ctr"/>
          <a:lstStyle/>
          <a:p>
            <a:pPr marL="0" indent="0" algn="ctr">
              <a:buNone/>
            </a:pPr>
            <a:r>
              <a:rPr lang="en-US" sz="1400" b="1" kern="0" spc="100" dirty="0">
                <a:solidFill>
                  <a:srgbClr val="43BFB8"/>
                </a:solidFill>
                <a:latin typeface="Segoe UI" pitchFamily="34" charset="0"/>
                <a:ea typeface="Segoe UI" pitchFamily="34" charset="-122"/>
                <a:cs typeface="Segoe UI" pitchFamily="34" charset="-120"/>
              </a:rPr>
              <a:t>See</a:t>
            </a:r>
            <a:endParaRPr lang="en-US" sz="1400" dirty="0"/>
          </a:p>
        </p:txBody>
      </p:sp>
      <p:sp>
        <p:nvSpPr>
          <p:cNvPr id="43" name="Text 40"/>
          <p:cNvSpPr/>
          <p:nvPr/>
        </p:nvSpPr>
        <p:spPr>
          <a:xfrm>
            <a:off x="685800"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Two domains: Business (no owner) and Application (one shared program).</a:t>
            </a:r>
            <a:endParaRPr lang="en-US" sz="1200" dirty="0"/>
          </a:p>
        </p:txBody>
      </p:sp>
      <p:sp>
        <p:nvSpPr>
          <p:cNvPr id="44" name="Shape 41"/>
          <p:cNvSpPr/>
          <p:nvPr/>
        </p:nvSpPr>
        <p:spPr>
          <a:xfrm>
            <a:off x="3367964"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5" name="Shape 42"/>
          <p:cNvSpPr/>
          <p:nvPr/>
        </p:nvSpPr>
        <p:spPr>
          <a:xfrm>
            <a:off x="4370718" y="2715768"/>
            <a:ext cx="594360" cy="594360"/>
          </a:xfrm>
          <a:prstGeom prst="ellipse">
            <a:avLst/>
          </a:prstGeom>
          <a:solidFill>
            <a:srgbClr val="FDECDF"/>
          </a:solidFill>
          <a:ln w="12700">
            <a:solidFill>
              <a:srgbClr val="E76F30"/>
            </a:solidFill>
            <a:prstDash val="solid"/>
          </a:ln>
        </p:spPr>
        <p:txBody>
          <a:bodyPr/>
          <a:lstStyle/>
          <a:p>
            <a:endParaRPr/>
          </a:p>
        </p:txBody>
      </p:sp>
      <p:sp>
        <p:nvSpPr>
          <p:cNvPr id="46" name="Text 43"/>
          <p:cNvSpPr/>
          <p:nvPr/>
        </p:nvSpPr>
        <p:spPr>
          <a:xfrm>
            <a:off x="4370718" y="2715768"/>
            <a:ext cx="594360" cy="594360"/>
          </a:xfrm>
          <a:prstGeom prst="rect">
            <a:avLst/>
          </a:prstGeom>
          <a:noFill/>
          <a:ln/>
        </p:spPr>
        <p:txBody>
          <a:bodyPr wrap="square" rtlCol="0" anchor="ctr"/>
          <a:lstStyle/>
          <a:p>
            <a:pPr marL="0" indent="0" algn="ctr">
              <a:buNone/>
            </a:pPr>
            <a:r>
              <a:rPr lang="en-US" sz="2000" b="1" dirty="0">
                <a:solidFill>
                  <a:srgbClr val="E76F30"/>
                </a:solidFill>
                <a:latin typeface="Segoe UI Symbol" pitchFamily="34" charset="0"/>
                <a:ea typeface="Segoe UI Symbol" pitchFamily="34" charset="-122"/>
                <a:cs typeface="Segoe UI Symbol" pitchFamily="34" charset="-120"/>
              </a:rPr>
              <a:t>🎯</a:t>
            </a:r>
            <a:endParaRPr lang="en-US" sz="2000" dirty="0"/>
          </a:p>
        </p:txBody>
      </p:sp>
      <p:sp>
        <p:nvSpPr>
          <p:cNvPr id="47" name="Text 44"/>
          <p:cNvSpPr/>
          <p:nvPr/>
        </p:nvSpPr>
        <p:spPr>
          <a:xfrm>
            <a:off x="3367964" y="3383280"/>
            <a:ext cx="2590724" cy="365760"/>
          </a:xfrm>
          <a:prstGeom prst="rect">
            <a:avLst/>
          </a:prstGeom>
          <a:noFill/>
          <a:ln/>
        </p:spPr>
        <p:txBody>
          <a:bodyPr wrap="square" rtlCol="0" anchor="ctr"/>
          <a:lstStyle/>
          <a:p>
            <a:pPr marL="0" indent="0" algn="ctr">
              <a:buNone/>
            </a:pPr>
            <a:r>
              <a:rPr lang="en-US" sz="1400" b="1" kern="0" spc="100" dirty="0">
                <a:solidFill>
                  <a:srgbClr val="E76F30"/>
                </a:solidFill>
                <a:latin typeface="Segoe UI" pitchFamily="34" charset="0"/>
                <a:ea typeface="Segoe UI" pitchFamily="34" charset="-122"/>
                <a:cs typeface="Segoe UI" pitchFamily="34" charset="-120"/>
              </a:rPr>
              <a:t>Ask</a:t>
            </a:r>
            <a:endParaRPr lang="en-US" sz="1400" dirty="0"/>
          </a:p>
        </p:txBody>
      </p:sp>
      <p:sp>
        <p:nvSpPr>
          <p:cNvPr id="48" name="Text 45"/>
          <p:cNvSpPr/>
          <p:nvPr/>
        </p:nvSpPr>
        <p:spPr>
          <a:xfrm>
            <a:off x="3550844"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Which capability failed? Who may restart it? Which view does the operator have?</a:t>
            </a:r>
            <a:endParaRPr lang="en-US" sz="1200" dirty="0"/>
          </a:p>
        </p:txBody>
      </p:sp>
      <p:sp>
        <p:nvSpPr>
          <p:cNvPr id="49" name="Shape 46"/>
          <p:cNvSpPr/>
          <p:nvPr/>
        </p:nvSpPr>
        <p:spPr>
          <a:xfrm>
            <a:off x="6233008"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0" name="Shape 47"/>
          <p:cNvSpPr/>
          <p:nvPr/>
        </p:nvSpPr>
        <p:spPr>
          <a:xfrm>
            <a:off x="7235761" y="2715768"/>
            <a:ext cx="594360" cy="594360"/>
          </a:xfrm>
          <a:prstGeom prst="ellipse">
            <a:avLst/>
          </a:prstGeom>
          <a:solidFill>
            <a:srgbClr val="E1F5EC"/>
          </a:solidFill>
          <a:ln w="12700">
            <a:solidFill>
              <a:srgbClr val="3EB489"/>
            </a:solidFill>
            <a:prstDash val="solid"/>
          </a:ln>
        </p:spPr>
        <p:txBody>
          <a:bodyPr/>
          <a:lstStyle/>
          <a:p>
            <a:endParaRPr/>
          </a:p>
        </p:txBody>
      </p:sp>
      <p:sp>
        <p:nvSpPr>
          <p:cNvPr id="51" name="Text 48"/>
          <p:cNvSpPr/>
          <p:nvPr/>
        </p:nvSpPr>
        <p:spPr>
          <a:xfrm>
            <a:off x="7235761" y="2715768"/>
            <a:ext cx="594360" cy="594360"/>
          </a:xfrm>
          <a:prstGeom prst="rect">
            <a:avLst/>
          </a:prstGeom>
          <a:noFill/>
          <a:ln/>
        </p:spPr>
        <p:txBody>
          <a:bodyPr wrap="square" rtlCol="0" anchor="ctr"/>
          <a:lstStyle/>
          <a:p>
            <a:pPr marL="0" indent="0" algn="ctr">
              <a:buNone/>
            </a:pPr>
            <a:r>
              <a:rPr lang="en-US" sz="2000" b="1" dirty="0">
                <a:solidFill>
                  <a:srgbClr val="3EB489"/>
                </a:solidFill>
                <a:latin typeface="Segoe UI Symbol" pitchFamily="34" charset="0"/>
                <a:ea typeface="Segoe UI Symbol" pitchFamily="34" charset="-122"/>
                <a:cs typeface="Segoe UI Symbol" pitchFamily="34" charset="-120"/>
              </a:rPr>
              <a:t>✓</a:t>
            </a:r>
            <a:endParaRPr lang="en-US" sz="2000" dirty="0"/>
          </a:p>
        </p:txBody>
      </p:sp>
      <p:sp>
        <p:nvSpPr>
          <p:cNvPr id="52" name="Text 49"/>
          <p:cNvSpPr/>
          <p:nvPr/>
        </p:nvSpPr>
        <p:spPr>
          <a:xfrm>
            <a:off x="6233008" y="3383280"/>
            <a:ext cx="2590724" cy="365760"/>
          </a:xfrm>
          <a:prstGeom prst="rect">
            <a:avLst/>
          </a:prstGeom>
          <a:noFill/>
          <a:ln/>
        </p:spPr>
        <p:txBody>
          <a:bodyPr wrap="square" rtlCol="0" anchor="ctr"/>
          <a:lstStyle/>
          <a:p>
            <a:pPr marL="0" indent="0" algn="ctr">
              <a:buNone/>
            </a:pPr>
            <a:r>
              <a:rPr lang="en-US" sz="1400" b="1" kern="0" spc="100" dirty="0">
                <a:solidFill>
                  <a:srgbClr val="3EB489"/>
                </a:solidFill>
                <a:latin typeface="Segoe UI" pitchFamily="34" charset="0"/>
                <a:ea typeface="Segoe UI" pitchFamily="34" charset="-122"/>
                <a:cs typeface="Segoe UI" pitchFamily="34" charset="-120"/>
              </a:rPr>
              <a:t>Do</a:t>
            </a:r>
            <a:endParaRPr lang="en-US" sz="1400" dirty="0"/>
          </a:p>
        </p:txBody>
      </p:sp>
      <p:sp>
        <p:nvSpPr>
          <p:cNvPr id="53" name="Text 50"/>
          <p:cNvSpPr/>
          <p:nvPr/>
        </p:nvSpPr>
        <p:spPr>
          <a:xfrm>
            <a:off x="6415888"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Write the owner on the context diagram. Open ADR-002: “Checkout has one named night owner”.</a:t>
            </a:r>
            <a:endParaRPr lang="en-US" sz="1200" dirty="0"/>
          </a:p>
        </p:txBody>
      </p:sp>
      <p:sp>
        <p:nvSpPr>
          <p:cNvPr id="54" name="Shape 51"/>
          <p:cNvSpPr/>
          <p:nvPr/>
        </p:nvSpPr>
        <p:spPr>
          <a:xfrm>
            <a:off x="9098051"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5" name="Shape 52"/>
          <p:cNvSpPr/>
          <p:nvPr/>
        </p:nvSpPr>
        <p:spPr>
          <a:xfrm>
            <a:off x="10100805" y="2715768"/>
            <a:ext cx="594360" cy="594360"/>
          </a:xfrm>
          <a:prstGeom prst="ellipse">
            <a:avLst/>
          </a:prstGeom>
          <a:solidFill>
            <a:srgbClr val="FEE2E2"/>
          </a:solidFill>
          <a:ln w="12700">
            <a:solidFill>
              <a:srgbClr val="DC2626"/>
            </a:solidFill>
            <a:prstDash val="solid"/>
          </a:ln>
        </p:spPr>
        <p:txBody>
          <a:bodyPr/>
          <a:lstStyle/>
          <a:p>
            <a:endParaRPr/>
          </a:p>
        </p:txBody>
      </p:sp>
      <p:sp>
        <p:nvSpPr>
          <p:cNvPr id="56" name="Text 53"/>
          <p:cNvSpPr/>
          <p:nvPr/>
        </p:nvSpPr>
        <p:spPr>
          <a:xfrm>
            <a:off x="10100805" y="2715768"/>
            <a:ext cx="594360" cy="594360"/>
          </a:xfrm>
          <a:prstGeom prst="rect">
            <a:avLst/>
          </a:prstGeom>
          <a:noFill/>
          <a:ln/>
        </p:spPr>
        <p:txBody>
          <a:bodyPr wrap="square" rtlCol="0" anchor="ctr"/>
          <a:lstStyle/>
          <a:p>
            <a:pPr marL="0" indent="0" algn="ctr">
              <a:buNone/>
            </a:pPr>
            <a:r>
              <a:rPr lang="en-US" sz="2000" b="1" dirty="0">
                <a:solidFill>
                  <a:srgbClr val="DC2626"/>
                </a:solidFill>
                <a:latin typeface="Segoe UI Symbol" pitchFamily="34" charset="0"/>
                <a:ea typeface="Segoe UI Symbol" pitchFamily="34" charset="-122"/>
                <a:cs typeface="Segoe UI Symbol" pitchFamily="34" charset="-120"/>
              </a:rPr>
              <a:t>✕</a:t>
            </a:r>
            <a:endParaRPr lang="en-US" sz="2000" dirty="0"/>
          </a:p>
        </p:txBody>
      </p:sp>
      <p:sp>
        <p:nvSpPr>
          <p:cNvPr id="57" name="Text 54"/>
          <p:cNvSpPr/>
          <p:nvPr/>
        </p:nvSpPr>
        <p:spPr>
          <a:xfrm>
            <a:off x="9098051" y="3383280"/>
            <a:ext cx="2590724" cy="365760"/>
          </a:xfrm>
          <a:prstGeom prst="rect">
            <a:avLst/>
          </a:prstGeom>
          <a:noFill/>
          <a:ln/>
        </p:spPr>
        <p:txBody>
          <a:bodyPr wrap="square" rtlCol="0" anchor="ctr"/>
          <a:lstStyle/>
          <a:p>
            <a:pPr marL="0" indent="0" algn="ctr">
              <a:buNone/>
            </a:pPr>
            <a:r>
              <a:rPr lang="en-US" sz="1400" b="1" kern="0" spc="100" dirty="0">
                <a:solidFill>
                  <a:srgbClr val="DC2626"/>
                </a:solidFill>
                <a:latin typeface="Segoe UI" pitchFamily="34" charset="0"/>
                <a:ea typeface="Segoe UI" pitchFamily="34" charset="-122"/>
                <a:cs typeface="Segoe UI" pitchFamily="34" charset="-120"/>
              </a:rPr>
              <a:t>Avoid</a:t>
            </a:r>
            <a:endParaRPr lang="en-US" sz="1400" dirty="0"/>
          </a:p>
        </p:txBody>
      </p:sp>
      <p:sp>
        <p:nvSpPr>
          <p:cNvPr id="58" name="Text 55"/>
          <p:cNvSpPr/>
          <p:nvPr/>
        </p:nvSpPr>
        <p:spPr>
          <a:xfrm>
            <a:off x="9280931"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Buying a monitoring tool before a human being is named as owner.</a:t>
            </a:r>
            <a:endParaRPr lang="en-US" sz="1200" dirty="0"/>
          </a:p>
        </p:txBody>
      </p:sp>
      <p:sp>
        <p:nvSpPr>
          <p:cNvPr id="59" name="Shape 56"/>
          <p:cNvSpPr/>
          <p:nvPr/>
        </p:nvSpPr>
        <p:spPr>
          <a:xfrm>
            <a:off x="502920" y="5257800"/>
            <a:ext cx="11185855" cy="685800"/>
          </a:xfrm>
          <a:prstGeom prst="roundRect">
            <a:avLst>
              <a:gd name="adj" fmla="val 13333"/>
            </a:avLst>
          </a:prstGeom>
          <a:solidFill>
            <a:srgbClr val="E4F5F3"/>
          </a:solidFill>
          <a:ln/>
        </p:spPr>
        <p:txBody>
          <a:bodyPr/>
          <a:lstStyle/>
          <a:p>
            <a:endParaRPr/>
          </a:p>
        </p:txBody>
      </p:sp>
      <p:sp>
        <p:nvSpPr>
          <p:cNvPr id="60" name="Text 57"/>
          <p:cNvSpPr/>
          <p:nvPr/>
        </p:nvSpPr>
        <p:spPr>
          <a:xfrm>
            <a:off x="731520" y="5257800"/>
            <a:ext cx="10820095" cy="685800"/>
          </a:xfrm>
          <a:prstGeom prst="rect">
            <a:avLst/>
          </a:prstGeom>
          <a:noFill/>
          <a:ln/>
        </p:spPr>
        <p:txBody>
          <a:bodyPr wrap="square" rtlCol="0" anchor="ctr"/>
          <a:lstStyle/>
          <a:p>
            <a:pPr marL="0" indent="0">
              <a:buNone/>
            </a:pPr>
            <a:r>
              <a:rPr lang="en-US" sz="1300" b="1" kern="0" spc="200" dirty="0">
                <a:solidFill>
                  <a:srgbClr val="2F9992"/>
                </a:solidFill>
                <a:latin typeface="Segoe UI" pitchFamily="34" charset="0"/>
                <a:ea typeface="Segoe UI" pitchFamily="34" charset="-122"/>
                <a:cs typeface="Segoe UI" pitchFamily="34" charset="-120"/>
              </a:rPr>
              <a:t>Verify:  </a:t>
            </a:r>
            <a:r>
              <a:rPr lang="en-US" sz="1300" dirty="0">
                <a:solidFill>
                  <a:srgbClr val="24162A"/>
                </a:solidFill>
                <a:latin typeface="Segoe UI" pitchFamily="34" charset="0"/>
                <a:ea typeface="Segoe UI" pitchFamily="34" charset="-122"/>
                <a:cs typeface="Segoe UI" pitchFamily="34" charset="-120"/>
              </a:rPr>
              <a:t>The room can name one owner and one viewpoint for the night operator.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Check your understanding</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 team wants to move checkout from company servers to the cloud. Which domain is mainly affected?</a:t>
            </a:r>
            <a:endParaRPr lang="en-US" sz="1300" dirty="0"/>
          </a:p>
        </p:txBody>
      </p:sp>
      <p:sp>
        <p:nvSpPr>
          <p:cNvPr id="27" name="Shape 25"/>
          <p:cNvSpPr/>
          <p:nvPr/>
        </p:nvSpPr>
        <p:spPr>
          <a:xfrm>
            <a:off x="9585655" y="256032"/>
            <a:ext cx="2148840" cy="347472"/>
          </a:xfrm>
          <a:prstGeom prst="roundRect">
            <a:avLst>
              <a:gd name="adj" fmla="val 50000"/>
            </a:avLst>
          </a:prstGeom>
          <a:solidFill>
            <a:srgbClr val="4A7DE0"/>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CHECK</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37</a:t>
            </a:r>
            <a:endParaRPr lang="en-US" sz="1000" dirty="0"/>
          </a:p>
        </p:txBody>
      </p:sp>
      <p:sp>
        <p:nvSpPr>
          <p:cNvPr id="36" name="Shape 33"/>
          <p:cNvSpPr/>
          <p:nvPr/>
        </p:nvSpPr>
        <p:spPr>
          <a:xfrm>
            <a:off x="502920" y="1920240"/>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37" name="Shape 34"/>
          <p:cNvSpPr/>
          <p:nvPr/>
        </p:nvSpPr>
        <p:spPr>
          <a:xfrm>
            <a:off x="640080" y="2029968"/>
            <a:ext cx="457200" cy="438912"/>
          </a:xfrm>
          <a:prstGeom prst="roundRect">
            <a:avLst>
              <a:gd name="adj" fmla="val 16667"/>
            </a:avLst>
          </a:prstGeom>
          <a:solidFill>
            <a:srgbClr val="F6F5F8"/>
          </a:solidFill>
          <a:ln/>
        </p:spPr>
        <p:txBody>
          <a:bodyPr/>
          <a:lstStyle/>
          <a:p>
            <a:endParaRPr/>
          </a:p>
        </p:txBody>
      </p:sp>
      <p:sp>
        <p:nvSpPr>
          <p:cNvPr id="38" name="Text 35"/>
          <p:cNvSpPr/>
          <p:nvPr/>
        </p:nvSpPr>
        <p:spPr>
          <a:xfrm>
            <a:off x="640080" y="2029968"/>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A</a:t>
            </a:r>
            <a:endParaRPr lang="en-US" sz="1400" dirty="0"/>
          </a:p>
        </p:txBody>
      </p:sp>
      <p:sp>
        <p:nvSpPr>
          <p:cNvPr id="39" name="Text 36"/>
          <p:cNvSpPr/>
          <p:nvPr/>
        </p:nvSpPr>
        <p:spPr>
          <a:xfrm>
            <a:off x="1234440" y="1920240"/>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Business</a:t>
            </a:r>
            <a:endParaRPr lang="en-US" sz="1300" dirty="0"/>
          </a:p>
        </p:txBody>
      </p:sp>
      <p:sp>
        <p:nvSpPr>
          <p:cNvPr id="40" name="Shape 37"/>
          <p:cNvSpPr/>
          <p:nvPr/>
        </p:nvSpPr>
        <p:spPr>
          <a:xfrm>
            <a:off x="502920" y="2715768"/>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1" name="Shape 38"/>
          <p:cNvSpPr/>
          <p:nvPr/>
        </p:nvSpPr>
        <p:spPr>
          <a:xfrm>
            <a:off x="640080" y="2825496"/>
            <a:ext cx="457200" cy="438912"/>
          </a:xfrm>
          <a:prstGeom prst="roundRect">
            <a:avLst>
              <a:gd name="adj" fmla="val 16667"/>
            </a:avLst>
          </a:prstGeom>
          <a:solidFill>
            <a:srgbClr val="F6F5F8"/>
          </a:solidFill>
          <a:ln/>
        </p:spPr>
        <p:txBody>
          <a:bodyPr/>
          <a:lstStyle/>
          <a:p>
            <a:endParaRPr/>
          </a:p>
        </p:txBody>
      </p:sp>
      <p:sp>
        <p:nvSpPr>
          <p:cNvPr id="42" name="Text 39"/>
          <p:cNvSpPr/>
          <p:nvPr/>
        </p:nvSpPr>
        <p:spPr>
          <a:xfrm>
            <a:off x="640080" y="2825496"/>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B</a:t>
            </a:r>
            <a:endParaRPr lang="en-US" sz="1400" dirty="0"/>
          </a:p>
        </p:txBody>
      </p:sp>
      <p:sp>
        <p:nvSpPr>
          <p:cNvPr id="43" name="Text 40"/>
          <p:cNvSpPr/>
          <p:nvPr/>
        </p:nvSpPr>
        <p:spPr>
          <a:xfrm>
            <a:off x="1234440" y="2715768"/>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Data</a:t>
            </a:r>
            <a:endParaRPr lang="en-US" sz="1300" dirty="0"/>
          </a:p>
        </p:txBody>
      </p:sp>
      <p:sp>
        <p:nvSpPr>
          <p:cNvPr id="44" name="Shape 41"/>
          <p:cNvSpPr/>
          <p:nvPr/>
        </p:nvSpPr>
        <p:spPr>
          <a:xfrm>
            <a:off x="502920" y="3511296"/>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5" name="Shape 42"/>
          <p:cNvSpPr/>
          <p:nvPr/>
        </p:nvSpPr>
        <p:spPr>
          <a:xfrm>
            <a:off x="640080" y="3621024"/>
            <a:ext cx="457200" cy="438912"/>
          </a:xfrm>
          <a:prstGeom prst="roundRect">
            <a:avLst>
              <a:gd name="adj" fmla="val 16667"/>
            </a:avLst>
          </a:prstGeom>
          <a:solidFill>
            <a:srgbClr val="F6F5F8"/>
          </a:solidFill>
          <a:ln/>
        </p:spPr>
        <p:txBody>
          <a:bodyPr/>
          <a:lstStyle/>
          <a:p>
            <a:endParaRPr/>
          </a:p>
        </p:txBody>
      </p:sp>
      <p:sp>
        <p:nvSpPr>
          <p:cNvPr id="46" name="Text 43"/>
          <p:cNvSpPr/>
          <p:nvPr/>
        </p:nvSpPr>
        <p:spPr>
          <a:xfrm>
            <a:off x="640080" y="3621024"/>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C</a:t>
            </a:r>
            <a:endParaRPr lang="en-US" sz="1400" dirty="0"/>
          </a:p>
        </p:txBody>
      </p:sp>
      <p:sp>
        <p:nvSpPr>
          <p:cNvPr id="47" name="Text 44"/>
          <p:cNvSpPr/>
          <p:nvPr/>
        </p:nvSpPr>
        <p:spPr>
          <a:xfrm>
            <a:off x="1234440" y="3511296"/>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Application</a:t>
            </a:r>
            <a:endParaRPr lang="en-US" sz="1300" dirty="0"/>
          </a:p>
        </p:txBody>
      </p:sp>
      <p:sp>
        <p:nvSpPr>
          <p:cNvPr id="48" name="Shape 45"/>
          <p:cNvSpPr/>
          <p:nvPr/>
        </p:nvSpPr>
        <p:spPr>
          <a:xfrm>
            <a:off x="502920" y="4306824"/>
            <a:ext cx="11185855" cy="658368"/>
          </a:xfrm>
          <a:prstGeom prst="roundRect">
            <a:avLst>
              <a:gd name="adj" fmla="val 13889"/>
            </a:avLst>
          </a:prstGeom>
          <a:solidFill>
            <a:srgbClr val="E1F5EC"/>
          </a:solidFill>
          <a:ln w="19050">
            <a:solidFill>
              <a:srgbClr val="3EB489"/>
            </a:solidFill>
            <a:prstDash val="solid"/>
          </a:ln>
        </p:spPr>
        <p:txBody>
          <a:bodyPr/>
          <a:lstStyle/>
          <a:p>
            <a:endParaRPr/>
          </a:p>
        </p:txBody>
      </p:sp>
      <p:sp>
        <p:nvSpPr>
          <p:cNvPr id="49" name="Shape 46"/>
          <p:cNvSpPr/>
          <p:nvPr/>
        </p:nvSpPr>
        <p:spPr>
          <a:xfrm>
            <a:off x="640080" y="4416552"/>
            <a:ext cx="457200" cy="438912"/>
          </a:xfrm>
          <a:prstGeom prst="roundRect">
            <a:avLst>
              <a:gd name="adj" fmla="val 16667"/>
            </a:avLst>
          </a:prstGeom>
          <a:solidFill>
            <a:srgbClr val="3EB489"/>
          </a:solidFill>
          <a:ln/>
        </p:spPr>
        <p:txBody>
          <a:bodyPr/>
          <a:lstStyle/>
          <a:p>
            <a:endParaRPr/>
          </a:p>
        </p:txBody>
      </p:sp>
      <p:sp>
        <p:nvSpPr>
          <p:cNvPr id="50" name="Text 47"/>
          <p:cNvSpPr/>
          <p:nvPr/>
        </p:nvSpPr>
        <p:spPr>
          <a:xfrm>
            <a:off x="640080" y="4416552"/>
            <a:ext cx="457200"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D</a:t>
            </a:r>
            <a:endParaRPr lang="en-US" sz="1400" dirty="0"/>
          </a:p>
        </p:txBody>
      </p:sp>
      <p:sp>
        <p:nvSpPr>
          <p:cNvPr id="51" name="Text 48"/>
          <p:cNvSpPr/>
          <p:nvPr/>
        </p:nvSpPr>
        <p:spPr>
          <a:xfrm>
            <a:off x="1234440" y="4306824"/>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Technology</a:t>
            </a:r>
            <a:endParaRPr lang="en-US" sz="1300" dirty="0"/>
          </a:p>
        </p:txBody>
      </p:sp>
      <p:sp>
        <p:nvSpPr>
          <p:cNvPr id="52" name="Text 49"/>
          <p:cNvSpPr/>
          <p:nvPr/>
        </p:nvSpPr>
        <p:spPr>
          <a:xfrm>
            <a:off x="10682935" y="4306824"/>
            <a:ext cx="868680" cy="658368"/>
          </a:xfrm>
          <a:prstGeom prst="rect">
            <a:avLst/>
          </a:prstGeom>
          <a:noFill/>
          <a:ln/>
        </p:spPr>
        <p:txBody>
          <a:bodyPr wrap="square" rtlCol="0" anchor="ctr"/>
          <a:lstStyle/>
          <a:p>
            <a:pPr marL="0" indent="0" algn="r">
              <a:buNone/>
            </a:pPr>
            <a:r>
              <a:rPr lang="en-US" sz="1100" b="1" dirty="0">
                <a:solidFill>
                  <a:srgbClr val="1F8F65"/>
                </a:solidFill>
                <a:latin typeface="Segoe UI" pitchFamily="34" charset="0"/>
                <a:ea typeface="Segoe UI" pitchFamily="34" charset="-122"/>
                <a:cs typeface="Segoe UI" pitchFamily="34" charset="-120"/>
              </a:rPr>
              <a:t>✓ correct</a:t>
            </a:r>
            <a:endParaRPr lang="en-US" sz="1100" dirty="0"/>
          </a:p>
        </p:txBody>
      </p:sp>
      <p:sp>
        <p:nvSpPr>
          <p:cNvPr id="53" name="Shape 50"/>
          <p:cNvSpPr/>
          <p:nvPr/>
        </p:nvSpPr>
        <p:spPr>
          <a:xfrm>
            <a:off x="502920" y="5148072"/>
            <a:ext cx="11185855" cy="731520"/>
          </a:xfrm>
          <a:prstGeom prst="roundRect">
            <a:avLst>
              <a:gd name="adj" fmla="val 10000"/>
            </a:avLst>
          </a:prstGeom>
          <a:solidFill>
            <a:srgbClr val="E4F5F3"/>
          </a:solidFill>
          <a:ln/>
        </p:spPr>
        <p:txBody>
          <a:bodyPr/>
          <a:lstStyle/>
          <a:p>
            <a:endParaRPr/>
          </a:p>
        </p:txBody>
      </p:sp>
      <p:sp>
        <p:nvSpPr>
          <p:cNvPr id="54" name="Text 51"/>
          <p:cNvSpPr/>
          <p:nvPr/>
        </p:nvSpPr>
        <p:spPr>
          <a:xfrm>
            <a:off x="685800" y="5148072"/>
            <a:ext cx="10820095" cy="731520"/>
          </a:xfrm>
          <a:prstGeom prst="rect">
            <a:avLst/>
          </a:prstGeom>
          <a:noFill/>
          <a:ln/>
        </p:spPr>
        <p:txBody>
          <a:bodyPr wrap="square" rtlCol="0" anchor="ctr"/>
          <a:lstStyle/>
          <a:p>
            <a:pPr marL="0" indent="0">
              <a:lnSpc>
                <a:spcPct val="125000"/>
              </a:lnSpc>
              <a:buNone/>
            </a:pPr>
            <a:r>
              <a:rPr lang="en-US" sz="1200" b="1" kern="0" spc="200" dirty="0">
                <a:solidFill>
                  <a:srgbClr val="2F9992"/>
                </a:solidFill>
                <a:latin typeface="Segoe UI" pitchFamily="34" charset="0"/>
                <a:ea typeface="Segoe UI" pitchFamily="34" charset="-122"/>
                <a:cs typeface="Segoe UI" pitchFamily="34" charset="-120"/>
              </a:rPr>
              <a:t>Why:  </a:t>
            </a:r>
            <a:r>
              <a:rPr lang="en-US" sz="1200" dirty="0">
                <a:solidFill>
                  <a:srgbClr val="24162A"/>
                </a:solidFill>
                <a:latin typeface="Segoe UI" pitchFamily="34" charset="0"/>
                <a:ea typeface="Segoe UI" pitchFamily="34" charset="-122"/>
                <a:cs typeface="Segoe UI" pitchFamily="34" charset="-120"/>
              </a:rPr>
              <a:t>The business process and the code can stay the same. Only the place where it runs has changed, so this is the Technology domain.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1    what to remember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lines. If students keep only these, the day worked.</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38</a:t>
            </a:r>
            <a:endParaRPr lang="en-US" sz="1000" dirty="0"/>
          </a:p>
        </p:txBody>
      </p:sp>
      <p:sp>
        <p:nvSpPr>
          <p:cNvPr id="34" name="Shape 31"/>
          <p:cNvSpPr/>
          <p:nvPr/>
        </p:nvSpPr>
        <p:spPr>
          <a:xfrm>
            <a:off x="502920" y="1389888"/>
            <a:ext cx="402336" cy="402336"/>
          </a:xfrm>
          <a:prstGeom prst="ellipse">
            <a:avLst/>
          </a:prstGeom>
          <a:solidFill>
            <a:srgbClr val="5F1B3C"/>
          </a:solidFill>
          <a:ln/>
        </p:spPr>
        <p:txBody>
          <a:bodyPr/>
          <a:lstStyle/>
          <a:p>
            <a:endParaRPr/>
          </a:p>
        </p:txBody>
      </p:sp>
      <p:sp>
        <p:nvSpPr>
          <p:cNvPr id="35"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6"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Architecture is the decisions that are expensive to reverse.</a:t>
            </a:r>
            <a:endParaRPr lang="en-US" sz="1600" dirty="0"/>
          </a:p>
        </p:txBody>
      </p:sp>
      <p:sp>
        <p:nvSpPr>
          <p:cNvPr id="37" name="Shape 34"/>
          <p:cNvSpPr/>
          <p:nvPr/>
        </p:nvSpPr>
        <p:spPr>
          <a:xfrm>
            <a:off x="502920" y="2103120"/>
            <a:ext cx="402336" cy="402336"/>
          </a:xfrm>
          <a:prstGeom prst="ellipse">
            <a:avLst/>
          </a:prstGeom>
          <a:solidFill>
            <a:srgbClr val="5F1B3C"/>
          </a:solidFill>
          <a:ln/>
        </p:spPr>
        <p:txBody>
          <a:bodyPr/>
          <a:lstStyle/>
          <a:p>
            <a:endParaRPr/>
          </a:p>
        </p:txBody>
      </p:sp>
      <p:sp>
        <p:nvSpPr>
          <p:cNvPr id="38"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9"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Room = code. Building = one system. City = the whole company.</a:t>
            </a:r>
            <a:endParaRPr lang="en-US" sz="1600" dirty="0"/>
          </a:p>
        </p:txBody>
      </p:sp>
      <p:sp>
        <p:nvSpPr>
          <p:cNvPr id="40" name="Shape 37"/>
          <p:cNvSpPr/>
          <p:nvPr/>
        </p:nvSpPr>
        <p:spPr>
          <a:xfrm>
            <a:off x="502920" y="2816352"/>
            <a:ext cx="402336" cy="402336"/>
          </a:xfrm>
          <a:prstGeom prst="ellipse">
            <a:avLst/>
          </a:prstGeom>
          <a:solidFill>
            <a:srgbClr val="5F1B3C"/>
          </a:solidFill>
          <a:ln/>
        </p:spPr>
        <p:txBody>
          <a:bodyPr/>
          <a:lstStyle/>
          <a:p>
            <a:endParaRPr/>
          </a:p>
        </p:txBody>
      </p:sp>
      <p:sp>
        <p:nvSpPr>
          <p:cNvPr id="41"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2"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Sort every request into Business, Data, Application or Technology first.</a:t>
            </a:r>
            <a:endParaRPr lang="en-US" sz="1600" dirty="0"/>
          </a:p>
        </p:txBody>
      </p:sp>
      <p:sp>
        <p:nvSpPr>
          <p:cNvPr id="43" name="Shape 40"/>
          <p:cNvSpPr/>
          <p:nvPr/>
        </p:nvSpPr>
        <p:spPr>
          <a:xfrm>
            <a:off x="502920" y="3529584"/>
            <a:ext cx="402336" cy="402336"/>
          </a:xfrm>
          <a:prstGeom prst="ellipse">
            <a:avLst/>
          </a:prstGeom>
          <a:solidFill>
            <a:srgbClr val="5F1B3C"/>
          </a:solidFill>
          <a:ln/>
        </p:spPr>
        <p:txBody>
          <a:bodyPr/>
          <a:lstStyle/>
          <a:p>
            <a:endParaRPr/>
          </a:p>
        </p:txBody>
      </p:sp>
      <p:sp>
        <p:nvSpPr>
          <p:cNvPr id="44"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5"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C4 Level 1 answers two questions: who uses us, and what we depend on.</a:t>
            </a:r>
            <a:endParaRPr lang="en-US" sz="1600" dirty="0"/>
          </a:p>
        </p:txBody>
      </p:sp>
      <p:sp>
        <p:nvSpPr>
          <p:cNvPr id="46" name="Shape 43"/>
          <p:cNvSpPr/>
          <p:nvPr/>
        </p:nvSpPr>
        <p:spPr>
          <a:xfrm>
            <a:off x="502920" y="4242816"/>
            <a:ext cx="402336" cy="402336"/>
          </a:xfrm>
          <a:prstGeom prst="ellipse">
            <a:avLst/>
          </a:prstGeom>
          <a:solidFill>
            <a:srgbClr val="5F1B3C"/>
          </a:solidFill>
          <a:ln/>
        </p:spPr>
        <p:txBody>
          <a:bodyPr/>
          <a:lstStyle/>
          <a:p>
            <a:endParaRPr/>
          </a:p>
        </p:txBody>
      </p:sp>
      <p:sp>
        <p:nvSpPr>
          <p:cNvPr id="47"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8"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decision that is not written down will be lost with the person who made 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A897204-CED0-6C32-D5D9-C1394DA95BEF}"/>
              </a:ext>
            </a:extLst>
          </p:cNvPr>
          <p:cNvPicPr>
            <a:picLocks noChangeAspect="1"/>
          </p:cNvPicPr>
          <p:nvPr/>
        </p:nvPicPr>
        <p:blipFill>
          <a:blip r:embed="rId2"/>
          <a:stretch>
            <a:fillRect/>
          </a:stretch>
        </p:blipFill>
        <p:spPr>
          <a:xfrm>
            <a:off x="4165981" y="0"/>
            <a:ext cx="3860038" cy="6858000"/>
          </a:xfrm>
          <a:prstGeom prst="rect">
            <a:avLst/>
          </a:prstGeom>
        </p:spPr>
      </p:pic>
    </p:spTree>
    <p:extLst>
      <p:ext uri="{BB962C8B-B14F-4D97-AF65-F5344CB8AC3E}">
        <p14:creationId xmlns:p14="http://schemas.microsoft.com/office/powerpoint/2010/main" val="1608398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661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1414455" y="0"/>
            <a:ext cx="777240" cy="6858000"/>
          </a:xfrm>
          <a:prstGeom prst="rect">
            <a:avLst/>
          </a:prstGeom>
          <a:solidFill>
            <a:srgbClr val="5F1B3C"/>
          </a:solidFill>
          <a:ln/>
        </p:spPr>
        <p:txBody>
          <a:bodyPr/>
          <a:lstStyle/>
          <a:p>
            <a:endParaRPr/>
          </a:p>
        </p:txBody>
      </p:sp>
      <p:sp>
        <p:nvSpPr>
          <p:cNvPr id="7" name="Shape 5"/>
          <p:cNvSpPr/>
          <p:nvPr/>
        </p:nvSpPr>
        <p:spPr>
          <a:xfrm>
            <a:off x="868680" y="1691640"/>
            <a:ext cx="502920" cy="73152"/>
          </a:xfrm>
          <a:prstGeom prst="rect">
            <a:avLst/>
          </a:prstGeom>
          <a:solidFill>
            <a:srgbClr val="43BFB8"/>
          </a:solidFill>
          <a:ln/>
        </p:spPr>
        <p:txBody>
          <a:bodyPr/>
          <a:lstStyle/>
          <a:p>
            <a:endParaRPr/>
          </a:p>
        </p:txBody>
      </p:sp>
      <p:sp>
        <p:nvSpPr>
          <p:cNvPr id="8" name="Text 6"/>
          <p:cNvSpPr/>
          <p:nvPr/>
        </p:nvSpPr>
        <p:spPr>
          <a:xfrm>
            <a:off x="868680" y="1783080"/>
            <a:ext cx="3657600" cy="320040"/>
          </a:xfrm>
          <a:prstGeom prst="rect">
            <a:avLst/>
          </a:prstGeom>
          <a:noFill/>
          <a:ln/>
        </p:spPr>
        <p:txBody>
          <a:bodyPr wrap="square" rtlCol="0" anchor="ctr"/>
          <a:lstStyle/>
          <a:p>
            <a:pPr marL="0" indent="0">
              <a:buNone/>
            </a:pPr>
            <a:r>
              <a:rPr lang="en-US" sz="1200" b="1" kern="0" spc="400" dirty="0">
                <a:solidFill>
                  <a:srgbClr val="5F1B3C"/>
                </a:solidFill>
                <a:latin typeface="Segoe UI" pitchFamily="34" charset="0"/>
                <a:ea typeface="Segoe UI" pitchFamily="34" charset="-122"/>
                <a:cs typeface="Segoe UI" pitchFamily="34" charset="-120"/>
              </a:rPr>
              <a:t>DAY 2</a:t>
            </a:r>
            <a:endParaRPr lang="en-US" sz="1200" dirty="0"/>
          </a:p>
        </p:txBody>
      </p:sp>
      <p:sp>
        <p:nvSpPr>
          <p:cNvPr id="9" name="Text 7"/>
          <p:cNvSpPr/>
          <p:nvPr/>
        </p:nvSpPr>
        <p:spPr>
          <a:xfrm>
            <a:off x="822960" y="2331720"/>
            <a:ext cx="2377440" cy="2194560"/>
          </a:xfrm>
          <a:prstGeom prst="rect">
            <a:avLst/>
          </a:prstGeom>
          <a:noFill/>
          <a:ln/>
        </p:spPr>
        <p:txBody>
          <a:bodyPr wrap="square" rtlCol="0" anchor="t"/>
          <a:lstStyle/>
          <a:p>
            <a:pPr marL="0" indent="0" algn="l">
              <a:buNone/>
            </a:pPr>
            <a:r>
              <a:rPr lang="en-US" sz="9600" b="1" dirty="0">
                <a:solidFill>
                  <a:srgbClr val="5F1B3C"/>
                </a:solidFill>
                <a:latin typeface="Segoe UI" pitchFamily="34" charset="0"/>
                <a:ea typeface="Segoe UI" pitchFamily="34" charset="-122"/>
                <a:cs typeface="Segoe UI" pitchFamily="34" charset="-120"/>
              </a:rPr>
              <a:t>02</a:t>
            </a:r>
            <a:endParaRPr lang="en-US" sz="9600" dirty="0"/>
          </a:p>
        </p:txBody>
      </p:sp>
      <p:sp>
        <p:nvSpPr>
          <p:cNvPr id="10" name="Text 8"/>
          <p:cNvSpPr/>
          <p:nvPr/>
        </p:nvSpPr>
        <p:spPr>
          <a:xfrm>
            <a:off x="3108960" y="2468880"/>
            <a:ext cx="7680960" cy="777240"/>
          </a:xfrm>
          <a:prstGeom prst="rect">
            <a:avLst/>
          </a:prstGeom>
          <a:noFill/>
          <a:ln/>
        </p:spPr>
        <p:txBody>
          <a:bodyPr wrap="square" rtlCol="0" anchor="t"/>
          <a:lstStyle/>
          <a:p>
            <a:pPr marL="0" indent="0" algn="l">
              <a:lnSpc>
                <a:spcPct val="110000"/>
              </a:lnSpc>
              <a:buNone/>
            </a:pPr>
            <a:r>
              <a:rPr lang="en-US" sz="3000" b="1" dirty="0">
                <a:solidFill>
                  <a:srgbClr val="5F1B3C"/>
                </a:solidFill>
                <a:latin typeface="Segoe UI" pitchFamily="34" charset="0"/>
                <a:ea typeface="Segoe UI" pitchFamily="34" charset="-122"/>
                <a:cs typeface="Segoe UI" pitchFamily="34" charset="-120"/>
              </a:rPr>
              <a:t>Solution design patterns</a:t>
            </a:r>
            <a:endParaRPr lang="en-US" sz="3000" dirty="0"/>
          </a:p>
        </p:txBody>
      </p:sp>
      <p:sp>
        <p:nvSpPr>
          <p:cNvPr id="11" name="Text 9"/>
          <p:cNvSpPr/>
          <p:nvPr/>
        </p:nvSpPr>
        <p:spPr>
          <a:xfrm>
            <a:off x="3108960" y="3337560"/>
            <a:ext cx="7680960" cy="1463040"/>
          </a:xfrm>
          <a:prstGeom prst="rect">
            <a:avLst/>
          </a:prstGeom>
          <a:noFill/>
          <a:ln/>
        </p:spPr>
        <p:txBody>
          <a:bodyPr wrap="square" rtlCol="0" anchor="t"/>
          <a:lstStyle/>
          <a:p>
            <a:pPr marL="0" indent="0" algn="l">
              <a:lnSpc>
                <a:spcPct val="125000"/>
              </a:lnSpc>
              <a:buNone/>
            </a:pPr>
            <a:r>
              <a:rPr lang="en-US" sz="1400" dirty="0">
                <a:solidFill>
                  <a:srgbClr val="2F9992"/>
                </a:solidFill>
                <a:latin typeface="Segoe UI" pitchFamily="34" charset="0"/>
                <a:ea typeface="Segoe UI" pitchFamily="34" charset="-122"/>
                <a:cs typeface="Segoe UI" pitchFamily="34" charset="-120"/>
              </a:rPr>
              <a:t>SOLID, architecture styles, domain-driven design, and safe ways to split a large system.</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2    what you will be able to do tonight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Today we design the inside of NorthlineCore. Still no big rewrite.</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40</a:t>
            </a:r>
            <a:endParaRPr lang="en-US" sz="1000" dirty="0"/>
          </a:p>
        </p:txBody>
      </p:sp>
      <p:sp>
        <p:nvSpPr>
          <p:cNvPr id="34" name="Shape 31"/>
          <p:cNvSpPr/>
          <p:nvPr/>
        </p:nvSpPr>
        <p:spPr>
          <a:xfrm>
            <a:off x="502920" y="1389888"/>
            <a:ext cx="402336" cy="402336"/>
          </a:xfrm>
          <a:prstGeom prst="ellipse">
            <a:avLst/>
          </a:prstGeom>
          <a:solidFill>
            <a:srgbClr val="5F1B3C"/>
          </a:solidFill>
          <a:ln/>
        </p:spPr>
        <p:txBody>
          <a:bodyPr/>
          <a:lstStyle/>
          <a:p>
            <a:endParaRPr/>
          </a:p>
        </p:txBody>
      </p:sp>
      <p:sp>
        <p:nvSpPr>
          <p:cNvPr id="35"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6"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Explain each SOLID rule in one sentence with a Northline example.</a:t>
            </a:r>
            <a:endParaRPr lang="en-US" sz="1600" dirty="0"/>
          </a:p>
        </p:txBody>
      </p:sp>
      <p:sp>
        <p:nvSpPr>
          <p:cNvPr id="37" name="Shape 34"/>
          <p:cNvSpPr/>
          <p:nvPr/>
        </p:nvSpPr>
        <p:spPr>
          <a:xfrm>
            <a:off x="502920" y="2103120"/>
            <a:ext cx="402336" cy="402336"/>
          </a:xfrm>
          <a:prstGeom prst="ellipse">
            <a:avLst/>
          </a:prstGeom>
          <a:solidFill>
            <a:srgbClr val="5F1B3C"/>
          </a:solidFill>
          <a:ln/>
        </p:spPr>
        <p:txBody>
          <a:bodyPr/>
          <a:lstStyle/>
          <a:p>
            <a:endParaRPr/>
          </a:p>
        </p:txBody>
      </p:sp>
      <p:sp>
        <p:nvSpPr>
          <p:cNvPr id="38"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9"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Count how many jobs one module is doing, and extract the first one.</a:t>
            </a:r>
            <a:endParaRPr lang="en-US" sz="1600" dirty="0"/>
          </a:p>
        </p:txBody>
      </p:sp>
      <p:sp>
        <p:nvSpPr>
          <p:cNvPr id="40" name="Shape 37"/>
          <p:cNvSpPr/>
          <p:nvPr/>
        </p:nvSpPr>
        <p:spPr>
          <a:xfrm>
            <a:off x="502920" y="2816352"/>
            <a:ext cx="402336" cy="402336"/>
          </a:xfrm>
          <a:prstGeom prst="ellipse">
            <a:avLst/>
          </a:prstGeom>
          <a:solidFill>
            <a:srgbClr val="5F1B3C"/>
          </a:solidFill>
          <a:ln/>
        </p:spPr>
        <p:txBody>
          <a:bodyPr/>
          <a:lstStyle/>
          <a:p>
            <a:endParaRPr/>
          </a:p>
        </p:txBody>
      </p:sp>
      <p:sp>
        <p:nvSpPr>
          <p:cNvPr id="41"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2"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Name the architecture style you are using, and say why you chose it.</a:t>
            </a:r>
            <a:endParaRPr lang="en-US" sz="1600" dirty="0"/>
          </a:p>
        </p:txBody>
      </p:sp>
      <p:sp>
        <p:nvSpPr>
          <p:cNvPr id="43" name="Shape 40"/>
          <p:cNvSpPr/>
          <p:nvPr/>
        </p:nvSpPr>
        <p:spPr>
          <a:xfrm>
            <a:off x="502920" y="3529584"/>
            <a:ext cx="402336" cy="402336"/>
          </a:xfrm>
          <a:prstGeom prst="ellipse">
            <a:avLst/>
          </a:prstGeom>
          <a:solidFill>
            <a:srgbClr val="5F1B3C"/>
          </a:solidFill>
          <a:ln/>
        </p:spPr>
        <p:txBody>
          <a:bodyPr/>
          <a:lstStyle/>
          <a:p>
            <a:endParaRPr/>
          </a:p>
        </p:txBody>
      </p:sp>
      <p:sp>
        <p:nvSpPr>
          <p:cNvPr id="44"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5"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Explain a bounded context: one word, one meaning, inside one border.</a:t>
            </a:r>
            <a:endParaRPr lang="en-US" sz="1600" dirty="0"/>
          </a:p>
        </p:txBody>
      </p:sp>
      <p:sp>
        <p:nvSpPr>
          <p:cNvPr id="46" name="Shape 43"/>
          <p:cNvSpPr/>
          <p:nvPr/>
        </p:nvSpPr>
        <p:spPr>
          <a:xfrm>
            <a:off x="502920" y="4242816"/>
            <a:ext cx="402336" cy="402336"/>
          </a:xfrm>
          <a:prstGeom prst="ellipse">
            <a:avLst/>
          </a:prstGeom>
          <a:solidFill>
            <a:srgbClr val="5F1B3C"/>
          </a:solidFill>
          <a:ln/>
        </p:spPr>
        <p:txBody>
          <a:bodyPr/>
          <a:lstStyle/>
          <a:p>
            <a:endParaRPr/>
          </a:p>
        </p:txBody>
      </p:sp>
      <p:sp>
        <p:nvSpPr>
          <p:cNvPr id="47"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8"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Compare three ways to split the system and choose one on purpose.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SOLID    five rules for code that can change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One shared theme: how many reasons does this part have to change?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41</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SOLID is five design rules for classes and modules. The common thread is that each part should have exactly one reason to change, and should depend on promises rather than on details.</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Single Responsibility  one module, one job. Checkout must not also send marketing email.</a:t>
            </a:r>
            <a:endParaRPr lang="en-US" sz="1300" dirty="0"/>
          </a:p>
        </p:txBody>
      </p:sp>
      <p:sp>
        <p:nvSpPr>
          <p:cNvPr id="44" name="Shape 41"/>
          <p:cNvSpPr/>
          <p:nvPr/>
        </p:nvSpPr>
        <p:spPr>
          <a:xfrm>
            <a:off x="795528" y="3547872"/>
            <a:ext cx="182880" cy="182880"/>
          </a:xfrm>
          <a:prstGeom prst="ellipse">
            <a:avLst/>
          </a:prstGeom>
          <a:solidFill>
            <a:srgbClr val="43BFB8"/>
          </a:solidFill>
          <a:ln/>
        </p:spPr>
        <p:txBody>
          <a:bodyPr/>
          <a:lstStyle/>
          <a:p>
            <a:endParaRPr/>
          </a:p>
        </p:txBody>
      </p:sp>
      <p:sp>
        <p:nvSpPr>
          <p:cNvPr id="45" name="Text 42"/>
          <p:cNvSpPr/>
          <p:nvPr/>
        </p:nvSpPr>
        <p:spPr>
          <a:xfrm>
            <a:off x="1069848" y="347472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Open / Closed  add new behaviour by adding a new part, not by editing the old one.</a:t>
            </a:r>
            <a:endParaRPr lang="en-US" sz="1300" dirty="0"/>
          </a:p>
        </p:txBody>
      </p:sp>
      <p:sp>
        <p:nvSpPr>
          <p:cNvPr id="46" name="Shape 43"/>
          <p:cNvSpPr/>
          <p:nvPr/>
        </p:nvSpPr>
        <p:spPr>
          <a:xfrm>
            <a:off x="795528" y="4096512"/>
            <a:ext cx="182880" cy="182880"/>
          </a:xfrm>
          <a:prstGeom prst="ellipse">
            <a:avLst/>
          </a:prstGeom>
          <a:solidFill>
            <a:srgbClr val="43BFB8"/>
          </a:solidFill>
          <a:ln/>
        </p:spPr>
        <p:txBody>
          <a:bodyPr/>
          <a:lstStyle/>
          <a:p>
            <a:endParaRPr/>
          </a:p>
        </p:txBody>
      </p:sp>
      <p:sp>
        <p:nvSpPr>
          <p:cNvPr id="47" name="Text 44"/>
          <p:cNvSpPr/>
          <p:nvPr/>
        </p:nvSpPr>
        <p:spPr>
          <a:xfrm>
            <a:off x="1069848" y="402336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Liskov Substitution  a replacement must keep the same promises. A test payment still charges or clearly refuses.</a:t>
            </a:r>
            <a:endParaRPr lang="en-US" sz="1300" dirty="0"/>
          </a:p>
        </p:txBody>
      </p:sp>
      <p:sp>
        <p:nvSpPr>
          <p:cNvPr id="48" name="Shape 45"/>
          <p:cNvSpPr/>
          <p:nvPr/>
        </p:nvSpPr>
        <p:spPr>
          <a:xfrm>
            <a:off x="795528" y="4645152"/>
            <a:ext cx="182880" cy="182880"/>
          </a:xfrm>
          <a:prstGeom prst="ellipse">
            <a:avLst/>
          </a:prstGeom>
          <a:solidFill>
            <a:srgbClr val="43BFB8"/>
          </a:solidFill>
          <a:ln/>
        </p:spPr>
        <p:txBody>
          <a:bodyPr/>
          <a:lstStyle/>
          <a:p>
            <a:endParaRPr/>
          </a:p>
        </p:txBody>
      </p:sp>
      <p:sp>
        <p:nvSpPr>
          <p:cNvPr id="49" name="Text 46"/>
          <p:cNvSpPr/>
          <p:nvPr/>
        </p:nvSpPr>
        <p:spPr>
          <a:xfrm>
            <a:off x="1069848" y="457200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Interface Segregation  do not force a caller to depend on methods it never uses.</a:t>
            </a:r>
            <a:endParaRPr lang="en-US" sz="1300" dirty="0"/>
          </a:p>
        </p:txBody>
      </p:sp>
      <p:sp>
        <p:nvSpPr>
          <p:cNvPr id="50" name="Shape 47"/>
          <p:cNvSpPr/>
          <p:nvPr/>
        </p:nvSpPr>
        <p:spPr>
          <a:xfrm>
            <a:off x="795528" y="5193792"/>
            <a:ext cx="182880" cy="182880"/>
          </a:xfrm>
          <a:prstGeom prst="ellipse">
            <a:avLst/>
          </a:prstGeom>
          <a:solidFill>
            <a:srgbClr val="43BFB8"/>
          </a:solidFill>
          <a:ln/>
        </p:spPr>
        <p:txBody>
          <a:bodyPr/>
          <a:lstStyle/>
          <a:p>
            <a:endParaRPr/>
          </a:p>
        </p:txBody>
      </p:sp>
      <p:sp>
        <p:nvSpPr>
          <p:cNvPr id="51" name="Text 48"/>
          <p:cNvSpPr/>
          <p:nvPr/>
        </p:nvSpPr>
        <p:spPr>
          <a:xfrm>
            <a:off x="1069848" y="512064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Dependency Inversion  checkout depends on a Payment interface, not on one bank's SDK.</a:t>
            </a:r>
            <a:endParaRPr lang="en-US" sz="1300" dirty="0"/>
          </a:p>
        </p:txBody>
      </p:sp>
      <p:sp>
        <p:nvSpPr>
          <p:cNvPr id="52" name="Shape 49"/>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3" name="Shape 50"/>
          <p:cNvSpPr/>
          <p:nvPr/>
        </p:nvSpPr>
        <p:spPr>
          <a:xfrm>
            <a:off x="6236208" y="1225296"/>
            <a:ext cx="128016" cy="4553712"/>
          </a:xfrm>
          <a:prstGeom prst="rect">
            <a:avLst/>
          </a:prstGeom>
          <a:solidFill>
            <a:srgbClr val="E76F30"/>
          </a:solidFill>
          <a:ln/>
        </p:spPr>
        <p:txBody>
          <a:bodyPr/>
          <a:lstStyle/>
          <a:p>
            <a:endParaRPr/>
          </a:p>
        </p:txBody>
      </p:sp>
      <p:sp>
        <p:nvSpPr>
          <p:cNvPr id="54" name="Text 51"/>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5" name="Text 52"/>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NorthlineCore has one file of about 4,200 lines that does six jobs. Every release risks all six. SOLID gives us a countable test instead of an opinion.</a:t>
            </a:r>
            <a:endParaRPr lang="en-US" sz="1300" dirty="0"/>
          </a:p>
        </p:txBody>
      </p:sp>
      <p:sp>
        <p:nvSpPr>
          <p:cNvPr id="56" name="Text 53"/>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7" name="Shape 54"/>
          <p:cNvSpPr/>
          <p:nvPr/>
        </p:nvSpPr>
        <p:spPr>
          <a:xfrm>
            <a:off x="6492240" y="3017520"/>
            <a:ext cx="256032" cy="256032"/>
          </a:xfrm>
          <a:prstGeom prst="ellipse">
            <a:avLst/>
          </a:prstGeom>
          <a:solidFill>
            <a:srgbClr val="E76F30"/>
          </a:solidFill>
          <a:ln/>
        </p:spPr>
        <p:txBody>
          <a:bodyPr/>
          <a:lstStyle/>
          <a:p>
            <a:endParaRPr/>
          </a:p>
        </p:txBody>
      </p:sp>
      <p:sp>
        <p:nvSpPr>
          <p:cNvPr id="58" name="Text 55"/>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9" name="Text 56"/>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count the jobs inside one module.</a:t>
            </a:r>
            <a:endParaRPr lang="en-US" sz="1250" dirty="0"/>
          </a:p>
        </p:txBody>
      </p:sp>
      <p:sp>
        <p:nvSpPr>
          <p:cNvPr id="60" name="Shape 57"/>
          <p:cNvSpPr/>
          <p:nvPr/>
        </p:nvSpPr>
        <p:spPr>
          <a:xfrm>
            <a:off x="6492240" y="3523488"/>
            <a:ext cx="256032" cy="256032"/>
          </a:xfrm>
          <a:prstGeom prst="ellipse">
            <a:avLst/>
          </a:prstGeom>
          <a:solidFill>
            <a:srgbClr val="E76F30"/>
          </a:solidFill>
          <a:ln/>
        </p:spPr>
        <p:txBody>
          <a:bodyPr/>
          <a:lstStyle/>
          <a:p>
            <a:endParaRPr/>
          </a:p>
        </p:txBody>
      </p:sp>
      <p:sp>
        <p:nvSpPr>
          <p:cNvPr id="61" name="Text 58"/>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2" name="Text 59"/>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name which job to extract first, and why.</a:t>
            </a:r>
            <a:endParaRPr lang="en-US" sz="1250" dirty="0"/>
          </a:p>
        </p:txBody>
      </p:sp>
      <p:sp>
        <p:nvSpPr>
          <p:cNvPr id="63" name="Shape 60"/>
          <p:cNvSpPr/>
          <p:nvPr/>
        </p:nvSpPr>
        <p:spPr>
          <a:xfrm>
            <a:off x="6492240" y="4029456"/>
            <a:ext cx="256032" cy="256032"/>
          </a:xfrm>
          <a:prstGeom prst="ellipse">
            <a:avLst/>
          </a:prstGeom>
          <a:solidFill>
            <a:srgbClr val="E76F30"/>
          </a:solidFill>
          <a:ln/>
        </p:spPr>
        <p:txBody>
          <a:bodyPr/>
          <a:lstStyle/>
          <a:p>
            <a:endParaRPr/>
          </a:p>
        </p:txBody>
      </p:sp>
      <p:sp>
        <p:nvSpPr>
          <p:cNvPr id="64" name="Text 61"/>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5" name="Text 62"/>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say which SOLID rule you used.</a:t>
            </a:r>
            <a:endParaRPr lang="en-US" sz="1250" dirty="0"/>
          </a:p>
        </p:txBody>
      </p:sp>
      <p:sp>
        <p:nvSpPr>
          <p:cNvPr id="66" name="Shape 63"/>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7" name="Text 64"/>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8" name="Text 65"/>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If tax law, email wording, and the payment partner all force an edit to the same file, Single Responsibility is already broken.</a:t>
            </a:r>
            <a:endParaRPr lang="en-US" sz="1200" dirty="0"/>
          </a:p>
        </p:txBody>
      </p:sp>
      <p:sp>
        <p:nvSpPr>
          <p:cNvPr id="69" name="Shape 66"/>
          <p:cNvSpPr/>
          <p:nvPr/>
        </p:nvSpPr>
        <p:spPr>
          <a:xfrm>
            <a:off x="502920" y="5925312"/>
            <a:ext cx="54864" cy="201168"/>
          </a:xfrm>
          <a:prstGeom prst="rect">
            <a:avLst/>
          </a:prstGeom>
          <a:solidFill>
            <a:srgbClr val="43BFB8"/>
          </a:solidFill>
          <a:ln/>
        </p:spPr>
        <p:txBody>
          <a:bodyPr/>
          <a:lstStyle/>
          <a:p>
            <a:endParaRPr/>
          </a:p>
        </p:txBody>
      </p:sp>
      <p:sp>
        <p:nvSpPr>
          <p:cNvPr id="70" name="Text 67"/>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Robert C. Martin, “Agile Software Development: Principles, Patterns, and Practices”  ·  refactoring.guru/design-principles</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Before and after    extracting one job</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Dependency Inversion in one diagram.</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42</a:t>
            </a:r>
            <a:endParaRPr lang="en-US" sz="1000" dirty="0"/>
          </a:p>
        </p:txBody>
      </p:sp>
      <p:sp>
        <p:nvSpPr>
          <p:cNvPr id="36" name="Shape 33"/>
          <p:cNvSpPr/>
          <p:nvPr/>
        </p:nvSpPr>
        <p:spPr>
          <a:xfrm>
            <a:off x="640080" y="1554480"/>
            <a:ext cx="4754880" cy="1737360"/>
          </a:xfrm>
          <a:prstGeom prst="roundRect">
            <a:avLst>
              <a:gd name="adj" fmla="val 5263"/>
            </a:avLst>
          </a:prstGeom>
          <a:solidFill>
            <a:srgbClr val="FEE2E2"/>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640080" y="1645920"/>
            <a:ext cx="4754880" cy="155448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BEFORE</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OrderService (one file)</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create order · tax · charge card</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email · stock · audit log</a:t>
            </a:r>
            <a:endParaRPr lang="en-US" sz="1300" dirty="0"/>
          </a:p>
        </p:txBody>
      </p:sp>
      <p:sp>
        <p:nvSpPr>
          <p:cNvPr id="38" name="Shape 35"/>
          <p:cNvSpPr/>
          <p:nvPr/>
        </p:nvSpPr>
        <p:spPr>
          <a:xfrm>
            <a:off x="1920240" y="3794760"/>
            <a:ext cx="2194560" cy="822960"/>
          </a:xfrm>
          <a:prstGeom prst="roundRect">
            <a:avLst>
              <a:gd name="adj" fmla="val 11111"/>
            </a:avLst>
          </a:prstGeom>
          <a:solidFill>
            <a:srgbClr val="FFFFFF"/>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1920240" y="3886200"/>
            <a:ext cx="2194560" cy="64008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Bank A SDK</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(hard-coded)</a:t>
            </a:r>
            <a:endParaRPr lang="en-US" sz="1300" dirty="0"/>
          </a:p>
        </p:txBody>
      </p:sp>
      <p:sp>
        <p:nvSpPr>
          <p:cNvPr id="40" name="Shape 37"/>
          <p:cNvSpPr/>
          <p:nvPr/>
        </p:nvSpPr>
        <p:spPr>
          <a:xfrm>
            <a:off x="6492240" y="1554480"/>
            <a:ext cx="4389120" cy="1005840"/>
          </a:xfrm>
          <a:prstGeom prst="roundRect">
            <a:avLst>
              <a:gd name="adj" fmla="val 9091"/>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6492240" y="1645920"/>
            <a:ext cx="4389120" cy="82296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AFTER</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OrderService</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create order only</a:t>
            </a:r>
            <a:endParaRPr lang="en-US" sz="1300" dirty="0"/>
          </a:p>
        </p:txBody>
      </p:sp>
      <p:sp>
        <p:nvSpPr>
          <p:cNvPr id="42" name="Shape 39"/>
          <p:cNvSpPr/>
          <p:nvPr/>
        </p:nvSpPr>
        <p:spPr>
          <a:xfrm>
            <a:off x="6492240" y="2926080"/>
            <a:ext cx="4389120" cy="822960"/>
          </a:xfrm>
          <a:prstGeom prst="roundRect">
            <a:avLst>
              <a:gd name="adj" fmla="val 11111"/>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6492240" y="3017520"/>
            <a:ext cx="4389120" cy="64008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«interface»  Payment</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charge(order)</a:t>
            </a:r>
            <a:endParaRPr lang="en-US" sz="1300" dirty="0"/>
          </a:p>
        </p:txBody>
      </p:sp>
      <p:sp>
        <p:nvSpPr>
          <p:cNvPr id="44" name="Shape 41"/>
          <p:cNvSpPr/>
          <p:nvPr/>
        </p:nvSpPr>
        <p:spPr>
          <a:xfrm>
            <a:off x="6492240" y="4114800"/>
            <a:ext cx="2011680" cy="685800"/>
          </a:xfrm>
          <a:prstGeom prst="roundRect">
            <a:avLst>
              <a:gd name="adj" fmla="val 13333"/>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5" name="Text 42"/>
          <p:cNvSpPr/>
          <p:nvPr/>
        </p:nvSpPr>
        <p:spPr>
          <a:xfrm>
            <a:off x="6492240" y="4206240"/>
            <a:ext cx="2011680" cy="50292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Bank A</a:t>
            </a:r>
            <a:endParaRPr lang="en-US" sz="1300" dirty="0"/>
          </a:p>
        </p:txBody>
      </p:sp>
      <p:sp>
        <p:nvSpPr>
          <p:cNvPr id="46" name="Shape 43"/>
          <p:cNvSpPr/>
          <p:nvPr/>
        </p:nvSpPr>
        <p:spPr>
          <a:xfrm>
            <a:off x="8869680" y="4114800"/>
            <a:ext cx="2011680" cy="685800"/>
          </a:xfrm>
          <a:prstGeom prst="roundRect">
            <a:avLst>
              <a:gd name="adj" fmla="val 13333"/>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7" name="Text 44"/>
          <p:cNvSpPr/>
          <p:nvPr/>
        </p:nvSpPr>
        <p:spPr>
          <a:xfrm>
            <a:off x="8869680" y="4206240"/>
            <a:ext cx="2011680" cy="50292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Bank B</a:t>
            </a:r>
            <a:endParaRPr lang="en-US" sz="1300" dirty="0"/>
          </a:p>
        </p:txBody>
      </p:sp>
      <p:sp>
        <p:nvSpPr>
          <p:cNvPr id="48" name="Shape 45"/>
          <p:cNvSpPr/>
          <p:nvPr/>
        </p:nvSpPr>
        <p:spPr>
          <a:xfrm>
            <a:off x="3017520" y="3291840"/>
            <a:ext cx="914" cy="502920"/>
          </a:xfrm>
          <a:prstGeom prst="line">
            <a:avLst/>
          </a:prstGeom>
          <a:noFill/>
          <a:ln w="19050">
            <a:solidFill>
              <a:srgbClr val="DC2626"/>
            </a:solidFill>
            <a:prstDash val="solid"/>
            <a:tailEnd type="triangle"/>
          </a:ln>
        </p:spPr>
        <p:txBody>
          <a:bodyPr/>
          <a:lstStyle/>
          <a:p>
            <a:endParaRPr/>
          </a:p>
        </p:txBody>
      </p:sp>
      <p:sp>
        <p:nvSpPr>
          <p:cNvPr id="49" name="Shape 46"/>
          <p:cNvSpPr/>
          <p:nvPr/>
        </p:nvSpPr>
        <p:spPr>
          <a:xfrm>
            <a:off x="8686800" y="2560320"/>
            <a:ext cx="914" cy="365760"/>
          </a:xfrm>
          <a:prstGeom prst="line">
            <a:avLst/>
          </a:prstGeom>
          <a:noFill/>
          <a:ln w="19050">
            <a:solidFill>
              <a:srgbClr val="1F8F65"/>
            </a:solidFill>
            <a:prstDash val="solid"/>
            <a:tailEnd type="triangle"/>
          </a:ln>
        </p:spPr>
        <p:txBody>
          <a:bodyPr/>
          <a:lstStyle/>
          <a:p>
            <a:endParaRPr/>
          </a:p>
        </p:txBody>
      </p:sp>
      <p:sp>
        <p:nvSpPr>
          <p:cNvPr id="50" name="Shape 47"/>
          <p:cNvSpPr/>
          <p:nvPr/>
        </p:nvSpPr>
        <p:spPr>
          <a:xfrm flipV="1">
            <a:off x="7498080" y="3749040"/>
            <a:ext cx="1188720" cy="365760"/>
          </a:xfrm>
          <a:prstGeom prst="line">
            <a:avLst/>
          </a:prstGeom>
          <a:noFill/>
          <a:ln w="19050">
            <a:solidFill>
              <a:srgbClr val="43BFB8"/>
            </a:solidFill>
            <a:prstDash val="solid"/>
            <a:tailEnd type="triangle"/>
          </a:ln>
        </p:spPr>
        <p:txBody>
          <a:bodyPr/>
          <a:lstStyle/>
          <a:p>
            <a:endParaRPr/>
          </a:p>
        </p:txBody>
      </p:sp>
      <p:sp>
        <p:nvSpPr>
          <p:cNvPr id="51" name="Shape 48"/>
          <p:cNvSpPr/>
          <p:nvPr/>
        </p:nvSpPr>
        <p:spPr>
          <a:xfrm flipH="1" flipV="1">
            <a:off x="8686800" y="3749040"/>
            <a:ext cx="1188720" cy="365760"/>
          </a:xfrm>
          <a:prstGeom prst="line">
            <a:avLst/>
          </a:prstGeom>
          <a:noFill/>
          <a:ln w="19050">
            <a:solidFill>
              <a:srgbClr val="43BFB8"/>
            </a:solidFill>
            <a:prstDash val="solid"/>
            <a:tailEnd type="triangle"/>
          </a:ln>
        </p:spPr>
        <p:txBody>
          <a:bodyPr/>
          <a:lstStyle/>
          <a:p>
            <a:endParaRPr/>
          </a:p>
        </p:txBody>
      </p:sp>
      <p:sp>
        <p:nvSpPr>
          <p:cNvPr id="52" name="Shape 49"/>
          <p:cNvSpPr/>
          <p:nvPr/>
        </p:nvSpPr>
        <p:spPr>
          <a:xfrm>
            <a:off x="2194560" y="3415284"/>
            <a:ext cx="164592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3" name="Text 50"/>
          <p:cNvSpPr/>
          <p:nvPr/>
        </p:nvSpPr>
        <p:spPr>
          <a:xfrm>
            <a:off x="2194560" y="3415284"/>
            <a:ext cx="164592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calls directly</a:t>
            </a:r>
            <a:endParaRPr lang="en-US" sz="950" dirty="0"/>
          </a:p>
        </p:txBody>
      </p:sp>
      <p:sp>
        <p:nvSpPr>
          <p:cNvPr id="54" name="Shape 51"/>
          <p:cNvSpPr/>
          <p:nvPr/>
        </p:nvSpPr>
        <p:spPr>
          <a:xfrm>
            <a:off x="7680960" y="2615184"/>
            <a:ext cx="201168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5" name="Text 52"/>
          <p:cNvSpPr/>
          <p:nvPr/>
        </p:nvSpPr>
        <p:spPr>
          <a:xfrm>
            <a:off x="7680960" y="2615184"/>
            <a:ext cx="201168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depends on promise</a:t>
            </a:r>
            <a:endParaRPr lang="en-US" sz="950" dirty="0"/>
          </a:p>
        </p:txBody>
      </p:sp>
      <p:sp>
        <p:nvSpPr>
          <p:cNvPr id="56" name="Shape 53"/>
          <p:cNvSpPr/>
          <p:nvPr/>
        </p:nvSpPr>
        <p:spPr>
          <a:xfrm>
            <a:off x="7452360" y="3803904"/>
            <a:ext cx="128016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7" name="Text 54"/>
          <p:cNvSpPr/>
          <p:nvPr/>
        </p:nvSpPr>
        <p:spPr>
          <a:xfrm>
            <a:off x="7452360" y="3803904"/>
            <a:ext cx="128016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implements</a:t>
            </a:r>
            <a:endParaRPr lang="en-US" sz="950" dirty="0"/>
          </a:p>
        </p:txBody>
      </p:sp>
      <p:sp>
        <p:nvSpPr>
          <p:cNvPr id="58" name="Shape 55"/>
          <p:cNvSpPr/>
          <p:nvPr/>
        </p:nvSpPr>
        <p:spPr>
          <a:xfrm>
            <a:off x="8641080" y="3803904"/>
            <a:ext cx="128016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9" name="Text 56"/>
          <p:cNvSpPr/>
          <p:nvPr/>
        </p:nvSpPr>
        <p:spPr>
          <a:xfrm>
            <a:off x="8641080" y="3803904"/>
            <a:ext cx="128016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implements</a:t>
            </a:r>
            <a:endParaRPr lang="en-US" sz="950" dirty="0"/>
          </a:p>
        </p:txBody>
      </p:sp>
      <p:sp>
        <p:nvSpPr>
          <p:cNvPr id="60" name="Text 57"/>
          <p:cNvSpPr/>
          <p:nvPr/>
        </p:nvSpPr>
        <p:spPr>
          <a:xfrm>
            <a:off x="502920" y="4590288"/>
            <a:ext cx="11185855" cy="384048"/>
          </a:xfrm>
          <a:prstGeom prst="rect">
            <a:avLst/>
          </a:prstGeom>
          <a:noFill/>
          <a:ln/>
        </p:spPr>
        <p:txBody>
          <a:bodyPr wrap="square" rtlCol="0" anchor="ctr"/>
          <a:lstStyle/>
          <a:p>
            <a:pPr marL="0" indent="0" algn="l">
              <a:buNone/>
            </a:pPr>
            <a:r>
              <a:rPr lang="en-US" sz="1200" i="1" dirty="0">
                <a:solidFill>
                  <a:srgbClr val="6E637A"/>
                </a:solidFill>
                <a:latin typeface="Segoe UI" pitchFamily="34" charset="0"/>
                <a:ea typeface="Segoe UI" pitchFamily="34" charset="-122"/>
                <a:cs typeface="Segoe UI" pitchFamily="34" charset="-120"/>
              </a:rPr>
              <a:t>After the change, swapping the bank touches no line of OrderService.</a:t>
            </a:r>
            <a:endParaRPr lang="en-US" sz="1200" dirty="0"/>
          </a:p>
        </p:txBody>
      </p:sp>
      <p:sp>
        <p:nvSpPr>
          <p:cNvPr id="61" name="Shape 58"/>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62" name="Shape 59"/>
          <p:cNvSpPr/>
          <p:nvPr/>
        </p:nvSpPr>
        <p:spPr>
          <a:xfrm>
            <a:off x="502920" y="5010912"/>
            <a:ext cx="100584" cy="731520"/>
          </a:xfrm>
          <a:prstGeom prst="rect">
            <a:avLst/>
          </a:prstGeom>
          <a:solidFill>
            <a:srgbClr val="1F8F65"/>
          </a:solidFill>
          <a:ln/>
        </p:spPr>
        <p:txBody>
          <a:bodyPr/>
          <a:lstStyle/>
          <a:p>
            <a:endParaRPr/>
          </a:p>
        </p:txBody>
      </p:sp>
      <p:sp>
        <p:nvSpPr>
          <p:cNvPr id="63" name="Text 60"/>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Extract the job with the most reasons to change, not the job that is easiest to move.</a:t>
            </a:r>
            <a:endParaRPr lang="en-US" sz="1250" dirty="0"/>
          </a:p>
        </p:txBody>
      </p:sp>
      <p:sp>
        <p:nvSpPr>
          <p:cNvPr id="64" name="Shape 61"/>
          <p:cNvSpPr/>
          <p:nvPr/>
        </p:nvSpPr>
        <p:spPr>
          <a:xfrm>
            <a:off x="502920" y="5925312"/>
            <a:ext cx="54864" cy="201168"/>
          </a:xfrm>
          <a:prstGeom prst="rect">
            <a:avLst/>
          </a:prstGeom>
          <a:solidFill>
            <a:srgbClr val="43BFB8"/>
          </a:solidFill>
          <a:ln/>
        </p:spPr>
        <p:txBody>
          <a:bodyPr/>
          <a:lstStyle/>
          <a:p>
            <a:endParaRPr/>
          </a:p>
        </p:txBody>
      </p:sp>
      <p:sp>
        <p:nvSpPr>
          <p:cNvPr id="65" name="Text 62"/>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refactoring.guru/design-principles/dependency-inversion-principle  ·  Martin Fowler, “Refactoring”, 2nd edition.</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count the jobs, extract the first one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15 minutes, in pairs. Paper or editor  both are fine.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43</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Read the six jobs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OrderService: create order, calculate tax, charge card, send email, update stock, write audit log.</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Count reasons to change</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Tax law, email wording, payment partner, stock rules, audit rules. Write the count.</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Extract one job</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Move “charge card” behind an interface called Payment with one method: charge(order).</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benefit in one line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What can now change without touching OrderService?</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Jobs counted : 6</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Reasons to change : 5 different owners</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Extract first : charge card</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Why           : money = highest risk,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and the partner changes.</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interface Payment { charge(order); }</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Benefit: swap Bank A -&gt; Bank B without</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touching OrderService.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Rules used: Single Responsibility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Dependency Inversion.</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A job count, one extracted interface with one method, and the SOLID rule named out loud.</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Six jobs, five owners. Extract payment first because money carries the most risk. Best practice: extract by risk and rate of change, never by convenience.</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Michael Feathers, “Working Effectively with Legacy Code”  seams and safe extraction.</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extraction in real code    line by 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Eight lines. Read one line, then read the sentence beside it. No programming knowledge needed.</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44</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services/catalog/payment.js</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JAVASCRIPT</a:t>
            </a:r>
            <a:endParaRPr lang="en-US" sz="850" dirty="0"/>
          </a:p>
        </p:txBody>
      </p:sp>
      <p:sp>
        <p:nvSpPr>
          <p:cNvPr id="43" name="Text 40"/>
          <p:cNvSpPr/>
          <p:nvPr/>
        </p:nvSpPr>
        <p:spPr>
          <a:xfrm>
            <a:off x="594360" y="159105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1</a:t>
            </a:r>
            <a:endParaRPr lang="en-US" sz="950" dirty="0"/>
          </a:p>
        </p:txBody>
      </p:sp>
      <p:sp>
        <p:nvSpPr>
          <p:cNvPr id="44" name="Text 41"/>
          <p:cNvSpPr/>
          <p:nvPr/>
        </p:nvSpPr>
        <p:spPr>
          <a:xfrm>
            <a:off x="960120" y="159105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class Payment {</a:t>
            </a:r>
            <a:endParaRPr lang="en-US" sz="1100" dirty="0"/>
          </a:p>
        </p:txBody>
      </p:sp>
      <p:sp>
        <p:nvSpPr>
          <p:cNvPr id="45" name="Shape 42"/>
          <p:cNvSpPr/>
          <p:nvPr/>
        </p:nvSpPr>
        <p:spPr>
          <a:xfrm>
            <a:off x="6035040" y="1733931"/>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We give the promise a name. This is the “contract” everyone will trust.</a:t>
            </a:r>
            <a:endParaRPr lang="en-US" sz="1250" dirty="0"/>
          </a:p>
        </p:txBody>
      </p:sp>
      <p:sp>
        <p:nvSpPr>
          <p:cNvPr id="47" name="Text 44"/>
          <p:cNvSpPr/>
          <p:nvPr/>
        </p:nvSpPr>
        <p:spPr>
          <a:xfrm>
            <a:off x="594360" y="202311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2</a:t>
            </a:r>
            <a:endParaRPr lang="en-US" sz="950" dirty="0"/>
          </a:p>
        </p:txBody>
      </p:sp>
      <p:sp>
        <p:nvSpPr>
          <p:cNvPr id="48" name="Text 45"/>
          <p:cNvSpPr/>
          <p:nvPr/>
        </p:nvSpPr>
        <p:spPr>
          <a:xfrm>
            <a:off x="960120" y="202311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async charge(order) {</a:t>
            </a:r>
            <a:endParaRPr lang="en-US" sz="1100" dirty="0"/>
          </a:p>
        </p:txBody>
      </p:sp>
      <p:sp>
        <p:nvSpPr>
          <p:cNvPr id="49" name="Shape 46"/>
          <p:cNvSpPr/>
          <p:nvPr/>
        </p:nvSpPr>
        <p:spPr>
          <a:xfrm>
            <a:off x="6035040" y="2165985"/>
            <a:ext cx="155448" cy="155448"/>
          </a:xfrm>
          <a:prstGeom prst="ellipse">
            <a:avLst/>
          </a:prstGeom>
          <a:solidFill>
            <a:srgbClr val="43BFB8"/>
          </a:solidFill>
          <a:ln/>
        </p:spPr>
        <p:txBody>
          <a:bodyPr/>
          <a:lstStyle/>
          <a:p>
            <a:endParaRPr/>
          </a:p>
        </p:txBody>
      </p:sp>
      <p:sp>
        <p:nvSpPr>
          <p:cNvPr id="50" name="Text 47"/>
          <p:cNvSpPr/>
          <p:nvPr/>
        </p:nvSpPr>
        <p:spPr>
          <a:xfrm>
            <a:off x="6291072" y="202311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One job, one method. Give me an order, I move the money.</a:t>
            </a:r>
            <a:endParaRPr lang="en-US" sz="1250" dirty="0"/>
          </a:p>
        </p:txBody>
      </p:sp>
      <p:sp>
        <p:nvSpPr>
          <p:cNvPr id="51" name="Text 48"/>
          <p:cNvSpPr/>
          <p:nvPr/>
        </p:nvSpPr>
        <p:spPr>
          <a:xfrm>
            <a:off x="594360" y="245516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3</a:t>
            </a:r>
            <a:endParaRPr lang="en-US" sz="950" dirty="0"/>
          </a:p>
        </p:txBody>
      </p:sp>
      <p:sp>
        <p:nvSpPr>
          <p:cNvPr id="52" name="Text 49"/>
          <p:cNvSpPr/>
          <p:nvPr/>
        </p:nvSpPr>
        <p:spPr>
          <a:xfrm>
            <a:off x="960120" y="245516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throw new Error("not implemented");</a:t>
            </a:r>
            <a:endParaRPr lang="en-US" sz="1100" dirty="0"/>
          </a:p>
        </p:txBody>
      </p:sp>
      <p:sp>
        <p:nvSpPr>
          <p:cNvPr id="53" name="Shape 50"/>
          <p:cNvSpPr/>
          <p:nvPr/>
        </p:nvSpPr>
        <p:spPr>
          <a:xfrm>
            <a:off x="6035040" y="2598039"/>
            <a:ext cx="155448" cy="155448"/>
          </a:xfrm>
          <a:prstGeom prst="ellipse">
            <a:avLst/>
          </a:prstGeom>
          <a:solidFill>
            <a:srgbClr val="43BFB8"/>
          </a:solidFill>
          <a:ln/>
        </p:spPr>
        <p:txBody>
          <a:bodyPr/>
          <a:lstStyle/>
          <a:p>
            <a:endParaRPr/>
          </a:p>
        </p:txBody>
      </p:sp>
      <p:sp>
        <p:nvSpPr>
          <p:cNvPr id="54" name="Text 51"/>
          <p:cNvSpPr/>
          <p:nvPr/>
        </p:nvSpPr>
        <p:spPr>
          <a:xfrm>
            <a:off x="6291072" y="245516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The promise on its own does nothing. It only says what must exist.</a:t>
            </a:r>
            <a:endParaRPr lang="en-US" sz="1250" dirty="0"/>
          </a:p>
        </p:txBody>
      </p:sp>
      <p:sp>
        <p:nvSpPr>
          <p:cNvPr id="55" name="Text 52"/>
          <p:cNvSpPr/>
          <p:nvPr/>
        </p:nvSpPr>
        <p:spPr>
          <a:xfrm>
            <a:off x="594360" y="2887218"/>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4</a:t>
            </a:r>
            <a:endParaRPr lang="en-US" sz="950" dirty="0"/>
          </a:p>
        </p:txBody>
      </p:sp>
      <p:sp>
        <p:nvSpPr>
          <p:cNvPr id="56" name="Text 53"/>
          <p:cNvSpPr/>
          <p:nvPr/>
        </p:nvSpPr>
        <p:spPr>
          <a:xfrm>
            <a:off x="960120" y="2887218"/>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a:t>
            </a:r>
            <a:endParaRPr lang="en-US" sz="1100" dirty="0"/>
          </a:p>
        </p:txBody>
      </p:sp>
      <p:sp>
        <p:nvSpPr>
          <p:cNvPr id="57" name="Shape 54"/>
          <p:cNvSpPr/>
          <p:nvPr/>
        </p:nvSpPr>
        <p:spPr>
          <a:xfrm>
            <a:off x="6035040" y="3030093"/>
            <a:ext cx="155448" cy="155448"/>
          </a:xfrm>
          <a:prstGeom prst="ellipse">
            <a:avLst/>
          </a:prstGeom>
          <a:solidFill>
            <a:srgbClr val="43BFB8"/>
          </a:solidFill>
          <a:ln/>
        </p:spPr>
        <p:txBody>
          <a:bodyPr/>
          <a:lstStyle/>
          <a:p>
            <a:endParaRPr/>
          </a:p>
        </p:txBody>
      </p:sp>
      <p:sp>
        <p:nvSpPr>
          <p:cNvPr id="58" name="Text 55"/>
          <p:cNvSpPr/>
          <p:nvPr/>
        </p:nvSpPr>
        <p:spPr>
          <a:xfrm>
            <a:off x="6291072" y="2887218"/>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End of the method. The promise is now three lines long.</a:t>
            </a:r>
            <a:endParaRPr lang="en-US" sz="1250" dirty="0"/>
          </a:p>
        </p:txBody>
      </p:sp>
      <p:sp>
        <p:nvSpPr>
          <p:cNvPr id="59" name="Text 56"/>
          <p:cNvSpPr/>
          <p:nvPr/>
        </p:nvSpPr>
        <p:spPr>
          <a:xfrm>
            <a:off x="594360" y="3319272"/>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5</a:t>
            </a:r>
            <a:endParaRPr lang="en-US" sz="950" dirty="0"/>
          </a:p>
        </p:txBody>
      </p:sp>
      <p:sp>
        <p:nvSpPr>
          <p:cNvPr id="60" name="Text 57"/>
          <p:cNvSpPr/>
          <p:nvPr/>
        </p:nvSpPr>
        <p:spPr>
          <a:xfrm>
            <a:off x="960120" y="3319272"/>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a:t>
            </a:r>
            <a:endParaRPr lang="en-US" sz="1100" dirty="0"/>
          </a:p>
        </p:txBody>
      </p:sp>
      <p:sp>
        <p:nvSpPr>
          <p:cNvPr id="61" name="Shape 58"/>
          <p:cNvSpPr/>
          <p:nvPr/>
        </p:nvSpPr>
        <p:spPr>
          <a:xfrm>
            <a:off x="6035040" y="3462147"/>
            <a:ext cx="155448" cy="155448"/>
          </a:xfrm>
          <a:prstGeom prst="ellipse">
            <a:avLst/>
          </a:prstGeom>
          <a:solidFill>
            <a:srgbClr val="43BFB8"/>
          </a:solidFill>
          <a:ln/>
        </p:spPr>
        <p:txBody>
          <a:bodyPr/>
          <a:lstStyle/>
          <a:p>
            <a:endParaRPr/>
          </a:p>
        </p:txBody>
      </p:sp>
      <p:sp>
        <p:nvSpPr>
          <p:cNvPr id="62" name="Text 59"/>
          <p:cNvSpPr/>
          <p:nvPr/>
        </p:nvSpPr>
        <p:spPr>
          <a:xfrm>
            <a:off x="6291072" y="3319272"/>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End of the promise.</a:t>
            </a:r>
            <a:endParaRPr lang="en-US" sz="1250" dirty="0"/>
          </a:p>
        </p:txBody>
      </p:sp>
      <p:sp>
        <p:nvSpPr>
          <p:cNvPr id="63" name="Text 60"/>
          <p:cNvSpPr/>
          <p:nvPr/>
        </p:nvSpPr>
        <p:spPr>
          <a:xfrm>
            <a:off x="594360" y="375132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6</a:t>
            </a:r>
            <a:endParaRPr lang="en-US" sz="950" dirty="0"/>
          </a:p>
        </p:txBody>
      </p:sp>
      <p:sp>
        <p:nvSpPr>
          <p:cNvPr id="64" name="Text 61"/>
          <p:cNvSpPr/>
          <p:nvPr/>
        </p:nvSpPr>
        <p:spPr>
          <a:xfrm>
            <a:off x="960120" y="375132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class BankA extends Payment {</a:t>
            </a:r>
            <a:endParaRPr lang="en-US" sz="1100" dirty="0"/>
          </a:p>
        </p:txBody>
      </p:sp>
      <p:sp>
        <p:nvSpPr>
          <p:cNvPr id="65" name="Shape 62"/>
          <p:cNvSpPr/>
          <p:nvPr/>
        </p:nvSpPr>
        <p:spPr>
          <a:xfrm>
            <a:off x="6035040" y="3894201"/>
            <a:ext cx="155448" cy="155448"/>
          </a:xfrm>
          <a:prstGeom prst="ellipse">
            <a:avLst/>
          </a:prstGeom>
          <a:solidFill>
            <a:srgbClr val="43BFB8"/>
          </a:solidFill>
          <a:ln/>
        </p:spPr>
        <p:txBody>
          <a:bodyPr/>
          <a:lstStyle/>
          <a:p>
            <a:endParaRPr/>
          </a:p>
        </p:txBody>
      </p:sp>
      <p:sp>
        <p:nvSpPr>
          <p:cNvPr id="66" name="Text 63"/>
          <p:cNvSpPr/>
          <p:nvPr/>
        </p:nvSpPr>
        <p:spPr>
          <a:xfrm>
            <a:off x="6291072" y="375132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A real bank keeps that same promise. Tomorrow BankB can too.</a:t>
            </a:r>
            <a:endParaRPr lang="en-US" sz="1250" dirty="0"/>
          </a:p>
        </p:txBody>
      </p:sp>
      <p:sp>
        <p:nvSpPr>
          <p:cNvPr id="67" name="Text 64"/>
          <p:cNvSpPr/>
          <p:nvPr/>
        </p:nvSpPr>
        <p:spPr>
          <a:xfrm>
            <a:off x="594360" y="418338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7</a:t>
            </a:r>
            <a:endParaRPr lang="en-US" sz="950" dirty="0"/>
          </a:p>
        </p:txBody>
      </p:sp>
      <p:sp>
        <p:nvSpPr>
          <p:cNvPr id="68" name="Text 65"/>
          <p:cNvSpPr/>
          <p:nvPr/>
        </p:nvSpPr>
        <p:spPr>
          <a:xfrm>
            <a:off x="960120" y="418338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async charge(order) { /* call bank */ }</a:t>
            </a:r>
            <a:endParaRPr lang="en-US" sz="1100" dirty="0"/>
          </a:p>
        </p:txBody>
      </p:sp>
      <p:sp>
        <p:nvSpPr>
          <p:cNvPr id="69" name="Shape 66"/>
          <p:cNvSpPr/>
          <p:nvPr/>
        </p:nvSpPr>
        <p:spPr>
          <a:xfrm>
            <a:off x="6035040" y="4326255"/>
            <a:ext cx="155448" cy="155448"/>
          </a:xfrm>
          <a:prstGeom prst="ellipse">
            <a:avLst/>
          </a:prstGeom>
          <a:solidFill>
            <a:srgbClr val="43BFB8"/>
          </a:solidFill>
          <a:ln/>
        </p:spPr>
        <p:txBody>
          <a:bodyPr/>
          <a:lstStyle/>
          <a:p>
            <a:endParaRPr/>
          </a:p>
        </p:txBody>
      </p:sp>
      <p:sp>
        <p:nvSpPr>
          <p:cNvPr id="70" name="Text 67"/>
          <p:cNvSpPr/>
          <p:nvPr/>
        </p:nvSpPr>
        <p:spPr>
          <a:xfrm>
            <a:off x="6291072" y="418338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Only this line knows about the bank. Nothing else in the system does.</a:t>
            </a:r>
            <a:endParaRPr lang="en-US" sz="1250" dirty="0"/>
          </a:p>
        </p:txBody>
      </p:sp>
      <p:sp>
        <p:nvSpPr>
          <p:cNvPr id="71" name="Text 68"/>
          <p:cNvSpPr/>
          <p:nvPr/>
        </p:nvSpPr>
        <p:spPr>
          <a:xfrm>
            <a:off x="594360" y="461543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8</a:t>
            </a:r>
            <a:endParaRPr lang="en-US" sz="950" dirty="0"/>
          </a:p>
        </p:txBody>
      </p:sp>
      <p:sp>
        <p:nvSpPr>
          <p:cNvPr id="72" name="Text 69"/>
          <p:cNvSpPr/>
          <p:nvPr/>
        </p:nvSpPr>
        <p:spPr>
          <a:xfrm>
            <a:off x="960120" y="461543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module.exports = { Payment, BankA };</a:t>
            </a:r>
            <a:endParaRPr lang="en-US" sz="1100" dirty="0"/>
          </a:p>
        </p:txBody>
      </p:sp>
      <p:sp>
        <p:nvSpPr>
          <p:cNvPr id="73" name="Shape 70"/>
          <p:cNvSpPr/>
          <p:nvPr/>
        </p:nvSpPr>
        <p:spPr>
          <a:xfrm>
            <a:off x="6035040" y="4758309"/>
            <a:ext cx="155448" cy="155448"/>
          </a:xfrm>
          <a:prstGeom prst="ellipse">
            <a:avLst/>
          </a:prstGeom>
          <a:solidFill>
            <a:srgbClr val="43BFB8"/>
          </a:solidFill>
          <a:ln/>
        </p:spPr>
        <p:txBody>
          <a:bodyPr/>
          <a:lstStyle/>
          <a:p>
            <a:endParaRPr/>
          </a:p>
        </p:txBody>
      </p:sp>
      <p:sp>
        <p:nvSpPr>
          <p:cNvPr id="74" name="Text 71"/>
          <p:cNvSpPr/>
          <p:nvPr/>
        </p:nvSpPr>
        <p:spPr>
          <a:xfrm>
            <a:off x="6291072" y="461543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Publish both, so OrderService can ask for the promise and get a real bank.</a:t>
            </a:r>
            <a:endParaRPr lang="en-US" sz="1250" dirty="0"/>
          </a:p>
        </p:txBody>
      </p:sp>
      <p:sp>
        <p:nvSpPr>
          <p:cNvPr id="75" name="Shape 72"/>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76" name="Shape 73"/>
          <p:cNvSpPr/>
          <p:nvPr/>
        </p:nvSpPr>
        <p:spPr>
          <a:xfrm>
            <a:off x="502920" y="5175504"/>
            <a:ext cx="100584" cy="676656"/>
          </a:xfrm>
          <a:prstGeom prst="rect">
            <a:avLst/>
          </a:prstGeom>
          <a:solidFill>
            <a:srgbClr val="E76F30"/>
          </a:solidFill>
          <a:ln/>
        </p:spPr>
        <p:txBody>
          <a:bodyPr/>
          <a:lstStyle/>
          <a:p>
            <a:endParaRPr/>
          </a:p>
        </p:txBody>
      </p:sp>
      <p:sp>
        <p:nvSpPr>
          <p:cNvPr id="77" name="Text 74"/>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OrderService now says “charge this order” and does not care who does it. Changing the bank means writing one new small file, and touching zero lines of order code. That is Dependency Inversion, and it is the whole point.</a:t>
            </a:r>
            <a:endParaRPr lang="en-US" sz="1250" dirty="0"/>
          </a:p>
        </p:txBody>
      </p:sp>
      <p:sp>
        <p:nvSpPr>
          <p:cNvPr id="78" name="Shape 75"/>
          <p:cNvSpPr/>
          <p:nvPr/>
        </p:nvSpPr>
        <p:spPr>
          <a:xfrm>
            <a:off x="502920" y="5980176"/>
            <a:ext cx="54864" cy="201168"/>
          </a:xfrm>
          <a:prstGeom prst="rect">
            <a:avLst/>
          </a:prstGeom>
          <a:solidFill>
            <a:srgbClr val="43BFB8"/>
          </a:solidFill>
          <a:ln/>
        </p:spPr>
        <p:txBody>
          <a:bodyPr/>
          <a:lstStyle/>
          <a:p>
            <a:endParaRPr/>
          </a:p>
        </p:txBody>
      </p:sp>
      <p:sp>
        <p:nvSpPr>
          <p:cNvPr id="79" name="Text 76"/>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refactoring.guru/design-principles/dependency-inversion-principle  ·  runnable version in the practical guide, Day 2.</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C12845-7BAE-B6D4-9A52-AD90A86FBD54}"/>
              </a:ext>
            </a:extLst>
          </p:cNvPr>
          <p:cNvPicPr>
            <a:picLocks noChangeAspect="1"/>
          </p:cNvPicPr>
          <p:nvPr/>
        </p:nvPicPr>
        <p:blipFill>
          <a:blip r:embed="rId2"/>
          <a:stretch>
            <a:fillRect/>
          </a:stretch>
        </p:blipFill>
        <p:spPr>
          <a:xfrm>
            <a:off x="999259" y="0"/>
            <a:ext cx="10287000" cy="6858000"/>
          </a:xfrm>
          <a:prstGeom prst="rect">
            <a:avLst/>
          </a:prstGeom>
        </p:spPr>
      </p:pic>
    </p:spTree>
    <p:extLst>
      <p:ext uri="{BB962C8B-B14F-4D97-AF65-F5344CB8AC3E}">
        <p14:creationId xmlns:p14="http://schemas.microsoft.com/office/powerpoint/2010/main" val="26178152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900" b="1" dirty="0">
                <a:solidFill>
                  <a:srgbClr val="5F1B3C"/>
                </a:solidFill>
                <a:latin typeface="Segoe UI" pitchFamily="34" charset="0"/>
                <a:ea typeface="Segoe UI" pitchFamily="34" charset="-122"/>
                <a:cs typeface="Segoe UI" pitchFamily="34" charset="-120"/>
              </a:rPr>
              <a:t>Architecture styles    the six you will actually meet</a:t>
            </a:r>
            <a:endParaRPr lang="en-US" sz="19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 style is the shape of the whole system. Name yours out loud, or you will end up with all six by accident.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45</a:t>
            </a:r>
            <a:endParaRPr lang="en-US" sz="1000" dirty="0"/>
          </a:p>
        </p:txBody>
      </p:sp>
      <p:sp>
        <p:nvSpPr>
          <p:cNvPr id="36" name="Shape 33"/>
          <p:cNvSpPr/>
          <p:nvPr/>
        </p:nvSpPr>
        <p:spPr>
          <a:xfrm>
            <a:off x="502920"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243584"/>
            <a:ext cx="3594506" cy="384048"/>
          </a:xfrm>
          <a:prstGeom prst="rect">
            <a:avLst/>
          </a:prstGeom>
          <a:solidFill>
            <a:srgbClr val="43BFB8"/>
          </a:solidFill>
          <a:ln/>
        </p:spPr>
        <p:txBody>
          <a:bodyPr/>
          <a:lstStyle/>
          <a:p>
            <a:endParaRPr/>
          </a:p>
        </p:txBody>
      </p:sp>
      <p:sp>
        <p:nvSpPr>
          <p:cNvPr id="38" name="Text 35"/>
          <p:cNvSpPr/>
          <p:nvPr/>
        </p:nvSpPr>
        <p:spPr>
          <a:xfrm>
            <a:off x="649224"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Layered</a:t>
            </a:r>
            <a:endParaRPr lang="en-US" sz="1150" dirty="0"/>
          </a:p>
        </p:txBody>
      </p:sp>
      <p:sp>
        <p:nvSpPr>
          <p:cNvPr id="39" name="Text 36"/>
          <p:cNvSpPr/>
          <p:nvPr/>
        </p:nvSpPr>
        <p:spPr>
          <a:xfrm>
            <a:off x="649224"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0" name="Text 37"/>
          <p:cNvSpPr/>
          <p:nvPr/>
        </p:nvSpPr>
        <p:spPr>
          <a:xfrm>
            <a:off x="649224"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Nobody knows where new code belongs, so it goes everywhere.</a:t>
            </a:r>
            <a:endParaRPr lang="en-US" sz="1150" dirty="0"/>
          </a:p>
        </p:txBody>
      </p:sp>
      <p:sp>
        <p:nvSpPr>
          <p:cNvPr id="41" name="Text 38"/>
          <p:cNvSpPr/>
          <p:nvPr/>
        </p:nvSpPr>
        <p:spPr>
          <a:xfrm>
            <a:off x="649224"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2" name="Text 39"/>
          <p:cNvSpPr/>
          <p:nvPr/>
        </p:nvSpPr>
        <p:spPr>
          <a:xfrm>
            <a:off x="649224"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Small and medium systems. One rule: a layer only calls the layer below.</a:t>
            </a:r>
            <a:endParaRPr lang="en-US" sz="1150" dirty="0"/>
          </a:p>
        </p:txBody>
      </p:sp>
      <p:sp>
        <p:nvSpPr>
          <p:cNvPr id="43" name="Shape 40"/>
          <p:cNvSpPr/>
          <p:nvPr/>
        </p:nvSpPr>
        <p:spPr>
          <a:xfrm>
            <a:off x="4298594"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4298594" y="1243584"/>
            <a:ext cx="3594506" cy="384048"/>
          </a:xfrm>
          <a:prstGeom prst="rect">
            <a:avLst/>
          </a:prstGeom>
          <a:solidFill>
            <a:srgbClr val="E76F30"/>
          </a:solidFill>
          <a:ln/>
        </p:spPr>
        <p:txBody>
          <a:bodyPr/>
          <a:lstStyle/>
          <a:p>
            <a:endParaRPr/>
          </a:p>
        </p:txBody>
      </p:sp>
      <p:sp>
        <p:nvSpPr>
          <p:cNvPr id="45" name="Text 42"/>
          <p:cNvSpPr/>
          <p:nvPr/>
        </p:nvSpPr>
        <p:spPr>
          <a:xfrm>
            <a:off x="4444898"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Modular monolith</a:t>
            </a:r>
            <a:endParaRPr lang="en-US" sz="1150" dirty="0"/>
          </a:p>
        </p:txBody>
      </p:sp>
      <p:sp>
        <p:nvSpPr>
          <p:cNvPr id="46" name="Text 43"/>
          <p:cNvSpPr/>
          <p:nvPr/>
        </p:nvSpPr>
        <p:spPr>
          <a:xfrm>
            <a:off x="4444898"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7" name="Text 44"/>
          <p:cNvSpPr/>
          <p:nvPr/>
        </p:nvSpPr>
        <p:spPr>
          <a:xfrm>
            <a:off x="4444898"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You want independent teams, not a network between every part.</a:t>
            </a:r>
            <a:endParaRPr lang="en-US" sz="1150" dirty="0"/>
          </a:p>
        </p:txBody>
      </p:sp>
      <p:sp>
        <p:nvSpPr>
          <p:cNvPr id="48" name="Text 45"/>
          <p:cNvSpPr/>
          <p:nvPr/>
        </p:nvSpPr>
        <p:spPr>
          <a:xfrm>
            <a:off x="4444898"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9" name="Text 46"/>
          <p:cNvSpPr/>
          <p:nvPr/>
        </p:nvSpPr>
        <p:spPr>
          <a:xfrm>
            <a:off x="4444898"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Usually the right first step out of a legacy monolith. One deploy, real borders.</a:t>
            </a:r>
            <a:endParaRPr lang="en-US" sz="1150" dirty="0"/>
          </a:p>
        </p:txBody>
      </p:sp>
      <p:sp>
        <p:nvSpPr>
          <p:cNvPr id="50" name="Shape 47"/>
          <p:cNvSpPr/>
          <p:nvPr/>
        </p:nvSpPr>
        <p:spPr>
          <a:xfrm>
            <a:off x="8094269"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8094269" y="1243584"/>
            <a:ext cx="3594506" cy="384048"/>
          </a:xfrm>
          <a:prstGeom prst="rect">
            <a:avLst/>
          </a:prstGeom>
          <a:solidFill>
            <a:srgbClr val="4A7DE0"/>
          </a:solidFill>
          <a:ln/>
        </p:spPr>
        <p:txBody>
          <a:bodyPr/>
          <a:lstStyle/>
          <a:p>
            <a:endParaRPr/>
          </a:p>
        </p:txBody>
      </p:sp>
      <p:sp>
        <p:nvSpPr>
          <p:cNvPr id="52" name="Text 49"/>
          <p:cNvSpPr/>
          <p:nvPr/>
        </p:nvSpPr>
        <p:spPr>
          <a:xfrm>
            <a:off x="8240573"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Hexagonal (ports &amp; adapters)</a:t>
            </a:r>
            <a:endParaRPr lang="en-US" sz="1150" dirty="0"/>
          </a:p>
        </p:txBody>
      </p:sp>
      <p:sp>
        <p:nvSpPr>
          <p:cNvPr id="53" name="Text 50"/>
          <p:cNvSpPr/>
          <p:nvPr/>
        </p:nvSpPr>
        <p:spPr>
          <a:xfrm>
            <a:off x="8240573"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54" name="Text 51"/>
          <p:cNvSpPr/>
          <p:nvPr/>
        </p:nvSpPr>
        <p:spPr>
          <a:xfrm>
            <a:off x="8240573"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Business rules are tangled with the database and the framework.</a:t>
            </a:r>
            <a:endParaRPr lang="en-US" sz="1150" dirty="0"/>
          </a:p>
        </p:txBody>
      </p:sp>
      <p:sp>
        <p:nvSpPr>
          <p:cNvPr id="55" name="Text 52"/>
          <p:cNvSpPr/>
          <p:nvPr/>
        </p:nvSpPr>
        <p:spPr>
          <a:xfrm>
            <a:off x="8240573"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56" name="Text 53"/>
          <p:cNvSpPr/>
          <p:nvPr/>
        </p:nvSpPr>
        <p:spPr>
          <a:xfrm>
            <a:off x="8240573"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When rules must be testable without a database, and technology may change.</a:t>
            </a:r>
            <a:endParaRPr lang="en-US" sz="1150" dirty="0"/>
          </a:p>
        </p:txBody>
      </p:sp>
      <p:sp>
        <p:nvSpPr>
          <p:cNvPr id="57" name="Shape 54"/>
          <p:cNvSpPr/>
          <p:nvPr/>
        </p:nvSpPr>
        <p:spPr>
          <a:xfrm>
            <a:off x="502920"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502920" y="3401568"/>
            <a:ext cx="3594506" cy="384048"/>
          </a:xfrm>
          <a:prstGeom prst="rect">
            <a:avLst/>
          </a:prstGeom>
          <a:solidFill>
            <a:srgbClr val="5F1B3C"/>
          </a:solidFill>
          <a:ln/>
        </p:spPr>
        <p:txBody>
          <a:bodyPr/>
          <a:lstStyle/>
          <a:p>
            <a:endParaRPr/>
          </a:p>
        </p:txBody>
      </p:sp>
      <p:sp>
        <p:nvSpPr>
          <p:cNvPr id="59" name="Text 56"/>
          <p:cNvSpPr/>
          <p:nvPr/>
        </p:nvSpPr>
        <p:spPr>
          <a:xfrm>
            <a:off x="649224"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Event-driven</a:t>
            </a:r>
            <a:endParaRPr lang="en-US" sz="1150" dirty="0"/>
          </a:p>
        </p:txBody>
      </p:sp>
      <p:sp>
        <p:nvSpPr>
          <p:cNvPr id="60" name="Text 57"/>
          <p:cNvSpPr/>
          <p:nvPr/>
        </p:nvSpPr>
        <p:spPr>
          <a:xfrm>
            <a:off x="649224"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1" name="Text 58"/>
          <p:cNvSpPr/>
          <p:nvPr/>
        </p:nvSpPr>
        <p:spPr>
          <a:xfrm>
            <a:off x="649224"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Many systems react to one fact, and none may delay the shopper.</a:t>
            </a:r>
            <a:endParaRPr lang="en-US" sz="1150" dirty="0"/>
          </a:p>
        </p:txBody>
      </p:sp>
      <p:sp>
        <p:nvSpPr>
          <p:cNvPr id="62" name="Text 59"/>
          <p:cNvSpPr/>
          <p:nvPr/>
        </p:nvSpPr>
        <p:spPr>
          <a:xfrm>
            <a:off x="649224"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63" name="Text 60"/>
          <p:cNvSpPr/>
          <p:nvPr/>
        </p:nvSpPr>
        <p:spPr>
          <a:xfrm>
            <a:off x="649224"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Stock, notifications, reporting, audit. “After this, several things follow.”</a:t>
            </a:r>
            <a:endParaRPr lang="en-US" sz="1150" dirty="0"/>
          </a:p>
        </p:txBody>
      </p:sp>
      <p:sp>
        <p:nvSpPr>
          <p:cNvPr id="64" name="Shape 61"/>
          <p:cNvSpPr/>
          <p:nvPr/>
        </p:nvSpPr>
        <p:spPr>
          <a:xfrm>
            <a:off x="4298594"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4298594" y="3401568"/>
            <a:ext cx="3594506" cy="384048"/>
          </a:xfrm>
          <a:prstGeom prst="rect">
            <a:avLst/>
          </a:prstGeom>
          <a:solidFill>
            <a:srgbClr val="1F8F65"/>
          </a:solidFill>
          <a:ln/>
        </p:spPr>
        <p:txBody>
          <a:bodyPr/>
          <a:lstStyle/>
          <a:p>
            <a:endParaRPr/>
          </a:p>
        </p:txBody>
      </p:sp>
      <p:sp>
        <p:nvSpPr>
          <p:cNvPr id="66" name="Text 63"/>
          <p:cNvSpPr/>
          <p:nvPr/>
        </p:nvSpPr>
        <p:spPr>
          <a:xfrm>
            <a:off x="4444898"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Microservices</a:t>
            </a:r>
            <a:endParaRPr lang="en-US" sz="1150" dirty="0"/>
          </a:p>
        </p:txBody>
      </p:sp>
      <p:sp>
        <p:nvSpPr>
          <p:cNvPr id="67" name="Text 64"/>
          <p:cNvSpPr/>
          <p:nvPr/>
        </p:nvSpPr>
        <p:spPr>
          <a:xfrm>
            <a:off x="4444898"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8" name="Text 65"/>
          <p:cNvSpPr/>
          <p:nvPr/>
        </p:nvSpPr>
        <p:spPr>
          <a:xfrm>
            <a:off x="4444898"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Two parts change at different speeds and block each other.</a:t>
            </a:r>
            <a:endParaRPr lang="en-US" sz="1150" dirty="0"/>
          </a:p>
        </p:txBody>
      </p:sp>
      <p:sp>
        <p:nvSpPr>
          <p:cNvPr id="69" name="Text 66"/>
          <p:cNvSpPr/>
          <p:nvPr/>
        </p:nvSpPr>
        <p:spPr>
          <a:xfrm>
            <a:off x="4444898"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0" name="Text 67"/>
          <p:cNvSpPr/>
          <p:nvPr/>
        </p:nvSpPr>
        <p:spPr>
          <a:xfrm>
            <a:off x="4444898"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Only when each part owns its data AND can release alone. Otherwise it costs more.</a:t>
            </a:r>
            <a:endParaRPr lang="en-US" sz="1150" dirty="0"/>
          </a:p>
        </p:txBody>
      </p:sp>
      <p:sp>
        <p:nvSpPr>
          <p:cNvPr id="71" name="Shape 68"/>
          <p:cNvSpPr/>
          <p:nvPr/>
        </p:nvSpPr>
        <p:spPr>
          <a:xfrm>
            <a:off x="8094269"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72" name="Shape 69"/>
          <p:cNvSpPr/>
          <p:nvPr/>
        </p:nvSpPr>
        <p:spPr>
          <a:xfrm>
            <a:off x="8094269" y="3401568"/>
            <a:ext cx="3594506" cy="384048"/>
          </a:xfrm>
          <a:prstGeom prst="rect">
            <a:avLst/>
          </a:prstGeom>
          <a:solidFill>
            <a:srgbClr val="2F9992"/>
          </a:solidFill>
          <a:ln/>
        </p:spPr>
        <p:txBody>
          <a:bodyPr/>
          <a:lstStyle/>
          <a:p>
            <a:endParaRPr/>
          </a:p>
        </p:txBody>
      </p:sp>
      <p:sp>
        <p:nvSpPr>
          <p:cNvPr id="73" name="Text 70"/>
          <p:cNvSpPr/>
          <p:nvPr/>
        </p:nvSpPr>
        <p:spPr>
          <a:xfrm>
            <a:off x="8240573"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Serverless</a:t>
            </a:r>
            <a:endParaRPr lang="en-US" sz="1150" dirty="0"/>
          </a:p>
        </p:txBody>
      </p:sp>
      <p:sp>
        <p:nvSpPr>
          <p:cNvPr id="74" name="Text 71"/>
          <p:cNvSpPr/>
          <p:nvPr/>
        </p:nvSpPr>
        <p:spPr>
          <a:xfrm>
            <a:off x="8240573"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75" name="Text 72"/>
          <p:cNvSpPr/>
          <p:nvPr/>
        </p:nvSpPr>
        <p:spPr>
          <a:xfrm>
            <a:off x="8240573"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Work arrives in bursts and idle servers are wasted money.</a:t>
            </a:r>
            <a:endParaRPr lang="en-US" sz="1150" dirty="0"/>
          </a:p>
        </p:txBody>
      </p:sp>
      <p:sp>
        <p:nvSpPr>
          <p:cNvPr id="76" name="Text 73"/>
          <p:cNvSpPr/>
          <p:nvPr/>
        </p:nvSpPr>
        <p:spPr>
          <a:xfrm>
            <a:off x="8240573"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7" name="Text 74"/>
          <p:cNvSpPr/>
          <p:nvPr/>
        </p:nvSpPr>
        <p:spPr>
          <a:xfrm>
            <a:off x="8240573"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Scheduled jobs, image work, spiky endpoints. Watch cold starts on money paths.</a:t>
            </a:r>
            <a:endParaRPr lang="en-US" sz="1150" dirty="0"/>
          </a:p>
        </p:txBody>
      </p:sp>
      <p:sp>
        <p:nvSpPr>
          <p:cNvPr id="78" name="Shape 75"/>
          <p:cNvSpPr/>
          <p:nvPr/>
        </p:nvSpPr>
        <p:spPr>
          <a:xfrm>
            <a:off x="502920" y="5486400"/>
            <a:ext cx="91440" cy="457200"/>
          </a:xfrm>
          <a:prstGeom prst="rect">
            <a:avLst/>
          </a:prstGeom>
          <a:solidFill>
            <a:srgbClr val="1F8F65"/>
          </a:solidFill>
          <a:ln/>
        </p:spPr>
        <p:txBody>
          <a:bodyPr/>
          <a:lstStyle/>
          <a:p>
            <a:endParaRPr/>
          </a:p>
        </p:txBody>
      </p:sp>
      <p:sp>
        <p:nvSpPr>
          <p:cNvPr id="79" name="Text 76"/>
          <p:cNvSpPr/>
          <p:nvPr/>
        </p:nvSpPr>
        <p:spPr>
          <a:xfrm>
            <a:off x="704088" y="5486400"/>
            <a:ext cx="10911535" cy="457200"/>
          </a:xfrm>
          <a:prstGeom prst="rect">
            <a:avLst/>
          </a:prstGeom>
          <a:noFill/>
          <a:ln/>
        </p:spPr>
        <p:txBody>
          <a:bodyPr wrap="square" rtlCol="0" anchor="ctr"/>
          <a:lstStyle/>
          <a:p>
            <a:pPr marL="0" indent="0">
              <a:buNone/>
            </a:pPr>
            <a:r>
              <a:rPr lang="en-US" sz="1200" b="1" kern="0" spc="100" dirty="0">
                <a:solidFill>
                  <a:srgbClr val="1F8F65"/>
                </a:solidFill>
                <a:latin typeface="Segoe UI" pitchFamily="34" charset="0"/>
                <a:ea typeface="Segoe UI" pitchFamily="34" charset="-122"/>
                <a:cs typeface="Segoe UI" pitchFamily="34" charset="-120"/>
              </a:rPr>
              <a:t>BEST PRACTICE   </a:t>
            </a:r>
            <a:r>
              <a:rPr lang="en-US" sz="1200" dirty="0">
                <a:solidFill>
                  <a:srgbClr val="24162A"/>
                </a:solidFill>
                <a:latin typeface="Segoe UI" pitchFamily="34" charset="0"/>
                <a:ea typeface="Segoe UI" pitchFamily="34" charset="-122"/>
                <a:cs typeface="Segoe UI" pitchFamily="34" charset="-120"/>
              </a:rPr>
              <a:t>Northline's honest answer is modular monolith first, plus events for stock. Microservices only for the parts that proved they need it.</a:t>
            </a:r>
            <a:endParaRPr lang="en-US" sz="1200" dirty="0"/>
          </a:p>
        </p:txBody>
      </p:sp>
      <p:sp>
        <p:nvSpPr>
          <p:cNvPr id="80" name="Shape 77"/>
          <p:cNvSpPr/>
          <p:nvPr/>
        </p:nvSpPr>
        <p:spPr>
          <a:xfrm>
            <a:off x="502920" y="6071616"/>
            <a:ext cx="54864" cy="201168"/>
          </a:xfrm>
          <a:prstGeom prst="rect">
            <a:avLst/>
          </a:prstGeom>
          <a:solidFill>
            <a:srgbClr val="43BFB8"/>
          </a:solidFill>
          <a:ln/>
        </p:spPr>
        <p:txBody>
          <a:bodyPr/>
          <a:lstStyle/>
          <a:p>
            <a:endParaRPr/>
          </a:p>
        </p:txBody>
      </p:sp>
      <p:sp>
        <p:nvSpPr>
          <p:cNvPr id="81" name="Text 78"/>
          <p:cNvSpPr/>
          <p:nvPr/>
        </p:nvSpPr>
        <p:spPr>
          <a:xfrm>
            <a:off x="667512" y="598017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martinfowler.com/architecture  ·  microservices.io/patterns  ·  alistair.cockburn.us/hexagonal-architecture</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two heuristics that decide every boundary</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Forget the patterns for a minute  this is the underlying rule.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46</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Cohesion means things that change together live together. Coupling means how much one part must know about another part. Good design is high cohesion inside a box, and low coupling between boxes.</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Test for cohesion: when this business rule changes, how many files do I open? One is good. Nine is a warning.</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Test for coupling: if I change this part, who else must be redeployed at the same time? Nobody is good.</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The worst kind of coupling is a shared database table, because nobody can see it in the code.</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Some coupling is fine and necessary. Hidden coupling is what kills you, because you cannot plan for it.</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Every pattern on the previous slide is only a way of raising cohesion and lowering coupling. If you remember the two tests, you can judge a design you have never seen before.</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judge any proposed boundary with two questions instead of an opinion.</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point at the hidden coupling in a diagram, out loud, in a review.</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stop arguing about patterns and start arguing about change and release.</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Northline stock is written by the shop and by the warehouse. Two writers on one table: maximum coupling, and completely invisible in the code.</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Original source: Larry Constantine, structured design (1974)  ·  modern take: “Building Evolutionary Architectures”, chapter on coupling.</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100" b="1" dirty="0">
                <a:solidFill>
                  <a:srgbClr val="5F1B3C"/>
                </a:solidFill>
                <a:latin typeface="Segoe UI" pitchFamily="34" charset="0"/>
                <a:ea typeface="Segoe UI" pitchFamily="34" charset="-122"/>
                <a:cs typeface="Segoe UI" pitchFamily="34" charset="-120"/>
              </a:rPr>
              <a:t>Domain-driven design    three words that matter</a:t>
            </a:r>
            <a:endParaRPr lang="en-US" sz="21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Ubiquitous language, bounded context, aggregate.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47</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Domain-driven design says the software should use the same words as the business, and each area of the business should keep its own model of those words behind a clear border.</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Ubiquitous language  one shared vocabulary. If the business says “shipment” and the code says pkg_row, people mistranslate every day.</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Bounded context  a border inside which a word has exactly one meaning.</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Aggregate  data that must change together, with one entry point. An Order and its lines change as one unit.</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You do not need every DDD pattern. These three prevent most bad service boundaries.</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Two teams sharing the word “customer” with two different meanings will build two services that fight forever. Fixing language is cheaper than fixing code.</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name two Northline contexts and what “order” means in each.</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reject a split that cuts through a language border.</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name one aggregate that must not be split.</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In Sales, “order” is a basket a shopper is filling. In Shipping, “order” is a package with an address. Two contexts, two models, one border.</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Eric Evans, “Domain-Driven Design” (2003)  ·  Vaughn Vernon, “Implementing DDD”  ·  domainlanguage.com/ddd/reference (free PDF).</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Two bounded contexts, one border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The same word means something different on each side.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48</a:t>
            </a:r>
            <a:endParaRPr lang="en-US" sz="1000" dirty="0"/>
          </a:p>
        </p:txBody>
      </p:sp>
      <p:sp>
        <p:nvSpPr>
          <p:cNvPr id="36" name="Shape 33"/>
          <p:cNvSpPr/>
          <p:nvPr/>
        </p:nvSpPr>
        <p:spPr>
          <a:xfrm>
            <a:off x="640080" y="1508760"/>
            <a:ext cx="4480560" cy="1691640"/>
          </a:xfrm>
          <a:prstGeom prst="roundRect">
            <a:avLst>
              <a:gd name="adj" fmla="val 5405"/>
            </a:avLst>
          </a:prstGeom>
          <a:solidFill>
            <a:srgbClr val="E4F5F3"/>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640080" y="1600200"/>
            <a:ext cx="4480560" cy="150876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CATALOG context</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item = a product we sell</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price = today's price</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customer = a visitor</a:t>
            </a:r>
            <a:endParaRPr lang="en-US" sz="1300" dirty="0"/>
          </a:p>
        </p:txBody>
      </p:sp>
      <p:sp>
        <p:nvSpPr>
          <p:cNvPr id="38" name="Shape 35"/>
          <p:cNvSpPr/>
          <p:nvPr/>
        </p:nvSpPr>
        <p:spPr>
          <a:xfrm>
            <a:off x="6583680" y="1508760"/>
            <a:ext cx="4480560" cy="1691640"/>
          </a:xfrm>
          <a:prstGeom prst="roundRect">
            <a:avLst>
              <a:gd name="adj" fmla="val 5405"/>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6583680" y="1600200"/>
            <a:ext cx="4480560" cy="150876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CHECKOUT context</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item = a line on a bill</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price = the quoted price</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customer = a payer</a:t>
            </a:r>
            <a:endParaRPr lang="en-US" sz="1300" dirty="0"/>
          </a:p>
        </p:txBody>
      </p:sp>
      <p:sp>
        <p:nvSpPr>
          <p:cNvPr id="40" name="Shape 37"/>
          <p:cNvSpPr/>
          <p:nvPr/>
        </p:nvSpPr>
        <p:spPr>
          <a:xfrm>
            <a:off x="5230368" y="1783080"/>
            <a:ext cx="1325880" cy="1143000"/>
          </a:xfrm>
          <a:prstGeom prst="roundRect">
            <a:avLst>
              <a:gd name="adj" fmla="val 8000"/>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5230368" y="1874520"/>
            <a:ext cx="1325880" cy="96012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the border</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event:</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PriceQuoted</a:t>
            </a:r>
            <a:endParaRPr lang="en-US" sz="1300" dirty="0"/>
          </a:p>
        </p:txBody>
      </p:sp>
      <p:sp>
        <p:nvSpPr>
          <p:cNvPr id="42" name="Shape 39"/>
          <p:cNvSpPr/>
          <p:nvPr/>
        </p:nvSpPr>
        <p:spPr>
          <a:xfrm>
            <a:off x="640080" y="3749040"/>
            <a:ext cx="10424160" cy="914400"/>
          </a:xfrm>
          <a:prstGeom prst="roundRect">
            <a:avLst>
              <a:gd name="adj" fmla="val 10000"/>
            </a:avLst>
          </a:prstGeom>
          <a:solidFill>
            <a:srgbClr val="FEE2E2"/>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640080" y="3840480"/>
            <a:ext cx="10424160" cy="73152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DANGER: “price” crosses the border.</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Catalog may change price tomorrow  Checkout must keep the price the shopper saw.</a:t>
            </a:r>
            <a:endParaRPr lang="en-US" sz="1300" dirty="0"/>
          </a:p>
        </p:txBody>
      </p:sp>
      <p:sp>
        <p:nvSpPr>
          <p:cNvPr id="44" name="Shape 41"/>
          <p:cNvSpPr/>
          <p:nvPr/>
        </p:nvSpPr>
        <p:spPr>
          <a:xfrm>
            <a:off x="5120640" y="2354580"/>
            <a:ext cx="109728" cy="914"/>
          </a:xfrm>
          <a:prstGeom prst="line">
            <a:avLst/>
          </a:prstGeom>
          <a:noFill/>
          <a:ln w="19050">
            <a:solidFill>
              <a:srgbClr val="43BFB8"/>
            </a:solidFill>
            <a:prstDash val="solid"/>
            <a:tailEnd type="triangle"/>
          </a:ln>
        </p:spPr>
        <p:txBody>
          <a:bodyPr/>
          <a:lstStyle/>
          <a:p>
            <a:endParaRPr/>
          </a:p>
        </p:txBody>
      </p:sp>
      <p:sp>
        <p:nvSpPr>
          <p:cNvPr id="45" name="Shape 42"/>
          <p:cNvSpPr/>
          <p:nvPr/>
        </p:nvSpPr>
        <p:spPr>
          <a:xfrm>
            <a:off x="6556248" y="2354580"/>
            <a:ext cx="27432" cy="914"/>
          </a:xfrm>
          <a:prstGeom prst="line">
            <a:avLst/>
          </a:prstGeom>
          <a:noFill/>
          <a:ln w="19050">
            <a:solidFill>
              <a:srgbClr val="E76F30"/>
            </a:solidFill>
            <a:prstDash val="solid"/>
            <a:tailEnd type="triangle"/>
          </a:ln>
        </p:spPr>
        <p:txBody>
          <a:bodyPr/>
          <a:lstStyle/>
          <a:p>
            <a:endParaRPr/>
          </a:p>
        </p:txBody>
      </p:sp>
      <p:sp>
        <p:nvSpPr>
          <p:cNvPr id="46" name="Shape 43"/>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47" name="Shape 44"/>
          <p:cNvSpPr/>
          <p:nvPr/>
        </p:nvSpPr>
        <p:spPr>
          <a:xfrm>
            <a:off x="502920" y="5010912"/>
            <a:ext cx="100584" cy="731520"/>
          </a:xfrm>
          <a:prstGeom prst="rect">
            <a:avLst/>
          </a:prstGeom>
          <a:solidFill>
            <a:srgbClr val="1F8F65"/>
          </a:solidFill>
          <a:ln/>
        </p:spPr>
        <p:txBody>
          <a:bodyPr/>
          <a:lstStyle/>
          <a:p>
            <a:endParaRPr/>
          </a:p>
        </p:txBody>
      </p:sp>
      <p:sp>
        <p:nvSpPr>
          <p:cNvPr id="48" name="Text 45"/>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Copy the quoted price into the order. Never read the live catalog price at payment time.</a:t>
            </a:r>
            <a:endParaRPr lang="en-US" sz="1250" dirty="0"/>
          </a:p>
        </p:txBody>
      </p:sp>
      <p:sp>
        <p:nvSpPr>
          <p:cNvPr id="49" name="Shape 46"/>
          <p:cNvSpPr/>
          <p:nvPr/>
        </p:nvSpPr>
        <p:spPr>
          <a:xfrm>
            <a:off x="502920" y="5925312"/>
            <a:ext cx="54864" cy="201168"/>
          </a:xfrm>
          <a:prstGeom prst="rect">
            <a:avLst/>
          </a:prstGeom>
          <a:solidFill>
            <a:srgbClr val="43BFB8"/>
          </a:solidFill>
          <a:ln/>
        </p:spPr>
        <p:txBody>
          <a:bodyPr/>
          <a:lstStyle/>
          <a:p>
            <a:endParaRPr/>
          </a:p>
        </p:txBody>
      </p:sp>
      <p:sp>
        <p:nvSpPr>
          <p:cNvPr id="50" name="Text 47"/>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domainlanguage.com/ddd/reference  context map, shared language, and integration patterns.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draw two bounded contexts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in groups of three. Paper or draw.io.</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49</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two contexts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Catalog (what we sell) and Checkout (how we take money).</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Define three words in each</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item, price, customer  write what each word means on that side.</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Circle the dangerous word</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Any word that changes meaning when it crosses the line.</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the border message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One event Checkout can receive without reading Catalog's private tables.</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Catalog.item  = product with photos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Checkout.item = a billed line, fixed price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Dangerous word : price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Reason : catalog price can change tomorrow;</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the order must keep what was shown.</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Border event : PriceQuoted</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 itemId, price, currency, quotedAt }</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Aggregate that must stay together:</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Order + its order lines.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Two boxes with word meanings written inside, one circled dangerous word, one named border event.</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Catalog and Checkout. “Price” and “customer” change meaning. Best practice: copy the quoted value across the border; do not share the table.</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Context mapping patterns: shared kernel, customer/supplier, anti-corruption layer  Evans, part IV.</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context map document you will hand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This is how a bounded context stops being a slide and becomes a decision the whole team can use.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50</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04-Context-map-template.docx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A two-page document that names each area of the business, defines the words used inside it, names the single owner of each fact, and states how information crosses the border. It is the document that prevents two teams building two meanings of “customer”.</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Context name + owner</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“Catalog  owned by the A1 team.” One named team per context. Not a committee.</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Word list</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Each important word and what it means HERE. item, price, customer, order. Copy the words the business actually says.</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Facts we own</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fields only this context may write. Everything else is a copy, and must be labelled as a copy.</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the border is crossed</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For each neighbour: the API call or the event, and whether it is live data or a copy taken at a moment in time.</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Dangerous words</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Words that change meaning at the border, and the rule for each one. This is the section that prevents real bugs.</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Fill the word list with the business people in the room, not alone at your desk. Their words are the correct ones.</a:t>
            </a:r>
            <a:endParaRPr lang="en-US" sz="1250" dirty="0"/>
          </a:p>
        </p:txBody>
      </p:sp>
      <p:sp>
        <p:nvSpPr>
          <p:cNvPr id="68" name="Shape 65"/>
          <p:cNvSpPr/>
          <p:nvPr/>
        </p:nvSpPr>
        <p:spPr>
          <a:xfrm>
            <a:off x="502920" y="5925312"/>
            <a:ext cx="54864" cy="201168"/>
          </a:xfrm>
          <a:prstGeom prst="rect">
            <a:avLst/>
          </a:prstGeom>
          <a:solidFill>
            <a:srgbClr val="43BFB8"/>
          </a:solidFill>
          <a:ln/>
        </p:spPr>
        <p:txBody>
          <a:bodyPr/>
          <a:lstStyle/>
          <a:p>
            <a:endParaRPr/>
          </a:p>
        </p:txBody>
      </p:sp>
      <p:sp>
        <p:nvSpPr>
          <p:cNvPr id="69" name="Text 6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Evans, “Domain-Driven Design”, part IV (context mapping)  ·  github.com/ddd-crew/context-mapping  free visual templates.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Five ways to cut a system    and what each one gives you</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Decomposition strategies. Pick one on purpose and write down which one you picked.</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51</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microservices.io/patterns/decomposition  ·  Sam Newman, “Monolith to Microservices”, chapter 3  ·  Conway's Law (1968).</a:t>
            </a:r>
            <a:endParaRPr lang="en-US" sz="1050" dirty="0"/>
          </a:p>
        </p:txBody>
      </p:sp>
      <p:sp>
        <p:nvSpPr>
          <p:cNvPr id="36" name="Shape 33"/>
          <p:cNvSpPr/>
          <p:nvPr/>
        </p:nvSpPr>
        <p:spPr>
          <a:xfrm>
            <a:off x="502920" y="1508760"/>
            <a:ext cx="237744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237744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Strategy</a:t>
            </a:r>
            <a:endParaRPr lang="en-US" sz="1200" dirty="0"/>
          </a:p>
        </p:txBody>
      </p:sp>
      <p:sp>
        <p:nvSpPr>
          <p:cNvPr id="38" name="Shape 35"/>
          <p:cNvSpPr/>
          <p:nvPr/>
        </p:nvSpPr>
        <p:spPr>
          <a:xfrm>
            <a:off x="2880360" y="1508760"/>
            <a:ext cx="301752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2880360" y="1508760"/>
            <a:ext cx="30175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You cut along...</a:t>
            </a:r>
            <a:endParaRPr lang="en-US" sz="1200" dirty="0"/>
          </a:p>
        </p:txBody>
      </p:sp>
      <p:sp>
        <p:nvSpPr>
          <p:cNvPr id="40" name="Shape 37"/>
          <p:cNvSpPr/>
          <p:nvPr/>
        </p:nvSpPr>
        <p:spPr>
          <a:xfrm>
            <a:off x="5897880" y="1508760"/>
            <a:ext cx="320040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5897880" y="1508760"/>
            <a:ext cx="32004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Good when</a:t>
            </a:r>
            <a:endParaRPr lang="en-US" sz="1200" dirty="0"/>
          </a:p>
        </p:txBody>
      </p:sp>
      <p:sp>
        <p:nvSpPr>
          <p:cNvPr id="42" name="Shape 39"/>
          <p:cNvSpPr/>
          <p:nvPr/>
        </p:nvSpPr>
        <p:spPr>
          <a:xfrm>
            <a:off x="9098280" y="1508760"/>
            <a:ext cx="2560320" cy="502920"/>
          </a:xfrm>
          <a:prstGeom prst="rect">
            <a:avLst/>
          </a:prstGeom>
          <a:solidFill>
            <a:srgbClr val="F6F5F8"/>
          </a:solidFill>
          <a:ln w="9525">
            <a:solidFill>
              <a:srgbClr val="E3E0E8"/>
            </a:solidFill>
            <a:prstDash val="solid"/>
          </a:ln>
        </p:spPr>
        <p:txBody>
          <a:bodyPr/>
          <a:lstStyle/>
          <a:p>
            <a:endParaRPr/>
          </a:p>
        </p:txBody>
      </p:sp>
      <p:sp>
        <p:nvSpPr>
          <p:cNvPr id="43" name="Text 40"/>
          <p:cNvSpPr/>
          <p:nvPr/>
        </p:nvSpPr>
        <p:spPr>
          <a:xfrm>
            <a:off x="9098280" y="1508760"/>
            <a:ext cx="25603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The trap</a:t>
            </a:r>
            <a:endParaRPr lang="en-US" sz="1200" dirty="0"/>
          </a:p>
        </p:txBody>
      </p:sp>
      <p:sp>
        <p:nvSpPr>
          <p:cNvPr id="44" name="Shape 41"/>
          <p:cNvSpPr/>
          <p:nvPr/>
        </p:nvSpPr>
        <p:spPr>
          <a:xfrm>
            <a:off x="502920" y="2011680"/>
            <a:ext cx="237744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594360" y="2011680"/>
            <a:ext cx="21945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By business capability</a:t>
            </a:r>
            <a:endParaRPr lang="en-US" sz="1200" dirty="0"/>
          </a:p>
        </p:txBody>
      </p:sp>
      <p:sp>
        <p:nvSpPr>
          <p:cNvPr id="46" name="Shape 43"/>
          <p:cNvSpPr/>
          <p:nvPr/>
        </p:nvSpPr>
        <p:spPr>
          <a:xfrm>
            <a:off x="2880360" y="2011680"/>
            <a:ext cx="301752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2971800" y="201168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What the company does: Catalog, Checkout, Shipping</a:t>
            </a:r>
            <a:endParaRPr lang="en-US" sz="1200" dirty="0"/>
          </a:p>
        </p:txBody>
      </p:sp>
      <p:sp>
        <p:nvSpPr>
          <p:cNvPr id="48" name="Shape 45"/>
          <p:cNvSpPr/>
          <p:nvPr/>
        </p:nvSpPr>
        <p:spPr>
          <a:xfrm>
            <a:off x="5897880" y="2011680"/>
            <a:ext cx="3200400" cy="594360"/>
          </a:xfrm>
          <a:prstGeom prst="rect">
            <a:avLst/>
          </a:prstGeom>
          <a:solidFill>
            <a:srgbClr val="FFFFFF"/>
          </a:solidFill>
          <a:ln w="6350">
            <a:solidFill>
              <a:srgbClr val="E3E0E8"/>
            </a:solidFill>
            <a:prstDash val="solid"/>
          </a:ln>
        </p:spPr>
        <p:txBody>
          <a:bodyPr/>
          <a:lstStyle/>
          <a:p>
            <a:endParaRPr/>
          </a:p>
        </p:txBody>
      </p:sp>
      <p:sp>
        <p:nvSpPr>
          <p:cNvPr id="49" name="Text 46"/>
          <p:cNvSpPr/>
          <p:nvPr/>
        </p:nvSpPr>
        <p:spPr>
          <a:xfrm>
            <a:off x="5989320" y="2011680"/>
            <a:ext cx="30175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Almost always the right default</a:t>
            </a:r>
            <a:endParaRPr lang="en-US" sz="1200" dirty="0"/>
          </a:p>
        </p:txBody>
      </p:sp>
      <p:sp>
        <p:nvSpPr>
          <p:cNvPr id="50" name="Shape 47"/>
          <p:cNvSpPr/>
          <p:nvPr/>
        </p:nvSpPr>
        <p:spPr>
          <a:xfrm>
            <a:off x="9098280" y="2011680"/>
            <a:ext cx="2560320" cy="594360"/>
          </a:xfrm>
          <a:prstGeom prst="rect">
            <a:avLst/>
          </a:prstGeom>
          <a:solidFill>
            <a:srgbClr val="FFFFFF"/>
          </a:solidFill>
          <a:ln w="6350">
            <a:solidFill>
              <a:srgbClr val="E3E0E8"/>
            </a:solidFill>
            <a:prstDash val="solid"/>
          </a:ln>
        </p:spPr>
        <p:txBody>
          <a:bodyPr/>
          <a:lstStyle/>
          <a:p>
            <a:endParaRPr/>
          </a:p>
        </p:txBody>
      </p:sp>
      <p:sp>
        <p:nvSpPr>
          <p:cNvPr id="51" name="Text 48"/>
          <p:cNvSpPr/>
          <p:nvPr/>
        </p:nvSpPr>
        <p:spPr>
          <a:xfrm>
            <a:off x="9189720" y="201168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Capability names copied from the org chart</a:t>
            </a:r>
            <a:endParaRPr lang="en-US" sz="1200" dirty="0"/>
          </a:p>
        </p:txBody>
      </p:sp>
      <p:sp>
        <p:nvSpPr>
          <p:cNvPr id="52" name="Shape 49"/>
          <p:cNvSpPr/>
          <p:nvPr/>
        </p:nvSpPr>
        <p:spPr>
          <a:xfrm>
            <a:off x="502920" y="2606040"/>
            <a:ext cx="237744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594360" y="2606040"/>
            <a:ext cx="21945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By subdomain (DDD)</a:t>
            </a:r>
            <a:endParaRPr lang="en-US" sz="1200" dirty="0"/>
          </a:p>
        </p:txBody>
      </p:sp>
      <p:sp>
        <p:nvSpPr>
          <p:cNvPr id="54" name="Shape 51"/>
          <p:cNvSpPr/>
          <p:nvPr/>
        </p:nvSpPr>
        <p:spPr>
          <a:xfrm>
            <a:off x="2880360" y="2606040"/>
            <a:ext cx="3017520" cy="594360"/>
          </a:xfrm>
          <a:prstGeom prst="rect">
            <a:avLst/>
          </a:prstGeom>
          <a:solidFill>
            <a:srgbClr val="FBFCFD"/>
          </a:solidFill>
          <a:ln w="6350">
            <a:solidFill>
              <a:srgbClr val="E3E0E8"/>
            </a:solidFill>
            <a:prstDash val="solid"/>
          </a:ln>
        </p:spPr>
        <p:txBody>
          <a:bodyPr/>
          <a:lstStyle/>
          <a:p>
            <a:endParaRPr/>
          </a:p>
        </p:txBody>
      </p:sp>
      <p:sp>
        <p:nvSpPr>
          <p:cNvPr id="55" name="Text 52"/>
          <p:cNvSpPr/>
          <p:nvPr/>
        </p:nvSpPr>
        <p:spPr>
          <a:xfrm>
            <a:off x="2971800" y="260604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Language borders and data ownership</a:t>
            </a:r>
            <a:endParaRPr lang="en-US" sz="1200" dirty="0"/>
          </a:p>
        </p:txBody>
      </p:sp>
      <p:sp>
        <p:nvSpPr>
          <p:cNvPr id="56" name="Shape 53"/>
          <p:cNvSpPr/>
          <p:nvPr/>
        </p:nvSpPr>
        <p:spPr>
          <a:xfrm>
            <a:off x="5897880" y="2606040"/>
            <a:ext cx="3200400" cy="594360"/>
          </a:xfrm>
          <a:prstGeom prst="rect">
            <a:avLst/>
          </a:prstGeom>
          <a:solidFill>
            <a:srgbClr val="FBFCFD"/>
          </a:solidFill>
          <a:ln w="6350">
            <a:solidFill>
              <a:srgbClr val="E3E0E8"/>
            </a:solidFill>
            <a:prstDash val="solid"/>
          </a:ln>
        </p:spPr>
        <p:txBody>
          <a:bodyPr/>
          <a:lstStyle/>
          <a:p>
            <a:endParaRPr/>
          </a:p>
        </p:txBody>
      </p:sp>
      <p:sp>
        <p:nvSpPr>
          <p:cNvPr id="57" name="Text 54"/>
          <p:cNvSpPr/>
          <p:nvPr/>
        </p:nvSpPr>
        <p:spPr>
          <a:xfrm>
            <a:off x="5989320" y="2606040"/>
            <a:ext cx="30175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The words already mean two things</a:t>
            </a:r>
            <a:endParaRPr lang="en-US" sz="1200" dirty="0"/>
          </a:p>
        </p:txBody>
      </p:sp>
      <p:sp>
        <p:nvSpPr>
          <p:cNvPr id="58" name="Shape 55"/>
          <p:cNvSpPr/>
          <p:nvPr/>
        </p:nvSpPr>
        <p:spPr>
          <a:xfrm>
            <a:off x="9098280" y="2606040"/>
            <a:ext cx="2560320" cy="594360"/>
          </a:xfrm>
          <a:prstGeom prst="rect">
            <a:avLst/>
          </a:prstGeom>
          <a:solidFill>
            <a:srgbClr val="FBFCFD"/>
          </a:solidFill>
          <a:ln w="6350">
            <a:solidFill>
              <a:srgbClr val="E3E0E8"/>
            </a:solidFill>
            <a:prstDash val="solid"/>
          </a:ln>
        </p:spPr>
        <p:txBody>
          <a:bodyPr/>
          <a:lstStyle/>
          <a:p>
            <a:endParaRPr/>
          </a:p>
        </p:txBody>
      </p:sp>
      <p:sp>
        <p:nvSpPr>
          <p:cNvPr id="59" name="Text 56"/>
          <p:cNvSpPr/>
          <p:nvPr/>
        </p:nvSpPr>
        <p:spPr>
          <a:xfrm>
            <a:off x="9189720" y="260604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Needs business time you may not get</a:t>
            </a:r>
            <a:endParaRPr lang="en-US" sz="1200" dirty="0"/>
          </a:p>
        </p:txBody>
      </p:sp>
      <p:sp>
        <p:nvSpPr>
          <p:cNvPr id="60" name="Shape 57"/>
          <p:cNvSpPr/>
          <p:nvPr/>
        </p:nvSpPr>
        <p:spPr>
          <a:xfrm>
            <a:off x="502920" y="3200400"/>
            <a:ext cx="2377440" cy="594360"/>
          </a:xfrm>
          <a:prstGeom prst="rect">
            <a:avLst/>
          </a:prstGeom>
          <a:solidFill>
            <a:srgbClr val="FFFFFF"/>
          </a:solidFill>
          <a:ln w="6350">
            <a:solidFill>
              <a:srgbClr val="E3E0E8"/>
            </a:solidFill>
            <a:prstDash val="solid"/>
          </a:ln>
        </p:spPr>
        <p:txBody>
          <a:bodyPr/>
          <a:lstStyle/>
          <a:p>
            <a:endParaRPr/>
          </a:p>
        </p:txBody>
      </p:sp>
      <p:sp>
        <p:nvSpPr>
          <p:cNvPr id="61" name="Text 58"/>
          <p:cNvSpPr/>
          <p:nvPr/>
        </p:nvSpPr>
        <p:spPr>
          <a:xfrm>
            <a:off x="594360" y="3200400"/>
            <a:ext cx="21945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By rate of change</a:t>
            </a:r>
            <a:endParaRPr lang="en-US" sz="1200" dirty="0"/>
          </a:p>
        </p:txBody>
      </p:sp>
      <p:sp>
        <p:nvSpPr>
          <p:cNvPr id="62" name="Shape 59"/>
          <p:cNvSpPr/>
          <p:nvPr/>
        </p:nvSpPr>
        <p:spPr>
          <a:xfrm>
            <a:off x="2880360" y="3200400"/>
            <a:ext cx="3017520" cy="594360"/>
          </a:xfrm>
          <a:prstGeom prst="rect">
            <a:avLst/>
          </a:prstGeom>
          <a:solidFill>
            <a:srgbClr val="FFFFFF"/>
          </a:solidFill>
          <a:ln w="6350">
            <a:solidFill>
              <a:srgbClr val="E3E0E8"/>
            </a:solidFill>
            <a:prstDash val="solid"/>
          </a:ln>
        </p:spPr>
        <p:txBody>
          <a:bodyPr/>
          <a:lstStyle/>
          <a:p>
            <a:endParaRPr/>
          </a:p>
        </p:txBody>
      </p:sp>
      <p:sp>
        <p:nvSpPr>
          <p:cNvPr id="63" name="Text 60"/>
          <p:cNvSpPr/>
          <p:nvPr/>
        </p:nvSpPr>
        <p:spPr>
          <a:xfrm>
            <a:off x="2971800" y="320040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Weekly features vs yearly code</a:t>
            </a:r>
            <a:endParaRPr lang="en-US" sz="1200" dirty="0"/>
          </a:p>
        </p:txBody>
      </p:sp>
      <p:sp>
        <p:nvSpPr>
          <p:cNvPr id="64" name="Shape 61"/>
          <p:cNvSpPr/>
          <p:nvPr/>
        </p:nvSpPr>
        <p:spPr>
          <a:xfrm>
            <a:off x="5897880" y="3200400"/>
            <a:ext cx="3200400" cy="594360"/>
          </a:xfrm>
          <a:prstGeom prst="rect">
            <a:avLst/>
          </a:prstGeom>
          <a:solidFill>
            <a:srgbClr val="FFFFFF"/>
          </a:solidFill>
          <a:ln w="6350">
            <a:solidFill>
              <a:srgbClr val="E3E0E8"/>
            </a:solidFill>
            <a:prstDash val="solid"/>
          </a:ln>
        </p:spPr>
        <p:txBody>
          <a:bodyPr/>
          <a:lstStyle/>
          <a:p>
            <a:endParaRPr/>
          </a:p>
        </p:txBody>
      </p:sp>
      <p:sp>
        <p:nvSpPr>
          <p:cNvPr id="65" name="Text 62"/>
          <p:cNvSpPr/>
          <p:nvPr/>
        </p:nvSpPr>
        <p:spPr>
          <a:xfrm>
            <a:off x="5989320" y="3200400"/>
            <a:ext cx="30175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slow part is blocking a fast part</a:t>
            </a:r>
            <a:endParaRPr lang="en-US" sz="1200" dirty="0"/>
          </a:p>
        </p:txBody>
      </p:sp>
      <p:sp>
        <p:nvSpPr>
          <p:cNvPr id="66" name="Shape 63"/>
          <p:cNvSpPr/>
          <p:nvPr/>
        </p:nvSpPr>
        <p:spPr>
          <a:xfrm>
            <a:off x="9098280" y="3200400"/>
            <a:ext cx="256032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9189720" y="320040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Only splits two boxes, not the whole system</a:t>
            </a:r>
            <a:endParaRPr lang="en-US" sz="1200" dirty="0"/>
          </a:p>
        </p:txBody>
      </p:sp>
      <p:sp>
        <p:nvSpPr>
          <p:cNvPr id="68" name="Shape 65"/>
          <p:cNvSpPr/>
          <p:nvPr/>
        </p:nvSpPr>
        <p:spPr>
          <a:xfrm>
            <a:off x="502920" y="3794760"/>
            <a:ext cx="2377440" cy="594360"/>
          </a:xfrm>
          <a:prstGeom prst="rect">
            <a:avLst/>
          </a:prstGeom>
          <a:solidFill>
            <a:srgbClr val="FBFCFD"/>
          </a:solidFill>
          <a:ln w="6350">
            <a:solidFill>
              <a:srgbClr val="E3E0E8"/>
            </a:solidFill>
            <a:prstDash val="solid"/>
          </a:ln>
        </p:spPr>
        <p:txBody>
          <a:bodyPr/>
          <a:lstStyle/>
          <a:p>
            <a:endParaRPr/>
          </a:p>
        </p:txBody>
      </p:sp>
      <p:sp>
        <p:nvSpPr>
          <p:cNvPr id="69" name="Text 66"/>
          <p:cNvSpPr/>
          <p:nvPr/>
        </p:nvSpPr>
        <p:spPr>
          <a:xfrm>
            <a:off x="594360" y="3794760"/>
            <a:ext cx="21945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By team (Conway)</a:t>
            </a:r>
            <a:endParaRPr lang="en-US" sz="1200" dirty="0"/>
          </a:p>
        </p:txBody>
      </p:sp>
      <p:sp>
        <p:nvSpPr>
          <p:cNvPr id="70" name="Shape 67"/>
          <p:cNvSpPr/>
          <p:nvPr/>
        </p:nvSpPr>
        <p:spPr>
          <a:xfrm>
            <a:off x="2880360" y="3794760"/>
            <a:ext cx="3017520" cy="594360"/>
          </a:xfrm>
          <a:prstGeom prst="rect">
            <a:avLst/>
          </a:prstGeom>
          <a:solidFill>
            <a:srgbClr val="FBFCFD"/>
          </a:solidFill>
          <a:ln w="6350">
            <a:solidFill>
              <a:srgbClr val="E3E0E8"/>
            </a:solidFill>
            <a:prstDash val="solid"/>
          </a:ln>
        </p:spPr>
        <p:txBody>
          <a:bodyPr/>
          <a:lstStyle/>
          <a:p>
            <a:endParaRPr/>
          </a:p>
        </p:txBody>
      </p:sp>
      <p:sp>
        <p:nvSpPr>
          <p:cNvPr id="71" name="Text 68"/>
          <p:cNvSpPr/>
          <p:nvPr/>
        </p:nvSpPr>
        <p:spPr>
          <a:xfrm>
            <a:off x="2971800" y="379476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Who can own and operate it at 2 a.m.</a:t>
            </a:r>
            <a:endParaRPr lang="en-US" sz="1200" dirty="0"/>
          </a:p>
        </p:txBody>
      </p:sp>
      <p:sp>
        <p:nvSpPr>
          <p:cNvPr id="72" name="Shape 69"/>
          <p:cNvSpPr/>
          <p:nvPr/>
        </p:nvSpPr>
        <p:spPr>
          <a:xfrm>
            <a:off x="5897880" y="3794760"/>
            <a:ext cx="320040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89320" y="3794760"/>
            <a:ext cx="30175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Teams are stable and own their runtime</a:t>
            </a:r>
            <a:endParaRPr lang="en-US" sz="1200" dirty="0"/>
          </a:p>
        </p:txBody>
      </p:sp>
      <p:sp>
        <p:nvSpPr>
          <p:cNvPr id="74" name="Shape 71"/>
          <p:cNvSpPr/>
          <p:nvPr/>
        </p:nvSpPr>
        <p:spPr>
          <a:xfrm>
            <a:off x="9098280" y="3794760"/>
            <a:ext cx="256032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9189720" y="379476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Reorganise the teams and the design rots</a:t>
            </a:r>
            <a:endParaRPr lang="en-US" sz="1200" dirty="0"/>
          </a:p>
        </p:txBody>
      </p:sp>
      <p:sp>
        <p:nvSpPr>
          <p:cNvPr id="76" name="Shape 73"/>
          <p:cNvSpPr/>
          <p:nvPr/>
        </p:nvSpPr>
        <p:spPr>
          <a:xfrm>
            <a:off x="502920" y="4389120"/>
            <a:ext cx="2377440" cy="594360"/>
          </a:xfrm>
          <a:prstGeom prst="rect">
            <a:avLst/>
          </a:prstGeom>
          <a:solidFill>
            <a:srgbClr val="FFFFFF"/>
          </a:solidFill>
          <a:ln w="6350">
            <a:solidFill>
              <a:srgbClr val="E3E0E8"/>
            </a:solidFill>
            <a:prstDash val="solid"/>
          </a:ln>
        </p:spPr>
        <p:txBody>
          <a:bodyPr/>
          <a:lstStyle/>
          <a:p>
            <a:endParaRPr/>
          </a:p>
        </p:txBody>
      </p:sp>
      <p:sp>
        <p:nvSpPr>
          <p:cNvPr id="77" name="Text 74"/>
          <p:cNvSpPr/>
          <p:nvPr/>
        </p:nvSpPr>
        <p:spPr>
          <a:xfrm>
            <a:off x="594360" y="4389120"/>
            <a:ext cx="21945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By technical layer</a:t>
            </a:r>
            <a:endParaRPr lang="en-US" sz="1200" dirty="0"/>
          </a:p>
        </p:txBody>
      </p:sp>
      <p:sp>
        <p:nvSpPr>
          <p:cNvPr id="78" name="Shape 75"/>
          <p:cNvSpPr/>
          <p:nvPr/>
        </p:nvSpPr>
        <p:spPr>
          <a:xfrm>
            <a:off x="2880360" y="4389120"/>
            <a:ext cx="3017520" cy="594360"/>
          </a:xfrm>
          <a:prstGeom prst="rect">
            <a:avLst/>
          </a:prstGeom>
          <a:solidFill>
            <a:srgbClr val="FFFFFF"/>
          </a:solidFill>
          <a:ln w="6350">
            <a:solidFill>
              <a:srgbClr val="E3E0E8"/>
            </a:solidFill>
            <a:prstDash val="solid"/>
          </a:ln>
        </p:spPr>
        <p:txBody>
          <a:bodyPr/>
          <a:lstStyle/>
          <a:p>
            <a:endParaRPr/>
          </a:p>
        </p:txBody>
      </p:sp>
      <p:sp>
        <p:nvSpPr>
          <p:cNvPr id="79" name="Text 76"/>
          <p:cNvSpPr/>
          <p:nvPr/>
        </p:nvSpPr>
        <p:spPr>
          <a:xfrm>
            <a:off x="2971800" y="4389120"/>
            <a:ext cx="28346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UI, API, database</a:t>
            </a:r>
            <a:endParaRPr lang="en-US" sz="1200" dirty="0"/>
          </a:p>
        </p:txBody>
      </p:sp>
      <p:sp>
        <p:nvSpPr>
          <p:cNvPr id="80" name="Shape 77"/>
          <p:cNvSpPr/>
          <p:nvPr/>
        </p:nvSpPr>
        <p:spPr>
          <a:xfrm>
            <a:off x="5897880" y="4389120"/>
            <a:ext cx="3200400" cy="594360"/>
          </a:xfrm>
          <a:prstGeom prst="rect">
            <a:avLst/>
          </a:prstGeom>
          <a:solidFill>
            <a:srgbClr val="FFFFFF"/>
          </a:solidFill>
          <a:ln w="6350">
            <a:solidFill>
              <a:srgbClr val="E3E0E8"/>
            </a:solidFill>
            <a:prstDash val="solid"/>
          </a:ln>
        </p:spPr>
        <p:txBody>
          <a:bodyPr/>
          <a:lstStyle/>
          <a:p>
            <a:endParaRPr/>
          </a:p>
        </p:txBody>
      </p:sp>
      <p:sp>
        <p:nvSpPr>
          <p:cNvPr id="81" name="Text 78"/>
          <p:cNvSpPr/>
          <p:nvPr/>
        </p:nvSpPr>
        <p:spPr>
          <a:xfrm>
            <a:off x="5989320" y="4389120"/>
            <a:ext cx="30175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Almost never for services</a:t>
            </a:r>
            <a:endParaRPr lang="en-US" sz="1200" dirty="0"/>
          </a:p>
        </p:txBody>
      </p:sp>
      <p:sp>
        <p:nvSpPr>
          <p:cNvPr id="82" name="Shape 79"/>
          <p:cNvSpPr/>
          <p:nvPr/>
        </p:nvSpPr>
        <p:spPr>
          <a:xfrm>
            <a:off x="9098280" y="4389120"/>
            <a:ext cx="2560320" cy="594360"/>
          </a:xfrm>
          <a:prstGeom prst="rect">
            <a:avLst/>
          </a:prstGeom>
          <a:solidFill>
            <a:srgbClr val="FFFFFF"/>
          </a:solidFill>
          <a:ln w="6350">
            <a:solidFill>
              <a:srgbClr val="E3E0E8"/>
            </a:solidFill>
            <a:prstDash val="solid"/>
          </a:ln>
        </p:spPr>
        <p:txBody>
          <a:bodyPr/>
          <a:lstStyle/>
          <a:p>
            <a:endParaRPr/>
          </a:p>
        </p:txBody>
      </p:sp>
      <p:sp>
        <p:nvSpPr>
          <p:cNvPr id="83" name="Text 80"/>
          <p:cNvSpPr/>
          <p:nvPr/>
        </p:nvSpPr>
        <p:spPr>
          <a:xfrm>
            <a:off x="9189720" y="438912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Three deploys, one shared database, zero freedom</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Splitting a system    do and don't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Microservices are one option, never the goal. The goal is independent change.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52</a:t>
            </a:r>
            <a:endParaRPr lang="en-US" sz="1000" dirty="0"/>
          </a:p>
        </p:txBody>
      </p:sp>
      <p:sp>
        <p:nvSpPr>
          <p:cNvPr id="36" name="Shape 33"/>
          <p:cNvSpPr/>
          <p:nvPr/>
        </p:nvSpPr>
        <p:spPr>
          <a:xfrm>
            <a:off x="502920" y="1243584"/>
            <a:ext cx="5455768" cy="420624"/>
          </a:xfrm>
          <a:prstGeom prst="roundRect">
            <a:avLst>
              <a:gd name="adj" fmla="val 19565"/>
            </a:avLst>
          </a:prstGeom>
          <a:solidFill>
            <a:srgbClr val="1F8F65"/>
          </a:solidFill>
          <a:ln/>
        </p:spPr>
        <p:txBody>
          <a:bodyPr/>
          <a:lstStyle/>
          <a:p>
            <a:endParaRPr/>
          </a:p>
        </p:txBody>
      </p:sp>
      <p:sp>
        <p:nvSpPr>
          <p:cNvPr id="37" name="Text 34"/>
          <p:cNvSpPr/>
          <p:nvPr/>
        </p:nvSpPr>
        <p:spPr>
          <a:xfrm>
            <a:off x="685800"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    best practice</a:t>
            </a:r>
            <a:endParaRPr lang="en-US" sz="1300" dirty="0"/>
          </a:p>
        </p:txBody>
      </p:sp>
      <p:sp>
        <p:nvSpPr>
          <p:cNvPr id="38" name="Shape 35"/>
          <p:cNvSpPr/>
          <p:nvPr/>
        </p:nvSpPr>
        <p:spPr>
          <a:xfrm>
            <a:off x="6233008" y="1243584"/>
            <a:ext cx="5455768" cy="420624"/>
          </a:xfrm>
          <a:prstGeom prst="roundRect">
            <a:avLst>
              <a:gd name="adj" fmla="val 19565"/>
            </a:avLst>
          </a:prstGeom>
          <a:solidFill>
            <a:srgbClr val="DC2626"/>
          </a:solidFill>
          <a:ln/>
        </p:spPr>
        <p:txBody>
          <a:bodyPr/>
          <a:lstStyle/>
          <a:p>
            <a:endParaRPr/>
          </a:p>
        </p:txBody>
      </p:sp>
      <p:sp>
        <p:nvSpPr>
          <p:cNvPr id="39" name="Text 36"/>
          <p:cNvSpPr/>
          <p:nvPr/>
        </p:nvSpPr>
        <p:spPr>
          <a:xfrm>
            <a:off x="6415888"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DON'T    what breaks in production</a:t>
            </a:r>
            <a:endParaRPr lang="en-US" sz="1300" dirty="0"/>
          </a:p>
        </p:txBody>
      </p:sp>
      <p:sp>
        <p:nvSpPr>
          <p:cNvPr id="40" name="Shape 37"/>
          <p:cNvSpPr/>
          <p:nvPr/>
        </p:nvSpPr>
        <p:spPr>
          <a:xfrm>
            <a:off x="502920" y="1792224"/>
            <a:ext cx="5455768" cy="681228"/>
          </a:xfrm>
          <a:prstGeom prst="roundRect">
            <a:avLst>
              <a:gd name="adj" fmla="val 12081"/>
            </a:avLst>
          </a:prstGeom>
          <a:solidFill>
            <a:srgbClr val="E1F5EC"/>
          </a:solidFill>
          <a:ln/>
        </p:spPr>
        <p:txBody>
          <a:bodyPr/>
          <a:lstStyle/>
          <a:p>
            <a:endParaRPr/>
          </a:p>
        </p:txBody>
      </p:sp>
      <p:sp>
        <p:nvSpPr>
          <p:cNvPr id="41" name="Text 38"/>
          <p:cNvSpPr/>
          <p:nvPr/>
        </p:nvSpPr>
        <p:spPr>
          <a:xfrm>
            <a:off x="612648" y="1847088"/>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2" name="Text 39"/>
          <p:cNvSpPr/>
          <p:nvPr/>
        </p:nvSpPr>
        <p:spPr>
          <a:xfrm>
            <a:off x="960120"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Split along business capabilities that match a bounded context: Catalog, Checkout, Shipping.</a:t>
            </a:r>
            <a:endParaRPr lang="en-US" sz="1150" dirty="0"/>
          </a:p>
        </p:txBody>
      </p:sp>
      <p:sp>
        <p:nvSpPr>
          <p:cNvPr id="43" name="Shape 40"/>
          <p:cNvSpPr/>
          <p:nvPr/>
        </p:nvSpPr>
        <p:spPr>
          <a:xfrm>
            <a:off x="6233008" y="1792224"/>
            <a:ext cx="5455768" cy="681228"/>
          </a:xfrm>
          <a:prstGeom prst="roundRect">
            <a:avLst>
              <a:gd name="adj" fmla="val 12081"/>
            </a:avLst>
          </a:prstGeom>
          <a:solidFill>
            <a:srgbClr val="FEE2E2"/>
          </a:solidFill>
          <a:ln/>
        </p:spPr>
        <p:txBody>
          <a:bodyPr/>
          <a:lstStyle/>
          <a:p>
            <a:endParaRPr/>
          </a:p>
        </p:txBody>
      </p:sp>
      <p:sp>
        <p:nvSpPr>
          <p:cNvPr id="44" name="Text 41"/>
          <p:cNvSpPr/>
          <p:nvPr/>
        </p:nvSpPr>
        <p:spPr>
          <a:xfrm>
            <a:off x="6342736" y="1847088"/>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45" name="Text 42"/>
          <p:cNvSpPr/>
          <p:nvPr/>
        </p:nvSpPr>
        <p:spPr>
          <a:xfrm>
            <a:off x="6690208"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Split by technical layer  all UI, all APIs, all databases. That copies the same mess into three places.</a:t>
            </a:r>
            <a:endParaRPr lang="en-US" sz="1150" dirty="0"/>
          </a:p>
        </p:txBody>
      </p:sp>
      <p:sp>
        <p:nvSpPr>
          <p:cNvPr id="46" name="Shape 43"/>
          <p:cNvSpPr/>
          <p:nvPr/>
        </p:nvSpPr>
        <p:spPr>
          <a:xfrm>
            <a:off x="502920" y="2583180"/>
            <a:ext cx="5455768" cy="681228"/>
          </a:xfrm>
          <a:prstGeom prst="roundRect">
            <a:avLst>
              <a:gd name="adj" fmla="val 12081"/>
            </a:avLst>
          </a:prstGeom>
          <a:solidFill>
            <a:srgbClr val="E1F5EC"/>
          </a:solidFill>
          <a:ln/>
        </p:spPr>
        <p:txBody>
          <a:bodyPr/>
          <a:lstStyle/>
          <a:p>
            <a:endParaRPr/>
          </a:p>
        </p:txBody>
      </p:sp>
      <p:sp>
        <p:nvSpPr>
          <p:cNvPr id="47" name="Text 44"/>
          <p:cNvSpPr/>
          <p:nvPr/>
        </p:nvSpPr>
        <p:spPr>
          <a:xfrm>
            <a:off x="612648" y="2638044"/>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8" name="Text 45"/>
          <p:cNvSpPr/>
          <p:nvPr/>
        </p:nvSpPr>
        <p:spPr>
          <a:xfrm>
            <a:off x="960120"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Give each service its own data, and its own release. That is what independence means.</a:t>
            </a:r>
            <a:endParaRPr lang="en-US" sz="1150" dirty="0"/>
          </a:p>
        </p:txBody>
      </p:sp>
      <p:sp>
        <p:nvSpPr>
          <p:cNvPr id="49" name="Shape 46"/>
          <p:cNvSpPr/>
          <p:nvPr/>
        </p:nvSpPr>
        <p:spPr>
          <a:xfrm>
            <a:off x="6233008" y="2583180"/>
            <a:ext cx="5455768" cy="681228"/>
          </a:xfrm>
          <a:prstGeom prst="roundRect">
            <a:avLst>
              <a:gd name="adj" fmla="val 12081"/>
            </a:avLst>
          </a:prstGeom>
          <a:solidFill>
            <a:srgbClr val="FEE2E2"/>
          </a:solidFill>
          <a:ln/>
        </p:spPr>
        <p:txBody>
          <a:bodyPr/>
          <a:lstStyle/>
          <a:p>
            <a:endParaRPr/>
          </a:p>
        </p:txBody>
      </p:sp>
      <p:sp>
        <p:nvSpPr>
          <p:cNvPr id="50" name="Text 47"/>
          <p:cNvSpPr/>
          <p:nvPr/>
        </p:nvSpPr>
        <p:spPr>
          <a:xfrm>
            <a:off x="6342736" y="2638044"/>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1" name="Text 48"/>
          <p:cNvSpPr/>
          <p:nvPr/>
        </p:nvSpPr>
        <p:spPr>
          <a:xfrm>
            <a:off x="6690208"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Keep one shared database behind many services. That is a distributed monolith and it fails more often.</a:t>
            </a:r>
            <a:endParaRPr lang="en-US" sz="1150" dirty="0"/>
          </a:p>
        </p:txBody>
      </p:sp>
      <p:sp>
        <p:nvSpPr>
          <p:cNvPr id="52" name="Shape 49"/>
          <p:cNvSpPr/>
          <p:nvPr/>
        </p:nvSpPr>
        <p:spPr>
          <a:xfrm>
            <a:off x="502920" y="3374136"/>
            <a:ext cx="5455768" cy="681228"/>
          </a:xfrm>
          <a:prstGeom prst="roundRect">
            <a:avLst>
              <a:gd name="adj" fmla="val 12081"/>
            </a:avLst>
          </a:prstGeom>
          <a:solidFill>
            <a:srgbClr val="E1F5EC"/>
          </a:solidFill>
          <a:ln/>
        </p:spPr>
        <p:txBody>
          <a:bodyPr/>
          <a:lstStyle/>
          <a:p>
            <a:endParaRPr/>
          </a:p>
        </p:txBody>
      </p:sp>
      <p:sp>
        <p:nvSpPr>
          <p:cNvPr id="53" name="Text 50"/>
          <p:cNvSpPr/>
          <p:nvPr/>
        </p:nvSpPr>
        <p:spPr>
          <a:xfrm>
            <a:off x="612648" y="3429000"/>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54" name="Text 51"/>
          <p:cNvSpPr/>
          <p:nvPr/>
        </p:nvSpPr>
        <p:spPr>
          <a:xfrm>
            <a:off x="960120"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Start with a read path, so the first slice can be reversed in one hour.</a:t>
            </a:r>
            <a:endParaRPr lang="en-US" sz="1150" dirty="0"/>
          </a:p>
        </p:txBody>
      </p:sp>
      <p:sp>
        <p:nvSpPr>
          <p:cNvPr id="55" name="Shape 52"/>
          <p:cNvSpPr/>
          <p:nvPr/>
        </p:nvSpPr>
        <p:spPr>
          <a:xfrm>
            <a:off x="6233008" y="3374136"/>
            <a:ext cx="5455768" cy="681228"/>
          </a:xfrm>
          <a:prstGeom prst="roundRect">
            <a:avLst>
              <a:gd name="adj" fmla="val 12081"/>
            </a:avLst>
          </a:prstGeom>
          <a:solidFill>
            <a:srgbClr val="FEE2E2"/>
          </a:solidFill>
          <a:ln/>
        </p:spPr>
        <p:txBody>
          <a:bodyPr/>
          <a:lstStyle/>
          <a:p>
            <a:endParaRPr/>
          </a:p>
        </p:txBody>
      </p:sp>
      <p:sp>
        <p:nvSpPr>
          <p:cNvPr id="56" name="Text 53"/>
          <p:cNvSpPr/>
          <p:nvPr/>
        </p:nvSpPr>
        <p:spPr>
          <a:xfrm>
            <a:off x="6342736" y="3429000"/>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7" name="Text 54"/>
          <p:cNvSpPr/>
          <p:nvPr/>
        </p:nvSpPr>
        <p:spPr>
          <a:xfrm>
            <a:off x="6690208"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Start with payments because it feels important. Money paths punish beginners hardest.</a:t>
            </a:r>
            <a:endParaRPr lang="en-US" sz="1150" dirty="0"/>
          </a:p>
        </p:txBody>
      </p:sp>
      <p:sp>
        <p:nvSpPr>
          <p:cNvPr id="58" name="Shape 55"/>
          <p:cNvSpPr/>
          <p:nvPr/>
        </p:nvSpPr>
        <p:spPr>
          <a:xfrm>
            <a:off x="502920" y="4165092"/>
            <a:ext cx="5455768" cy="681228"/>
          </a:xfrm>
          <a:prstGeom prst="roundRect">
            <a:avLst>
              <a:gd name="adj" fmla="val 12081"/>
            </a:avLst>
          </a:prstGeom>
          <a:solidFill>
            <a:srgbClr val="E1F5EC"/>
          </a:solidFill>
          <a:ln/>
        </p:spPr>
        <p:txBody>
          <a:bodyPr/>
          <a:lstStyle/>
          <a:p>
            <a:endParaRPr/>
          </a:p>
        </p:txBody>
      </p:sp>
      <p:sp>
        <p:nvSpPr>
          <p:cNvPr id="59" name="Text 56"/>
          <p:cNvSpPr/>
          <p:nvPr/>
        </p:nvSpPr>
        <p:spPr>
          <a:xfrm>
            <a:off x="612648" y="4219956"/>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60" name="Text 57"/>
          <p:cNvSpPr/>
          <p:nvPr/>
        </p:nvSpPr>
        <p:spPr>
          <a:xfrm>
            <a:off x="960120"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Separate parts by how often they change: weekly features must not live inside yearly code.</a:t>
            </a:r>
            <a:endParaRPr lang="en-US" sz="1150" dirty="0"/>
          </a:p>
        </p:txBody>
      </p:sp>
      <p:sp>
        <p:nvSpPr>
          <p:cNvPr id="61" name="Shape 58"/>
          <p:cNvSpPr/>
          <p:nvPr/>
        </p:nvSpPr>
        <p:spPr>
          <a:xfrm>
            <a:off x="6233008" y="4165092"/>
            <a:ext cx="5455768" cy="681228"/>
          </a:xfrm>
          <a:prstGeom prst="roundRect">
            <a:avLst>
              <a:gd name="adj" fmla="val 12081"/>
            </a:avLst>
          </a:prstGeom>
          <a:solidFill>
            <a:srgbClr val="FEE2E2"/>
          </a:solidFill>
          <a:ln/>
        </p:spPr>
        <p:txBody>
          <a:bodyPr/>
          <a:lstStyle/>
          <a:p>
            <a:endParaRPr/>
          </a:p>
        </p:txBody>
      </p:sp>
      <p:sp>
        <p:nvSpPr>
          <p:cNvPr id="62" name="Text 59"/>
          <p:cNvSpPr/>
          <p:nvPr/>
        </p:nvSpPr>
        <p:spPr>
          <a:xfrm>
            <a:off x="6342736" y="4219956"/>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63" name="Text 60"/>
          <p:cNvSpPr/>
          <p:nvPr/>
        </p:nvSpPr>
        <p:spPr>
          <a:xfrm>
            <a:off x="6690208"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Create a service per developer, per team fashion, or per resume.</a:t>
            </a:r>
            <a:endParaRPr lang="en-US" sz="1150" dirty="0"/>
          </a:p>
        </p:txBody>
      </p:sp>
      <p:sp>
        <p:nvSpPr>
          <p:cNvPr id="64" name="Shape 61"/>
          <p:cNvSpPr/>
          <p:nvPr/>
        </p:nvSpPr>
        <p:spPr>
          <a:xfrm>
            <a:off x="502920" y="4992624"/>
            <a:ext cx="11185855" cy="658368"/>
          </a:xfrm>
          <a:prstGeom prst="roundRect">
            <a:avLst>
              <a:gd name="adj" fmla="val 12500"/>
            </a:avLst>
          </a:prstGeom>
          <a:solidFill>
            <a:srgbClr val="E1F5EC"/>
          </a:solidFill>
          <a:ln/>
        </p:spPr>
        <p:txBody>
          <a:bodyPr/>
          <a:lstStyle/>
          <a:p>
            <a:endParaRPr/>
          </a:p>
        </p:txBody>
      </p:sp>
      <p:sp>
        <p:nvSpPr>
          <p:cNvPr id="65" name="Shape 62"/>
          <p:cNvSpPr/>
          <p:nvPr/>
        </p:nvSpPr>
        <p:spPr>
          <a:xfrm>
            <a:off x="502920" y="4992624"/>
            <a:ext cx="100584" cy="658368"/>
          </a:xfrm>
          <a:prstGeom prst="rect">
            <a:avLst/>
          </a:prstGeom>
          <a:solidFill>
            <a:srgbClr val="1F8F65"/>
          </a:solidFill>
          <a:ln/>
        </p:spPr>
        <p:txBody>
          <a:bodyPr/>
          <a:lstStyle/>
          <a:p>
            <a:endParaRPr/>
          </a:p>
        </p:txBody>
      </p:sp>
      <p:sp>
        <p:nvSpPr>
          <p:cNvPr id="66" name="Text 63"/>
          <p:cNvSpPr/>
          <p:nvPr/>
        </p:nvSpPr>
        <p:spPr>
          <a:xfrm>
            <a:off x="740664" y="4992624"/>
            <a:ext cx="10783519" cy="65836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If two services must always be released together, they are one service wearing two names.</a:t>
            </a:r>
            <a:endParaRPr lang="en-US" sz="1250" dirty="0"/>
          </a:p>
        </p:txBody>
      </p:sp>
      <p:sp>
        <p:nvSpPr>
          <p:cNvPr id="67" name="Shape 64"/>
          <p:cNvSpPr/>
          <p:nvPr/>
        </p:nvSpPr>
        <p:spPr>
          <a:xfrm>
            <a:off x="502920" y="5815584"/>
            <a:ext cx="54864" cy="201168"/>
          </a:xfrm>
          <a:prstGeom prst="rect">
            <a:avLst/>
          </a:prstGeom>
          <a:solidFill>
            <a:srgbClr val="43BFB8"/>
          </a:solidFill>
          <a:ln/>
        </p:spPr>
        <p:txBody>
          <a:bodyPr/>
          <a:lstStyle/>
          <a:p>
            <a:endParaRPr/>
          </a:p>
        </p:txBody>
      </p:sp>
      <p:sp>
        <p:nvSpPr>
          <p:cNvPr id="68" name="Text 65"/>
          <p:cNvSpPr/>
          <p:nvPr/>
        </p:nvSpPr>
        <p:spPr>
          <a:xfrm>
            <a:off x="667512" y="5724144"/>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microservices.io  decomposition patterns  ·  Sam Newman, “Monolith to Microservices”  ·  martinfowler.com/bliki/MicroservicePremium.html</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Which slice goes first?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Two questions: how much is it worth, and how badly can it hurt us?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53</a:t>
            </a:r>
            <a:endParaRPr lang="en-US" sz="1000" dirty="0"/>
          </a:p>
        </p:txBody>
      </p:sp>
      <p:sp>
        <p:nvSpPr>
          <p:cNvPr id="36" name="Shape 33"/>
          <p:cNvSpPr/>
          <p:nvPr/>
        </p:nvSpPr>
        <p:spPr>
          <a:xfrm>
            <a:off x="1874520" y="1298448"/>
            <a:ext cx="4297680" cy="1600200"/>
          </a:xfrm>
          <a:prstGeom prst="roundRect">
            <a:avLst>
              <a:gd name="adj" fmla="val 5714"/>
            </a:avLst>
          </a:prstGeom>
          <a:solidFill>
            <a:srgbClr val="FEE2E2"/>
          </a:solidFill>
          <a:ln w="17780">
            <a:solidFill>
              <a:srgbClr val="DC2626"/>
            </a:solidFill>
            <a:prstDash val="solid"/>
          </a:ln>
        </p:spPr>
        <p:txBody>
          <a:bodyPr/>
          <a:lstStyle/>
          <a:p>
            <a:endParaRPr/>
          </a:p>
        </p:txBody>
      </p:sp>
      <p:sp>
        <p:nvSpPr>
          <p:cNvPr id="37" name="Text 34"/>
          <p:cNvSpPr/>
          <p:nvPr/>
        </p:nvSpPr>
        <p:spPr>
          <a:xfrm>
            <a:off x="2057400" y="1408176"/>
            <a:ext cx="3931920" cy="310896"/>
          </a:xfrm>
          <a:prstGeom prst="rect">
            <a:avLst/>
          </a:prstGeom>
          <a:noFill/>
          <a:ln/>
        </p:spPr>
        <p:txBody>
          <a:bodyPr wrap="square" rtlCol="0" anchor="ctr"/>
          <a:lstStyle/>
          <a:p>
            <a:pPr marL="0" indent="0">
              <a:buNone/>
            </a:pPr>
            <a:r>
              <a:rPr lang="en-US" sz="1300" b="1" dirty="0">
                <a:solidFill>
                  <a:srgbClr val="DC2626"/>
                </a:solidFill>
                <a:latin typeface="Segoe UI" pitchFamily="34" charset="0"/>
                <a:ea typeface="Segoe UI" pitchFamily="34" charset="-122"/>
                <a:cs typeface="Segoe UI" pitchFamily="34" charset="-120"/>
              </a:rPr>
              <a:t>Do not touch yet</a:t>
            </a:r>
            <a:endParaRPr lang="en-US" sz="1300" dirty="0"/>
          </a:p>
        </p:txBody>
      </p:sp>
      <p:sp>
        <p:nvSpPr>
          <p:cNvPr id="38" name="Text 35"/>
          <p:cNvSpPr/>
          <p:nvPr/>
        </p:nvSpPr>
        <p:spPr>
          <a:xfrm>
            <a:off x="2057400" y="175564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Rewriting the audit log. High danger, nobody asked for it.</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Action: leave it. Revisit after two successful slices.</a:t>
            </a:r>
            <a:endParaRPr lang="en-US" sz="1200" dirty="0"/>
          </a:p>
        </p:txBody>
      </p:sp>
      <p:sp>
        <p:nvSpPr>
          <p:cNvPr id="39" name="Shape 36"/>
          <p:cNvSpPr/>
          <p:nvPr/>
        </p:nvSpPr>
        <p:spPr>
          <a:xfrm>
            <a:off x="6355080" y="1298448"/>
            <a:ext cx="4297680" cy="1600200"/>
          </a:xfrm>
          <a:prstGeom prst="roundRect">
            <a:avLst>
              <a:gd name="adj" fmla="val 5714"/>
            </a:avLst>
          </a:prstGeom>
          <a:solidFill>
            <a:srgbClr val="FDECDF"/>
          </a:solidFill>
          <a:ln w="17780">
            <a:solidFill>
              <a:srgbClr val="E76F30"/>
            </a:solidFill>
            <a:prstDash val="solid"/>
          </a:ln>
        </p:spPr>
        <p:txBody>
          <a:bodyPr/>
          <a:lstStyle/>
          <a:p>
            <a:endParaRPr/>
          </a:p>
        </p:txBody>
      </p:sp>
      <p:sp>
        <p:nvSpPr>
          <p:cNvPr id="40" name="Text 37"/>
          <p:cNvSpPr/>
          <p:nvPr/>
        </p:nvSpPr>
        <p:spPr>
          <a:xfrm>
            <a:off x="6537960" y="1408176"/>
            <a:ext cx="3931920" cy="310896"/>
          </a:xfrm>
          <a:prstGeom prst="rect">
            <a:avLst/>
          </a:prstGeom>
          <a:noFill/>
          <a:ln/>
        </p:spPr>
        <p:txBody>
          <a:bodyPr wrap="square" rtlCol="0" anchor="ctr"/>
          <a:lstStyle/>
          <a:p>
            <a:pPr marL="0" indent="0">
              <a:buNone/>
            </a:pPr>
            <a:r>
              <a:rPr lang="en-US" sz="1300" b="1" dirty="0">
                <a:solidFill>
                  <a:srgbClr val="E76F30"/>
                </a:solidFill>
                <a:latin typeface="Segoe UI" pitchFamily="34" charset="0"/>
                <a:ea typeface="Segoe UI" pitchFamily="34" charset="-122"/>
                <a:cs typeface="Segoe UI" pitchFamily="34" charset="-120"/>
              </a:rPr>
              <a:t>Later, with guardrails</a:t>
            </a:r>
            <a:endParaRPr lang="en-US" sz="1300" dirty="0"/>
          </a:p>
        </p:txBody>
      </p:sp>
      <p:sp>
        <p:nvSpPr>
          <p:cNvPr id="41" name="Text 38"/>
          <p:cNvSpPr/>
          <p:nvPr/>
        </p:nvSpPr>
        <p:spPr>
          <a:xfrm>
            <a:off x="6537960" y="175564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Payments. Real value, but money moves and undo is painful.</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Action: needs idempotency, an anti-corruption layer and a tested rollback first.</a:t>
            </a:r>
            <a:endParaRPr lang="en-US" sz="1200" dirty="0"/>
          </a:p>
        </p:txBody>
      </p:sp>
      <p:sp>
        <p:nvSpPr>
          <p:cNvPr id="42" name="Shape 39"/>
          <p:cNvSpPr/>
          <p:nvPr/>
        </p:nvSpPr>
        <p:spPr>
          <a:xfrm>
            <a:off x="1874520" y="3081528"/>
            <a:ext cx="4297680" cy="1600200"/>
          </a:xfrm>
          <a:prstGeom prst="roundRect">
            <a:avLst>
              <a:gd name="adj" fmla="val 5714"/>
            </a:avLst>
          </a:prstGeom>
          <a:solidFill>
            <a:srgbClr val="F6F5F8"/>
          </a:solidFill>
          <a:ln w="17780">
            <a:solidFill>
              <a:srgbClr val="6E637A"/>
            </a:solidFill>
            <a:prstDash val="solid"/>
          </a:ln>
        </p:spPr>
        <p:txBody>
          <a:bodyPr/>
          <a:lstStyle/>
          <a:p>
            <a:endParaRPr/>
          </a:p>
        </p:txBody>
      </p:sp>
      <p:sp>
        <p:nvSpPr>
          <p:cNvPr id="43" name="Text 40"/>
          <p:cNvSpPr/>
          <p:nvPr/>
        </p:nvSpPr>
        <p:spPr>
          <a:xfrm>
            <a:off x="2057400" y="3191256"/>
            <a:ext cx="3931920" cy="310896"/>
          </a:xfrm>
          <a:prstGeom prst="rect">
            <a:avLst/>
          </a:prstGeom>
          <a:noFill/>
          <a:ln/>
        </p:spPr>
        <p:txBody>
          <a:bodyPr wrap="square" rtlCol="0" anchor="ctr"/>
          <a:lstStyle/>
          <a:p>
            <a:pPr marL="0" indent="0">
              <a:buNone/>
            </a:pPr>
            <a:r>
              <a:rPr lang="en-US" sz="1300" b="1" dirty="0">
                <a:solidFill>
                  <a:srgbClr val="6E637A"/>
                </a:solidFill>
                <a:latin typeface="Segoe UI" pitchFamily="34" charset="0"/>
                <a:ea typeface="Segoe UI" pitchFamily="34" charset="-122"/>
                <a:cs typeface="Segoe UI" pitchFamily="34" charset="-120"/>
              </a:rPr>
              <a:t>Free practice</a:t>
            </a:r>
            <a:endParaRPr lang="en-US" sz="1300" dirty="0"/>
          </a:p>
        </p:txBody>
      </p:sp>
      <p:sp>
        <p:nvSpPr>
          <p:cNvPr id="44" name="Text 41"/>
          <p:cNvSpPr/>
          <p:nvPr/>
        </p:nvSpPr>
        <p:spPr>
          <a:xfrm>
            <a:off x="2057400" y="353872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A small internal report. Safe and cheap, but it convinces nobody.</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Action: fine as a warm-up, never as slice one.</a:t>
            </a:r>
            <a:endParaRPr lang="en-US" sz="1200" dirty="0"/>
          </a:p>
        </p:txBody>
      </p:sp>
      <p:sp>
        <p:nvSpPr>
          <p:cNvPr id="45" name="Shape 42"/>
          <p:cNvSpPr/>
          <p:nvPr/>
        </p:nvSpPr>
        <p:spPr>
          <a:xfrm>
            <a:off x="6355080" y="3081528"/>
            <a:ext cx="4297680" cy="1600200"/>
          </a:xfrm>
          <a:prstGeom prst="roundRect">
            <a:avLst>
              <a:gd name="adj" fmla="val 5714"/>
            </a:avLst>
          </a:prstGeom>
          <a:solidFill>
            <a:srgbClr val="E1F5EC"/>
          </a:solidFill>
          <a:ln w="17780">
            <a:solidFill>
              <a:srgbClr val="1F8F65"/>
            </a:solidFill>
            <a:prstDash val="solid"/>
          </a:ln>
        </p:spPr>
        <p:txBody>
          <a:bodyPr/>
          <a:lstStyle/>
          <a:p>
            <a:endParaRPr/>
          </a:p>
        </p:txBody>
      </p:sp>
      <p:sp>
        <p:nvSpPr>
          <p:cNvPr id="46" name="Text 43"/>
          <p:cNvSpPr/>
          <p:nvPr/>
        </p:nvSpPr>
        <p:spPr>
          <a:xfrm>
            <a:off x="6537960" y="3191256"/>
            <a:ext cx="3931920" cy="310896"/>
          </a:xfrm>
          <a:prstGeom prst="rect">
            <a:avLst/>
          </a:prstGeom>
          <a:noFill/>
          <a:ln/>
        </p:spPr>
        <p:txBody>
          <a:bodyPr wrap="square" rtlCol="0" anchor="ctr"/>
          <a:lstStyle/>
          <a:p>
            <a:pPr marL="0" indent="0">
              <a:buNone/>
            </a:pPr>
            <a:r>
              <a:rPr lang="en-US" sz="1300" b="1" dirty="0">
                <a:solidFill>
                  <a:srgbClr val="1F8F65"/>
                </a:solidFill>
                <a:latin typeface="Segoe UI" pitchFamily="34" charset="0"/>
                <a:ea typeface="Segoe UI" pitchFamily="34" charset="-122"/>
                <a:cs typeface="Segoe UI" pitchFamily="34" charset="-120"/>
              </a:rPr>
              <a:t>SLICE ONE</a:t>
            </a:r>
            <a:endParaRPr lang="en-US" sz="1300" dirty="0"/>
          </a:p>
        </p:txBody>
      </p:sp>
      <p:sp>
        <p:nvSpPr>
          <p:cNvPr id="47" name="Text 44"/>
          <p:cNvSpPr/>
          <p:nvPr/>
        </p:nvSpPr>
        <p:spPr>
          <a:xfrm>
            <a:off x="6537960" y="3538728"/>
            <a:ext cx="3931920" cy="996696"/>
          </a:xfrm>
          <a:prstGeom prst="rect">
            <a:avLst/>
          </a:prstGeom>
          <a:noFill/>
          <a:ln/>
        </p:spPr>
        <p:txBody>
          <a:bodyPr wrap="square" rtlCol="0" anchor="t"/>
          <a:lstStyle/>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Catalog product reads. Visible to shoppers, and undone by changing one route back.</a:t>
            </a:r>
            <a:endParaRPr lang="en-US" sz="1200" dirty="0"/>
          </a:p>
          <a:p>
            <a:pPr marL="0" indent="0">
              <a:lnSpc>
                <a:spcPct val="112000"/>
              </a:lnSpc>
              <a:buNone/>
            </a:pPr>
            <a:endParaRPr lang="en-US" sz="1200" dirty="0"/>
          </a:p>
          <a:p>
            <a:pPr marL="0" indent="0">
              <a:lnSpc>
                <a:spcPct val="112000"/>
              </a:lnSpc>
              <a:buNone/>
            </a:pPr>
            <a:r>
              <a:rPr lang="en-US" sz="1200" dirty="0">
                <a:solidFill>
                  <a:srgbClr val="24162A"/>
                </a:solidFill>
                <a:latin typeface="Segoe UI" pitchFamily="34" charset="0"/>
                <a:ea typeface="Segoe UI" pitchFamily="34" charset="-122"/>
                <a:cs typeface="Segoe UI" pitchFamily="34" charset="-120"/>
              </a:rPr>
              <a:t>Action: start here. Monday morning.</a:t>
            </a:r>
            <a:endParaRPr lang="en-US" sz="1200" dirty="0"/>
          </a:p>
        </p:txBody>
      </p:sp>
      <p:sp>
        <p:nvSpPr>
          <p:cNvPr id="48" name="Text 45"/>
          <p:cNvSpPr/>
          <p:nvPr/>
        </p:nvSpPr>
        <p:spPr>
          <a:xfrm>
            <a:off x="502920" y="1298448"/>
            <a:ext cx="1280160" cy="1600200"/>
          </a:xfrm>
          <a:prstGeom prst="rect">
            <a:avLst/>
          </a:prstGeom>
          <a:noFill/>
          <a:ln/>
        </p:spPr>
        <p:txBody>
          <a:bodyPr wrap="square" rtlCol="0" anchor="ctr"/>
          <a:lstStyle/>
          <a:p>
            <a:pPr marL="0" indent="0" algn="r">
              <a:buNone/>
            </a:pPr>
            <a:r>
              <a:rPr lang="en-US" sz="1100" b="1" dirty="0">
                <a:solidFill>
                  <a:srgbClr val="6E637A"/>
                </a:solidFill>
                <a:latin typeface="Segoe UI" pitchFamily="34" charset="0"/>
                <a:ea typeface="Segoe UI" pitchFamily="34" charset="-122"/>
                <a:cs typeface="Segoe UI" pitchFamily="34" charset="-120"/>
              </a:rPr>
              <a:t>HIGH risk</a:t>
            </a:r>
            <a:endParaRPr lang="en-US" sz="1100" dirty="0"/>
          </a:p>
          <a:p>
            <a:pPr marL="0" indent="0" algn="r">
              <a:buNone/>
            </a:pPr>
            <a:r>
              <a:rPr lang="en-US" sz="1100" b="1" dirty="0">
                <a:solidFill>
                  <a:srgbClr val="6E637A"/>
                </a:solidFill>
                <a:latin typeface="Segoe UI" pitchFamily="34" charset="0"/>
                <a:ea typeface="Segoe UI" pitchFamily="34" charset="-122"/>
                <a:cs typeface="Segoe UI" pitchFamily="34" charset="-120"/>
              </a:rPr>
              <a:t>money or hard to undo</a:t>
            </a:r>
            <a:endParaRPr lang="en-US" sz="1100" dirty="0"/>
          </a:p>
        </p:txBody>
      </p:sp>
      <p:sp>
        <p:nvSpPr>
          <p:cNvPr id="49" name="Text 46"/>
          <p:cNvSpPr/>
          <p:nvPr/>
        </p:nvSpPr>
        <p:spPr>
          <a:xfrm>
            <a:off x="502920" y="3081528"/>
            <a:ext cx="1280160" cy="1600200"/>
          </a:xfrm>
          <a:prstGeom prst="rect">
            <a:avLst/>
          </a:prstGeom>
          <a:noFill/>
          <a:ln/>
        </p:spPr>
        <p:txBody>
          <a:bodyPr wrap="square" rtlCol="0" anchor="ctr"/>
          <a:lstStyle/>
          <a:p>
            <a:pPr marL="0" indent="0" algn="r">
              <a:buNone/>
            </a:pPr>
            <a:r>
              <a:rPr lang="en-US" sz="1100" b="1" dirty="0">
                <a:solidFill>
                  <a:srgbClr val="6E637A"/>
                </a:solidFill>
                <a:latin typeface="Segoe UI" pitchFamily="34" charset="0"/>
                <a:ea typeface="Segoe UI" pitchFamily="34" charset="-122"/>
                <a:cs typeface="Segoe UI" pitchFamily="34" charset="-120"/>
              </a:rPr>
              <a:t>LOW risk</a:t>
            </a:r>
            <a:endParaRPr lang="en-US" sz="1100" dirty="0"/>
          </a:p>
          <a:p>
            <a:pPr marL="0" indent="0" algn="r">
              <a:buNone/>
            </a:pPr>
            <a:r>
              <a:rPr lang="en-US" sz="1100" b="1" dirty="0">
                <a:solidFill>
                  <a:srgbClr val="6E637A"/>
                </a:solidFill>
                <a:latin typeface="Segoe UI" pitchFamily="34" charset="0"/>
                <a:ea typeface="Segoe UI" pitchFamily="34" charset="-122"/>
                <a:cs typeface="Segoe UI" pitchFamily="34" charset="-120"/>
              </a:rPr>
              <a:t>reversible in an hour</a:t>
            </a:r>
            <a:endParaRPr lang="en-US" sz="1100" dirty="0"/>
          </a:p>
        </p:txBody>
      </p:sp>
      <p:sp>
        <p:nvSpPr>
          <p:cNvPr id="50" name="Text 47"/>
          <p:cNvSpPr/>
          <p:nvPr/>
        </p:nvSpPr>
        <p:spPr>
          <a:xfrm>
            <a:off x="1874520" y="4736592"/>
            <a:ext cx="4297680" cy="292608"/>
          </a:xfrm>
          <a:prstGeom prst="rect">
            <a:avLst/>
          </a:prstGeom>
          <a:noFill/>
          <a:ln/>
        </p:spPr>
        <p:txBody>
          <a:bodyPr wrap="square" rtlCol="0" anchor="ctr"/>
          <a:lstStyle/>
          <a:p>
            <a:pPr marL="0" indent="0" algn="ctr">
              <a:buNone/>
            </a:pPr>
            <a:r>
              <a:rPr lang="en-US" sz="1100" b="1" dirty="0">
                <a:solidFill>
                  <a:srgbClr val="6E637A"/>
                </a:solidFill>
                <a:latin typeface="Segoe UI" pitchFamily="34" charset="0"/>
                <a:ea typeface="Segoe UI" pitchFamily="34" charset="-122"/>
                <a:cs typeface="Segoe UI" pitchFamily="34" charset="-120"/>
              </a:rPr>
              <a:t>LOW business value</a:t>
            </a:r>
            <a:endParaRPr lang="en-US" sz="1100" dirty="0"/>
          </a:p>
        </p:txBody>
      </p:sp>
      <p:sp>
        <p:nvSpPr>
          <p:cNvPr id="51" name="Text 48"/>
          <p:cNvSpPr/>
          <p:nvPr/>
        </p:nvSpPr>
        <p:spPr>
          <a:xfrm>
            <a:off x="6355080" y="4736592"/>
            <a:ext cx="4297680" cy="292608"/>
          </a:xfrm>
          <a:prstGeom prst="rect">
            <a:avLst/>
          </a:prstGeom>
          <a:noFill/>
          <a:ln/>
        </p:spPr>
        <p:txBody>
          <a:bodyPr wrap="square" rtlCol="0" anchor="ctr"/>
          <a:lstStyle/>
          <a:p>
            <a:pPr marL="0" indent="0" algn="ctr">
              <a:buNone/>
            </a:pPr>
            <a:r>
              <a:rPr lang="en-US" sz="1100" b="1" dirty="0">
                <a:solidFill>
                  <a:srgbClr val="6E637A"/>
                </a:solidFill>
                <a:latin typeface="Segoe UI" pitchFamily="34" charset="0"/>
                <a:ea typeface="Segoe UI" pitchFamily="34" charset="-122"/>
                <a:cs typeface="Segoe UI" pitchFamily="34" charset="-120"/>
              </a:rPr>
              <a:t>HIGH business value</a:t>
            </a:r>
            <a:endParaRPr lang="en-US" sz="1100" dirty="0"/>
          </a:p>
        </p:txBody>
      </p:sp>
      <p:sp>
        <p:nvSpPr>
          <p:cNvPr id="52" name="Shape 49"/>
          <p:cNvSpPr/>
          <p:nvPr/>
        </p:nvSpPr>
        <p:spPr>
          <a:xfrm>
            <a:off x="502920" y="5120640"/>
            <a:ext cx="11185855" cy="676656"/>
          </a:xfrm>
          <a:prstGeom prst="roundRect">
            <a:avLst>
              <a:gd name="adj" fmla="val 12162"/>
            </a:avLst>
          </a:prstGeom>
          <a:solidFill>
            <a:srgbClr val="E1F5EC"/>
          </a:solidFill>
          <a:ln/>
        </p:spPr>
        <p:txBody>
          <a:bodyPr/>
          <a:lstStyle/>
          <a:p>
            <a:endParaRPr/>
          </a:p>
        </p:txBody>
      </p:sp>
      <p:sp>
        <p:nvSpPr>
          <p:cNvPr id="53" name="Shape 50"/>
          <p:cNvSpPr/>
          <p:nvPr/>
        </p:nvSpPr>
        <p:spPr>
          <a:xfrm>
            <a:off x="502920" y="5120640"/>
            <a:ext cx="100584" cy="676656"/>
          </a:xfrm>
          <a:prstGeom prst="rect">
            <a:avLst/>
          </a:prstGeom>
          <a:solidFill>
            <a:srgbClr val="1F8F65"/>
          </a:solidFill>
          <a:ln/>
        </p:spPr>
        <p:txBody>
          <a:bodyPr/>
          <a:lstStyle/>
          <a:p>
            <a:endParaRPr/>
          </a:p>
        </p:txBody>
      </p:sp>
      <p:sp>
        <p:nvSpPr>
          <p:cNvPr id="54" name="Text 51"/>
          <p:cNvSpPr/>
          <p:nvPr/>
        </p:nvSpPr>
        <p:spPr>
          <a:xfrm>
            <a:off x="740664" y="5120640"/>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Slice one must be low risk AND visible. Low risk alone convinces nobody; high value alone gets you fired.</a:t>
            </a:r>
            <a:endParaRPr lang="en-US" sz="1250" dirty="0"/>
          </a:p>
        </p:txBody>
      </p:sp>
      <p:sp>
        <p:nvSpPr>
          <p:cNvPr id="55" name="Shape 52"/>
          <p:cNvSpPr/>
          <p:nvPr/>
        </p:nvSpPr>
        <p:spPr>
          <a:xfrm>
            <a:off x="502920" y="5980176"/>
            <a:ext cx="54864" cy="201168"/>
          </a:xfrm>
          <a:prstGeom prst="rect">
            <a:avLst/>
          </a:prstGeom>
          <a:solidFill>
            <a:srgbClr val="43BFB8"/>
          </a:solidFill>
          <a:ln/>
        </p:spPr>
        <p:txBody>
          <a:bodyPr/>
          <a:lstStyle/>
          <a:p>
            <a:endParaRPr/>
          </a:p>
        </p:txBody>
      </p:sp>
      <p:sp>
        <p:nvSpPr>
          <p:cNvPr id="56" name="Text 53"/>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microservices.io/patterns/refactoring/strangler-application.html  ·  Newman, “Monolith to Microservices”, chapter 3.</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rank three ways to split Northline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groups of three. One group then presents to the room.</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54</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three options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A) Extract Catalog reads. B) Extract Payments. C) Split by layer: UI, API, database.</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Score each option</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Business value, risk, and undo difficulty  High, Medium or Low.</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Pick slice one</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The winner must have a one-sentence undo a night operator could follow.</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Reject one loudly</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Say which option you refuse, and the reason in one line.</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ranking</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A  Catalog reads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value Medium · risk LOW</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undo: point the route back  &lt;-- winner</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  Payments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value High · risk HIGH</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undo: hard, money already moved</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  Split by layer</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value Low · risk HIGH</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shared database stays  &lt;-- rejected</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A ranked table with three scores per option, one chosen slice, one written undo sentence.</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Start with Catalog reads. Keep payments for later, with extra guards. Reject the layer split. Best practice: the first slice must be reversible in under a day.</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microservices.io/patterns/refactoring/strangler-application.html  ·  Newman, “Monolith to Microservices”, chapter 3.</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Real case 2    eight services, one database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 true and very common failure. It looks modern and behaves worse.</a:t>
            </a:r>
            <a:endParaRPr lang="en-US" sz="1300" dirty="0"/>
          </a:p>
        </p:txBody>
      </p:sp>
      <p:sp>
        <p:nvSpPr>
          <p:cNvPr id="27" name="Shape 25"/>
          <p:cNvSpPr/>
          <p:nvPr/>
        </p:nvSpPr>
        <p:spPr>
          <a:xfrm>
            <a:off x="9585655" y="256032"/>
            <a:ext cx="2148840" cy="347472"/>
          </a:xfrm>
          <a:prstGeom prst="roundRect">
            <a:avLst>
              <a:gd name="adj" fmla="val 50000"/>
            </a:avLst>
          </a:prstGeom>
          <a:solidFill>
            <a:srgbClr val="0F1A2E"/>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CASE STUDY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55</a:t>
            </a:r>
            <a:endParaRPr lang="en-US" sz="1000" dirty="0"/>
          </a:p>
        </p:txBody>
      </p:sp>
      <p:sp>
        <p:nvSpPr>
          <p:cNvPr id="36" name="Shape 33"/>
          <p:cNvSpPr/>
          <p:nvPr/>
        </p:nvSpPr>
        <p:spPr>
          <a:xfrm>
            <a:off x="502920" y="1417320"/>
            <a:ext cx="11185855" cy="868680"/>
          </a:xfrm>
          <a:prstGeom prst="roundRect">
            <a:avLst>
              <a:gd name="adj" fmla="val 10526"/>
            </a:avLst>
          </a:prstGeom>
          <a:solidFill>
            <a:srgbClr val="0F1A2E"/>
          </a:solidFill>
          <a:ln/>
        </p:spPr>
        <p:txBody>
          <a:bodyPr/>
          <a:lstStyle/>
          <a:p>
            <a:endParaRPr/>
          </a:p>
        </p:txBody>
      </p:sp>
      <p:sp>
        <p:nvSpPr>
          <p:cNvPr id="37" name="Text 34"/>
          <p:cNvSpPr/>
          <p:nvPr/>
        </p:nvSpPr>
        <p:spPr>
          <a:xfrm>
            <a:off x="685800" y="1417320"/>
            <a:ext cx="548640" cy="868680"/>
          </a:xfrm>
          <a:prstGeom prst="rect">
            <a:avLst/>
          </a:prstGeom>
          <a:noFill/>
          <a:ln/>
        </p:spPr>
        <p:txBody>
          <a:bodyPr wrap="square" rtlCol="0" anchor="ctr"/>
          <a:lstStyle/>
          <a:p>
            <a:pPr marL="0" indent="0" algn="ctr">
              <a:buNone/>
            </a:pPr>
            <a:r>
              <a:rPr lang="en-US" sz="2400" dirty="0">
                <a:solidFill>
                  <a:srgbClr val="F5C239"/>
                </a:solidFill>
                <a:latin typeface="Segoe UI Symbol" pitchFamily="34" charset="0"/>
                <a:ea typeface="Segoe UI Symbol" pitchFamily="34" charset="-122"/>
                <a:cs typeface="Segoe UI Symbol" pitchFamily="34" charset="-120"/>
              </a:rPr>
              <a:t>⚠</a:t>
            </a:r>
            <a:endParaRPr lang="en-US" sz="2400" dirty="0"/>
          </a:p>
        </p:txBody>
      </p:sp>
      <p:sp>
        <p:nvSpPr>
          <p:cNvPr id="38" name="Text 35"/>
          <p:cNvSpPr/>
          <p:nvPr/>
        </p:nvSpPr>
        <p:spPr>
          <a:xfrm>
            <a:off x="1325880" y="1417320"/>
            <a:ext cx="10180015" cy="868680"/>
          </a:xfrm>
          <a:prstGeom prst="rect">
            <a:avLst/>
          </a:prstGeom>
          <a:noFill/>
          <a:ln/>
        </p:spPr>
        <p:txBody>
          <a:bodyPr wrap="square" rtlCol="0" anchor="ctr"/>
          <a:lstStyle/>
          <a:p>
            <a:pPr marL="0" indent="0">
              <a:lnSpc>
                <a:spcPct val="115000"/>
              </a:lnSpc>
              <a:buNone/>
            </a:pPr>
            <a:r>
              <a:rPr lang="en-US" sz="1300" b="1" kern="0" spc="200" dirty="0">
                <a:solidFill>
                  <a:srgbClr val="F5C239"/>
                </a:solidFill>
                <a:latin typeface="Segoe UI" pitchFamily="34" charset="0"/>
                <a:ea typeface="Segoe UI" pitchFamily="34" charset="-122"/>
                <a:cs typeface="Segoe UI" pitchFamily="34" charset="-120"/>
              </a:rPr>
              <a:t>Scenario:  </a:t>
            </a:r>
            <a:r>
              <a:rPr lang="en-US" sz="1300" dirty="0">
                <a:solidFill>
                  <a:srgbClr val="FFFFFF"/>
                </a:solidFill>
                <a:latin typeface="Segoe UI" pitchFamily="34" charset="0"/>
                <a:ea typeface="Segoe UI" pitchFamily="34" charset="-122"/>
                <a:cs typeface="Segoe UI" pitchFamily="34" charset="-120"/>
              </a:rPr>
              <a:t>A vendor split NorthlineCore into eight services in six weeks. All eight still write to the same database. A catalog change still waits for the payment release train.</a:t>
            </a:r>
            <a:endParaRPr lang="en-US" sz="1300" dirty="0"/>
          </a:p>
        </p:txBody>
      </p:sp>
      <p:sp>
        <p:nvSpPr>
          <p:cNvPr id="39" name="Shape 36"/>
          <p:cNvSpPr/>
          <p:nvPr/>
        </p:nvSpPr>
        <p:spPr>
          <a:xfrm>
            <a:off x="502920"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0" name="Shape 37"/>
          <p:cNvSpPr/>
          <p:nvPr/>
        </p:nvSpPr>
        <p:spPr>
          <a:xfrm>
            <a:off x="1505674" y="2715768"/>
            <a:ext cx="594360" cy="594360"/>
          </a:xfrm>
          <a:prstGeom prst="ellipse">
            <a:avLst/>
          </a:prstGeom>
          <a:solidFill>
            <a:srgbClr val="E4F5F3"/>
          </a:solidFill>
          <a:ln w="12700">
            <a:solidFill>
              <a:srgbClr val="43BFB8"/>
            </a:solidFill>
            <a:prstDash val="solid"/>
          </a:ln>
        </p:spPr>
        <p:txBody>
          <a:bodyPr/>
          <a:lstStyle/>
          <a:p>
            <a:endParaRPr/>
          </a:p>
        </p:txBody>
      </p:sp>
      <p:sp>
        <p:nvSpPr>
          <p:cNvPr id="41" name="Text 38"/>
          <p:cNvSpPr/>
          <p:nvPr/>
        </p:nvSpPr>
        <p:spPr>
          <a:xfrm>
            <a:off x="1505674" y="2715768"/>
            <a:ext cx="594360" cy="594360"/>
          </a:xfrm>
          <a:prstGeom prst="rect">
            <a:avLst/>
          </a:prstGeom>
          <a:noFill/>
          <a:ln/>
        </p:spPr>
        <p:txBody>
          <a:bodyPr wrap="square" rtlCol="0" anchor="ctr"/>
          <a:lstStyle/>
          <a:p>
            <a:pPr marL="0" indent="0" algn="ctr">
              <a:buNone/>
            </a:pPr>
            <a:r>
              <a:rPr lang="en-US" sz="2000" b="1" dirty="0">
                <a:solidFill>
                  <a:srgbClr val="43BFB8"/>
                </a:solidFill>
                <a:latin typeface="Segoe UI Symbol" pitchFamily="34" charset="0"/>
                <a:ea typeface="Segoe UI Symbol" pitchFamily="34" charset="-122"/>
                <a:cs typeface="Segoe UI Symbol" pitchFamily="34" charset="-120"/>
              </a:rPr>
              <a:t>👁</a:t>
            </a:r>
            <a:endParaRPr lang="en-US" sz="2000" dirty="0"/>
          </a:p>
        </p:txBody>
      </p:sp>
      <p:sp>
        <p:nvSpPr>
          <p:cNvPr id="42" name="Text 39"/>
          <p:cNvSpPr/>
          <p:nvPr/>
        </p:nvSpPr>
        <p:spPr>
          <a:xfrm>
            <a:off x="502920" y="3383280"/>
            <a:ext cx="2590724" cy="365760"/>
          </a:xfrm>
          <a:prstGeom prst="rect">
            <a:avLst/>
          </a:prstGeom>
          <a:noFill/>
          <a:ln/>
        </p:spPr>
        <p:txBody>
          <a:bodyPr wrap="square" rtlCol="0" anchor="ctr"/>
          <a:lstStyle/>
          <a:p>
            <a:pPr marL="0" indent="0" algn="ctr">
              <a:buNone/>
            </a:pPr>
            <a:r>
              <a:rPr lang="en-US" sz="1400" b="1" kern="0" spc="100" dirty="0">
                <a:solidFill>
                  <a:srgbClr val="43BFB8"/>
                </a:solidFill>
                <a:latin typeface="Segoe UI" pitchFamily="34" charset="0"/>
                <a:ea typeface="Segoe UI" pitchFamily="34" charset="-122"/>
                <a:cs typeface="Segoe UI" pitchFamily="34" charset="-120"/>
              </a:rPr>
              <a:t>See</a:t>
            </a:r>
            <a:endParaRPr lang="en-US" sz="1400" dirty="0"/>
          </a:p>
        </p:txBody>
      </p:sp>
      <p:sp>
        <p:nvSpPr>
          <p:cNvPr id="43" name="Text 40"/>
          <p:cNvSpPr/>
          <p:nvPr/>
        </p:nvSpPr>
        <p:spPr>
          <a:xfrm>
            <a:off x="685800"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This is a distributed monolith: the network was added, the border was not.</a:t>
            </a:r>
            <a:endParaRPr lang="en-US" sz="1200" dirty="0"/>
          </a:p>
        </p:txBody>
      </p:sp>
      <p:sp>
        <p:nvSpPr>
          <p:cNvPr id="44" name="Shape 41"/>
          <p:cNvSpPr/>
          <p:nvPr/>
        </p:nvSpPr>
        <p:spPr>
          <a:xfrm>
            <a:off x="3367964"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5" name="Shape 42"/>
          <p:cNvSpPr/>
          <p:nvPr/>
        </p:nvSpPr>
        <p:spPr>
          <a:xfrm>
            <a:off x="4370718" y="2715768"/>
            <a:ext cx="594360" cy="594360"/>
          </a:xfrm>
          <a:prstGeom prst="ellipse">
            <a:avLst/>
          </a:prstGeom>
          <a:solidFill>
            <a:srgbClr val="FDECDF"/>
          </a:solidFill>
          <a:ln w="12700">
            <a:solidFill>
              <a:srgbClr val="E76F30"/>
            </a:solidFill>
            <a:prstDash val="solid"/>
          </a:ln>
        </p:spPr>
        <p:txBody>
          <a:bodyPr/>
          <a:lstStyle/>
          <a:p>
            <a:endParaRPr/>
          </a:p>
        </p:txBody>
      </p:sp>
      <p:sp>
        <p:nvSpPr>
          <p:cNvPr id="46" name="Text 43"/>
          <p:cNvSpPr/>
          <p:nvPr/>
        </p:nvSpPr>
        <p:spPr>
          <a:xfrm>
            <a:off x="4370718" y="2715768"/>
            <a:ext cx="594360" cy="594360"/>
          </a:xfrm>
          <a:prstGeom prst="rect">
            <a:avLst/>
          </a:prstGeom>
          <a:noFill/>
          <a:ln/>
        </p:spPr>
        <p:txBody>
          <a:bodyPr wrap="square" rtlCol="0" anchor="ctr"/>
          <a:lstStyle/>
          <a:p>
            <a:pPr marL="0" indent="0" algn="ctr">
              <a:buNone/>
            </a:pPr>
            <a:r>
              <a:rPr lang="en-US" sz="2000" b="1" dirty="0">
                <a:solidFill>
                  <a:srgbClr val="E76F30"/>
                </a:solidFill>
                <a:latin typeface="Segoe UI Symbol" pitchFamily="34" charset="0"/>
                <a:ea typeface="Segoe UI Symbol" pitchFamily="34" charset="-122"/>
                <a:cs typeface="Segoe UI Symbol" pitchFamily="34" charset="-120"/>
              </a:rPr>
              <a:t>🎯</a:t>
            </a:r>
            <a:endParaRPr lang="en-US" sz="2000" dirty="0"/>
          </a:p>
        </p:txBody>
      </p:sp>
      <p:sp>
        <p:nvSpPr>
          <p:cNvPr id="47" name="Text 44"/>
          <p:cNvSpPr/>
          <p:nvPr/>
        </p:nvSpPr>
        <p:spPr>
          <a:xfrm>
            <a:off x="3367964" y="3383280"/>
            <a:ext cx="2590724" cy="365760"/>
          </a:xfrm>
          <a:prstGeom prst="rect">
            <a:avLst/>
          </a:prstGeom>
          <a:noFill/>
          <a:ln/>
        </p:spPr>
        <p:txBody>
          <a:bodyPr wrap="square" rtlCol="0" anchor="ctr"/>
          <a:lstStyle/>
          <a:p>
            <a:pPr marL="0" indent="0" algn="ctr">
              <a:buNone/>
            </a:pPr>
            <a:r>
              <a:rPr lang="en-US" sz="1400" b="1" kern="0" spc="100" dirty="0">
                <a:solidFill>
                  <a:srgbClr val="E76F30"/>
                </a:solidFill>
                <a:latin typeface="Segoe UI" pitchFamily="34" charset="0"/>
                <a:ea typeface="Segoe UI" pitchFamily="34" charset="-122"/>
                <a:cs typeface="Segoe UI" pitchFamily="34" charset="-120"/>
              </a:rPr>
              <a:t>Name</a:t>
            </a:r>
            <a:endParaRPr lang="en-US" sz="1400" dirty="0"/>
          </a:p>
        </p:txBody>
      </p:sp>
      <p:sp>
        <p:nvSpPr>
          <p:cNvPr id="48" name="Text 45"/>
          <p:cNvSpPr/>
          <p:nvPr/>
        </p:nvSpPr>
        <p:spPr>
          <a:xfrm>
            <a:off x="3550844"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They split by team fashion, not by bounded context or data ownership.</a:t>
            </a:r>
            <a:endParaRPr lang="en-US" sz="1200" dirty="0"/>
          </a:p>
        </p:txBody>
      </p:sp>
      <p:sp>
        <p:nvSpPr>
          <p:cNvPr id="49" name="Shape 46"/>
          <p:cNvSpPr/>
          <p:nvPr/>
        </p:nvSpPr>
        <p:spPr>
          <a:xfrm>
            <a:off x="6233008"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0" name="Shape 47"/>
          <p:cNvSpPr/>
          <p:nvPr/>
        </p:nvSpPr>
        <p:spPr>
          <a:xfrm>
            <a:off x="7235761" y="2715768"/>
            <a:ext cx="594360" cy="594360"/>
          </a:xfrm>
          <a:prstGeom prst="ellipse">
            <a:avLst/>
          </a:prstGeom>
          <a:solidFill>
            <a:srgbClr val="E1F5EC"/>
          </a:solidFill>
          <a:ln w="12700">
            <a:solidFill>
              <a:srgbClr val="3EB489"/>
            </a:solidFill>
            <a:prstDash val="solid"/>
          </a:ln>
        </p:spPr>
        <p:txBody>
          <a:bodyPr/>
          <a:lstStyle/>
          <a:p>
            <a:endParaRPr/>
          </a:p>
        </p:txBody>
      </p:sp>
      <p:sp>
        <p:nvSpPr>
          <p:cNvPr id="51" name="Text 48"/>
          <p:cNvSpPr/>
          <p:nvPr/>
        </p:nvSpPr>
        <p:spPr>
          <a:xfrm>
            <a:off x="7235761" y="2715768"/>
            <a:ext cx="594360" cy="594360"/>
          </a:xfrm>
          <a:prstGeom prst="rect">
            <a:avLst/>
          </a:prstGeom>
          <a:noFill/>
          <a:ln/>
        </p:spPr>
        <p:txBody>
          <a:bodyPr wrap="square" rtlCol="0" anchor="ctr"/>
          <a:lstStyle/>
          <a:p>
            <a:pPr marL="0" indent="0" algn="ctr">
              <a:buNone/>
            </a:pPr>
            <a:r>
              <a:rPr lang="en-US" sz="2000" b="1" dirty="0">
                <a:solidFill>
                  <a:srgbClr val="3EB489"/>
                </a:solidFill>
                <a:latin typeface="Segoe UI Symbol" pitchFamily="34" charset="0"/>
                <a:ea typeface="Segoe UI Symbol" pitchFamily="34" charset="-122"/>
                <a:cs typeface="Segoe UI Symbol" pitchFamily="34" charset="-120"/>
              </a:rPr>
              <a:t>✓</a:t>
            </a:r>
            <a:endParaRPr lang="en-US" sz="2000" dirty="0"/>
          </a:p>
        </p:txBody>
      </p:sp>
      <p:sp>
        <p:nvSpPr>
          <p:cNvPr id="52" name="Text 49"/>
          <p:cNvSpPr/>
          <p:nvPr/>
        </p:nvSpPr>
        <p:spPr>
          <a:xfrm>
            <a:off x="6233008" y="3383280"/>
            <a:ext cx="2590724" cy="365760"/>
          </a:xfrm>
          <a:prstGeom prst="rect">
            <a:avLst/>
          </a:prstGeom>
          <a:noFill/>
          <a:ln/>
        </p:spPr>
        <p:txBody>
          <a:bodyPr wrap="square" rtlCol="0" anchor="ctr"/>
          <a:lstStyle/>
          <a:p>
            <a:pPr marL="0" indent="0" algn="ctr">
              <a:buNone/>
            </a:pPr>
            <a:r>
              <a:rPr lang="en-US" sz="1400" b="1" kern="0" spc="100" dirty="0">
                <a:solidFill>
                  <a:srgbClr val="3EB489"/>
                </a:solidFill>
                <a:latin typeface="Segoe UI" pitchFamily="34" charset="0"/>
                <a:ea typeface="Segoe UI" pitchFamily="34" charset="-122"/>
                <a:cs typeface="Segoe UI" pitchFamily="34" charset="-120"/>
              </a:rPr>
              <a:t>Do</a:t>
            </a:r>
            <a:endParaRPr lang="en-US" sz="1400" dirty="0"/>
          </a:p>
        </p:txBody>
      </p:sp>
      <p:sp>
        <p:nvSpPr>
          <p:cNvPr id="53" name="Text 50"/>
          <p:cNvSpPr/>
          <p:nvPr/>
        </p:nvSpPr>
        <p:spPr>
          <a:xfrm>
            <a:off x="6415888"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Put one facade in front, extract Catalog's data next, then release Catalog alone.</a:t>
            </a:r>
            <a:endParaRPr lang="en-US" sz="1200" dirty="0"/>
          </a:p>
        </p:txBody>
      </p:sp>
      <p:sp>
        <p:nvSpPr>
          <p:cNvPr id="54" name="Shape 51"/>
          <p:cNvSpPr/>
          <p:nvPr/>
        </p:nvSpPr>
        <p:spPr>
          <a:xfrm>
            <a:off x="9098051"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5" name="Shape 52"/>
          <p:cNvSpPr/>
          <p:nvPr/>
        </p:nvSpPr>
        <p:spPr>
          <a:xfrm>
            <a:off x="10100805" y="2715768"/>
            <a:ext cx="594360" cy="594360"/>
          </a:xfrm>
          <a:prstGeom prst="ellipse">
            <a:avLst/>
          </a:prstGeom>
          <a:solidFill>
            <a:srgbClr val="FEE2E2"/>
          </a:solidFill>
          <a:ln w="12700">
            <a:solidFill>
              <a:srgbClr val="DC2626"/>
            </a:solidFill>
            <a:prstDash val="solid"/>
          </a:ln>
        </p:spPr>
        <p:txBody>
          <a:bodyPr/>
          <a:lstStyle/>
          <a:p>
            <a:endParaRPr/>
          </a:p>
        </p:txBody>
      </p:sp>
      <p:sp>
        <p:nvSpPr>
          <p:cNvPr id="56" name="Text 53"/>
          <p:cNvSpPr/>
          <p:nvPr/>
        </p:nvSpPr>
        <p:spPr>
          <a:xfrm>
            <a:off x="10100805" y="2715768"/>
            <a:ext cx="594360" cy="594360"/>
          </a:xfrm>
          <a:prstGeom prst="rect">
            <a:avLst/>
          </a:prstGeom>
          <a:noFill/>
          <a:ln/>
        </p:spPr>
        <p:txBody>
          <a:bodyPr wrap="square" rtlCol="0" anchor="ctr"/>
          <a:lstStyle/>
          <a:p>
            <a:pPr marL="0" indent="0" algn="ctr">
              <a:buNone/>
            </a:pPr>
            <a:r>
              <a:rPr lang="en-US" sz="2000" b="1" dirty="0">
                <a:solidFill>
                  <a:srgbClr val="DC2626"/>
                </a:solidFill>
                <a:latin typeface="Segoe UI Symbol" pitchFamily="34" charset="0"/>
                <a:ea typeface="Segoe UI Symbol" pitchFamily="34" charset="-122"/>
                <a:cs typeface="Segoe UI Symbol" pitchFamily="34" charset="-120"/>
              </a:rPr>
              <a:t>✕</a:t>
            </a:r>
            <a:endParaRPr lang="en-US" sz="2000" dirty="0"/>
          </a:p>
        </p:txBody>
      </p:sp>
      <p:sp>
        <p:nvSpPr>
          <p:cNvPr id="57" name="Text 54"/>
          <p:cNvSpPr/>
          <p:nvPr/>
        </p:nvSpPr>
        <p:spPr>
          <a:xfrm>
            <a:off x="9098051" y="3383280"/>
            <a:ext cx="2590724" cy="365760"/>
          </a:xfrm>
          <a:prstGeom prst="rect">
            <a:avLst/>
          </a:prstGeom>
          <a:noFill/>
          <a:ln/>
        </p:spPr>
        <p:txBody>
          <a:bodyPr wrap="square" rtlCol="0" anchor="ctr"/>
          <a:lstStyle/>
          <a:p>
            <a:pPr marL="0" indent="0" algn="ctr">
              <a:buNone/>
            </a:pPr>
            <a:r>
              <a:rPr lang="en-US" sz="1400" b="1" kern="0" spc="100" dirty="0">
                <a:solidFill>
                  <a:srgbClr val="DC2626"/>
                </a:solidFill>
                <a:latin typeface="Segoe UI" pitchFamily="34" charset="0"/>
                <a:ea typeface="Segoe UI" pitchFamily="34" charset="-122"/>
                <a:cs typeface="Segoe UI" pitchFamily="34" charset="-120"/>
              </a:rPr>
              <a:t>Avoid</a:t>
            </a:r>
            <a:endParaRPr lang="en-US" sz="1400" dirty="0"/>
          </a:p>
        </p:txBody>
      </p:sp>
      <p:sp>
        <p:nvSpPr>
          <p:cNvPr id="58" name="Text 55"/>
          <p:cNvSpPr/>
          <p:nvPr/>
        </p:nvSpPr>
        <p:spPr>
          <a:xfrm>
            <a:off x="9280931"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Adding a ninth service. That adds failure points, not freedom.</a:t>
            </a:r>
            <a:endParaRPr lang="en-US" sz="1200" dirty="0"/>
          </a:p>
        </p:txBody>
      </p:sp>
      <p:sp>
        <p:nvSpPr>
          <p:cNvPr id="59" name="Shape 56"/>
          <p:cNvSpPr/>
          <p:nvPr/>
        </p:nvSpPr>
        <p:spPr>
          <a:xfrm>
            <a:off x="502920" y="5257800"/>
            <a:ext cx="11185855" cy="685800"/>
          </a:xfrm>
          <a:prstGeom prst="roundRect">
            <a:avLst>
              <a:gd name="adj" fmla="val 13333"/>
            </a:avLst>
          </a:prstGeom>
          <a:solidFill>
            <a:srgbClr val="E4F5F3"/>
          </a:solidFill>
          <a:ln/>
        </p:spPr>
        <p:txBody>
          <a:bodyPr/>
          <a:lstStyle/>
          <a:p>
            <a:endParaRPr/>
          </a:p>
        </p:txBody>
      </p:sp>
      <p:sp>
        <p:nvSpPr>
          <p:cNvPr id="60" name="Text 57"/>
          <p:cNvSpPr/>
          <p:nvPr/>
        </p:nvSpPr>
        <p:spPr>
          <a:xfrm>
            <a:off x="731520" y="5257800"/>
            <a:ext cx="10820095" cy="685800"/>
          </a:xfrm>
          <a:prstGeom prst="rect">
            <a:avLst/>
          </a:prstGeom>
          <a:noFill/>
          <a:ln/>
        </p:spPr>
        <p:txBody>
          <a:bodyPr wrap="square" rtlCol="0" anchor="ctr"/>
          <a:lstStyle/>
          <a:p>
            <a:pPr marL="0" indent="0">
              <a:buNone/>
            </a:pPr>
            <a:r>
              <a:rPr lang="en-US" sz="1300" b="1" kern="0" spc="200" dirty="0">
                <a:solidFill>
                  <a:srgbClr val="2F9992"/>
                </a:solidFill>
                <a:latin typeface="Segoe UI" pitchFamily="34" charset="0"/>
                <a:ea typeface="Segoe UI" pitchFamily="34" charset="-122"/>
                <a:cs typeface="Segoe UI" pitchFamily="34" charset="-120"/>
              </a:rPr>
              <a:t>Verify:  </a:t>
            </a:r>
            <a:r>
              <a:rPr lang="en-US" sz="1300" dirty="0">
                <a:solidFill>
                  <a:srgbClr val="24162A"/>
                </a:solidFill>
                <a:latin typeface="Segoe UI" pitchFamily="34" charset="0"/>
                <a:ea typeface="Segoe UI" pitchFamily="34" charset="-122"/>
                <a:cs typeface="Segoe UI" pitchFamily="34" charset="-120"/>
              </a:rPr>
              <a:t>The room can say the rule out loud: many processes plus one shared database is not microservices.</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Check your understanding</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Eight services share one database and one release train. What do you have?</a:t>
            </a:r>
            <a:endParaRPr lang="en-US" sz="1300" dirty="0"/>
          </a:p>
        </p:txBody>
      </p:sp>
      <p:sp>
        <p:nvSpPr>
          <p:cNvPr id="27" name="Shape 25"/>
          <p:cNvSpPr/>
          <p:nvPr/>
        </p:nvSpPr>
        <p:spPr>
          <a:xfrm>
            <a:off x="9585655" y="256032"/>
            <a:ext cx="2148840" cy="347472"/>
          </a:xfrm>
          <a:prstGeom prst="roundRect">
            <a:avLst>
              <a:gd name="adj" fmla="val 50000"/>
            </a:avLst>
          </a:prstGeom>
          <a:solidFill>
            <a:srgbClr val="4A7DE0"/>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CHECK</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56</a:t>
            </a:r>
            <a:endParaRPr lang="en-US" sz="1000" dirty="0"/>
          </a:p>
        </p:txBody>
      </p:sp>
      <p:sp>
        <p:nvSpPr>
          <p:cNvPr id="35" name="Shape 33"/>
          <p:cNvSpPr/>
          <p:nvPr/>
        </p:nvSpPr>
        <p:spPr>
          <a:xfrm>
            <a:off x="502920" y="1920240"/>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36" name="Shape 34"/>
          <p:cNvSpPr/>
          <p:nvPr/>
        </p:nvSpPr>
        <p:spPr>
          <a:xfrm>
            <a:off x="640080" y="2029968"/>
            <a:ext cx="457200" cy="438912"/>
          </a:xfrm>
          <a:prstGeom prst="roundRect">
            <a:avLst>
              <a:gd name="adj" fmla="val 16667"/>
            </a:avLst>
          </a:prstGeom>
          <a:solidFill>
            <a:srgbClr val="F6F5F8"/>
          </a:solidFill>
          <a:ln/>
        </p:spPr>
        <p:txBody>
          <a:bodyPr/>
          <a:lstStyle/>
          <a:p>
            <a:endParaRPr/>
          </a:p>
        </p:txBody>
      </p:sp>
      <p:sp>
        <p:nvSpPr>
          <p:cNvPr id="37" name="Text 35"/>
          <p:cNvSpPr/>
          <p:nvPr/>
        </p:nvSpPr>
        <p:spPr>
          <a:xfrm>
            <a:off x="640080" y="2029968"/>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A</a:t>
            </a:r>
            <a:endParaRPr lang="en-US" sz="1400" dirty="0"/>
          </a:p>
        </p:txBody>
      </p:sp>
      <p:sp>
        <p:nvSpPr>
          <p:cNvPr id="38" name="Text 36"/>
          <p:cNvSpPr/>
          <p:nvPr/>
        </p:nvSpPr>
        <p:spPr>
          <a:xfrm>
            <a:off x="1234440" y="1920240"/>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A healthy microservice architecture</a:t>
            </a:r>
            <a:endParaRPr lang="en-US" sz="1300" dirty="0"/>
          </a:p>
        </p:txBody>
      </p:sp>
      <p:sp>
        <p:nvSpPr>
          <p:cNvPr id="39" name="Shape 37"/>
          <p:cNvSpPr/>
          <p:nvPr/>
        </p:nvSpPr>
        <p:spPr>
          <a:xfrm>
            <a:off x="502920" y="2715768"/>
            <a:ext cx="11185855" cy="658368"/>
          </a:xfrm>
          <a:prstGeom prst="roundRect">
            <a:avLst>
              <a:gd name="adj" fmla="val 13889"/>
            </a:avLst>
          </a:prstGeom>
          <a:solidFill>
            <a:srgbClr val="E1F5EC"/>
          </a:solidFill>
          <a:ln w="19050">
            <a:solidFill>
              <a:srgbClr val="3EB489"/>
            </a:solidFill>
            <a:prstDash val="solid"/>
          </a:ln>
        </p:spPr>
        <p:txBody>
          <a:bodyPr/>
          <a:lstStyle/>
          <a:p>
            <a:endParaRPr/>
          </a:p>
        </p:txBody>
      </p:sp>
      <p:sp>
        <p:nvSpPr>
          <p:cNvPr id="40" name="Shape 38"/>
          <p:cNvSpPr/>
          <p:nvPr/>
        </p:nvSpPr>
        <p:spPr>
          <a:xfrm>
            <a:off x="640080" y="2825496"/>
            <a:ext cx="457200" cy="438912"/>
          </a:xfrm>
          <a:prstGeom prst="roundRect">
            <a:avLst>
              <a:gd name="adj" fmla="val 16667"/>
            </a:avLst>
          </a:prstGeom>
          <a:solidFill>
            <a:srgbClr val="3EB489"/>
          </a:solidFill>
          <a:ln/>
        </p:spPr>
        <p:txBody>
          <a:bodyPr/>
          <a:lstStyle/>
          <a:p>
            <a:endParaRPr/>
          </a:p>
        </p:txBody>
      </p:sp>
      <p:sp>
        <p:nvSpPr>
          <p:cNvPr id="41" name="Text 39"/>
          <p:cNvSpPr/>
          <p:nvPr/>
        </p:nvSpPr>
        <p:spPr>
          <a:xfrm>
            <a:off x="640080" y="2825496"/>
            <a:ext cx="457200"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B</a:t>
            </a:r>
            <a:endParaRPr lang="en-US" sz="1400" dirty="0"/>
          </a:p>
        </p:txBody>
      </p:sp>
      <p:sp>
        <p:nvSpPr>
          <p:cNvPr id="42" name="Text 40"/>
          <p:cNvSpPr/>
          <p:nvPr/>
        </p:nvSpPr>
        <p:spPr>
          <a:xfrm>
            <a:off x="1234440" y="2715768"/>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A distributed monolith</a:t>
            </a:r>
            <a:endParaRPr lang="en-US" sz="1300" dirty="0"/>
          </a:p>
        </p:txBody>
      </p:sp>
      <p:sp>
        <p:nvSpPr>
          <p:cNvPr id="43" name="Text 41"/>
          <p:cNvSpPr/>
          <p:nvPr/>
        </p:nvSpPr>
        <p:spPr>
          <a:xfrm>
            <a:off x="10682935" y="2715768"/>
            <a:ext cx="868680" cy="658368"/>
          </a:xfrm>
          <a:prstGeom prst="rect">
            <a:avLst/>
          </a:prstGeom>
          <a:noFill/>
          <a:ln/>
        </p:spPr>
        <p:txBody>
          <a:bodyPr wrap="square" rtlCol="0" anchor="ctr"/>
          <a:lstStyle/>
          <a:p>
            <a:pPr marL="0" indent="0" algn="r">
              <a:buNone/>
            </a:pPr>
            <a:r>
              <a:rPr lang="en-US" sz="1100" b="1" dirty="0">
                <a:solidFill>
                  <a:srgbClr val="1F8F65"/>
                </a:solidFill>
                <a:latin typeface="Segoe UI" pitchFamily="34" charset="0"/>
                <a:ea typeface="Segoe UI" pitchFamily="34" charset="-122"/>
                <a:cs typeface="Segoe UI" pitchFamily="34" charset="-120"/>
              </a:rPr>
              <a:t>✓ correct</a:t>
            </a:r>
            <a:endParaRPr lang="en-US" sz="1100" dirty="0"/>
          </a:p>
        </p:txBody>
      </p:sp>
      <p:sp>
        <p:nvSpPr>
          <p:cNvPr id="44" name="Shape 42"/>
          <p:cNvSpPr/>
          <p:nvPr/>
        </p:nvSpPr>
        <p:spPr>
          <a:xfrm>
            <a:off x="502920" y="3511296"/>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5" name="Shape 43"/>
          <p:cNvSpPr/>
          <p:nvPr/>
        </p:nvSpPr>
        <p:spPr>
          <a:xfrm>
            <a:off x="640080" y="3621024"/>
            <a:ext cx="457200" cy="438912"/>
          </a:xfrm>
          <a:prstGeom prst="roundRect">
            <a:avLst>
              <a:gd name="adj" fmla="val 16667"/>
            </a:avLst>
          </a:prstGeom>
          <a:solidFill>
            <a:srgbClr val="F6F5F8"/>
          </a:solidFill>
          <a:ln/>
        </p:spPr>
        <p:txBody>
          <a:bodyPr/>
          <a:lstStyle/>
          <a:p>
            <a:endParaRPr/>
          </a:p>
        </p:txBody>
      </p:sp>
      <p:sp>
        <p:nvSpPr>
          <p:cNvPr id="46" name="Text 44"/>
          <p:cNvSpPr/>
          <p:nvPr/>
        </p:nvSpPr>
        <p:spPr>
          <a:xfrm>
            <a:off x="640080" y="3621024"/>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C</a:t>
            </a:r>
            <a:endParaRPr lang="en-US" sz="1400" dirty="0"/>
          </a:p>
        </p:txBody>
      </p:sp>
      <p:sp>
        <p:nvSpPr>
          <p:cNvPr id="47" name="Text 45"/>
          <p:cNvSpPr/>
          <p:nvPr/>
        </p:nvSpPr>
        <p:spPr>
          <a:xfrm>
            <a:off x="1234440" y="3511296"/>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A bounded context map</a:t>
            </a:r>
            <a:endParaRPr lang="en-US" sz="1300" dirty="0"/>
          </a:p>
        </p:txBody>
      </p:sp>
      <p:sp>
        <p:nvSpPr>
          <p:cNvPr id="48" name="Shape 46"/>
          <p:cNvSpPr/>
          <p:nvPr/>
        </p:nvSpPr>
        <p:spPr>
          <a:xfrm>
            <a:off x="502920" y="4306824"/>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9" name="Shape 47"/>
          <p:cNvSpPr/>
          <p:nvPr/>
        </p:nvSpPr>
        <p:spPr>
          <a:xfrm>
            <a:off x="640080" y="4416552"/>
            <a:ext cx="457200" cy="438912"/>
          </a:xfrm>
          <a:prstGeom prst="roundRect">
            <a:avLst>
              <a:gd name="adj" fmla="val 16667"/>
            </a:avLst>
          </a:prstGeom>
          <a:solidFill>
            <a:srgbClr val="F6F5F8"/>
          </a:solidFill>
          <a:ln/>
        </p:spPr>
        <p:txBody>
          <a:bodyPr/>
          <a:lstStyle/>
          <a:p>
            <a:endParaRPr/>
          </a:p>
        </p:txBody>
      </p:sp>
      <p:sp>
        <p:nvSpPr>
          <p:cNvPr id="50" name="Text 48"/>
          <p:cNvSpPr/>
          <p:nvPr/>
        </p:nvSpPr>
        <p:spPr>
          <a:xfrm>
            <a:off x="640080" y="4416552"/>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D</a:t>
            </a:r>
            <a:endParaRPr lang="en-US" sz="1400" dirty="0"/>
          </a:p>
        </p:txBody>
      </p:sp>
      <p:sp>
        <p:nvSpPr>
          <p:cNvPr id="51" name="Text 49"/>
          <p:cNvSpPr/>
          <p:nvPr/>
        </p:nvSpPr>
        <p:spPr>
          <a:xfrm>
            <a:off x="1234440" y="4306824"/>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An enterprise architecture framework</a:t>
            </a:r>
            <a:endParaRPr lang="en-US" sz="1300" dirty="0"/>
          </a:p>
        </p:txBody>
      </p:sp>
      <p:sp>
        <p:nvSpPr>
          <p:cNvPr id="52" name="Shape 50"/>
          <p:cNvSpPr/>
          <p:nvPr/>
        </p:nvSpPr>
        <p:spPr>
          <a:xfrm>
            <a:off x="502920" y="5148072"/>
            <a:ext cx="11185855" cy="731520"/>
          </a:xfrm>
          <a:prstGeom prst="roundRect">
            <a:avLst>
              <a:gd name="adj" fmla="val 10000"/>
            </a:avLst>
          </a:prstGeom>
          <a:solidFill>
            <a:srgbClr val="E4F5F3"/>
          </a:solidFill>
          <a:ln/>
        </p:spPr>
        <p:txBody>
          <a:bodyPr/>
          <a:lstStyle/>
          <a:p>
            <a:endParaRPr/>
          </a:p>
        </p:txBody>
      </p:sp>
      <p:sp>
        <p:nvSpPr>
          <p:cNvPr id="53" name="Text 51"/>
          <p:cNvSpPr/>
          <p:nvPr/>
        </p:nvSpPr>
        <p:spPr>
          <a:xfrm>
            <a:off x="685800" y="5148072"/>
            <a:ext cx="10820095" cy="731520"/>
          </a:xfrm>
          <a:prstGeom prst="rect">
            <a:avLst/>
          </a:prstGeom>
          <a:noFill/>
          <a:ln/>
        </p:spPr>
        <p:txBody>
          <a:bodyPr wrap="square" rtlCol="0" anchor="ctr"/>
          <a:lstStyle/>
          <a:p>
            <a:pPr marL="0" indent="0">
              <a:lnSpc>
                <a:spcPct val="125000"/>
              </a:lnSpc>
              <a:buNone/>
            </a:pPr>
            <a:r>
              <a:rPr lang="en-US" sz="1200" b="1" kern="0" spc="200" dirty="0">
                <a:solidFill>
                  <a:srgbClr val="2F9992"/>
                </a:solidFill>
                <a:latin typeface="Segoe UI" pitchFamily="34" charset="0"/>
                <a:ea typeface="Segoe UI" pitchFamily="34" charset="-122"/>
                <a:cs typeface="Segoe UI" pitchFamily="34" charset="-120"/>
              </a:rPr>
              <a:t>Why:  </a:t>
            </a:r>
            <a:r>
              <a:rPr lang="en-US" sz="1200" dirty="0">
                <a:solidFill>
                  <a:srgbClr val="24162A"/>
                </a:solidFill>
                <a:latin typeface="Segoe UI" pitchFamily="34" charset="0"/>
                <a:ea typeface="Segoe UI" pitchFamily="34" charset="-122"/>
                <a:cs typeface="Segoe UI" pitchFamily="34" charset="-120"/>
              </a:rPr>
              <a:t>Independence requires private data and an independent release. Extra processes without those two things only add failure points.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2    what to remember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lines to keep.</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57</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Count the jobs and the reasons to change before you touch the code.</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High cohesion inside the box, low coupling between boxes. That is the whole game.</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bounded context gives one word exactly one meaning.</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Split by business capability and data ownership, never by layer.</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shared database means the split is not finished.</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1414455" y="0"/>
            <a:ext cx="777240" cy="6858000"/>
          </a:xfrm>
          <a:prstGeom prst="rect">
            <a:avLst/>
          </a:prstGeom>
          <a:solidFill>
            <a:srgbClr val="5F1B3C"/>
          </a:solidFill>
          <a:ln/>
        </p:spPr>
        <p:txBody>
          <a:bodyPr/>
          <a:lstStyle/>
          <a:p>
            <a:endParaRPr/>
          </a:p>
        </p:txBody>
      </p:sp>
      <p:sp>
        <p:nvSpPr>
          <p:cNvPr id="7" name="Shape 5"/>
          <p:cNvSpPr/>
          <p:nvPr/>
        </p:nvSpPr>
        <p:spPr>
          <a:xfrm>
            <a:off x="868680" y="1691640"/>
            <a:ext cx="502920" cy="73152"/>
          </a:xfrm>
          <a:prstGeom prst="rect">
            <a:avLst/>
          </a:prstGeom>
          <a:solidFill>
            <a:srgbClr val="43BFB8"/>
          </a:solidFill>
          <a:ln/>
        </p:spPr>
        <p:txBody>
          <a:bodyPr/>
          <a:lstStyle/>
          <a:p>
            <a:endParaRPr/>
          </a:p>
        </p:txBody>
      </p:sp>
      <p:sp>
        <p:nvSpPr>
          <p:cNvPr id="8" name="Text 6"/>
          <p:cNvSpPr/>
          <p:nvPr/>
        </p:nvSpPr>
        <p:spPr>
          <a:xfrm>
            <a:off x="868680" y="1783080"/>
            <a:ext cx="3657600" cy="320040"/>
          </a:xfrm>
          <a:prstGeom prst="rect">
            <a:avLst/>
          </a:prstGeom>
          <a:noFill/>
          <a:ln/>
        </p:spPr>
        <p:txBody>
          <a:bodyPr wrap="square" rtlCol="0" anchor="ctr"/>
          <a:lstStyle/>
          <a:p>
            <a:pPr marL="0" indent="0">
              <a:buNone/>
            </a:pPr>
            <a:r>
              <a:rPr lang="en-US" sz="1200" b="1" kern="0" spc="400" dirty="0">
                <a:solidFill>
                  <a:srgbClr val="5F1B3C"/>
                </a:solidFill>
                <a:latin typeface="Segoe UI" pitchFamily="34" charset="0"/>
                <a:ea typeface="Segoe UI" pitchFamily="34" charset="-122"/>
                <a:cs typeface="Segoe UI" pitchFamily="34" charset="-120"/>
              </a:rPr>
              <a:t>DAY 3</a:t>
            </a:r>
            <a:endParaRPr lang="en-US" sz="1200" dirty="0"/>
          </a:p>
        </p:txBody>
      </p:sp>
      <p:sp>
        <p:nvSpPr>
          <p:cNvPr id="9" name="Text 7"/>
          <p:cNvSpPr/>
          <p:nvPr/>
        </p:nvSpPr>
        <p:spPr>
          <a:xfrm>
            <a:off x="822960" y="2331720"/>
            <a:ext cx="2377440" cy="2194560"/>
          </a:xfrm>
          <a:prstGeom prst="rect">
            <a:avLst/>
          </a:prstGeom>
          <a:noFill/>
          <a:ln/>
        </p:spPr>
        <p:txBody>
          <a:bodyPr wrap="square" rtlCol="0" anchor="t"/>
          <a:lstStyle/>
          <a:p>
            <a:pPr marL="0" indent="0" algn="l">
              <a:buNone/>
            </a:pPr>
            <a:r>
              <a:rPr lang="en-US" sz="9600" b="1" dirty="0">
                <a:solidFill>
                  <a:srgbClr val="5F1B3C"/>
                </a:solidFill>
                <a:latin typeface="Segoe UI" pitchFamily="34" charset="0"/>
                <a:ea typeface="Segoe UI" pitchFamily="34" charset="-122"/>
                <a:cs typeface="Segoe UI" pitchFamily="34" charset="-120"/>
              </a:rPr>
              <a:t>03</a:t>
            </a:r>
            <a:endParaRPr lang="en-US" sz="9600" dirty="0"/>
          </a:p>
        </p:txBody>
      </p:sp>
      <p:sp>
        <p:nvSpPr>
          <p:cNvPr id="10" name="Text 8"/>
          <p:cNvSpPr/>
          <p:nvPr/>
        </p:nvSpPr>
        <p:spPr>
          <a:xfrm>
            <a:off x="3108960" y="2468880"/>
            <a:ext cx="7680960" cy="777240"/>
          </a:xfrm>
          <a:prstGeom prst="rect">
            <a:avLst/>
          </a:prstGeom>
          <a:noFill/>
          <a:ln/>
        </p:spPr>
        <p:txBody>
          <a:bodyPr wrap="square" rtlCol="0" anchor="t"/>
          <a:lstStyle/>
          <a:p>
            <a:pPr marL="0" indent="0" algn="l">
              <a:lnSpc>
                <a:spcPct val="110000"/>
              </a:lnSpc>
              <a:buNone/>
            </a:pPr>
            <a:r>
              <a:rPr lang="en-US" sz="3000" b="1" dirty="0">
                <a:solidFill>
                  <a:srgbClr val="5F1B3C"/>
                </a:solidFill>
                <a:latin typeface="Segoe UI" pitchFamily="34" charset="0"/>
                <a:ea typeface="Segoe UI" pitchFamily="34" charset="-122"/>
                <a:cs typeface="Segoe UI" pitchFamily="34" charset="-120"/>
              </a:rPr>
              <a:t>Integration and API design</a:t>
            </a:r>
            <a:endParaRPr lang="en-US" sz="3000" dirty="0"/>
          </a:p>
        </p:txBody>
      </p:sp>
      <p:sp>
        <p:nvSpPr>
          <p:cNvPr id="11" name="Text 9"/>
          <p:cNvSpPr/>
          <p:nvPr/>
        </p:nvSpPr>
        <p:spPr>
          <a:xfrm>
            <a:off x="3108960" y="3337560"/>
            <a:ext cx="7680960" cy="1463040"/>
          </a:xfrm>
          <a:prstGeom prst="rect">
            <a:avLst/>
          </a:prstGeom>
          <a:noFill/>
          <a:ln/>
        </p:spPr>
        <p:txBody>
          <a:bodyPr wrap="square" rtlCol="0" anchor="t"/>
          <a:lstStyle/>
          <a:p>
            <a:pPr marL="0" indent="0" algn="l">
              <a:lnSpc>
                <a:spcPct val="125000"/>
              </a:lnSpc>
              <a:buNone/>
            </a:pPr>
            <a:r>
              <a:rPr lang="en-US" sz="1400" dirty="0">
                <a:solidFill>
                  <a:srgbClr val="2F9992"/>
                </a:solidFill>
                <a:latin typeface="Segoe UI" pitchFamily="34" charset="0"/>
                <a:ea typeface="Segoe UI" pitchFamily="34" charset="-122"/>
                <a:cs typeface="Segoe UI" pitchFamily="34" charset="-120"/>
              </a:rPr>
              <a:t>REST contracts, events and Kafka, the API gateway, API management and security at the border.</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3    what you will be able to do tonight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Today we connect the parts we separated yesterday.</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59</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Choose request/response when someone is waiting, and events when others must react later.</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a small OpenAPI contract before writing any code.</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Design one business event with a past-tense name and a version.</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Say what an API gateway must do, and what it must never contain.</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Explain idempotency, and why money paths need it.</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Two ways systems talk</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Request/response, and events.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60</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Request/response (usually REST over HTTP) means: I ask, I wait, I get an answer now. An event means: something already happened, I publish that fact, and other systems react when they are ready.</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Use request/response when a human is waiting for the answer: show a product, start a checkout.</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Use an event when several systems must react and the caller should not wait: OrderPlaced, PaymentCaptured.</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REST names things, not actions. GET /v1/items/123 reads an item. POST /v1/orders creates an order.</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If A calls B and B calls A, you built a circle. Circles fail on the busiest day.</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The wrong choice creates either long waits, because everything is a request, or lost work, because everything was fired and forgotten.</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mark every Northline flow as request or event.</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refuse a circular dependency with a reason.</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write the contract before the implementation.</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“Is item 55 in stock?” is a request. “Payment captured for order 8871” is an event that warehouse and finance both consume.</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REST: restfulapi.net  ·  RFC 9110 (HTTP semantics)  ·  Events: martinfowler.com/articles/201701-event-driven.html</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picture    request in front, events behind</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Shopper waits for checkout. Warehouse and finance never make the shopper wait.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61</a:t>
            </a:r>
            <a:endParaRPr lang="en-US" sz="1000" dirty="0"/>
          </a:p>
        </p:txBody>
      </p:sp>
      <p:sp>
        <p:nvSpPr>
          <p:cNvPr id="36" name="Shape 33"/>
          <p:cNvSpPr/>
          <p:nvPr/>
        </p:nvSpPr>
        <p:spPr>
          <a:xfrm>
            <a:off x="548640" y="1572768"/>
            <a:ext cx="1645920" cy="777240"/>
          </a:xfrm>
          <a:prstGeom prst="roundRect">
            <a:avLst>
              <a:gd name="adj" fmla="val 11765"/>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548640" y="1664208"/>
            <a:ext cx="1645920" cy="59436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Shopper</a:t>
            </a:r>
            <a:endParaRPr lang="en-US" sz="1300" dirty="0"/>
          </a:p>
        </p:txBody>
      </p:sp>
      <p:sp>
        <p:nvSpPr>
          <p:cNvPr id="38" name="Shape 35"/>
          <p:cNvSpPr/>
          <p:nvPr/>
        </p:nvSpPr>
        <p:spPr>
          <a:xfrm>
            <a:off x="2514600" y="1435608"/>
            <a:ext cx="2057400" cy="1051560"/>
          </a:xfrm>
          <a:prstGeom prst="roundRect">
            <a:avLst>
              <a:gd name="adj" fmla="val 8696"/>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2514600" y="1527048"/>
            <a:ext cx="2057400" cy="86868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API gateway</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auth · limit · route</a:t>
            </a:r>
            <a:endParaRPr lang="en-US" sz="1300" dirty="0"/>
          </a:p>
        </p:txBody>
      </p:sp>
      <p:sp>
        <p:nvSpPr>
          <p:cNvPr id="40" name="Shape 37"/>
          <p:cNvSpPr/>
          <p:nvPr/>
        </p:nvSpPr>
        <p:spPr>
          <a:xfrm>
            <a:off x="4937760" y="1435608"/>
            <a:ext cx="1783080" cy="1051560"/>
          </a:xfrm>
          <a:prstGeom prst="roundRect">
            <a:avLst>
              <a:gd name="adj" fmla="val 8696"/>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4937760" y="1527048"/>
            <a:ext cx="1783080" cy="86868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Checkout</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service</a:t>
            </a:r>
            <a:endParaRPr lang="en-US" sz="1300" dirty="0"/>
          </a:p>
        </p:txBody>
      </p:sp>
      <p:sp>
        <p:nvSpPr>
          <p:cNvPr id="42" name="Shape 39"/>
          <p:cNvSpPr/>
          <p:nvPr/>
        </p:nvSpPr>
        <p:spPr>
          <a:xfrm>
            <a:off x="8138160" y="1481328"/>
            <a:ext cx="2651760" cy="960120"/>
          </a:xfrm>
          <a:prstGeom prst="roundRect">
            <a:avLst>
              <a:gd name="adj" fmla="val 9524"/>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8138160" y="1572768"/>
            <a:ext cx="2651760" cy="77724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Payment gateway</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(waits for answer)</a:t>
            </a:r>
            <a:endParaRPr lang="en-US" sz="1300" dirty="0"/>
          </a:p>
        </p:txBody>
      </p:sp>
      <p:sp>
        <p:nvSpPr>
          <p:cNvPr id="44" name="Shape 41"/>
          <p:cNvSpPr/>
          <p:nvPr/>
        </p:nvSpPr>
        <p:spPr>
          <a:xfrm>
            <a:off x="4160520" y="3246120"/>
            <a:ext cx="2788920" cy="868680"/>
          </a:xfrm>
          <a:prstGeom prst="roundRect">
            <a:avLst>
              <a:gd name="adj" fmla="val 10526"/>
            </a:avLst>
          </a:prstGeom>
          <a:solidFill>
            <a:srgbClr val="E7EEFC"/>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5" name="Text 42"/>
          <p:cNvSpPr/>
          <p:nvPr/>
        </p:nvSpPr>
        <p:spPr>
          <a:xfrm>
            <a:off x="4160520" y="3337560"/>
            <a:ext cx="2788920" cy="685800"/>
          </a:xfrm>
          <a:prstGeom prst="rect">
            <a:avLst/>
          </a:prstGeom>
          <a:noFill/>
          <a:ln/>
        </p:spPr>
        <p:txBody>
          <a:bodyPr wrap="square" rtlCol="0" anchor="ctr"/>
          <a:lstStyle/>
          <a:p>
            <a:pPr marL="0" indent="0" algn="ctr">
              <a:buNone/>
            </a:pPr>
            <a:r>
              <a:rPr lang="en-US" sz="1300" b="1" dirty="0">
                <a:solidFill>
                  <a:srgbClr val="4A7DE0"/>
                </a:solidFill>
                <a:latin typeface="Segoe UI" pitchFamily="34" charset="0"/>
                <a:ea typeface="Segoe UI" pitchFamily="34" charset="-122"/>
                <a:cs typeface="Segoe UI" pitchFamily="34" charset="-120"/>
              </a:rPr>
              <a:t>Event log  (Kafka)</a:t>
            </a:r>
            <a:endParaRPr lang="en-US" sz="1300" dirty="0"/>
          </a:p>
          <a:p>
            <a:pPr marL="0" indent="0" algn="ctr">
              <a:buNone/>
            </a:pPr>
            <a:r>
              <a:rPr lang="en-US" sz="1300" b="1" dirty="0">
                <a:solidFill>
                  <a:srgbClr val="4A7DE0"/>
                </a:solidFill>
                <a:latin typeface="Segoe UI" pitchFamily="34" charset="0"/>
                <a:ea typeface="Segoe UI" pitchFamily="34" charset="-122"/>
                <a:cs typeface="Segoe UI" pitchFamily="34" charset="-120"/>
              </a:rPr>
              <a:t>topic: payments</a:t>
            </a:r>
            <a:endParaRPr lang="en-US" sz="1300" dirty="0"/>
          </a:p>
        </p:txBody>
      </p:sp>
      <p:sp>
        <p:nvSpPr>
          <p:cNvPr id="46" name="Shape 43"/>
          <p:cNvSpPr/>
          <p:nvPr/>
        </p:nvSpPr>
        <p:spPr>
          <a:xfrm>
            <a:off x="8138160" y="2834640"/>
            <a:ext cx="2651760" cy="777240"/>
          </a:xfrm>
          <a:prstGeom prst="roundRect">
            <a:avLst>
              <a:gd name="adj" fmla="val 11765"/>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7" name="Text 44"/>
          <p:cNvSpPr/>
          <p:nvPr/>
        </p:nvSpPr>
        <p:spPr>
          <a:xfrm>
            <a:off x="8138160" y="2926080"/>
            <a:ext cx="2651760" cy="59436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Warehouse</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start picking</a:t>
            </a:r>
            <a:endParaRPr lang="en-US" sz="1300" dirty="0"/>
          </a:p>
        </p:txBody>
      </p:sp>
      <p:sp>
        <p:nvSpPr>
          <p:cNvPr id="48" name="Shape 45"/>
          <p:cNvSpPr/>
          <p:nvPr/>
        </p:nvSpPr>
        <p:spPr>
          <a:xfrm>
            <a:off x="8138160" y="3840480"/>
            <a:ext cx="2651760" cy="777240"/>
          </a:xfrm>
          <a:prstGeom prst="roundRect">
            <a:avLst>
              <a:gd name="adj" fmla="val 11765"/>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9" name="Text 46"/>
          <p:cNvSpPr/>
          <p:nvPr/>
        </p:nvSpPr>
        <p:spPr>
          <a:xfrm>
            <a:off x="8138160" y="3931920"/>
            <a:ext cx="2651760" cy="59436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Finance</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record revenue</a:t>
            </a:r>
            <a:endParaRPr lang="en-US" sz="1300" dirty="0"/>
          </a:p>
        </p:txBody>
      </p:sp>
      <p:sp>
        <p:nvSpPr>
          <p:cNvPr id="50" name="Shape 47"/>
          <p:cNvSpPr/>
          <p:nvPr/>
        </p:nvSpPr>
        <p:spPr>
          <a:xfrm>
            <a:off x="2194560" y="1961388"/>
            <a:ext cx="320040" cy="914"/>
          </a:xfrm>
          <a:prstGeom prst="line">
            <a:avLst/>
          </a:prstGeom>
          <a:noFill/>
          <a:ln w="19050">
            <a:solidFill>
              <a:srgbClr val="43BFB8"/>
            </a:solidFill>
            <a:prstDash val="solid"/>
            <a:tailEnd type="triangle"/>
          </a:ln>
        </p:spPr>
        <p:txBody>
          <a:bodyPr/>
          <a:lstStyle/>
          <a:p>
            <a:endParaRPr/>
          </a:p>
        </p:txBody>
      </p:sp>
      <p:sp>
        <p:nvSpPr>
          <p:cNvPr id="51" name="Shape 48"/>
          <p:cNvSpPr/>
          <p:nvPr/>
        </p:nvSpPr>
        <p:spPr>
          <a:xfrm>
            <a:off x="4572000" y="1961388"/>
            <a:ext cx="365760" cy="914"/>
          </a:xfrm>
          <a:prstGeom prst="line">
            <a:avLst/>
          </a:prstGeom>
          <a:noFill/>
          <a:ln w="19050">
            <a:solidFill>
              <a:srgbClr val="5F1B3C"/>
            </a:solidFill>
            <a:prstDash val="solid"/>
            <a:tailEnd type="triangle"/>
          </a:ln>
        </p:spPr>
        <p:txBody>
          <a:bodyPr/>
          <a:lstStyle/>
          <a:p>
            <a:endParaRPr/>
          </a:p>
        </p:txBody>
      </p:sp>
      <p:sp>
        <p:nvSpPr>
          <p:cNvPr id="52" name="Shape 49"/>
          <p:cNvSpPr/>
          <p:nvPr/>
        </p:nvSpPr>
        <p:spPr>
          <a:xfrm>
            <a:off x="6720840" y="1961388"/>
            <a:ext cx="1417320" cy="914"/>
          </a:xfrm>
          <a:prstGeom prst="line">
            <a:avLst/>
          </a:prstGeom>
          <a:noFill/>
          <a:ln w="19050">
            <a:solidFill>
              <a:srgbClr val="E76F30"/>
            </a:solidFill>
            <a:prstDash val="solid"/>
            <a:tailEnd type="triangle"/>
          </a:ln>
        </p:spPr>
        <p:txBody>
          <a:bodyPr/>
          <a:lstStyle/>
          <a:p>
            <a:endParaRPr/>
          </a:p>
        </p:txBody>
      </p:sp>
      <p:sp>
        <p:nvSpPr>
          <p:cNvPr id="53" name="Shape 50"/>
          <p:cNvSpPr/>
          <p:nvPr/>
        </p:nvSpPr>
        <p:spPr>
          <a:xfrm flipH="1">
            <a:off x="5554980" y="2487168"/>
            <a:ext cx="274320" cy="758952"/>
          </a:xfrm>
          <a:prstGeom prst="line">
            <a:avLst/>
          </a:prstGeom>
          <a:noFill/>
          <a:ln w="19050">
            <a:solidFill>
              <a:srgbClr val="4A7DE0"/>
            </a:solidFill>
            <a:prstDash val="solid"/>
            <a:tailEnd type="triangle"/>
          </a:ln>
        </p:spPr>
        <p:txBody>
          <a:bodyPr/>
          <a:lstStyle/>
          <a:p>
            <a:endParaRPr/>
          </a:p>
        </p:txBody>
      </p:sp>
      <p:sp>
        <p:nvSpPr>
          <p:cNvPr id="54" name="Shape 51"/>
          <p:cNvSpPr/>
          <p:nvPr/>
        </p:nvSpPr>
        <p:spPr>
          <a:xfrm flipV="1">
            <a:off x="6949440" y="3223260"/>
            <a:ext cx="1188720" cy="457200"/>
          </a:xfrm>
          <a:prstGeom prst="line">
            <a:avLst/>
          </a:prstGeom>
          <a:noFill/>
          <a:ln w="19050">
            <a:solidFill>
              <a:srgbClr val="1F8F65"/>
            </a:solidFill>
            <a:prstDash val="solid"/>
            <a:tailEnd type="triangle"/>
          </a:ln>
        </p:spPr>
        <p:txBody>
          <a:bodyPr/>
          <a:lstStyle/>
          <a:p>
            <a:endParaRPr/>
          </a:p>
        </p:txBody>
      </p:sp>
      <p:sp>
        <p:nvSpPr>
          <p:cNvPr id="55" name="Shape 52"/>
          <p:cNvSpPr/>
          <p:nvPr/>
        </p:nvSpPr>
        <p:spPr>
          <a:xfrm>
            <a:off x="6949440" y="3680460"/>
            <a:ext cx="1188720" cy="548640"/>
          </a:xfrm>
          <a:prstGeom prst="line">
            <a:avLst/>
          </a:prstGeom>
          <a:noFill/>
          <a:ln w="19050">
            <a:solidFill>
              <a:srgbClr val="1F8F65"/>
            </a:solidFill>
            <a:prstDash val="solid"/>
            <a:tailEnd type="triangle"/>
          </a:ln>
        </p:spPr>
        <p:txBody>
          <a:bodyPr/>
          <a:lstStyle/>
          <a:p>
            <a:endParaRPr/>
          </a:p>
        </p:txBody>
      </p:sp>
      <p:sp>
        <p:nvSpPr>
          <p:cNvPr id="56" name="Shape 53"/>
          <p:cNvSpPr/>
          <p:nvPr/>
        </p:nvSpPr>
        <p:spPr>
          <a:xfrm>
            <a:off x="1851660" y="1833372"/>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7" name="Text 54"/>
          <p:cNvSpPr/>
          <p:nvPr/>
        </p:nvSpPr>
        <p:spPr>
          <a:xfrm>
            <a:off x="1851660" y="1833372"/>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HTTPS</a:t>
            </a:r>
            <a:endParaRPr lang="en-US" sz="950" dirty="0"/>
          </a:p>
        </p:txBody>
      </p:sp>
      <p:sp>
        <p:nvSpPr>
          <p:cNvPr id="58" name="Shape 55"/>
          <p:cNvSpPr/>
          <p:nvPr/>
        </p:nvSpPr>
        <p:spPr>
          <a:xfrm>
            <a:off x="4251960" y="1833372"/>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9" name="Text 56"/>
          <p:cNvSpPr/>
          <p:nvPr/>
        </p:nvSpPr>
        <p:spPr>
          <a:xfrm>
            <a:off x="4251960" y="1833372"/>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route</a:t>
            </a:r>
            <a:endParaRPr lang="en-US" sz="950" dirty="0"/>
          </a:p>
        </p:txBody>
      </p:sp>
      <p:sp>
        <p:nvSpPr>
          <p:cNvPr id="60" name="Shape 57"/>
          <p:cNvSpPr/>
          <p:nvPr/>
        </p:nvSpPr>
        <p:spPr>
          <a:xfrm>
            <a:off x="6606540" y="1833372"/>
            <a:ext cx="164592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1" name="Text 58"/>
          <p:cNvSpPr/>
          <p:nvPr/>
        </p:nvSpPr>
        <p:spPr>
          <a:xfrm>
            <a:off x="6606540" y="1833372"/>
            <a:ext cx="164592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charge (waits)</a:t>
            </a:r>
            <a:endParaRPr lang="en-US" sz="950" dirty="0"/>
          </a:p>
        </p:txBody>
      </p:sp>
      <p:sp>
        <p:nvSpPr>
          <p:cNvPr id="62" name="Shape 59"/>
          <p:cNvSpPr/>
          <p:nvPr/>
        </p:nvSpPr>
        <p:spPr>
          <a:xfrm>
            <a:off x="4594860" y="2738628"/>
            <a:ext cx="219456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3" name="Text 60"/>
          <p:cNvSpPr/>
          <p:nvPr/>
        </p:nvSpPr>
        <p:spPr>
          <a:xfrm>
            <a:off x="4594860" y="2738628"/>
            <a:ext cx="219456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publish PaymentCaptured</a:t>
            </a:r>
            <a:endParaRPr lang="en-US" sz="950" dirty="0"/>
          </a:p>
        </p:txBody>
      </p:sp>
      <p:sp>
        <p:nvSpPr>
          <p:cNvPr id="64" name="Shape 61"/>
          <p:cNvSpPr/>
          <p:nvPr/>
        </p:nvSpPr>
        <p:spPr>
          <a:xfrm>
            <a:off x="7040880" y="332384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5" name="Text 62"/>
          <p:cNvSpPr/>
          <p:nvPr/>
        </p:nvSpPr>
        <p:spPr>
          <a:xfrm>
            <a:off x="7040880" y="332384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reads</a:t>
            </a:r>
            <a:endParaRPr lang="en-US" sz="950" dirty="0"/>
          </a:p>
        </p:txBody>
      </p:sp>
      <p:sp>
        <p:nvSpPr>
          <p:cNvPr id="66" name="Shape 63"/>
          <p:cNvSpPr/>
          <p:nvPr/>
        </p:nvSpPr>
        <p:spPr>
          <a:xfrm>
            <a:off x="7040880" y="382676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67" name="Text 64"/>
          <p:cNvSpPr/>
          <p:nvPr/>
        </p:nvSpPr>
        <p:spPr>
          <a:xfrm>
            <a:off x="7040880" y="382676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reads</a:t>
            </a:r>
            <a:endParaRPr lang="en-US" sz="950" dirty="0"/>
          </a:p>
        </p:txBody>
      </p:sp>
      <p:sp>
        <p:nvSpPr>
          <p:cNvPr id="68" name="Shape 65"/>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69" name="Shape 66"/>
          <p:cNvSpPr/>
          <p:nvPr/>
        </p:nvSpPr>
        <p:spPr>
          <a:xfrm>
            <a:off x="502920" y="5010912"/>
            <a:ext cx="100584" cy="731520"/>
          </a:xfrm>
          <a:prstGeom prst="rect">
            <a:avLst/>
          </a:prstGeom>
          <a:solidFill>
            <a:srgbClr val="1F8F65"/>
          </a:solidFill>
          <a:ln/>
        </p:spPr>
        <p:txBody>
          <a:bodyPr/>
          <a:lstStyle/>
          <a:p>
            <a:endParaRPr/>
          </a:p>
        </p:txBody>
      </p:sp>
      <p:sp>
        <p:nvSpPr>
          <p:cNvPr id="70" name="Text 67"/>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Checkout publishes one fact and finishes. It never waits for warehouse or finance, and they never call back.</a:t>
            </a:r>
            <a:endParaRPr lang="en-US" sz="1250" dirty="0"/>
          </a:p>
        </p:txBody>
      </p:sp>
      <p:sp>
        <p:nvSpPr>
          <p:cNvPr id="71" name="Shape 68"/>
          <p:cNvSpPr/>
          <p:nvPr/>
        </p:nvSpPr>
        <p:spPr>
          <a:xfrm>
            <a:off x="502920" y="5925312"/>
            <a:ext cx="54864" cy="201168"/>
          </a:xfrm>
          <a:prstGeom prst="rect">
            <a:avLst/>
          </a:prstGeom>
          <a:solidFill>
            <a:srgbClr val="43BFB8"/>
          </a:solidFill>
          <a:ln/>
        </p:spPr>
        <p:txBody>
          <a:bodyPr/>
          <a:lstStyle/>
          <a:p>
            <a:endParaRPr/>
          </a:p>
        </p:txBody>
      </p:sp>
      <p:sp>
        <p:nvSpPr>
          <p:cNvPr id="72" name="Text 69"/>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kafka.apache.org/documentation  ·  microservices.io/patterns/data/event-driven-architecture.html</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100" b="1" dirty="0">
                <a:solidFill>
                  <a:srgbClr val="5F1B3C"/>
                </a:solidFill>
                <a:latin typeface="Segoe UI" pitchFamily="34" charset="0"/>
                <a:ea typeface="Segoe UI" pitchFamily="34" charset="-122"/>
                <a:cs typeface="Segoe UI" pitchFamily="34" charset="-120"/>
              </a:rPr>
              <a:t>Practise: write the smallest useful API contract</a:t>
            </a:r>
            <a:endParaRPr lang="en-US" sz="21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The contract is today's product. Code comes later.</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62</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Create the file</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api/</a:t>
            </a:r>
            <a:r>
              <a:rPr lang="en-US" sz="1250" dirty="0" err="1">
                <a:solidFill>
                  <a:srgbClr val="3D3348"/>
                </a:solidFill>
                <a:latin typeface="Segoe UI" pitchFamily="34" charset="0"/>
                <a:ea typeface="Segoe UI" pitchFamily="34" charset="-122"/>
                <a:cs typeface="Segoe UI" pitchFamily="34" charset="-120"/>
              </a:rPr>
              <a:t>openapi.yaml</a:t>
            </a:r>
            <a:r>
              <a:rPr lang="en-US" sz="1250" dirty="0">
                <a:solidFill>
                  <a:srgbClr val="3D3348"/>
                </a:solidFill>
                <a:latin typeface="Segoe UI" pitchFamily="34" charset="0"/>
                <a:ea typeface="Segoe UI" pitchFamily="34" charset="-122"/>
                <a:cs typeface="Segoe UI" pitchFamily="34" charset="-120"/>
              </a:rPr>
              <a:t>  or write the same lines on paper.</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One path only</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GET /v1/items/{id} with two answers: 200 and 404.</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Give 404 a meaning</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404 means the item does not exist. It never means the server is tired.</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Read it out loud</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Your partner says: “I asked for a missing id, so I must get 404 with code item_not_found.”</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api/openapi.yaml</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openapi: 3.0.3</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info:</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title: Northline Catalog API</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version: 1.0.0</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paths:</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/v1/items/{id}:</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get:</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summary: Read one item</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parameters:</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 name: id</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in: path</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required: true</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schema: { type: string }</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responses:</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"200": { description: the item }</a:t>
            </a:r>
            <a:endParaRPr lang="en-US" sz="1001" dirty="0"/>
          </a:p>
          <a:p>
            <a:pPr marL="0" indent="0">
              <a:lnSpc>
                <a:spcPct val="112000"/>
              </a:lnSpc>
              <a:buNone/>
            </a:pPr>
            <a:r>
              <a:rPr lang="en-US" sz="1001" dirty="0">
                <a:solidFill>
                  <a:srgbClr val="7EE7B3"/>
                </a:solidFill>
                <a:latin typeface="Consolas" pitchFamily="34" charset="0"/>
                <a:ea typeface="Consolas" pitchFamily="34" charset="-122"/>
                <a:cs typeface="Consolas" pitchFamily="34" charset="-120"/>
              </a:rPr>
              <a:t>        "404": { description: item_not_found }</a:t>
            </a:r>
            <a:endParaRPr lang="en-US" sz="1001"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path, two answers, and a written meaning for 404. A partner can use the API without seeing any code.</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GET item by id. 200 = found, 404 = item_not_found. Best practice: contract first, version in the path, one meaning per status code.</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spec.openapis.org/oas/v3.0.3  ·  editor.swagger.io (free validator)  ·  RFC 9457 for error bodies.</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API contract    line by 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This file is a promise, written in a format both humans and machines can read.</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63</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api/openapi.yaml</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YAML</a:t>
            </a:r>
            <a:endParaRPr lang="en-US" sz="850" dirty="0"/>
          </a:p>
        </p:txBody>
      </p:sp>
      <p:sp>
        <p:nvSpPr>
          <p:cNvPr id="43" name="Text 40"/>
          <p:cNvSpPr/>
          <p:nvPr/>
        </p:nvSpPr>
        <p:spPr>
          <a:xfrm>
            <a:off x="594360" y="159105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1</a:t>
            </a:r>
            <a:endParaRPr lang="en-US" sz="800" dirty="0"/>
          </a:p>
        </p:txBody>
      </p:sp>
      <p:sp>
        <p:nvSpPr>
          <p:cNvPr id="44" name="Text 41"/>
          <p:cNvSpPr/>
          <p:nvPr/>
        </p:nvSpPr>
        <p:spPr>
          <a:xfrm>
            <a:off x="960120" y="159105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openapi: 3.0.3</a:t>
            </a:r>
            <a:endParaRPr lang="en-US" sz="950" dirty="0"/>
          </a:p>
        </p:txBody>
      </p:sp>
      <p:sp>
        <p:nvSpPr>
          <p:cNvPr id="45" name="Shape 42"/>
          <p:cNvSpPr/>
          <p:nvPr/>
        </p:nvSpPr>
        <p:spPr>
          <a:xfrm>
            <a:off x="6035040" y="1709928"/>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Which version of the contract language we use. Tools read this first.</a:t>
            </a:r>
            <a:endParaRPr lang="en-US" sz="1100" dirty="0"/>
          </a:p>
        </p:txBody>
      </p:sp>
      <p:sp>
        <p:nvSpPr>
          <p:cNvPr id="47" name="Text 44"/>
          <p:cNvSpPr/>
          <p:nvPr/>
        </p:nvSpPr>
        <p:spPr>
          <a:xfrm>
            <a:off x="594360" y="197510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2</a:t>
            </a:r>
            <a:endParaRPr lang="en-US" sz="800" dirty="0"/>
          </a:p>
        </p:txBody>
      </p:sp>
      <p:sp>
        <p:nvSpPr>
          <p:cNvPr id="48" name="Text 45"/>
          <p:cNvSpPr/>
          <p:nvPr/>
        </p:nvSpPr>
        <p:spPr>
          <a:xfrm>
            <a:off x="960120" y="197510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info: { title: Catalog API, version: 1.0.0 }</a:t>
            </a:r>
            <a:endParaRPr lang="en-US" sz="950" dirty="0"/>
          </a:p>
        </p:txBody>
      </p:sp>
      <p:sp>
        <p:nvSpPr>
          <p:cNvPr id="49" name="Shape 46"/>
          <p:cNvSpPr/>
          <p:nvPr/>
        </p:nvSpPr>
        <p:spPr>
          <a:xfrm>
            <a:off x="6035040" y="2093976"/>
            <a:ext cx="155448" cy="155448"/>
          </a:xfrm>
          <a:prstGeom prst="ellipse">
            <a:avLst/>
          </a:prstGeom>
          <a:solidFill>
            <a:srgbClr val="43BFB8"/>
          </a:solidFill>
          <a:ln/>
        </p:spPr>
        <p:txBody>
          <a:bodyPr/>
          <a:lstStyle/>
          <a:p>
            <a:endParaRPr/>
          </a:p>
        </p:txBody>
      </p:sp>
      <p:sp>
        <p:nvSpPr>
          <p:cNvPr id="50" name="Text 47"/>
          <p:cNvSpPr/>
          <p:nvPr/>
        </p:nvSpPr>
        <p:spPr>
          <a:xfrm>
            <a:off x="6291072" y="197510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The name of the promise and its version. Version 1 must never change meaning.</a:t>
            </a:r>
            <a:endParaRPr lang="en-US" sz="1100" dirty="0"/>
          </a:p>
        </p:txBody>
      </p:sp>
      <p:sp>
        <p:nvSpPr>
          <p:cNvPr id="51" name="Text 48"/>
          <p:cNvSpPr/>
          <p:nvPr/>
        </p:nvSpPr>
        <p:spPr>
          <a:xfrm>
            <a:off x="594360" y="235915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3</a:t>
            </a:r>
            <a:endParaRPr lang="en-US" sz="800" dirty="0"/>
          </a:p>
        </p:txBody>
      </p:sp>
      <p:sp>
        <p:nvSpPr>
          <p:cNvPr id="52" name="Text 49"/>
          <p:cNvSpPr/>
          <p:nvPr/>
        </p:nvSpPr>
        <p:spPr>
          <a:xfrm>
            <a:off x="960120" y="235915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paths:</a:t>
            </a:r>
            <a:endParaRPr lang="en-US" sz="950" dirty="0"/>
          </a:p>
        </p:txBody>
      </p:sp>
      <p:sp>
        <p:nvSpPr>
          <p:cNvPr id="53" name="Shape 50"/>
          <p:cNvSpPr/>
          <p:nvPr/>
        </p:nvSpPr>
        <p:spPr>
          <a:xfrm>
            <a:off x="6035040" y="2478024"/>
            <a:ext cx="155448" cy="155448"/>
          </a:xfrm>
          <a:prstGeom prst="ellipse">
            <a:avLst/>
          </a:prstGeom>
          <a:solidFill>
            <a:srgbClr val="43BFB8"/>
          </a:solidFill>
          <a:ln/>
        </p:spPr>
        <p:txBody>
          <a:bodyPr/>
          <a:lstStyle/>
          <a:p>
            <a:endParaRPr/>
          </a:p>
        </p:txBody>
      </p:sp>
      <p:sp>
        <p:nvSpPr>
          <p:cNvPr id="54" name="Text 51"/>
          <p:cNvSpPr/>
          <p:nvPr/>
        </p:nvSpPr>
        <p:spPr>
          <a:xfrm>
            <a:off x="6291072" y="235915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Everything below is a web address that callers may use.</a:t>
            </a:r>
            <a:endParaRPr lang="en-US" sz="1100" dirty="0"/>
          </a:p>
        </p:txBody>
      </p:sp>
      <p:sp>
        <p:nvSpPr>
          <p:cNvPr id="55" name="Text 52"/>
          <p:cNvSpPr/>
          <p:nvPr/>
        </p:nvSpPr>
        <p:spPr>
          <a:xfrm>
            <a:off x="594360" y="274320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4</a:t>
            </a:r>
            <a:endParaRPr lang="en-US" sz="800" dirty="0"/>
          </a:p>
        </p:txBody>
      </p:sp>
      <p:sp>
        <p:nvSpPr>
          <p:cNvPr id="56" name="Text 53"/>
          <p:cNvSpPr/>
          <p:nvPr/>
        </p:nvSpPr>
        <p:spPr>
          <a:xfrm>
            <a:off x="960120" y="274320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/v1/items/{id}:</a:t>
            </a:r>
            <a:endParaRPr lang="en-US" sz="950" dirty="0"/>
          </a:p>
        </p:txBody>
      </p:sp>
      <p:sp>
        <p:nvSpPr>
          <p:cNvPr id="57" name="Shape 54"/>
          <p:cNvSpPr/>
          <p:nvPr/>
        </p:nvSpPr>
        <p:spPr>
          <a:xfrm>
            <a:off x="6035040" y="2862072"/>
            <a:ext cx="155448" cy="155448"/>
          </a:xfrm>
          <a:prstGeom prst="ellipse">
            <a:avLst/>
          </a:prstGeom>
          <a:solidFill>
            <a:srgbClr val="43BFB8"/>
          </a:solidFill>
          <a:ln/>
        </p:spPr>
        <p:txBody>
          <a:bodyPr/>
          <a:lstStyle/>
          <a:p>
            <a:endParaRPr/>
          </a:p>
        </p:txBody>
      </p:sp>
      <p:sp>
        <p:nvSpPr>
          <p:cNvPr id="58" name="Text 55"/>
          <p:cNvSpPr/>
          <p:nvPr/>
        </p:nvSpPr>
        <p:spPr>
          <a:xfrm>
            <a:off x="6291072" y="274320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The address. `v1` at the front protects old callers forever. `{id}` is filled in by the caller.</a:t>
            </a:r>
            <a:endParaRPr lang="en-US" sz="1100" dirty="0"/>
          </a:p>
        </p:txBody>
      </p:sp>
      <p:sp>
        <p:nvSpPr>
          <p:cNvPr id="59" name="Text 56"/>
          <p:cNvSpPr/>
          <p:nvPr/>
        </p:nvSpPr>
        <p:spPr>
          <a:xfrm>
            <a:off x="594360" y="3127248"/>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5</a:t>
            </a:r>
            <a:endParaRPr lang="en-US" sz="800" dirty="0"/>
          </a:p>
        </p:txBody>
      </p:sp>
      <p:sp>
        <p:nvSpPr>
          <p:cNvPr id="60" name="Text 57"/>
          <p:cNvSpPr/>
          <p:nvPr/>
        </p:nvSpPr>
        <p:spPr>
          <a:xfrm>
            <a:off x="960120" y="3127248"/>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get:</a:t>
            </a:r>
            <a:endParaRPr lang="en-US" sz="950" dirty="0"/>
          </a:p>
        </p:txBody>
      </p:sp>
      <p:sp>
        <p:nvSpPr>
          <p:cNvPr id="61" name="Shape 58"/>
          <p:cNvSpPr/>
          <p:nvPr/>
        </p:nvSpPr>
        <p:spPr>
          <a:xfrm>
            <a:off x="6035040" y="3246120"/>
            <a:ext cx="155448" cy="155448"/>
          </a:xfrm>
          <a:prstGeom prst="ellipse">
            <a:avLst/>
          </a:prstGeom>
          <a:solidFill>
            <a:srgbClr val="43BFB8"/>
          </a:solidFill>
          <a:ln/>
        </p:spPr>
        <p:txBody>
          <a:bodyPr/>
          <a:lstStyle/>
          <a:p>
            <a:endParaRPr/>
          </a:p>
        </p:txBody>
      </p:sp>
      <p:sp>
        <p:nvSpPr>
          <p:cNvPr id="62" name="Text 59"/>
          <p:cNvSpPr/>
          <p:nvPr/>
        </p:nvSpPr>
        <p:spPr>
          <a:xfrm>
            <a:off x="6291072" y="3127248"/>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`get` means read only. It must never change anything on the server.</a:t>
            </a:r>
            <a:endParaRPr lang="en-US" sz="1100" dirty="0"/>
          </a:p>
        </p:txBody>
      </p:sp>
      <p:sp>
        <p:nvSpPr>
          <p:cNvPr id="63" name="Text 60"/>
          <p:cNvSpPr/>
          <p:nvPr/>
        </p:nvSpPr>
        <p:spPr>
          <a:xfrm>
            <a:off x="594360" y="351129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6</a:t>
            </a:r>
            <a:endParaRPr lang="en-US" sz="800" dirty="0"/>
          </a:p>
        </p:txBody>
      </p:sp>
      <p:sp>
        <p:nvSpPr>
          <p:cNvPr id="64" name="Text 61"/>
          <p:cNvSpPr/>
          <p:nvPr/>
        </p:nvSpPr>
        <p:spPr>
          <a:xfrm>
            <a:off x="960120" y="351129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parameters: [ { name: id, in: path } ]</a:t>
            </a:r>
            <a:endParaRPr lang="en-US" sz="950" dirty="0"/>
          </a:p>
        </p:txBody>
      </p:sp>
      <p:sp>
        <p:nvSpPr>
          <p:cNvPr id="65" name="Shape 62"/>
          <p:cNvSpPr/>
          <p:nvPr/>
        </p:nvSpPr>
        <p:spPr>
          <a:xfrm>
            <a:off x="6035040" y="3630168"/>
            <a:ext cx="155448" cy="155448"/>
          </a:xfrm>
          <a:prstGeom prst="ellipse">
            <a:avLst/>
          </a:prstGeom>
          <a:solidFill>
            <a:srgbClr val="43BFB8"/>
          </a:solidFill>
          <a:ln/>
        </p:spPr>
        <p:txBody>
          <a:bodyPr/>
          <a:lstStyle/>
          <a:p>
            <a:endParaRPr/>
          </a:p>
        </p:txBody>
      </p:sp>
      <p:sp>
        <p:nvSpPr>
          <p:cNvPr id="66" name="Text 63"/>
          <p:cNvSpPr/>
          <p:nvPr/>
        </p:nvSpPr>
        <p:spPr>
          <a:xfrm>
            <a:off x="6291072" y="351129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We declare that the id arrives inside the address itself.</a:t>
            </a:r>
            <a:endParaRPr lang="en-US" sz="1100" dirty="0"/>
          </a:p>
        </p:txBody>
      </p:sp>
      <p:sp>
        <p:nvSpPr>
          <p:cNvPr id="67" name="Text 64"/>
          <p:cNvSpPr/>
          <p:nvPr/>
        </p:nvSpPr>
        <p:spPr>
          <a:xfrm>
            <a:off x="594360" y="389534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7</a:t>
            </a:r>
            <a:endParaRPr lang="en-US" sz="800" dirty="0"/>
          </a:p>
        </p:txBody>
      </p:sp>
      <p:sp>
        <p:nvSpPr>
          <p:cNvPr id="68" name="Text 65"/>
          <p:cNvSpPr/>
          <p:nvPr/>
        </p:nvSpPr>
        <p:spPr>
          <a:xfrm>
            <a:off x="960120" y="389534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responses:</a:t>
            </a:r>
            <a:endParaRPr lang="en-US" sz="950" dirty="0"/>
          </a:p>
        </p:txBody>
      </p:sp>
      <p:sp>
        <p:nvSpPr>
          <p:cNvPr id="69" name="Shape 66"/>
          <p:cNvSpPr/>
          <p:nvPr/>
        </p:nvSpPr>
        <p:spPr>
          <a:xfrm>
            <a:off x="6035040" y="4014216"/>
            <a:ext cx="155448" cy="155448"/>
          </a:xfrm>
          <a:prstGeom prst="ellipse">
            <a:avLst/>
          </a:prstGeom>
          <a:solidFill>
            <a:srgbClr val="43BFB8"/>
          </a:solidFill>
          <a:ln/>
        </p:spPr>
        <p:txBody>
          <a:bodyPr/>
          <a:lstStyle/>
          <a:p>
            <a:endParaRPr/>
          </a:p>
        </p:txBody>
      </p:sp>
      <p:sp>
        <p:nvSpPr>
          <p:cNvPr id="70" name="Text 67"/>
          <p:cNvSpPr/>
          <p:nvPr/>
        </p:nvSpPr>
        <p:spPr>
          <a:xfrm>
            <a:off x="6291072" y="389534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Every possible answer must be listed here. No surprises for the caller.</a:t>
            </a:r>
            <a:endParaRPr lang="en-US" sz="1100" dirty="0"/>
          </a:p>
        </p:txBody>
      </p:sp>
      <p:sp>
        <p:nvSpPr>
          <p:cNvPr id="71" name="Text 68"/>
          <p:cNvSpPr/>
          <p:nvPr/>
        </p:nvSpPr>
        <p:spPr>
          <a:xfrm>
            <a:off x="594360" y="427939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8</a:t>
            </a:r>
            <a:endParaRPr lang="en-US" sz="800" dirty="0"/>
          </a:p>
        </p:txBody>
      </p:sp>
      <p:sp>
        <p:nvSpPr>
          <p:cNvPr id="72" name="Text 69"/>
          <p:cNvSpPr/>
          <p:nvPr/>
        </p:nvSpPr>
        <p:spPr>
          <a:xfrm>
            <a:off x="960120" y="427939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"200": item found, body has the item</a:t>
            </a:r>
            <a:endParaRPr lang="en-US" sz="950" dirty="0"/>
          </a:p>
        </p:txBody>
      </p:sp>
      <p:sp>
        <p:nvSpPr>
          <p:cNvPr id="73" name="Shape 70"/>
          <p:cNvSpPr/>
          <p:nvPr/>
        </p:nvSpPr>
        <p:spPr>
          <a:xfrm>
            <a:off x="6035040" y="4398264"/>
            <a:ext cx="155448" cy="155448"/>
          </a:xfrm>
          <a:prstGeom prst="ellipse">
            <a:avLst/>
          </a:prstGeom>
          <a:solidFill>
            <a:srgbClr val="43BFB8"/>
          </a:solidFill>
          <a:ln/>
        </p:spPr>
        <p:txBody>
          <a:bodyPr/>
          <a:lstStyle/>
          <a:p>
            <a:endParaRPr/>
          </a:p>
        </p:txBody>
      </p:sp>
      <p:sp>
        <p:nvSpPr>
          <p:cNvPr id="74" name="Text 71"/>
          <p:cNvSpPr/>
          <p:nvPr/>
        </p:nvSpPr>
        <p:spPr>
          <a:xfrm>
            <a:off x="6291072" y="427939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Success. The caller now knows exactly what shape comes back.</a:t>
            </a:r>
            <a:endParaRPr lang="en-US" sz="1100" dirty="0"/>
          </a:p>
        </p:txBody>
      </p:sp>
      <p:sp>
        <p:nvSpPr>
          <p:cNvPr id="75" name="Text 72"/>
          <p:cNvSpPr/>
          <p:nvPr/>
        </p:nvSpPr>
        <p:spPr>
          <a:xfrm>
            <a:off x="594360" y="466344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9</a:t>
            </a:r>
            <a:endParaRPr lang="en-US" sz="800" dirty="0"/>
          </a:p>
        </p:txBody>
      </p:sp>
      <p:sp>
        <p:nvSpPr>
          <p:cNvPr id="76" name="Text 73"/>
          <p:cNvSpPr/>
          <p:nvPr/>
        </p:nvSpPr>
        <p:spPr>
          <a:xfrm>
            <a:off x="960120" y="466344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"404": code = item_not_found</a:t>
            </a:r>
            <a:endParaRPr lang="en-US" sz="950" dirty="0"/>
          </a:p>
        </p:txBody>
      </p:sp>
      <p:sp>
        <p:nvSpPr>
          <p:cNvPr id="77" name="Shape 74"/>
          <p:cNvSpPr/>
          <p:nvPr/>
        </p:nvSpPr>
        <p:spPr>
          <a:xfrm>
            <a:off x="6035040" y="4782312"/>
            <a:ext cx="155448" cy="155448"/>
          </a:xfrm>
          <a:prstGeom prst="ellipse">
            <a:avLst/>
          </a:prstGeom>
          <a:solidFill>
            <a:srgbClr val="43BFB8"/>
          </a:solidFill>
          <a:ln/>
        </p:spPr>
        <p:txBody>
          <a:bodyPr/>
          <a:lstStyle/>
          <a:p>
            <a:endParaRPr/>
          </a:p>
        </p:txBody>
      </p:sp>
      <p:sp>
        <p:nvSpPr>
          <p:cNvPr id="78" name="Text 75"/>
          <p:cNvSpPr/>
          <p:nvPr/>
        </p:nvSpPr>
        <p:spPr>
          <a:xfrm>
            <a:off x="6291072" y="466344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The item does not exist. It never means “the server is tired”. That would be 503.</a:t>
            </a:r>
            <a:endParaRPr lang="en-US" sz="1100" dirty="0"/>
          </a:p>
        </p:txBody>
      </p:sp>
      <p:sp>
        <p:nvSpPr>
          <p:cNvPr id="79" name="Shape 76"/>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80" name="Shape 77"/>
          <p:cNvSpPr/>
          <p:nvPr/>
        </p:nvSpPr>
        <p:spPr>
          <a:xfrm>
            <a:off x="502920" y="5175504"/>
            <a:ext cx="100584" cy="676656"/>
          </a:xfrm>
          <a:prstGeom prst="rect">
            <a:avLst/>
          </a:prstGeom>
          <a:solidFill>
            <a:srgbClr val="E76F30"/>
          </a:solidFill>
          <a:ln/>
        </p:spPr>
        <p:txBody>
          <a:bodyPr/>
          <a:lstStyle/>
          <a:p>
            <a:endParaRPr/>
          </a:p>
        </p:txBody>
      </p:sp>
      <p:sp>
        <p:nvSpPr>
          <p:cNvPr id="81" name="Text 78"/>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Write this file before any code. A front-end developer, a mobile developer and a partner company can all start work from this one page, at the same time, without waiting for you. That is why we say the contract is the product.</a:t>
            </a:r>
            <a:endParaRPr lang="en-US" sz="1250" dirty="0"/>
          </a:p>
        </p:txBody>
      </p:sp>
      <p:sp>
        <p:nvSpPr>
          <p:cNvPr id="82" name="Shape 79"/>
          <p:cNvSpPr/>
          <p:nvPr/>
        </p:nvSpPr>
        <p:spPr>
          <a:xfrm>
            <a:off x="502920" y="5980176"/>
            <a:ext cx="54864" cy="201168"/>
          </a:xfrm>
          <a:prstGeom prst="rect">
            <a:avLst/>
          </a:prstGeom>
          <a:solidFill>
            <a:srgbClr val="43BFB8"/>
          </a:solidFill>
          <a:ln/>
        </p:spPr>
        <p:txBody>
          <a:bodyPr/>
          <a:lstStyle/>
          <a:p>
            <a:endParaRPr/>
          </a:p>
        </p:txBody>
      </p:sp>
      <p:sp>
        <p:nvSpPr>
          <p:cNvPr id="83" name="Text 80"/>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spec.openapis.org/oas/v3.0.3  ·  paste your file into editor.swagger.io to validate it and get a free test page.</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API design    do and don't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These four rules prevent most breaking changes and most support tickets.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64</a:t>
            </a:r>
            <a:endParaRPr lang="en-US" sz="1000" dirty="0"/>
          </a:p>
        </p:txBody>
      </p:sp>
      <p:sp>
        <p:nvSpPr>
          <p:cNvPr id="36" name="Shape 33"/>
          <p:cNvSpPr/>
          <p:nvPr/>
        </p:nvSpPr>
        <p:spPr>
          <a:xfrm>
            <a:off x="502920" y="1243584"/>
            <a:ext cx="5455768" cy="420624"/>
          </a:xfrm>
          <a:prstGeom prst="roundRect">
            <a:avLst>
              <a:gd name="adj" fmla="val 19565"/>
            </a:avLst>
          </a:prstGeom>
          <a:solidFill>
            <a:srgbClr val="1F8F65"/>
          </a:solidFill>
          <a:ln/>
        </p:spPr>
        <p:txBody>
          <a:bodyPr/>
          <a:lstStyle/>
          <a:p>
            <a:endParaRPr/>
          </a:p>
        </p:txBody>
      </p:sp>
      <p:sp>
        <p:nvSpPr>
          <p:cNvPr id="37" name="Text 34"/>
          <p:cNvSpPr/>
          <p:nvPr/>
        </p:nvSpPr>
        <p:spPr>
          <a:xfrm>
            <a:off x="685800"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    best practice</a:t>
            </a:r>
            <a:endParaRPr lang="en-US" sz="1300" dirty="0"/>
          </a:p>
        </p:txBody>
      </p:sp>
      <p:sp>
        <p:nvSpPr>
          <p:cNvPr id="38" name="Shape 35"/>
          <p:cNvSpPr/>
          <p:nvPr/>
        </p:nvSpPr>
        <p:spPr>
          <a:xfrm>
            <a:off x="6233008" y="1243584"/>
            <a:ext cx="5455768" cy="420624"/>
          </a:xfrm>
          <a:prstGeom prst="roundRect">
            <a:avLst>
              <a:gd name="adj" fmla="val 19565"/>
            </a:avLst>
          </a:prstGeom>
          <a:solidFill>
            <a:srgbClr val="DC2626"/>
          </a:solidFill>
          <a:ln/>
        </p:spPr>
        <p:txBody>
          <a:bodyPr/>
          <a:lstStyle/>
          <a:p>
            <a:endParaRPr/>
          </a:p>
        </p:txBody>
      </p:sp>
      <p:sp>
        <p:nvSpPr>
          <p:cNvPr id="39" name="Text 36"/>
          <p:cNvSpPr/>
          <p:nvPr/>
        </p:nvSpPr>
        <p:spPr>
          <a:xfrm>
            <a:off x="6415888"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DON'T    what breaks in production</a:t>
            </a:r>
            <a:endParaRPr lang="en-US" sz="1300" dirty="0"/>
          </a:p>
        </p:txBody>
      </p:sp>
      <p:sp>
        <p:nvSpPr>
          <p:cNvPr id="40" name="Shape 37"/>
          <p:cNvSpPr/>
          <p:nvPr/>
        </p:nvSpPr>
        <p:spPr>
          <a:xfrm>
            <a:off x="502920" y="1792224"/>
            <a:ext cx="5455768" cy="681228"/>
          </a:xfrm>
          <a:prstGeom prst="roundRect">
            <a:avLst>
              <a:gd name="adj" fmla="val 12081"/>
            </a:avLst>
          </a:prstGeom>
          <a:solidFill>
            <a:srgbClr val="E1F5EC"/>
          </a:solidFill>
          <a:ln/>
        </p:spPr>
        <p:txBody>
          <a:bodyPr/>
          <a:lstStyle/>
          <a:p>
            <a:endParaRPr/>
          </a:p>
        </p:txBody>
      </p:sp>
      <p:sp>
        <p:nvSpPr>
          <p:cNvPr id="41" name="Text 38"/>
          <p:cNvSpPr/>
          <p:nvPr/>
        </p:nvSpPr>
        <p:spPr>
          <a:xfrm>
            <a:off x="612648" y="1847088"/>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2" name="Text 39"/>
          <p:cNvSpPr/>
          <p:nvPr/>
        </p:nvSpPr>
        <p:spPr>
          <a:xfrm>
            <a:off x="960120"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Name resources as nouns and use HTTP verbs: GET /v1/orders/8871.</a:t>
            </a:r>
            <a:endParaRPr lang="en-US" sz="1150" dirty="0"/>
          </a:p>
        </p:txBody>
      </p:sp>
      <p:sp>
        <p:nvSpPr>
          <p:cNvPr id="43" name="Shape 40"/>
          <p:cNvSpPr/>
          <p:nvPr/>
        </p:nvSpPr>
        <p:spPr>
          <a:xfrm>
            <a:off x="6233008" y="1792224"/>
            <a:ext cx="5455768" cy="681228"/>
          </a:xfrm>
          <a:prstGeom prst="roundRect">
            <a:avLst>
              <a:gd name="adj" fmla="val 12081"/>
            </a:avLst>
          </a:prstGeom>
          <a:solidFill>
            <a:srgbClr val="FEE2E2"/>
          </a:solidFill>
          <a:ln/>
        </p:spPr>
        <p:txBody>
          <a:bodyPr/>
          <a:lstStyle/>
          <a:p>
            <a:endParaRPr/>
          </a:p>
        </p:txBody>
      </p:sp>
      <p:sp>
        <p:nvSpPr>
          <p:cNvPr id="44" name="Text 41"/>
          <p:cNvSpPr/>
          <p:nvPr/>
        </p:nvSpPr>
        <p:spPr>
          <a:xfrm>
            <a:off x="6342736" y="1847088"/>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45" name="Text 42"/>
          <p:cNvSpPr/>
          <p:nvPr/>
        </p:nvSpPr>
        <p:spPr>
          <a:xfrm>
            <a:off x="6690208"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Put verbs in the path: POST /getOrderById or POST /doCharge.</a:t>
            </a:r>
            <a:endParaRPr lang="en-US" sz="1150" dirty="0"/>
          </a:p>
        </p:txBody>
      </p:sp>
      <p:sp>
        <p:nvSpPr>
          <p:cNvPr id="46" name="Shape 43"/>
          <p:cNvSpPr/>
          <p:nvPr/>
        </p:nvSpPr>
        <p:spPr>
          <a:xfrm>
            <a:off x="502920" y="2583180"/>
            <a:ext cx="5455768" cy="681228"/>
          </a:xfrm>
          <a:prstGeom prst="roundRect">
            <a:avLst>
              <a:gd name="adj" fmla="val 12081"/>
            </a:avLst>
          </a:prstGeom>
          <a:solidFill>
            <a:srgbClr val="E1F5EC"/>
          </a:solidFill>
          <a:ln/>
        </p:spPr>
        <p:txBody>
          <a:bodyPr/>
          <a:lstStyle/>
          <a:p>
            <a:endParaRPr/>
          </a:p>
        </p:txBody>
      </p:sp>
      <p:sp>
        <p:nvSpPr>
          <p:cNvPr id="47" name="Text 44"/>
          <p:cNvSpPr/>
          <p:nvPr/>
        </p:nvSpPr>
        <p:spPr>
          <a:xfrm>
            <a:off x="612648" y="2638044"/>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8" name="Text 45"/>
          <p:cNvSpPr/>
          <p:nvPr/>
        </p:nvSpPr>
        <p:spPr>
          <a:xfrm>
            <a:off x="960120"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Version at the front of the path (/v1) and never change the meaning of a live field.</a:t>
            </a:r>
            <a:endParaRPr lang="en-US" sz="1150" dirty="0"/>
          </a:p>
        </p:txBody>
      </p:sp>
      <p:sp>
        <p:nvSpPr>
          <p:cNvPr id="49" name="Shape 46"/>
          <p:cNvSpPr/>
          <p:nvPr/>
        </p:nvSpPr>
        <p:spPr>
          <a:xfrm>
            <a:off x="6233008" y="2583180"/>
            <a:ext cx="5455768" cy="681228"/>
          </a:xfrm>
          <a:prstGeom prst="roundRect">
            <a:avLst>
              <a:gd name="adj" fmla="val 12081"/>
            </a:avLst>
          </a:prstGeom>
          <a:solidFill>
            <a:srgbClr val="FEE2E2"/>
          </a:solidFill>
          <a:ln/>
        </p:spPr>
        <p:txBody>
          <a:bodyPr/>
          <a:lstStyle/>
          <a:p>
            <a:endParaRPr/>
          </a:p>
        </p:txBody>
      </p:sp>
      <p:sp>
        <p:nvSpPr>
          <p:cNvPr id="50" name="Text 47"/>
          <p:cNvSpPr/>
          <p:nvPr/>
        </p:nvSpPr>
        <p:spPr>
          <a:xfrm>
            <a:off x="6342736" y="2638044"/>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1" name="Text 48"/>
          <p:cNvSpPr/>
          <p:nvPr/>
        </p:nvSpPr>
        <p:spPr>
          <a:xfrm>
            <a:off x="6690208"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Silently change a field's meaning or type. Every client breaks and nobody knows why.</a:t>
            </a:r>
            <a:endParaRPr lang="en-US" sz="1150" dirty="0"/>
          </a:p>
        </p:txBody>
      </p:sp>
      <p:sp>
        <p:nvSpPr>
          <p:cNvPr id="52" name="Shape 49"/>
          <p:cNvSpPr/>
          <p:nvPr/>
        </p:nvSpPr>
        <p:spPr>
          <a:xfrm>
            <a:off x="502920" y="3374136"/>
            <a:ext cx="5455768" cy="681228"/>
          </a:xfrm>
          <a:prstGeom prst="roundRect">
            <a:avLst>
              <a:gd name="adj" fmla="val 12081"/>
            </a:avLst>
          </a:prstGeom>
          <a:solidFill>
            <a:srgbClr val="E1F5EC"/>
          </a:solidFill>
          <a:ln/>
        </p:spPr>
        <p:txBody>
          <a:bodyPr/>
          <a:lstStyle/>
          <a:p>
            <a:endParaRPr/>
          </a:p>
        </p:txBody>
      </p:sp>
      <p:sp>
        <p:nvSpPr>
          <p:cNvPr id="53" name="Text 50"/>
          <p:cNvSpPr/>
          <p:nvPr/>
        </p:nvSpPr>
        <p:spPr>
          <a:xfrm>
            <a:off x="612648" y="3429000"/>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54" name="Text 51"/>
          <p:cNvSpPr/>
          <p:nvPr/>
        </p:nvSpPr>
        <p:spPr>
          <a:xfrm>
            <a:off x="960120"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Require an Idempotency-Key on money operations and store the first result.</a:t>
            </a:r>
            <a:endParaRPr lang="en-US" sz="1150" dirty="0"/>
          </a:p>
        </p:txBody>
      </p:sp>
      <p:sp>
        <p:nvSpPr>
          <p:cNvPr id="55" name="Shape 52"/>
          <p:cNvSpPr/>
          <p:nvPr/>
        </p:nvSpPr>
        <p:spPr>
          <a:xfrm>
            <a:off x="6233008" y="3374136"/>
            <a:ext cx="5455768" cy="681228"/>
          </a:xfrm>
          <a:prstGeom prst="roundRect">
            <a:avLst>
              <a:gd name="adj" fmla="val 12081"/>
            </a:avLst>
          </a:prstGeom>
          <a:solidFill>
            <a:srgbClr val="FEE2E2"/>
          </a:solidFill>
          <a:ln/>
        </p:spPr>
        <p:txBody>
          <a:bodyPr/>
          <a:lstStyle/>
          <a:p>
            <a:endParaRPr/>
          </a:p>
        </p:txBody>
      </p:sp>
      <p:sp>
        <p:nvSpPr>
          <p:cNvPr id="56" name="Text 53"/>
          <p:cNvSpPr/>
          <p:nvPr/>
        </p:nvSpPr>
        <p:spPr>
          <a:xfrm>
            <a:off x="6342736" y="3429000"/>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7" name="Text 54"/>
          <p:cNvSpPr/>
          <p:nvPr/>
        </p:nvSpPr>
        <p:spPr>
          <a:xfrm>
            <a:off x="6690208"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Let a retry create a second charge. A slow response plus a second click equals a double charge.</a:t>
            </a:r>
            <a:endParaRPr lang="en-US" sz="1150" dirty="0"/>
          </a:p>
        </p:txBody>
      </p:sp>
      <p:sp>
        <p:nvSpPr>
          <p:cNvPr id="58" name="Shape 55"/>
          <p:cNvSpPr/>
          <p:nvPr/>
        </p:nvSpPr>
        <p:spPr>
          <a:xfrm>
            <a:off x="502920" y="4165092"/>
            <a:ext cx="5455768" cy="681228"/>
          </a:xfrm>
          <a:prstGeom prst="roundRect">
            <a:avLst>
              <a:gd name="adj" fmla="val 12081"/>
            </a:avLst>
          </a:prstGeom>
          <a:solidFill>
            <a:srgbClr val="E1F5EC"/>
          </a:solidFill>
          <a:ln/>
        </p:spPr>
        <p:txBody>
          <a:bodyPr/>
          <a:lstStyle/>
          <a:p>
            <a:endParaRPr/>
          </a:p>
        </p:txBody>
      </p:sp>
      <p:sp>
        <p:nvSpPr>
          <p:cNvPr id="59" name="Text 56"/>
          <p:cNvSpPr/>
          <p:nvPr/>
        </p:nvSpPr>
        <p:spPr>
          <a:xfrm>
            <a:off x="612648" y="4219956"/>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60" name="Text 57"/>
          <p:cNvSpPr/>
          <p:nvPr/>
        </p:nvSpPr>
        <p:spPr>
          <a:xfrm>
            <a:off x="960120"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Return a structured error: a code, a human message, and a request id.</a:t>
            </a:r>
            <a:endParaRPr lang="en-US" sz="1150" dirty="0"/>
          </a:p>
        </p:txBody>
      </p:sp>
      <p:sp>
        <p:nvSpPr>
          <p:cNvPr id="61" name="Shape 58"/>
          <p:cNvSpPr/>
          <p:nvPr/>
        </p:nvSpPr>
        <p:spPr>
          <a:xfrm>
            <a:off x="6233008" y="4165092"/>
            <a:ext cx="5455768" cy="681228"/>
          </a:xfrm>
          <a:prstGeom prst="roundRect">
            <a:avLst>
              <a:gd name="adj" fmla="val 12081"/>
            </a:avLst>
          </a:prstGeom>
          <a:solidFill>
            <a:srgbClr val="FEE2E2"/>
          </a:solidFill>
          <a:ln/>
        </p:spPr>
        <p:txBody>
          <a:bodyPr/>
          <a:lstStyle/>
          <a:p>
            <a:endParaRPr/>
          </a:p>
        </p:txBody>
      </p:sp>
      <p:sp>
        <p:nvSpPr>
          <p:cNvPr id="62" name="Text 59"/>
          <p:cNvSpPr/>
          <p:nvPr/>
        </p:nvSpPr>
        <p:spPr>
          <a:xfrm>
            <a:off x="6342736" y="4219956"/>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63" name="Text 60"/>
          <p:cNvSpPr/>
          <p:nvPr/>
        </p:nvSpPr>
        <p:spPr>
          <a:xfrm>
            <a:off x="6690208"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Return 200 with the word “error” in the body. Monitoring will report perfect health.</a:t>
            </a:r>
            <a:endParaRPr lang="en-US" sz="1150" dirty="0"/>
          </a:p>
        </p:txBody>
      </p:sp>
      <p:sp>
        <p:nvSpPr>
          <p:cNvPr id="64" name="Shape 61"/>
          <p:cNvSpPr/>
          <p:nvPr/>
        </p:nvSpPr>
        <p:spPr>
          <a:xfrm>
            <a:off x="502920" y="4992624"/>
            <a:ext cx="11185855" cy="658368"/>
          </a:xfrm>
          <a:prstGeom prst="roundRect">
            <a:avLst>
              <a:gd name="adj" fmla="val 12500"/>
            </a:avLst>
          </a:prstGeom>
          <a:solidFill>
            <a:srgbClr val="E1F5EC"/>
          </a:solidFill>
          <a:ln/>
        </p:spPr>
        <p:txBody>
          <a:bodyPr/>
          <a:lstStyle/>
          <a:p>
            <a:endParaRPr/>
          </a:p>
        </p:txBody>
      </p:sp>
      <p:sp>
        <p:nvSpPr>
          <p:cNvPr id="65" name="Shape 62"/>
          <p:cNvSpPr/>
          <p:nvPr/>
        </p:nvSpPr>
        <p:spPr>
          <a:xfrm>
            <a:off x="502920" y="4992624"/>
            <a:ext cx="100584" cy="658368"/>
          </a:xfrm>
          <a:prstGeom prst="rect">
            <a:avLst/>
          </a:prstGeom>
          <a:solidFill>
            <a:srgbClr val="1F8F65"/>
          </a:solidFill>
          <a:ln/>
        </p:spPr>
        <p:txBody>
          <a:bodyPr/>
          <a:lstStyle/>
          <a:p>
            <a:endParaRPr/>
          </a:p>
        </p:txBody>
      </p:sp>
      <p:sp>
        <p:nvSpPr>
          <p:cNvPr id="66" name="Text 63"/>
          <p:cNvSpPr/>
          <p:nvPr/>
        </p:nvSpPr>
        <p:spPr>
          <a:xfrm>
            <a:off x="740664" y="4992624"/>
            <a:ext cx="10783519" cy="65836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The contract is the product. Code is only one implementation of it.</a:t>
            </a:r>
            <a:endParaRPr lang="en-US" sz="1250" dirty="0"/>
          </a:p>
        </p:txBody>
      </p:sp>
      <p:sp>
        <p:nvSpPr>
          <p:cNvPr id="67" name="Shape 64"/>
          <p:cNvSpPr/>
          <p:nvPr/>
        </p:nvSpPr>
        <p:spPr>
          <a:xfrm>
            <a:off x="502920" y="5815584"/>
            <a:ext cx="54864" cy="201168"/>
          </a:xfrm>
          <a:prstGeom prst="rect">
            <a:avLst/>
          </a:prstGeom>
          <a:solidFill>
            <a:srgbClr val="43BFB8"/>
          </a:solidFill>
          <a:ln/>
        </p:spPr>
        <p:txBody>
          <a:bodyPr/>
          <a:lstStyle/>
          <a:p>
            <a:endParaRPr/>
          </a:p>
        </p:txBody>
      </p:sp>
      <p:sp>
        <p:nvSpPr>
          <p:cNvPr id="68" name="Text 65"/>
          <p:cNvSpPr/>
          <p:nvPr/>
        </p:nvSpPr>
        <p:spPr>
          <a:xfrm>
            <a:off x="667512" y="5724144"/>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RFC 9110 (HTTP)  ·  RFC 9457 (problem details for HTTP APIs)  ·  Stripe API reference  the industry model for idempotency keys.</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API contract document you will hand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YAML file is for machines. This document is the part humans argue about, and it must be written down.</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65</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06-API-contract-template.docx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The YAML says what the shape is. This document says what it MEANS, who may call it, what happens when it fails, and what you promise about speed. Without these five sections, every integration ends in a phone call.</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it is for</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sentence a non-technical person understands. “Read one product so a shopper can see the page.”</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Who may call it</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Which clients, with which identity, and the rate limit for each. Public, partner, or internal only.</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Every error, with meaning</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404 = item_not_found. 429 = you are calling too fast, wait and retry. 503 = we are unwell, retry later.</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Speed promise</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“95 percent of calls answer in under 300 ms.” A caller cannot design a timeout without this number.</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it changes</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How much notice before v2, how long v1 stays alive, and where the change is announced.</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The speed promise is the section everybody skips, and it is the one every caller needs in order to choose a timeout.</a:t>
            </a:r>
            <a:endParaRPr lang="en-US" sz="1250" dirty="0"/>
          </a:p>
        </p:txBody>
      </p:sp>
      <p:sp>
        <p:nvSpPr>
          <p:cNvPr id="68" name="Shape 65"/>
          <p:cNvSpPr/>
          <p:nvPr/>
        </p:nvSpPr>
        <p:spPr>
          <a:xfrm>
            <a:off x="502920" y="5925312"/>
            <a:ext cx="54864" cy="201168"/>
          </a:xfrm>
          <a:prstGeom prst="rect">
            <a:avLst/>
          </a:prstGeom>
          <a:solidFill>
            <a:srgbClr val="43BFB8"/>
          </a:solidFill>
          <a:ln/>
        </p:spPr>
        <p:txBody>
          <a:bodyPr/>
          <a:lstStyle/>
          <a:p>
            <a:endParaRPr/>
          </a:p>
        </p:txBody>
      </p:sp>
      <p:sp>
        <p:nvSpPr>
          <p:cNvPr id="69" name="Text 6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RFC 9457 (problem details)  ·  spec.openapis.org  ·  Google API Improvement Proposals: google.aip.dev</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700" b="1" dirty="0">
                <a:solidFill>
                  <a:srgbClr val="5F1B3C"/>
                </a:solidFill>
                <a:latin typeface="Segoe UI" pitchFamily="34" charset="0"/>
                <a:ea typeface="Segoe UI" pitchFamily="34" charset="-122"/>
                <a:cs typeface="Segoe UI" pitchFamily="34" charset="-120"/>
              </a:rPr>
              <a:t>Enterprise integration patterns    the six with real names</a:t>
            </a:r>
            <a:endParaRPr lang="en-US" sz="17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These names are 20 years old and still used every day. Knowing them means you stop reinventing them badly.</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66</a:t>
            </a:r>
            <a:endParaRPr lang="en-US" sz="1000" dirty="0"/>
          </a:p>
        </p:txBody>
      </p:sp>
      <p:sp>
        <p:nvSpPr>
          <p:cNvPr id="36" name="Shape 33"/>
          <p:cNvSpPr/>
          <p:nvPr/>
        </p:nvSpPr>
        <p:spPr>
          <a:xfrm>
            <a:off x="502920"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243584"/>
            <a:ext cx="3594506" cy="384048"/>
          </a:xfrm>
          <a:prstGeom prst="rect">
            <a:avLst/>
          </a:prstGeom>
          <a:solidFill>
            <a:srgbClr val="43BFB8"/>
          </a:solidFill>
          <a:ln/>
        </p:spPr>
        <p:txBody>
          <a:bodyPr/>
          <a:lstStyle/>
          <a:p>
            <a:endParaRPr/>
          </a:p>
        </p:txBody>
      </p:sp>
      <p:sp>
        <p:nvSpPr>
          <p:cNvPr id="38" name="Text 35"/>
          <p:cNvSpPr/>
          <p:nvPr/>
        </p:nvSpPr>
        <p:spPr>
          <a:xfrm>
            <a:off x="649224"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Request – reply</a:t>
            </a:r>
            <a:endParaRPr lang="en-US" sz="1150" dirty="0"/>
          </a:p>
        </p:txBody>
      </p:sp>
      <p:sp>
        <p:nvSpPr>
          <p:cNvPr id="39" name="Text 36"/>
          <p:cNvSpPr/>
          <p:nvPr/>
        </p:nvSpPr>
        <p:spPr>
          <a:xfrm>
            <a:off x="649224"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0" name="Text 37"/>
          <p:cNvSpPr/>
          <p:nvPr/>
        </p:nvSpPr>
        <p:spPr>
          <a:xfrm>
            <a:off x="649224"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human is waiting on the screen right now for an answer.</a:t>
            </a:r>
            <a:endParaRPr lang="en-US" sz="1150" dirty="0"/>
          </a:p>
        </p:txBody>
      </p:sp>
      <p:sp>
        <p:nvSpPr>
          <p:cNvPr id="41" name="Text 38"/>
          <p:cNvSpPr/>
          <p:nvPr/>
        </p:nvSpPr>
        <p:spPr>
          <a:xfrm>
            <a:off x="649224"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2" name="Text 39"/>
          <p:cNvSpPr/>
          <p:nvPr/>
        </p:nvSpPr>
        <p:spPr>
          <a:xfrm>
            <a:off x="649224"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Product page, login, start checkout. Always set a timeout, or one slow reply blocks all.</a:t>
            </a:r>
            <a:endParaRPr lang="en-US" sz="1150" dirty="0"/>
          </a:p>
        </p:txBody>
      </p:sp>
      <p:sp>
        <p:nvSpPr>
          <p:cNvPr id="43" name="Shape 40"/>
          <p:cNvSpPr/>
          <p:nvPr/>
        </p:nvSpPr>
        <p:spPr>
          <a:xfrm>
            <a:off x="4298594"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4298594" y="1243584"/>
            <a:ext cx="3594506" cy="384048"/>
          </a:xfrm>
          <a:prstGeom prst="rect">
            <a:avLst/>
          </a:prstGeom>
          <a:solidFill>
            <a:srgbClr val="E76F30"/>
          </a:solidFill>
          <a:ln/>
        </p:spPr>
        <p:txBody>
          <a:bodyPr/>
          <a:lstStyle/>
          <a:p>
            <a:endParaRPr/>
          </a:p>
        </p:txBody>
      </p:sp>
      <p:sp>
        <p:nvSpPr>
          <p:cNvPr id="45" name="Text 42"/>
          <p:cNvSpPr/>
          <p:nvPr/>
        </p:nvSpPr>
        <p:spPr>
          <a:xfrm>
            <a:off x="4444898"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Publish – subscribe</a:t>
            </a:r>
            <a:endParaRPr lang="en-US" sz="1150" dirty="0"/>
          </a:p>
        </p:txBody>
      </p:sp>
      <p:sp>
        <p:nvSpPr>
          <p:cNvPr id="46" name="Text 43"/>
          <p:cNvSpPr/>
          <p:nvPr/>
        </p:nvSpPr>
        <p:spPr>
          <a:xfrm>
            <a:off x="4444898"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7" name="Text 44"/>
          <p:cNvSpPr/>
          <p:nvPr/>
        </p:nvSpPr>
        <p:spPr>
          <a:xfrm>
            <a:off x="4444898"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Three systems need one fact, and a fourth must cost no code.</a:t>
            </a:r>
            <a:endParaRPr lang="en-US" sz="1150" dirty="0"/>
          </a:p>
        </p:txBody>
      </p:sp>
      <p:sp>
        <p:nvSpPr>
          <p:cNvPr id="48" name="Text 45"/>
          <p:cNvSpPr/>
          <p:nvPr/>
        </p:nvSpPr>
        <p:spPr>
          <a:xfrm>
            <a:off x="4444898"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9" name="Text 46"/>
          <p:cNvSpPr/>
          <p:nvPr/>
        </p:nvSpPr>
        <p:spPr>
          <a:xfrm>
            <a:off x="4444898"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PaymentCaptured. The publisher never learns who listens, so new consumers are free.</a:t>
            </a:r>
            <a:endParaRPr lang="en-US" sz="1150" dirty="0"/>
          </a:p>
        </p:txBody>
      </p:sp>
      <p:sp>
        <p:nvSpPr>
          <p:cNvPr id="50" name="Shape 47"/>
          <p:cNvSpPr/>
          <p:nvPr/>
        </p:nvSpPr>
        <p:spPr>
          <a:xfrm>
            <a:off x="8094269"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8094269" y="1243584"/>
            <a:ext cx="3594506" cy="384048"/>
          </a:xfrm>
          <a:prstGeom prst="rect">
            <a:avLst/>
          </a:prstGeom>
          <a:solidFill>
            <a:srgbClr val="4A7DE0"/>
          </a:solidFill>
          <a:ln/>
        </p:spPr>
        <p:txBody>
          <a:bodyPr/>
          <a:lstStyle/>
          <a:p>
            <a:endParaRPr/>
          </a:p>
        </p:txBody>
      </p:sp>
      <p:sp>
        <p:nvSpPr>
          <p:cNvPr id="52" name="Text 49"/>
          <p:cNvSpPr/>
          <p:nvPr/>
        </p:nvSpPr>
        <p:spPr>
          <a:xfrm>
            <a:off x="8240573"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Message queue</a:t>
            </a:r>
            <a:endParaRPr lang="en-US" sz="1150" dirty="0"/>
          </a:p>
        </p:txBody>
      </p:sp>
      <p:sp>
        <p:nvSpPr>
          <p:cNvPr id="53" name="Text 50"/>
          <p:cNvSpPr/>
          <p:nvPr/>
        </p:nvSpPr>
        <p:spPr>
          <a:xfrm>
            <a:off x="8240573"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54" name="Text 51"/>
          <p:cNvSpPr/>
          <p:nvPr/>
        </p:nvSpPr>
        <p:spPr>
          <a:xfrm>
            <a:off x="8240573"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Work arrives faster than one worker can handle, and none may be lost.</a:t>
            </a:r>
            <a:endParaRPr lang="en-US" sz="1150" dirty="0"/>
          </a:p>
        </p:txBody>
      </p:sp>
      <p:sp>
        <p:nvSpPr>
          <p:cNvPr id="55" name="Text 52"/>
          <p:cNvSpPr/>
          <p:nvPr/>
        </p:nvSpPr>
        <p:spPr>
          <a:xfrm>
            <a:off x="8240573"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56" name="Text 53"/>
          <p:cNvSpPr/>
          <p:nvPr/>
        </p:nvSpPr>
        <p:spPr>
          <a:xfrm>
            <a:off x="8240573"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Invoices, shipping labels. The queue absorbs the spike; workers drain it steadily.</a:t>
            </a:r>
            <a:endParaRPr lang="en-US" sz="1150" dirty="0"/>
          </a:p>
        </p:txBody>
      </p:sp>
      <p:sp>
        <p:nvSpPr>
          <p:cNvPr id="57" name="Shape 54"/>
          <p:cNvSpPr/>
          <p:nvPr/>
        </p:nvSpPr>
        <p:spPr>
          <a:xfrm>
            <a:off x="502920"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502920" y="3401568"/>
            <a:ext cx="3594506" cy="384048"/>
          </a:xfrm>
          <a:prstGeom prst="rect">
            <a:avLst/>
          </a:prstGeom>
          <a:solidFill>
            <a:srgbClr val="5F1B3C"/>
          </a:solidFill>
          <a:ln/>
        </p:spPr>
        <p:txBody>
          <a:bodyPr/>
          <a:lstStyle/>
          <a:p>
            <a:endParaRPr/>
          </a:p>
        </p:txBody>
      </p:sp>
      <p:sp>
        <p:nvSpPr>
          <p:cNvPr id="59" name="Text 56"/>
          <p:cNvSpPr/>
          <p:nvPr/>
        </p:nvSpPr>
        <p:spPr>
          <a:xfrm>
            <a:off x="649224"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Message router</a:t>
            </a:r>
            <a:endParaRPr lang="en-US" sz="1150" dirty="0"/>
          </a:p>
        </p:txBody>
      </p:sp>
      <p:sp>
        <p:nvSpPr>
          <p:cNvPr id="60" name="Text 57"/>
          <p:cNvSpPr/>
          <p:nvPr/>
        </p:nvSpPr>
        <p:spPr>
          <a:xfrm>
            <a:off x="649224"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1" name="Text 58"/>
          <p:cNvSpPr/>
          <p:nvPr/>
        </p:nvSpPr>
        <p:spPr>
          <a:xfrm>
            <a:off x="649224"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Messages go to different places, and senders must not know the map.</a:t>
            </a:r>
            <a:endParaRPr lang="en-US" sz="1150" dirty="0"/>
          </a:p>
        </p:txBody>
      </p:sp>
      <p:sp>
        <p:nvSpPr>
          <p:cNvPr id="62" name="Text 59"/>
          <p:cNvSpPr/>
          <p:nvPr/>
        </p:nvSpPr>
        <p:spPr>
          <a:xfrm>
            <a:off x="649224"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63" name="Text 60"/>
          <p:cNvSpPr/>
          <p:nvPr/>
        </p:nvSpPr>
        <p:spPr>
          <a:xfrm>
            <a:off x="649224"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gateway sending /v1/items to Catalog. Keep it dumb: routing only, no rules.</a:t>
            </a:r>
            <a:endParaRPr lang="en-US" sz="1150" dirty="0"/>
          </a:p>
        </p:txBody>
      </p:sp>
      <p:sp>
        <p:nvSpPr>
          <p:cNvPr id="64" name="Shape 61"/>
          <p:cNvSpPr/>
          <p:nvPr/>
        </p:nvSpPr>
        <p:spPr>
          <a:xfrm>
            <a:off x="4298594"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4298594" y="3401568"/>
            <a:ext cx="3594506" cy="384048"/>
          </a:xfrm>
          <a:prstGeom prst="rect">
            <a:avLst/>
          </a:prstGeom>
          <a:solidFill>
            <a:srgbClr val="1F8F65"/>
          </a:solidFill>
          <a:ln/>
        </p:spPr>
        <p:txBody>
          <a:bodyPr/>
          <a:lstStyle/>
          <a:p>
            <a:endParaRPr/>
          </a:p>
        </p:txBody>
      </p:sp>
      <p:sp>
        <p:nvSpPr>
          <p:cNvPr id="66" name="Text 63"/>
          <p:cNvSpPr/>
          <p:nvPr/>
        </p:nvSpPr>
        <p:spPr>
          <a:xfrm>
            <a:off x="4444898"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Message translator</a:t>
            </a:r>
            <a:endParaRPr lang="en-US" sz="1150" dirty="0"/>
          </a:p>
        </p:txBody>
      </p:sp>
      <p:sp>
        <p:nvSpPr>
          <p:cNvPr id="67" name="Text 64"/>
          <p:cNvSpPr/>
          <p:nvPr/>
        </p:nvSpPr>
        <p:spPr>
          <a:xfrm>
            <a:off x="4444898"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8" name="Text 65"/>
          <p:cNvSpPr/>
          <p:nvPr/>
        </p:nvSpPr>
        <p:spPr>
          <a:xfrm>
            <a:off x="4444898"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The old system says cust_type = 7, the new one says “Wholesale”.</a:t>
            </a:r>
            <a:endParaRPr lang="en-US" sz="1150" dirty="0"/>
          </a:p>
        </p:txBody>
      </p:sp>
      <p:sp>
        <p:nvSpPr>
          <p:cNvPr id="69" name="Text 66"/>
          <p:cNvSpPr/>
          <p:nvPr/>
        </p:nvSpPr>
        <p:spPr>
          <a:xfrm>
            <a:off x="4444898"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0" name="Text 67"/>
          <p:cNvSpPr/>
          <p:nvPr/>
        </p:nvSpPr>
        <p:spPr>
          <a:xfrm>
            <a:off x="4444898"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anti-corruption layer of Day 5. Translate at the border, never inside.</a:t>
            </a:r>
            <a:endParaRPr lang="en-US" sz="1150" dirty="0"/>
          </a:p>
        </p:txBody>
      </p:sp>
      <p:sp>
        <p:nvSpPr>
          <p:cNvPr id="71" name="Shape 68"/>
          <p:cNvSpPr/>
          <p:nvPr/>
        </p:nvSpPr>
        <p:spPr>
          <a:xfrm>
            <a:off x="8094269"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72" name="Shape 69"/>
          <p:cNvSpPr/>
          <p:nvPr/>
        </p:nvSpPr>
        <p:spPr>
          <a:xfrm>
            <a:off x="8094269" y="3401568"/>
            <a:ext cx="3594506" cy="384048"/>
          </a:xfrm>
          <a:prstGeom prst="rect">
            <a:avLst/>
          </a:prstGeom>
          <a:solidFill>
            <a:srgbClr val="2F9992"/>
          </a:solidFill>
          <a:ln/>
        </p:spPr>
        <p:txBody>
          <a:bodyPr/>
          <a:lstStyle/>
          <a:p>
            <a:endParaRPr/>
          </a:p>
        </p:txBody>
      </p:sp>
      <p:sp>
        <p:nvSpPr>
          <p:cNvPr id="73" name="Text 70"/>
          <p:cNvSpPr/>
          <p:nvPr/>
        </p:nvSpPr>
        <p:spPr>
          <a:xfrm>
            <a:off x="8240573"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Transactional outbox</a:t>
            </a:r>
            <a:endParaRPr lang="en-US" sz="1150" dirty="0"/>
          </a:p>
        </p:txBody>
      </p:sp>
      <p:sp>
        <p:nvSpPr>
          <p:cNvPr id="74" name="Text 71"/>
          <p:cNvSpPr/>
          <p:nvPr/>
        </p:nvSpPr>
        <p:spPr>
          <a:xfrm>
            <a:off x="8240573"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75" name="Text 72"/>
          <p:cNvSpPr/>
          <p:nvPr/>
        </p:nvSpPr>
        <p:spPr>
          <a:xfrm>
            <a:off x="8240573"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You saved the order, then died before publishing the event.</a:t>
            </a:r>
            <a:endParaRPr lang="en-US" sz="1150" dirty="0"/>
          </a:p>
        </p:txBody>
      </p:sp>
      <p:sp>
        <p:nvSpPr>
          <p:cNvPr id="76" name="Text 73"/>
          <p:cNvSpPr/>
          <p:nvPr/>
        </p:nvSpPr>
        <p:spPr>
          <a:xfrm>
            <a:off x="8240573"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7" name="Text 74"/>
          <p:cNvSpPr/>
          <p:nvPr/>
        </p:nvSpPr>
        <p:spPr>
          <a:xfrm>
            <a:off x="8240573"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Write the event into your own database in the same save; a worker publishes it later.</a:t>
            </a:r>
            <a:endParaRPr lang="en-US" sz="1150" dirty="0"/>
          </a:p>
        </p:txBody>
      </p:sp>
      <p:sp>
        <p:nvSpPr>
          <p:cNvPr id="78" name="Shape 75"/>
          <p:cNvSpPr/>
          <p:nvPr/>
        </p:nvSpPr>
        <p:spPr>
          <a:xfrm>
            <a:off x="502920" y="5486400"/>
            <a:ext cx="91440" cy="457200"/>
          </a:xfrm>
          <a:prstGeom prst="rect">
            <a:avLst/>
          </a:prstGeom>
          <a:solidFill>
            <a:srgbClr val="1F8F65"/>
          </a:solidFill>
          <a:ln/>
        </p:spPr>
        <p:txBody>
          <a:bodyPr/>
          <a:lstStyle/>
          <a:p>
            <a:endParaRPr/>
          </a:p>
        </p:txBody>
      </p:sp>
      <p:sp>
        <p:nvSpPr>
          <p:cNvPr id="79" name="Text 76"/>
          <p:cNvSpPr/>
          <p:nvPr/>
        </p:nvSpPr>
        <p:spPr>
          <a:xfrm>
            <a:off x="704088" y="5486400"/>
            <a:ext cx="10911535" cy="457200"/>
          </a:xfrm>
          <a:prstGeom prst="rect">
            <a:avLst/>
          </a:prstGeom>
          <a:noFill/>
          <a:ln/>
        </p:spPr>
        <p:txBody>
          <a:bodyPr wrap="square" rtlCol="0" anchor="ctr"/>
          <a:lstStyle/>
          <a:p>
            <a:pPr marL="0" indent="0">
              <a:buNone/>
            </a:pPr>
            <a:r>
              <a:rPr lang="en-US" sz="1200" b="1" kern="0" spc="100" dirty="0">
                <a:solidFill>
                  <a:srgbClr val="1F8F65"/>
                </a:solidFill>
                <a:latin typeface="Segoe UI" pitchFamily="34" charset="0"/>
                <a:ea typeface="Segoe UI" pitchFamily="34" charset="-122"/>
                <a:cs typeface="Segoe UI" pitchFamily="34" charset="-120"/>
              </a:rPr>
              <a:t>BEST PRACTICE   </a:t>
            </a:r>
            <a:r>
              <a:rPr lang="en-US" sz="1200" dirty="0">
                <a:solidFill>
                  <a:srgbClr val="24162A"/>
                </a:solidFill>
                <a:latin typeface="Segoe UI" pitchFamily="34" charset="0"/>
                <a:ea typeface="Segoe UI" pitchFamily="34" charset="-122"/>
                <a:cs typeface="Segoe UI" pitchFamily="34" charset="-120"/>
              </a:rPr>
              <a:t>Learn the outbox pattern. Saving data and publishing an event are two actions, and the gap between them is where real orders disappear.</a:t>
            </a:r>
            <a:endParaRPr lang="en-US" sz="1200" dirty="0"/>
          </a:p>
        </p:txBody>
      </p:sp>
      <p:sp>
        <p:nvSpPr>
          <p:cNvPr id="80" name="Shape 77"/>
          <p:cNvSpPr/>
          <p:nvPr/>
        </p:nvSpPr>
        <p:spPr>
          <a:xfrm>
            <a:off x="502920" y="6071616"/>
            <a:ext cx="54864" cy="201168"/>
          </a:xfrm>
          <a:prstGeom prst="rect">
            <a:avLst/>
          </a:prstGeom>
          <a:solidFill>
            <a:srgbClr val="43BFB8"/>
          </a:solidFill>
          <a:ln/>
        </p:spPr>
        <p:txBody>
          <a:bodyPr/>
          <a:lstStyle/>
          <a:p>
            <a:endParaRPr/>
          </a:p>
        </p:txBody>
      </p:sp>
      <p:sp>
        <p:nvSpPr>
          <p:cNvPr id="81" name="Text 78"/>
          <p:cNvSpPr/>
          <p:nvPr/>
        </p:nvSpPr>
        <p:spPr>
          <a:xfrm>
            <a:off x="667512" y="598017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Hohpe &amp; Woolf, “Enterprise Integration Patterns”  free catalogue at enterpriseintegrationpatterns.com  ·  microservices.io/patterns/data/transactional-outbox.html</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700" b="1" dirty="0">
                <a:solidFill>
                  <a:srgbClr val="5F1B3C"/>
                </a:solidFill>
                <a:latin typeface="Segoe UI" pitchFamily="34" charset="0"/>
                <a:ea typeface="Segoe UI" pitchFamily="34" charset="-122"/>
                <a:cs typeface="Segoe UI" pitchFamily="34" charset="-120"/>
              </a:rPr>
              <a:t>Security at the border    six controls, in the right order</a:t>
            </a:r>
            <a:endParaRPr lang="en-US" sz="17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Security is a design decision, not a scan at the end. These six belong on the diagram.</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72</a:t>
            </a:r>
            <a:endParaRPr lang="en-US" sz="1000" dirty="0"/>
          </a:p>
        </p:txBody>
      </p:sp>
      <p:sp>
        <p:nvSpPr>
          <p:cNvPr id="36" name="Shape 33"/>
          <p:cNvSpPr/>
          <p:nvPr/>
        </p:nvSpPr>
        <p:spPr>
          <a:xfrm>
            <a:off x="502920"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243584"/>
            <a:ext cx="3594506" cy="384048"/>
          </a:xfrm>
          <a:prstGeom prst="rect">
            <a:avLst/>
          </a:prstGeom>
          <a:solidFill>
            <a:srgbClr val="43BFB8"/>
          </a:solidFill>
          <a:ln/>
        </p:spPr>
        <p:txBody>
          <a:bodyPr/>
          <a:lstStyle/>
          <a:p>
            <a:endParaRPr/>
          </a:p>
        </p:txBody>
      </p:sp>
      <p:sp>
        <p:nvSpPr>
          <p:cNvPr id="38" name="Text 35"/>
          <p:cNvSpPr/>
          <p:nvPr/>
        </p:nvSpPr>
        <p:spPr>
          <a:xfrm>
            <a:off x="649224"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1. Identity</a:t>
            </a:r>
            <a:endParaRPr lang="en-US" sz="1150" dirty="0"/>
          </a:p>
        </p:txBody>
      </p:sp>
      <p:sp>
        <p:nvSpPr>
          <p:cNvPr id="39" name="Text 36"/>
          <p:cNvSpPr/>
          <p:nvPr/>
        </p:nvSpPr>
        <p:spPr>
          <a:xfrm>
            <a:off x="649224"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0" name="Text 37"/>
          <p:cNvSpPr/>
          <p:nvPr/>
        </p:nvSpPr>
        <p:spPr>
          <a:xfrm>
            <a:off x="649224"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caller says it is the mobile app. Nothing proves that.</a:t>
            </a:r>
            <a:endParaRPr lang="en-US" sz="1150" dirty="0"/>
          </a:p>
        </p:txBody>
      </p:sp>
      <p:sp>
        <p:nvSpPr>
          <p:cNvPr id="41" name="Text 38"/>
          <p:cNvSpPr/>
          <p:nvPr/>
        </p:nvSpPr>
        <p:spPr>
          <a:xfrm>
            <a:off x="649224"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2" name="Text 39"/>
          <p:cNvSpPr/>
          <p:nvPr/>
        </p:nvSpPr>
        <p:spPr>
          <a:xfrm>
            <a:off x="649224"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A signed token (OIDC / JWT), checked at the gateway on every call.</a:t>
            </a:r>
            <a:endParaRPr lang="en-US" sz="1150" dirty="0"/>
          </a:p>
        </p:txBody>
      </p:sp>
      <p:sp>
        <p:nvSpPr>
          <p:cNvPr id="43" name="Shape 40"/>
          <p:cNvSpPr/>
          <p:nvPr/>
        </p:nvSpPr>
        <p:spPr>
          <a:xfrm>
            <a:off x="4298594"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4298594" y="1243584"/>
            <a:ext cx="3594506" cy="384048"/>
          </a:xfrm>
          <a:prstGeom prst="rect">
            <a:avLst/>
          </a:prstGeom>
          <a:solidFill>
            <a:srgbClr val="E76F30"/>
          </a:solidFill>
          <a:ln/>
        </p:spPr>
        <p:txBody>
          <a:bodyPr/>
          <a:lstStyle/>
          <a:p>
            <a:endParaRPr/>
          </a:p>
        </p:txBody>
      </p:sp>
      <p:sp>
        <p:nvSpPr>
          <p:cNvPr id="45" name="Text 42"/>
          <p:cNvSpPr/>
          <p:nvPr/>
        </p:nvSpPr>
        <p:spPr>
          <a:xfrm>
            <a:off x="4444898"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2. Permission</a:t>
            </a:r>
            <a:endParaRPr lang="en-US" sz="1150" dirty="0"/>
          </a:p>
        </p:txBody>
      </p:sp>
      <p:sp>
        <p:nvSpPr>
          <p:cNvPr id="46" name="Text 43"/>
          <p:cNvSpPr/>
          <p:nvPr/>
        </p:nvSpPr>
        <p:spPr>
          <a:xfrm>
            <a:off x="4444898"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7" name="Text 44"/>
          <p:cNvSpPr/>
          <p:nvPr/>
        </p:nvSpPr>
        <p:spPr>
          <a:xfrm>
            <a:off x="4444898"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valid token is treated as permission to do everything.</a:t>
            </a:r>
            <a:endParaRPr lang="en-US" sz="1150" dirty="0"/>
          </a:p>
        </p:txBody>
      </p:sp>
      <p:sp>
        <p:nvSpPr>
          <p:cNvPr id="48" name="Text 45"/>
          <p:cNvSpPr/>
          <p:nvPr/>
        </p:nvSpPr>
        <p:spPr>
          <a:xfrm>
            <a:off x="4444898"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9" name="Text 46"/>
          <p:cNvSpPr/>
          <p:nvPr/>
        </p:nvSpPr>
        <p:spPr>
          <a:xfrm>
            <a:off x="4444898"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Scopes per operation: catalog.read is not orders.write. Check twice.</a:t>
            </a:r>
            <a:endParaRPr lang="en-US" sz="1150" dirty="0"/>
          </a:p>
        </p:txBody>
      </p:sp>
      <p:sp>
        <p:nvSpPr>
          <p:cNvPr id="50" name="Shape 47"/>
          <p:cNvSpPr/>
          <p:nvPr/>
        </p:nvSpPr>
        <p:spPr>
          <a:xfrm>
            <a:off x="8094269"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8094269" y="1243584"/>
            <a:ext cx="3594506" cy="384048"/>
          </a:xfrm>
          <a:prstGeom prst="rect">
            <a:avLst/>
          </a:prstGeom>
          <a:solidFill>
            <a:srgbClr val="4A7DE0"/>
          </a:solidFill>
          <a:ln/>
        </p:spPr>
        <p:txBody>
          <a:bodyPr/>
          <a:lstStyle/>
          <a:p>
            <a:endParaRPr/>
          </a:p>
        </p:txBody>
      </p:sp>
      <p:sp>
        <p:nvSpPr>
          <p:cNvPr id="52" name="Text 49"/>
          <p:cNvSpPr/>
          <p:nvPr/>
        </p:nvSpPr>
        <p:spPr>
          <a:xfrm>
            <a:off x="8240573"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3. Secrets outside code</a:t>
            </a:r>
            <a:endParaRPr lang="en-US" sz="1150" dirty="0"/>
          </a:p>
        </p:txBody>
      </p:sp>
      <p:sp>
        <p:nvSpPr>
          <p:cNvPr id="53" name="Text 50"/>
          <p:cNvSpPr/>
          <p:nvPr/>
        </p:nvSpPr>
        <p:spPr>
          <a:xfrm>
            <a:off x="8240573"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54" name="Text 51"/>
          <p:cNvSpPr/>
          <p:nvPr/>
        </p:nvSpPr>
        <p:spPr>
          <a:xfrm>
            <a:off x="8240573"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database password sits in a config file inside Git, forever.</a:t>
            </a:r>
            <a:endParaRPr lang="en-US" sz="1150" dirty="0"/>
          </a:p>
        </p:txBody>
      </p:sp>
      <p:sp>
        <p:nvSpPr>
          <p:cNvPr id="55" name="Text 52"/>
          <p:cNvSpPr/>
          <p:nvPr/>
        </p:nvSpPr>
        <p:spPr>
          <a:xfrm>
            <a:off x="8240573"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56" name="Text 53"/>
          <p:cNvSpPr/>
          <p:nvPr/>
        </p:nvSpPr>
        <p:spPr>
          <a:xfrm>
            <a:off x="8240573"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Read from the environment or a vault. Only ${DB_PASSWORD} in the repo.</a:t>
            </a:r>
            <a:endParaRPr lang="en-US" sz="1150" dirty="0"/>
          </a:p>
        </p:txBody>
      </p:sp>
      <p:sp>
        <p:nvSpPr>
          <p:cNvPr id="57" name="Shape 54"/>
          <p:cNvSpPr/>
          <p:nvPr/>
        </p:nvSpPr>
        <p:spPr>
          <a:xfrm>
            <a:off x="502920"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502920" y="3401568"/>
            <a:ext cx="3594506" cy="384048"/>
          </a:xfrm>
          <a:prstGeom prst="rect">
            <a:avLst/>
          </a:prstGeom>
          <a:solidFill>
            <a:srgbClr val="5F1B3C"/>
          </a:solidFill>
          <a:ln/>
        </p:spPr>
        <p:txBody>
          <a:bodyPr/>
          <a:lstStyle/>
          <a:p>
            <a:endParaRPr/>
          </a:p>
        </p:txBody>
      </p:sp>
      <p:sp>
        <p:nvSpPr>
          <p:cNvPr id="59" name="Text 56"/>
          <p:cNvSpPr/>
          <p:nvPr/>
        </p:nvSpPr>
        <p:spPr>
          <a:xfrm>
            <a:off x="649224"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4. Encrypt in transit</a:t>
            </a:r>
            <a:endParaRPr lang="en-US" sz="1150" dirty="0"/>
          </a:p>
        </p:txBody>
      </p:sp>
      <p:sp>
        <p:nvSpPr>
          <p:cNvPr id="60" name="Text 57"/>
          <p:cNvSpPr/>
          <p:nvPr/>
        </p:nvSpPr>
        <p:spPr>
          <a:xfrm>
            <a:off x="649224"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1" name="Text 58"/>
          <p:cNvSpPr/>
          <p:nvPr/>
        </p:nvSpPr>
        <p:spPr>
          <a:xfrm>
            <a:off x="649224"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Internal traffic is assumed safe because it is “inside”.</a:t>
            </a:r>
            <a:endParaRPr lang="en-US" sz="1150" dirty="0"/>
          </a:p>
        </p:txBody>
      </p:sp>
      <p:sp>
        <p:nvSpPr>
          <p:cNvPr id="62" name="Text 59"/>
          <p:cNvSpPr/>
          <p:nvPr/>
        </p:nvSpPr>
        <p:spPr>
          <a:xfrm>
            <a:off x="649224"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63" name="Text 60"/>
          <p:cNvSpPr/>
          <p:nvPr/>
        </p:nvSpPr>
        <p:spPr>
          <a:xfrm>
            <a:off x="649224"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HTTPS at the edge and between services. There is no safe inside.</a:t>
            </a:r>
            <a:endParaRPr lang="en-US" sz="1150" dirty="0"/>
          </a:p>
        </p:txBody>
      </p:sp>
      <p:sp>
        <p:nvSpPr>
          <p:cNvPr id="64" name="Shape 61"/>
          <p:cNvSpPr/>
          <p:nvPr/>
        </p:nvSpPr>
        <p:spPr>
          <a:xfrm>
            <a:off x="4298594"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4298594" y="3401568"/>
            <a:ext cx="3594506" cy="384048"/>
          </a:xfrm>
          <a:prstGeom prst="rect">
            <a:avLst/>
          </a:prstGeom>
          <a:solidFill>
            <a:srgbClr val="1F8F65"/>
          </a:solidFill>
          <a:ln/>
        </p:spPr>
        <p:txBody>
          <a:bodyPr/>
          <a:lstStyle/>
          <a:p>
            <a:endParaRPr/>
          </a:p>
        </p:txBody>
      </p:sp>
      <p:sp>
        <p:nvSpPr>
          <p:cNvPr id="66" name="Text 63"/>
          <p:cNvSpPr/>
          <p:nvPr/>
        </p:nvSpPr>
        <p:spPr>
          <a:xfrm>
            <a:off x="4444898"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5. Classify the data</a:t>
            </a:r>
            <a:endParaRPr lang="en-US" sz="1150" dirty="0"/>
          </a:p>
        </p:txBody>
      </p:sp>
      <p:sp>
        <p:nvSpPr>
          <p:cNvPr id="67" name="Text 64"/>
          <p:cNvSpPr/>
          <p:nvPr/>
        </p:nvSpPr>
        <p:spPr>
          <a:xfrm>
            <a:off x="4444898"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8" name="Text 65"/>
          <p:cNvSpPr/>
          <p:nvPr/>
        </p:nvSpPr>
        <p:spPr>
          <a:xfrm>
            <a:off x="4444898"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Card numbers and product names get the same treatment.</a:t>
            </a:r>
            <a:endParaRPr lang="en-US" sz="1150" dirty="0"/>
          </a:p>
        </p:txBody>
      </p:sp>
      <p:sp>
        <p:nvSpPr>
          <p:cNvPr id="69" name="Text 66"/>
          <p:cNvSpPr/>
          <p:nvPr/>
        </p:nvSpPr>
        <p:spPr>
          <a:xfrm>
            <a:off x="4444898"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0" name="Text 67"/>
          <p:cNvSpPr/>
          <p:nvPr/>
        </p:nvSpPr>
        <p:spPr>
          <a:xfrm>
            <a:off x="4444898"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Before designing storage. Mark each field public, internal, personal or payment.</a:t>
            </a:r>
            <a:endParaRPr lang="en-US" sz="1150" dirty="0"/>
          </a:p>
        </p:txBody>
      </p:sp>
      <p:sp>
        <p:nvSpPr>
          <p:cNvPr id="71" name="Shape 68"/>
          <p:cNvSpPr/>
          <p:nvPr/>
        </p:nvSpPr>
        <p:spPr>
          <a:xfrm>
            <a:off x="8094269"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72" name="Shape 69"/>
          <p:cNvSpPr/>
          <p:nvPr/>
        </p:nvSpPr>
        <p:spPr>
          <a:xfrm>
            <a:off x="8094269" y="3401568"/>
            <a:ext cx="3594506" cy="384048"/>
          </a:xfrm>
          <a:prstGeom prst="rect">
            <a:avLst/>
          </a:prstGeom>
          <a:solidFill>
            <a:srgbClr val="2F9992"/>
          </a:solidFill>
          <a:ln/>
        </p:spPr>
        <p:txBody>
          <a:bodyPr/>
          <a:lstStyle/>
          <a:p>
            <a:endParaRPr/>
          </a:p>
        </p:txBody>
      </p:sp>
      <p:sp>
        <p:nvSpPr>
          <p:cNvPr id="73" name="Text 70"/>
          <p:cNvSpPr/>
          <p:nvPr/>
        </p:nvSpPr>
        <p:spPr>
          <a:xfrm>
            <a:off x="8240573"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6. Rate limit + quota</a:t>
            </a:r>
            <a:endParaRPr lang="en-US" sz="1150" dirty="0"/>
          </a:p>
        </p:txBody>
      </p:sp>
      <p:sp>
        <p:nvSpPr>
          <p:cNvPr id="74" name="Text 71"/>
          <p:cNvSpPr/>
          <p:nvPr/>
        </p:nvSpPr>
        <p:spPr>
          <a:xfrm>
            <a:off x="8240573"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75" name="Text 72"/>
          <p:cNvSpPr/>
          <p:nvPr/>
        </p:nvSpPr>
        <p:spPr>
          <a:xfrm>
            <a:off x="8240573"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One broken partner script sends 2,000 calls a second.</a:t>
            </a:r>
            <a:endParaRPr lang="en-US" sz="1150" dirty="0"/>
          </a:p>
        </p:txBody>
      </p:sp>
      <p:sp>
        <p:nvSpPr>
          <p:cNvPr id="76" name="Text 73"/>
          <p:cNvSpPr/>
          <p:nvPr/>
        </p:nvSpPr>
        <p:spPr>
          <a:xfrm>
            <a:off x="8240573"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7" name="Text 74"/>
          <p:cNvSpPr/>
          <p:nvPr/>
        </p:nvSpPr>
        <p:spPr>
          <a:xfrm>
            <a:off x="8240573"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Always, at the gateway. A limit per caller protects the other callers.</a:t>
            </a:r>
            <a:endParaRPr lang="en-US" sz="1150" dirty="0"/>
          </a:p>
        </p:txBody>
      </p:sp>
      <p:sp>
        <p:nvSpPr>
          <p:cNvPr id="78" name="Shape 75"/>
          <p:cNvSpPr/>
          <p:nvPr/>
        </p:nvSpPr>
        <p:spPr>
          <a:xfrm>
            <a:off x="502920" y="5486400"/>
            <a:ext cx="91440" cy="457200"/>
          </a:xfrm>
          <a:prstGeom prst="rect">
            <a:avLst/>
          </a:prstGeom>
          <a:solidFill>
            <a:srgbClr val="1F8F65"/>
          </a:solidFill>
          <a:ln/>
        </p:spPr>
        <p:txBody>
          <a:bodyPr/>
          <a:lstStyle/>
          <a:p>
            <a:endParaRPr/>
          </a:p>
        </p:txBody>
      </p:sp>
      <p:sp>
        <p:nvSpPr>
          <p:cNvPr id="79" name="Text 76"/>
          <p:cNvSpPr/>
          <p:nvPr/>
        </p:nvSpPr>
        <p:spPr>
          <a:xfrm>
            <a:off x="704088" y="5486400"/>
            <a:ext cx="10911535" cy="457200"/>
          </a:xfrm>
          <a:prstGeom prst="rect">
            <a:avLst/>
          </a:prstGeom>
          <a:noFill/>
          <a:ln/>
        </p:spPr>
        <p:txBody>
          <a:bodyPr wrap="square" rtlCol="0" anchor="ctr"/>
          <a:lstStyle/>
          <a:p>
            <a:pPr marL="0" indent="0">
              <a:buNone/>
            </a:pPr>
            <a:r>
              <a:rPr lang="en-US" sz="1200" b="1" kern="0" spc="100" dirty="0">
                <a:solidFill>
                  <a:srgbClr val="1F8F65"/>
                </a:solidFill>
                <a:latin typeface="Segoe UI" pitchFamily="34" charset="0"/>
                <a:ea typeface="Segoe UI" pitchFamily="34" charset="-122"/>
                <a:cs typeface="Segoe UI" pitchFamily="34" charset="-120"/>
              </a:rPr>
              <a:t>BEST PRACTICE   </a:t>
            </a:r>
            <a:r>
              <a:rPr lang="en-US" sz="1200" dirty="0">
                <a:solidFill>
                  <a:srgbClr val="24162A"/>
                </a:solidFill>
                <a:latin typeface="Segoe UI" pitchFamily="34" charset="0"/>
                <a:ea typeface="Segoe UI" pitchFamily="34" charset="-122"/>
                <a:cs typeface="Segoe UI" pitchFamily="34" charset="-120"/>
              </a:rPr>
              <a:t>Never log a card number, a token or a full personal record. Log a request id, and look the rest up in a system that records who looked.</a:t>
            </a:r>
            <a:endParaRPr lang="en-US" sz="1200" dirty="0"/>
          </a:p>
        </p:txBody>
      </p:sp>
      <p:sp>
        <p:nvSpPr>
          <p:cNvPr id="80" name="Shape 77"/>
          <p:cNvSpPr/>
          <p:nvPr/>
        </p:nvSpPr>
        <p:spPr>
          <a:xfrm>
            <a:off x="502920" y="6071616"/>
            <a:ext cx="54864" cy="201168"/>
          </a:xfrm>
          <a:prstGeom prst="rect">
            <a:avLst/>
          </a:prstGeom>
          <a:solidFill>
            <a:srgbClr val="43BFB8"/>
          </a:solidFill>
          <a:ln/>
        </p:spPr>
        <p:txBody>
          <a:bodyPr/>
          <a:lstStyle/>
          <a:p>
            <a:endParaRPr/>
          </a:p>
        </p:txBody>
      </p:sp>
      <p:sp>
        <p:nvSpPr>
          <p:cNvPr id="81" name="Text 78"/>
          <p:cNvSpPr/>
          <p:nvPr/>
        </p:nvSpPr>
        <p:spPr>
          <a:xfrm>
            <a:off x="667512" y="598017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OWASP API Security Top 10  owasp.org/API-Security  ·  OWASP Cheat Sheet Series  ·  RFC 6749 / OIDC for tokens.</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100" b="1" dirty="0">
                <a:solidFill>
                  <a:srgbClr val="5F1B3C"/>
                </a:solidFill>
                <a:latin typeface="Segoe UI" pitchFamily="34" charset="0"/>
                <a:ea typeface="Segoe UI" pitchFamily="34" charset="-122"/>
                <a:cs typeface="Segoe UI" pitchFamily="34" charset="-120"/>
              </a:rPr>
              <a:t>Events    four rules for a message you can trust</a:t>
            </a:r>
            <a:endParaRPr lang="en-US" sz="21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Kafka is the pipe. These four rules are the design.</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67</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Name a fact</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Past tense: OrderPlaced, PaymentCaptured. Never a command like CreateInvoice.</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Add a version</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v1 in the name or the header. The shape will change one day, and old consumers must survive.</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Carry an id and a time</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orderId, amount, currency, occurredAt. Only what a stranger needs to act.</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Stay one-way</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The publisher must not know its consumers, and consumers must never call back.</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Give every event a unique key, such as the order id, so a consumer that reads it twice does not act twice.</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kafka.apache.org/documentation/#design  ·  cloudevents.io (a standard event envelope)  ·  asyncapi.com for documenting events.</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DDC006-42D6-A2A6-F52B-619C8B842B5D}"/>
              </a:ext>
            </a:extLst>
          </p:cNvPr>
          <p:cNvPicPr>
            <a:picLocks noChangeAspect="1"/>
          </p:cNvPicPr>
          <p:nvPr/>
        </p:nvPicPr>
        <p:blipFill>
          <a:blip r:embed="rId2"/>
          <a:stretch>
            <a:fillRect/>
          </a:stretch>
        </p:blipFill>
        <p:spPr>
          <a:xfrm>
            <a:off x="2047845" y="1276334"/>
            <a:ext cx="8096309" cy="4305331"/>
          </a:xfrm>
          <a:prstGeom prst="rect">
            <a:avLst/>
          </a:prstGeom>
        </p:spPr>
      </p:pic>
    </p:spTree>
    <p:extLst>
      <p:ext uri="{BB962C8B-B14F-4D97-AF65-F5344CB8AC3E}">
        <p14:creationId xmlns:p14="http://schemas.microsoft.com/office/powerpoint/2010/main" val="12286054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Publishing one event    line by 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Eight lines. This is the whole difference between a coupled system and a decoupled one.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68</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services/checkout/publisher.js</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JAVASCRIPT</a:t>
            </a:r>
            <a:endParaRPr lang="en-US" sz="850" dirty="0"/>
          </a:p>
        </p:txBody>
      </p:sp>
      <p:sp>
        <p:nvSpPr>
          <p:cNvPr id="43" name="Text 40"/>
          <p:cNvSpPr/>
          <p:nvPr/>
        </p:nvSpPr>
        <p:spPr>
          <a:xfrm>
            <a:off x="594360" y="159105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1</a:t>
            </a:r>
            <a:endParaRPr lang="en-US" sz="950" dirty="0"/>
          </a:p>
        </p:txBody>
      </p:sp>
      <p:sp>
        <p:nvSpPr>
          <p:cNvPr id="44" name="Text 41"/>
          <p:cNvSpPr/>
          <p:nvPr/>
        </p:nvSpPr>
        <p:spPr>
          <a:xfrm>
            <a:off x="960120" y="159105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const { Kafka } = require("kafkajs");</a:t>
            </a:r>
            <a:endParaRPr lang="en-US" sz="1100" dirty="0"/>
          </a:p>
        </p:txBody>
      </p:sp>
      <p:sp>
        <p:nvSpPr>
          <p:cNvPr id="45" name="Shape 42"/>
          <p:cNvSpPr/>
          <p:nvPr/>
        </p:nvSpPr>
        <p:spPr>
          <a:xfrm>
            <a:off x="6035040" y="1733931"/>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Borrow the library that knows how to talk to the event log.</a:t>
            </a:r>
            <a:endParaRPr lang="en-US" sz="1250" dirty="0"/>
          </a:p>
        </p:txBody>
      </p:sp>
      <p:sp>
        <p:nvSpPr>
          <p:cNvPr id="47" name="Text 44"/>
          <p:cNvSpPr/>
          <p:nvPr/>
        </p:nvSpPr>
        <p:spPr>
          <a:xfrm>
            <a:off x="594360" y="202311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2</a:t>
            </a:r>
            <a:endParaRPr lang="en-US" sz="950" dirty="0"/>
          </a:p>
        </p:txBody>
      </p:sp>
      <p:sp>
        <p:nvSpPr>
          <p:cNvPr id="48" name="Text 45"/>
          <p:cNvSpPr/>
          <p:nvPr/>
        </p:nvSpPr>
        <p:spPr>
          <a:xfrm>
            <a:off x="960120" y="202311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const kafka = new Kafka({ brokers: ["redpanda:9092"] });</a:t>
            </a:r>
            <a:endParaRPr lang="en-US" sz="1100" dirty="0"/>
          </a:p>
        </p:txBody>
      </p:sp>
      <p:sp>
        <p:nvSpPr>
          <p:cNvPr id="49" name="Shape 46"/>
          <p:cNvSpPr/>
          <p:nvPr/>
        </p:nvSpPr>
        <p:spPr>
          <a:xfrm>
            <a:off x="6035040" y="2165985"/>
            <a:ext cx="155448" cy="155448"/>
          </a:xfrm>
          <a:prstGeom prst="ellipse">
            <a:avLst/>
          </a:prstGeom>
          <a:solidFill>
            <a:srgbClr val="43BFB8"/>
          </a:solidFill>
          <a:ln/>
        </p:spPr>
        <p:txBody>
          <a:bodyPr/>
          <a:lstStyle/>
          <a:p>
            <a:endParaRPr/>
          </a:p>
        </p:txBody>
      </p:sp>
      <p:sp>
        <p:nvSpPr>
          <p:cNvPr id="50" name="Text 47"/>
          <p:cNvSpPr/>
          <p:nvPr/>
        </p:nvSpPr>
        <p:spPr>
          <a:xfrm>
            <a:off x="6291072" y="202311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The address of the log. It comes from configuration, never typed into the code in real life.</a:t>
            </a:r>
            <a:endParaRPr lang="en-US" sz="1250" dirty="0"/>
          </a:p>
        </p:txBody>
      </p:sp>
      <p:sp>
        <p:nvSpPr>
          <p:cNvPr id="51" name="Text 48"/>
          <p:cNvSpPr/>
          <p:nvPr/>
        </p:nvSpPr>
        <p:spPr>
          <a:xfrm>
            <a:off x="594360" y="245516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3</a:t>
            </a:r>
            <a:endParaRPr lang="en-US" sz="950" dirty="0"/>
          </a:p>
        </p:txBody>
      </p:sp>
      <p:sp>
        <p:nvSpPr>
          <p:cNvPr id="52" name="Text 49"/>
          <p:cNvSpPr/>
          <p:nvPr/>
        </p:nvSpPr>
        <p:spPr>
          <a:xfrm>
            <a:off x="960120" y="245516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const producer = kafka.producer();</a:t>
            </a:r>
            <a:endParaRPr lang="en-US" sz="1100" dirty="0"/>
          </a:p>
        </p:txBody>
      </p:sp>
      <p:sp>
        <p:nvSpPr>
          <p:cNvPr id="53" name="Shape 50"/>
          <p:cNvSpPr/>
          <p:nvPr/>
        </p:nvSpPr>
        <p:spPr>
          <a:xfrm>
            <a:off x="6035040" y="2598039"/>
            <a:ext cx="155448" cy="155448"/>
          </a:xfrm>
          <a:prstGeom prst="ellipse">
            <a:avLst/>
          </a:prstGeom>
          <a:solidFill>
            <a:srgbClr val="43BFB8"/>
          </a:solidFill>
          <a:ln/>
        </p:spPr>
        <p:txBody>
          <a:bodyPr/>
          <a:lstStyle/>
          <a:p>
            <a:endParaRPr/>
          </a:p>
        </p:txBody>
      </p:sp>
      <p:sp>
        <p:nvSpPr>
          <p:cNvPr id="54" name="Text 51"/>
          <p:cNvSpPr/>
          <p:nvPr/>
        </p:nvSpPr>
        <p:spPr>
          <a:xfrm>
            <a:off x="6291072" y="245516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A producer is the thing that writes facts into the log.</a:t>
            </a:r>
            <a:endParaRPr lang="en-US" sz="1250" dirty="0"/>
          </a:p>
        </p:txBody>
      </p:sp>
      <p:sp>
        <p:nvSpPr>
          <p:cNvPr id="55" name="Text 52"/>
          <p:cNvSpPr/>
          <p:nvPr/>
        </p:nvSpPr>
        <p:spPr>
          <a:xfrm>
            <a:off x="594360" y="2887218"/>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4</a:t>
            </a:r>
            <a:endParaRPr lang="en-US" sz="950" dirty="0"/>
          </a:p>
        </p:txBody>
      </p:sp>
      <p:sp>
        <p:nvSpPr>
          <p:cNvPr id="56" name="Text 53"/>
          <p:cNvSpPr/>
          <p:nvPr/>
        </p:nvSpPr>
        <p:spPr>
          <a:xfrm>
            <a:off x="960120" y="2887218"/>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await producer.connect();</a:t>
            </a:r>
            <a:endParaRPr lang="en-US" sz="1100" dirty="0"/>
          </a:p>
        </p:txBody>
      </p:sp>
      <p:sp>
        <p:nvSpPr>
          <p:cNvPr id="57" name="Shape 54"/>
          <p:cNvSpPr/>
          <p:nvPr/>
        </p:nvSpPr>
        <p:spPr>
          <a:xfrm>
            <a:off x="6035040" y="3030093"/>
            <a:ext cx="155448" cy="155448"/>
          </a:xfrm>
          <a:prstGeom prst="ellipse">
            <a:avLst/>
          </a:prstGeom>
          <a:solidFill>
            <a:srgbClr val="43BFB8"/>
          </a:solidFill>
          <a:ln/>
        </p:spPr>
        <p:txBody>
          <a:bodyPr/>
          <a:lstStyle/>
          <a:p>
            <a:endParaRPr/>
          </a:p>
        </p:txBody>
      </p:sp>
      <p:sp>
        <p:nvSpPr>
          <p:cNvPr id="58" name="Text 55"/>
          <p:cNvSpPr/>
          <p:nvPr/>
        </p:nvSpPr>
        <p:spPr>
          <a:xfrm>
            <a:off x="6291072" y="2887218"/>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Open the connection once, at start-up. Not once per message.</a:t>
            </a:r>
            <a:endParaRPr lang="en-US" sz="1250" dirty="0"/>
          </a:p>
        </p:txBody>
      </p:sp>
      <p:sp>
        <p:nvSpPr>
          <p:cNvPr id="59" name="Text 56"/>
          <p:cNvSpPr/>
          <p:nvPr/>
        </p:nvSpPr>
        <p:spPr>
          <a:xfrm>
            <a:off x="594360" y="3319272"/>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5</a:t>
            </a:r>
            <a:endParaRPr lang="en-US" sz="950" dirty="0"/>
          </a:p>
        </p:txBody>
      </p:sp>
      <p:sp>
        <p:nvSpPr>
          <p:cNvPr id="60" name="Text 57"/>
          <p:cNvSpPr/>
          <p:nvPr/>
        </p:nvSpPr>
        <p:spPr>
          <a:xfrm>
            <a:off x="960120" y="3319272"/>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const fact = { orderId: "8871", amount: 199 };</a:t>
            </a:r>
            <a:endParaRPr lang="en-US" sz="1100" dirty="0"/>
          </a:p>
        </p:txBody>
      </p:sp>
      <p:sp>
        <p:nvSpPr>
          <p:cNvPr id="61" name="Shape 58"/>
          <p:cNvSpPr/>
          <p:nvPr/>
        </p:nvSpPr>
        <p:spPr>
          <a:xfrm>
            <a:off x="6035040" y="3462147"/>
            <a:ext cx="155448" cy="155448"/>
          </a:xfrm>
          <a:prstGeom prst="ellipse">
            <a:avLst/>
          </a:prstGeom>
          <a:solidFill>
            <a:srgbClr val="43BFB8"/>
          </a:solidFill>
          <a:ln/>
        </p:spPr>
        <p:txBody>
          <a:bodyPr/>
          <a:lstStyle/>
          <a:p>
            <a:endParaRPr/>
          </a:p>
        </p:txBody>
      </p:sp>
      <p:sp>
        <p:nvSpPr>
          <p:cNvPr id="62" name="Text 59"/>
          <p:cNvSpPr/>
          <p:nvPr/>
        </p:nvSpPr>
        <p:spPr>
          <a:xfrm>
            <a:off x="6291072" y="3319272"/>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The fact itself: only what a stranger needs to act on it. No secrets, no internal ids.</a:t>
            </a:r>
            <a:endParaRPr lang="en-US" sz="1250" dirty="0"/>
          </a:p>
        </p:txBody>
      </p:sp>
      <p:sp>
        <p:nvSpPr>
          <p:cNvPr id="63" name="Text 60"/>
          <p:cNvSpPr/>
          <p:nvPr/>
        </p:nvSpPr>
        <p:spPr>
          <a:xfrm>
            <a:off x="594360" y="3751326"/>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6</a:t>
            </a:r>
            <a:endParaRPr lang="en-US" sz="950" dirty="0"/>
          </a:p>
        </p:txBody>
      </p:sp>
      <p:sp>
        <p:nvSpPr>
          <p:cNvPr id="64" name="Text 61"/>
          <p:cNvSpPr/>
          <p:nvPr/>
        </p:nvSpPr>
        <p:spPr>
          <a:xfrm>
            <a:off x="960120" y="3751326"/>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await producer.send({ topic: "payments",</a:t>
            </a:r>
            <a:endParaRPr lang="en-US" sz="1100" dirty="0"/>
          </a:p>
        </p:txBody>
      </p:sp>
      <p:sp>
        <p:nvSpPr>
          <p:cNvPr id="65" name="Shape 62"/>
          <p:cNvSpPr/>
          <p:nvPr/>
        </p:nvSpPr>
        <p:spPr>
          <a:xfrm>
            <a:off x="6035040" y="3894201"/>
            <a:ext cx="155448" cy="155448"/>
          </a:xfrm>
          <a:prstGeom prst="ellipse">
            <a:avLst/>
          </a:prstGeom>
          <a:solidFill>
            <a:srgbClr val="43BFB8"/>
          </a:solidFill>
          <a:ln/>
        </p:spPr>
        <p:txBody>
          <a:bodyPr/>
          <a:lstStyle/>
          <a:p>
            <a:endParaRPr/>
          </a:p>
        </p:txBody>
      </p:sp>
      <p:sp>
        <p:nvSpPr>
          <p:cNvPr id="66" name="Text 63"/>
          <p:cNvSpPr/>
          <p:nvPr/>
        </p:nvSpPr>
        <p:spPr>
          <a:xfrm>
            <a:off x="6291072" y="3751326"/>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`payments` is the shelf we put the fact on. Consumers choose their own shelf.</a:t>
            </a:r>
            <a:endParaRPr lang="en-US" sz="1250" dirty="0"/>
          </a:p>
        </p:txBody>
      </p:sp>
      <p:sp>
        <p:nvSpPr>
          <p:cNvPr id="67" name="Text 64"/>
          <p:cNvSpPr/>
          <p:nvPr/>
        </p:nvSpPr>
        <p:spPr>
          <a:xfrm>
            <a:off x="594360" y="4183380"/>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7</a:t>
            </a:r>
            <a:endParaRPr lang="en-US" sz="950" dirty="0"/>
          </a:p>
        </p:txBody>
      </p:sp>
      <p:sp>
        <p:nvSpPr>
          <p:cNvPr id="68" name="Text 65"/>
          <p:cNvSpPr/>
          <p:nvPr/>
        </p:nvSpPr>
        <p:spPr>
          <a:xfrm>
            <a:off x="960120" y="4183380"/>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messages: [{ key: fact.orderId,</a:t>
            </a:r>
            <a:endParaRPr lang="en-US" sz="1100" dirty="0"/>
          </a:p>
        </p:txBody>
      </p:sp>
      <p:sp>
        <p:nvSpPr>
          <p:cNvPr id="69" name="Shape 66"/>
          <p:cNvSpPr/>
          <p:nvPr/>
        </p:nvSpPr>
        <p:spPr>
          <a:xfrm>
            <a:off x="6035040" y="4326255"/>
            <a:ext cx="155448" cy="155448"/>
          </a:xfrm>
          <a:prstGeom prst="ellipse">
            <a:avLst/>
          </a:prstGeom>
          <a:solidFill>
            <a:srgbClr val="43BFB8"/>
          </a:solidFill>
          <a:ln/>
        </p:spPr>
        <p:txBody>
          <a:bodyPr/>
          <a:lstStyle/>
          <a:p>
            <a:endParaRPr/>
          </a:p>
        </p:txBody>
      </p:sp>
      <p:sp>
        <p:nvSpPr>
          <p:cNvPr id="70" name="Text 67"/>
          <p:cNvSpPr/>
          <p:nvPr/>
        </p:nvSpPr>
        <p:spPr>
          <a:xfrm>
            <a:off x="6291072" y="4183380"/>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The key is the order id. This is what lets a consumer notice “I already handled 8871”.</a:t>
            </a:r>
            <a:endParaRPr lang="en-US" sz="1250" dirty="0"/>
          </a:p>
        </p:txBody>
      </p:sp>
      <p:sp>
        <p:nvSpPr>
          <p:cNvPr id="71" name="Text 68"/>
          <p:cNvSpPr/>
          <p:nvPr/>
        </p:nvSpPr>
        <p:spPr>
          <a:xfrm>
            <a:off x="594360" y="4615434"/>
            <a:ext cx="274320" cy="43205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8</a:t>
            </a:r>
            <a:endParaRPr lang="en-US" sz="950" dirty="0"/>
          </a:p>
        </p:txBody>
      </p:sp>
      <p:sp>
        <p:nvSpPr>
          <p:cNvPr id="72" name="Text 69"/>
          <p:cNvSpPr/>
          <p:nvPr/>
        </p:nvSpPr>
        <p:spPr>
          <a:xfrm>
            <a:off x="960120" y="4615434"/>
            <a:ext cx="4690872" cy="43205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value: JSON.stringify(fact) }] });</a:t>
            </a:r>
            <a:endParaRPr lang="en-US" sz="1100" dirty="0"/>
          </a:p>
        </p:txBody>
      </p:sp>
      <p:sp>
        <p:nvSpPr>
          <p:cNvPr id="73" name="Shape 70"/>
          <p:cNvSpPr/>
          <p:nvPr/>
        </p:nvSpPr>
        <p:spPr>
          <a:xfrm>
            <a:off x="6035040" y="4758309"/>
            <a:ext cx="155448" cy="155448"/>
          </a:xfrm>
          <a:prstGeom prst="ellipse">
            <a:avLst/>
          </a:prstGeom>
          <a:solidFill>
            <a:srgbClr val="43BFB8"/>
          </a:solidFill>
          <a:ln/>
        </p:spPr>
        <p:txBody>
          <a:bodyPr/>
          <a:lstStyle/>
          <a:p>
            <a:endParaRPr/>
          </a:p>
        </p:txBody>
      </p:sp>
      <p:sp>
        <p:nvSpPr>
          <p:cNvPr id="74" name="Text 71"/>
          <p:cNvSpPr/>
          <p:nvPr/>
        </p:nvSpPr>
        <p:spPr>
          <a:xfrm>
            <a:off x="6291072" y="4615434"/>
            <a:ext cx="5397703" cy="43205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Turn the fact into text so any language on any machine can read it.</a:t>
            </a:r>
            <a:endParaRPr lang="en-US" sz="1250" dirty="0"/>
          </a:p>
        </p:txBody>
      </p:sp>
      <p:sp>
        <p:nvSpPr>
          <p:cNvPr id="75" name="Shape 72"/>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76" name="Shape 73"/>
          <p:cNvSpPr/>
          <p:nvPr/>
        </p:nvSpPr>
        <p:spPr>
          <a:xfrm>
            <a:off x="502920" y="5175504"/>
            <a:ext cx="100584" cy="676656"/>
          </a:xfrm>
          <a:prstGeom prst="rect">
            <a:avLst/>
          </a:prstGeom>
          <a:solidFill>
            <a:srgbClr val="E76F30"/>
          </a:solidFill>
          <a:ln/>
        </p:spPr>
        <p:txBody>
          <a:bodyPr/>
          <a:lstStyle/>
          <a:p>
            <a:endParaRPr/>
          </a:p>
        </p:txBody>
      </p:sp>
      <p:sp>
        <p:nvSpPr>
          <p:cNvPr id="77" name="Text 74"/>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Checkout writes one fact and finishes. It has no idea that warehouse and finance exist. Tomorrow you can add a fraud-check service that also listens, and you will not change a single line of this file. That is what decoupling actually buys you.</a:t>
            </a:r>
            <a:endParaRPr lang="en-US" sz="1250" dirty="0"/>
          </a:p>
        </p:txBody>
      </p:sp>
      <p:sp>
        <p:nvSpPr>
          <p:cNvPr id="78" name="Shape 75"/>
          <p:cNvSpPr/>
          <p:nvPr/>
        </p:nvSpPr>
        <p:spPr>
          <a:xfrm>
            <a:off x="502920" y="5980176"/>
            <a:ext cx="54864" cy="201168"/>
          </a:xfrm>
          <a:prstGeom prst="rect">
            <a:avLst/>
          </a:prstGeom>
          <a:solidFill>
            <a:srgbClr val="43BFB8"/>
          </a:solidFill>
          <a:ln/>
        </p:spPr>
        <p:txBody>
          <a:bodyPr/>
          <a:lstStyle/>
          <a:p>
            <a:endParaRPr/>
          </a:p>
        </p:txBody>
      </p:sp>
      <p:sp>
        <p:nvSpPr>
          <p:cNvPr id="79" name="Text 76"/>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kafka.js.org/docs/producing  ·  kafka.apache.org/documentation/#producerapi  ·  runnable version in the practical guide, Day 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design one event and its consumers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groups of three.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69</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the fact</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PaymentCaptured or OrderPlaced. Past tense, business language.</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List only needed fields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orderId, amount, currency, occurredAt, version. Nothing private, no secrets.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two consumers</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Who reacts, and what each one does. They must not reply to the publisher.</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failure rule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If a consumer is down, the fact waits in the log and the consumer catches up later.</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event sketch</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name      : PaymentCaptured</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version   : 1</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key       : orderId        (for de-duplication)</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fields    : orderId, amount, currency,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occurredAt</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publisher : Checkout</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consumers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Warehouse -&gt; start picking</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Finance   -&gt; record revenue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failure rule: consumers catch up from the log</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safety: read twice -&gt; act once (use the key)</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past-tense name, a version, minimal fields, two consumers, and one written failure rule.</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PaymentCaptured v1, keyed by orderId, consumed by warehouse and finance. Best practice: publish facts, never commands, and never allow a call back to the publisher.</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cloudevents.io/spec  ·  asyncapi.com  ·  kafka.apache.org/documentation/#semantics</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API gateway    what belongs in the front door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One entry point for outside callers. Boring on purpose.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70</a:t>
            </a:r>
            <a:endParaRPr lang="en-US" sz="1000" dirty="0"/>
          </a:p>
        </p:txBody>
      </p:sp>
      <p:sp>
        <p:nvSpPr>
          <p:cNvPr id="36" name="Shape 33"/>
          <p:cNvSpPr/>
          <p:nvPr/>
        </p:nvSpPr>
        <p:spPr>
          <a:xfrm>
            <a:off x="502920" y="1243584"/>
            <a:ext cx="5455768" cy="420624"/>
          </a:xfrm>
          <a:prstGeom prst="roundRect">
            <a:avLst>
              <a:gd name="adj" fmla="val 19565"/>
            </a:avLst>
          </a:prstGeom>
          <a:solidFill>
            <a:srgbClr val="1F8F65"/>
          </a:solidFill>
          <a:ln/>
        </p:spPr>
        <p:txBody>
          <a:bodyPr/>
          <a:lstStyle/>
          <a:p>
            <a:endParaRPr/>
          </a:p>
        </p:txBody>
      </p:sp>
      <p:sp>
        <p:nvSpPr>
          <p:cNvPr id="37" name="Text 34"/>
          <p:cNvSpPr/>
          <p:nvPr/>
        </p:nvSpPr>
        <p:spPr>
          <a:xfrm>
            <a:off x="685800"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    best practice</a:t>
            </a:r>
            <a:endParaRPr lang="en-US" sz="1300" dirty="0"/>
          </a:p>
        </p:txBody>
      </p:sp>
      <p:sp>
        <p:nvSpPr>
          <p:cNvPr id="38" name="Shape 35"/>
          <p:cNvSpPr/>
          <p:nvPr/>
        </p:nvSpPr>
        <p:spPr>
          <a:xfrm>
            <a:off x="6233008" y="1243584"/>
            <a:ext cx="5455768" cy="420624"/>
          </a:xfrm>
          <a:prstGeom prst="roundRect">
            <a:avLst>
              <a:gd name="adj" fmla="val 19565"/>
            </a:avLst>
          </a:prstGeom>
          <a:solidFill>
            <a:srgbClr val="DC2626"/>
          </a:solidFill>
          <a:ln/>
        </p:spPr>
        <p:txBody>
          <a:bodyPr/>
          <a:lstStyle/>
          <a:p>
            <a:endParaRPr/>
          </a:p>
        </p:txBody>
      </p:sp>
      <p:sp>
        <p:nvSpPr>
          <p:cNvPr id="39" name="Text 36"/>
          <p:cNvSpPr/>
          <p:nvPr/>
        </p:nvSpPr>
        <p:spPr>
          <a:xfrm>
            <a:off x="6415888"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DON'T    what breaks in production</a:t>
            </a:r>
            <a:endParaRPr lang="en-US" sz="1300" dirty="0"/>
          </a:p>
        </p:txBody>
      </p:sp>
      <p:sp>
        <p:nvSpPr>
          <p:cNvPr id="40" name="Shape 37"/>
          <p:cNvSpPr/>
          <p:nvPr/>
        </p:nvSpPr>
        <p:spPr>
          <a:xfrm>
            <a:off x="502920" y="1792224"/>
            <a:ext cx="5455768" cy="681228"/>
          </a:xfrm>
          <a:prstGeom prst="roundRect">
            <a:avLst>
              <a:gd name="adj" fmla="val 12081"/>
            </a:avLst>
          </a:prstGeom>
          <a:solidFill>
            <a:srgbClr val="E1F5EC"/>
          </a:solidFill>
          <a:ln/>
        </p:spPr>
        <p:txBody>
          <a:bodyPr/>
          <a:lstStyle/>
          <a:p>
            <a:endParaRPr/>
          </a:p>
        </p:txBody>
      </p:sp>
      <p:sp>
        <p:nvSpPr>
          <p:cNvPr id="41" name="Text 38"/>
          <p:cNvSpPr/>
          <p:nvPr/>
        </p:nvSpPr>
        <p:spPr>
          <a:xfrm>
            <a:off x="612648" y="1847088"/>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2" name="Text 39"/>
          <p:cNvSpPr/>
          <p:nvPr/>
        </p:nvSpPr>
        <p:spPr>
          <a:xfrm>
            <a:off x="960120"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Check the identity token, apply rate limits, route the call, and hide internal service names.</a:t>
            </a:r>
            <a:endParaRPr lang="en-US" sz="1150" dirty="0"/>
          </a:p>
        </p:txBody>
      </p:sp>
      <p:sp>
        <p:nvSpPr>
          <p:cNvPr id="43" name="Shape 40"/>
          <p:cNvSpPr/>
          <p:nvPr/>
        </p:nvSpPr>
        <p:spPr>
          <a:xfrm>
            <a:off x="6233008" y="1792224"/>
            <a:ext cx="5455768" cy="681228"/>
          </a:xfrm>
          <a:prstGeom prst="roundRect">
            <a:avLst>
              <a:gd name="adj" fmla="val 12081"/>
            </a:avLst>
          </a:prstGeom>
          <a:solidFill>
            <a:srgbClr val="FEE2E2"/>
          </a:solidFill>
          <a:ln/>
        </p:spPr>
        <p:txBody>
          <a:bodyPr/>
          <a:lstStyle/>
          <a:p>
            <a:endParaRPr/>
          </a:p>
        </p:txBody>
      </p:sp>
      <p:sp>
        <p:nvSpPr>
          <p:cNvPr id="44" name="Text 41"/>
          <p:cNvSpPr/>
          <p:nvPr/>
        </p:nvSpPr>
        <p:spPr>
          <a:xfrm>
            <a:off x="6342736" y="1847088"/>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45" name="Text 42"/>
          <p:cNvSpPr/>
          <p:nvPr/>
        </p:nvSpPr>
        <p:spPr>
          <a:xfrm>
            <a:off x="6690208"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Calculate tax, apply VIP discounts, or decide stock rules inside the gateway.</a:t>
            </a:r>
            <a:endParaRPr lang="en-US" sz="1150" dirty="0"/>
          </a:p>
        </p:txBody>
      </p:sp>
      <p:sp>
        <p:nvSpPr>
          <p:cNvPr id="46" name="Shape 43"/>
          <p:cNvSpPr/>
          <p:nvPr/>
        </p:nvSpPr>
        <p:spPr>
          <a:xfrm>
            <a:off x="502920" y="2583180"/>
            <a:ext cx="5455768" cy="681228"/>
          </a:xfrm>
          <a:prstGeom prst="roundRect">
            <a:avLst>
              <a:gd name="adj" fmla="val 12081"/>
            </a:avLst>
          </a:prstGeom>
          <a:solidFill>
            <a:srgbClr val="E1F5EC"/>
          </a:solidFill>
          <a:ln/>
        </p:spPr>
        <p:txBody>
          <a:bodyPr/>
          <a:lstStyle/>
          <a:p>
            <a:endParaRPr/>
          </a:p>
        </p:txBody>
      </p:sp>
      <p:sp>
        <p:nvSpPr>
          <p:cNvPr id="47" name="Text 44"/>
          <p:cNvSpPr/>
          <p:nvPr/>
        </p:nvSpPr>
        <p:spPr>
          <a:xfrm>
            <a:off x="612648" y="2638044"/>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8" name="Text 45"/>
          <p:cNvSpPr/>
          <p:nvPr/>
        </p:nvSpPr>
        <p:spPr>
          <a:xfrm>
            <a:off x="960120"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Expose one public host name and one versioned path to partners and mobile apps.</a:t>
            </a:r>
            <a:endParaRPr lang="en-US" sz="1150" dirty="0"/>
          </a:p>
        </p:txBody>
      </p:sp>
      <p:sp>
        <p:nvSpPr>
          <p:cNvPr id="49" name="Shape 46"/>
          <p:cNvSpPr/>
          <p:nvPr/>
        </p:nvSpPr>
        <p:spPr>
          <a:xfrm>
            <a:off x="6233008" y="2583180"/>
            <a:ext cx="5455768" cy="681228"/>
          </a:xfrm>
          <a:prstGeom prst="roundRect">
            <a:avLst>
              <a:gd name="adj" fmla="val 12081"/>
            </a:avLst>
          </a:prstGeom>
          <a:solidFill>
            <a:srgbClr val="FEE2E2"/>
          </a:solidFill>
          <a:ln/>
        </p:spPr>
        <p:txBody>
          <a:bodyPr/>
          <a:lstStyle/>
          <a:p>
            <a:endParaRPr/>
          </a:p>
        </p:txBody>
      </p:sp>
      <p:sp>
        <p:nvSpPr>
          <p:cNvPr id="50" name="Text 47"/>
          <p:cNvSpPr/>
          <p:nvPr/>
        </p:nvSpPr>
        <p:spPr>
          <a:xfrm>
            <a:off x="6342736" y="2638044"/>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1" name="Text 48"/>
          <p:cNvSpPr/>
          <p:nvPr/>
        </p:nvSpPr>
        <p:spPr>
          <a:xfrm>
            <a:off x="6690208"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Let each client learn ten internal service addresses and call them directly.</a:t>
            </a:r>
            <a:endParaRPr lang="en-US" sz="1150" dirty="0"/>
          </a:p>
        </p:txBody>
      </p:sp>
      <p:sp>
        <p:nvSpPr>
          <p:cNvPr id="52" name="Shape 49"/>
          <p:cNvSpPr/>
          <p:nvPr/>
        </p:nvSpPr>
        <p:spPr>
          <a:xfrm>
            <a:off x="502920" y="3374136"/>
            <a:ext cx="5455768" cy="681228"/>
          </a:xfrm>
          <a:prstGeom prst="roundRect">
            <a:avLst>
              <a:gd name="adj" fmla="val 12081"/>
            </a:avLst>
          </a:prstGeom>
          <a:solidFill>
            <a:srgbClr val="E1F5EC"/>
          </a:solidFill>
          <a:ln/>
        </p:spPr>
        <p:txBody>
          <a:bodyPr/>
          <a:lstStyle/>
          <a:p>
            <a:endParaRPr/>
          </a:p>
        </p:txBody>
      </p:sp>
      <p:sp>
        <p:nvSpPr>
          <p:cNvPr id="53" name="Text 50"/>
          <p:cNvSpPr/>
          <p:nvPr/>
        </p:nvSpPr>
        <p:spPr>
          <a:xfrm>
            <a:off x="612648" y="3429000"/>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54" name="Text 51"/>
          <p:cNvSpPr/>
          <p:nvPr/>
        </p:nvSpPr>
        <p:spPr>
          <a:xfrm>
            <a:off x="960120"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Keep gateway configuration in Git and review it like code.</a:t>
            </a:r>
            <a:endParaRPr lang="en-US" sz="1150" dirty="0"/>
          </a:p>
        </p:txBody>
      </p:sp>
      <p:sp>
        <p:nvSpPr>
          <p:cNvPr id="55" name="Shape 52"/>
          <p:cNvSpPr/>
          <p:nvPr/>
        </p:nvSpPr>
        <p:spPr>
          <a:xfrm>
            <a:off x="6233008" y="3374136"/>
            <a:ext cx="5455768" cy="681228"/>
          </a:xfrm>
          <a:prstGeom prst="roundRect">
            <a:avLst>
              <a:gd name="adj" fmla="val 12081"/>
            </a:avLst>
          </a:prstGeom>
          <a:solidFill>
            <a:srgbClr val="FEE2E2"/>
          </a:solidFill>
          <a:ln/>
        </p:spPr>
        <p:txBody>
          <a:bodyPr/>
          <a:lstStyle/>
          <a:p>
            <a:endParaRPr/>
          </a:p>
        </p:txBody>
      </p:sp>
      <p:sp>
        <p:nvSpPr>
          <p:cNvPr id="56" name="Text 53"/>
          <p:cNvSpPr/>
          <p:nvPr/>
        </p:nvSpPr>
        <p:spPr>
          <a:xfrm>
            <a:off x="6342736" y="3429000"/>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7" name="Text 54"/>
          <p:cNvSpPr/>
          <p:nvPr/>
        </p:nvSpPr>
        <p:spPr>
          <a:xfrm>
            <a:off x="6690208"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Configure routes by hand in a console, so nobody knows the live state.</a:t>
            </a:r>
            <a:endParaRPr lang="en-US" sz="1150" dirty="0"/>
          </a:p>
        </p:txBody>
      </p:sp>
      <p:sp>
        <p:nvSpPr>
          <p:cNvPr id="58" name="Shape 55"/>
          <p:cNvSpPr/>
          <p:nvPr/>
        </p:nvSpPr>
        <p:spPr>
          <a:xfrm>
            <a:off x="502920" y="4165092"/>
            <a:ext cx="5455768" cy="681228"/>
          </a:xfrm>
          <a:prstGeom prst="roundRect">
            <a:avLst>
              <a:gd name="adj" fmla="val 12081"/>
            </a:avLst>
          </a:prstGeom>
          <a:solidFill>
            <a:srgbClr val="E1F5EC"/>
          </a:solidFill>
          <a:ln/>
        </p:spPr>
        <p:txBody>
          <a:bodyPr/>
          <a:lstStyle/>
          <a:p>
            <a:endParaRPr/>
          </a:p>
        </p:txBody>
      </p:sp>
      <p:sp>
        <p:nvSpPr>
          <p:cNvPr id="59" name="Text 56"/>
          <p:cNvSpPr/>
          <p:nvPr/>
        </p:nvSpPr>
        <p:spPr>
          <a:xfrm>
            <a:off x="612648" y="4219956"/>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60" name="Text 57"/>
          <p:cNvSpPr/>
          <p:nvPr/>
        </p:nvSpPr>
        <p:spPr>
          <a:xfrm>
            <a:off x="960120"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Fail fast at the gateway with a clear message and a request id.</a:t>
            </a:r>
            <a:endParaRPr lang="en-US" sz="1150" dirty="0"/>
          </a:p>
        </p:txBody>
      </p:sp>
      <p:sp>
        <p:nvSpPr>
          <p:cNvPr id="61" name="Shape 58"/>
          <p:cNvSpPr/>
          <p:nvPr/>
        </p:nvSpPr>
        <p:spPr>
          <a:xfrm>
            <a:off x="6233008" y="4165092"/>
            <a:ext cx="5455768" cy="681228"/>
          </a:xfrm>
          <a:prstGeom prst="roundRect">
            <a:avLst>
              <a:gd name="adj" fmla="val 12081"/>
            </a:avLst>
          </a:prstGeom>
          <a:solidFill>
            <a:srgbClr val="FEE2E2"/>
          </a:solidFill>
          <a:ln/>
        </p:spPr>
        <p:txBody>
          <a:bodyPr/>
          <a:lstStyle/>
          <a:p>
            <a:endParaRPr/>
          </a:p>
        </p:txBody>
      </p:sp>
      <p:sp>
        <p:nvSpPr>
          <p:cNvPr id="62" name="Text 59"/>
          <p:cNvSpPr/>
          <p:nvPr/>
        </p:nvSpPr>
        <p:spPr>
          <a:xfrm>
            <a:off x="6342736" y="4219956"/>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63" name="Text 60"/>
          <p:cNvSpPr/>
          <p:nvPr/>
        </p:nvSpPr>
        <p:spPr>
          <a:xfrm>
            <a:off x="6690208"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Let the gateway hold a connection open for a minute while a service is dead.</a:t>
            </a:r>
            <a:endParaRPr lang="en-US" sz="1150" dirty="0"/>
          </a:p>
        </p:txBody>
      </p:sp>
      <p:sp>
        <p:nvSpPr>
          <p:cNvPr id="64" name="Shape 61"/>
          <p:cNvSpPr/>
          <p:nvPr/>
        </p:nvSpPr>
        <p:spPr>
          <a:xfrm>
            <a:off x="502920" y="4992624"/>
            <a:ext cx="11185855" cy="658368"/>
          </a:xfrm>
          <a:prstGeom prst="roundRect">
            <a:avLst>
              <a:gd name="adj" fmla="val 12500"/>
            </a:avLst>
          </a:prstGeom>
          <a:solidFill>
            <a:srgbClr val="E1F5EC"/>
          </a:solidFill>
          <a:ln/>
        </p:spPr>
        <p:txBody>
          <a:bodyPr/>
          <a:lstStyle/>
          <a:p>
            <a:endParaRPr/>
          </a:p>
        </p:txBody>
      </p:sp>
      <p:sp>
        <p:nvSpPr>
          <p:cNvPr id="65" name="Shape 62"/>
          <p:cNvSpPr/>
          <p:nvPr/>
        </p:nvSpPr>
        <p:spPr>
          <a:xfrm>
            <a:off x="502920" y="4992624"/>
            <a:ext cx="100584" cy="658368"/>
          </a:xfrm>
          <a:prstGeom prst="rect">
            <a:avLst/>
          </a:prstGeom>
          <a:solidFill>
            <a:srgbClr val="1F8F65"/>
          </a:solidFill>
          <a:ln/>
        </p:spPr>
        <p:txBody>
          <a:bodyPr/>
          <a:lstStyle/>
          <a:p>
            <a:endParaRPr/>
          </a:p>
        </p:txBody>
      </p:sp>
      <p:sp>
        <p:nvSpPr>
          <p:cNvPr id="66" name="Text 63"/>
          <p:cNvSpPr/>
          <p:nvPr/>
        </p:nvSpPr>
        <p:spPr>
          <a:xfrm>
            <a:off x="740664" y="4992624"/>
            <a:ext cx="10783519" cy="65836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If the gateway grows business rules, you have rebuilt the monolith in a new place.</a:t>
            </a:r>
            <a:endParaRPr lang="en-US" sz="1250" dirty="0"/>
          </a:p>
        </p:txBody>
      </p:sp>
      <p:sp>
        <p:nvSpPr>
          <p:cNvPr id="67" name="Shape 64"/>
          <p:cNvSpPr/>
          <p:nvPr/>
        </p:nvSpPr>
        <p:spPr>
          <a:xfrm>
            <a:off x="502920" y="5815584"/>
            <a:ext cx="54864" cy="201168"/>
          </a:xfrm>
          <a:prstGeom prst="rect">
            <a:avLst/>
          </a:prstGeom>
          <a:solidFill>
            <a:srgbClr val="43BFB8"/>
          </a:solidFill>
          <a:ln/>
        </p:spPr>
        <p:txBody>
          <a:bodyPr/>
          <a:lstStyle/>
          <a:p>
            <a:endParaRPr/>
          </a:p>
        </p:txBody>
      </p:sp>
      <p:sp>
        <p:nvSpPr>
          <p:cNvPr id="68" name="Text 65"/>
          <p:cNvSpPr/>
          <p:nvPr/>
        </p:nvSpPr>
        <p:spPr>
          <a:xfrm>
            <a:off x="667512" y="5724144"/>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microservices.io/patterns/apigateway.html  ·  Kong, Apigee and Azure API Management all document the same separation.</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API management    the six stages after the code works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A gateway is one tool. API management is the whole life of the promise you published.</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71</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learn.microsoft.com/azure/api-management/api-management-key-concepts  ·  docs.konghq.com  ·  cloud.google.com/apigee/docs</a:t>
            </a:r>
            <a:endParaRPr lang="en-US" sz="1050" dirty="0"/>
          </a:p>
        </p:txBody>
      </p:sp>
      <p:sp>
        <p:nvSpPr>
          <p:cNvPr id="36" name="Shape 33"/>
          <p:cNvSpPr/>
          <p:nvPr/>
        </p:nvSpPr>
        <p:spPr>
          <a:xfrm>
            <a:off x="502920" y="1508760"/>
            <a:ext cx="173736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173736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Stage</a:t>
            </a:r>
            <a:endParaRPr lang="en-US" sz="1200" dirty="0"/>
          </a:p>
        </p:txBody>
      </p:sp>
      <p:sp>
        <p:nvSpPr>
          <p:cNvPr id="38" name="Shape 35"/>
          <p:cNvSpPr/>
          <p:nvPr/>
        </p:nvSpPr>
        <p:spPr>
          <a:xfrm>
            <a:off x="2240280" y="1508760"/>
            <a:ext cx="365760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2240280" y="1508760"/>
            <a:ext cx="36576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What happens</a:t>
            </a:r>
            <a:endParaRPr lang="en-US" sz="1200" dirty="0"/>
          </a:p>
        </p:txBody>
      </p:sp>
      <p:sp>
        <p:nvSpPr>
          <p:cNvPr id="40" name="Shape 37"/>
          <p:cNvSpPr/>
          <p:nvPr/>
        </p:nvSpPr>
        <p:spPr>
          <a:xfrm>
            <a:off x="5897880" y="1508760"/>
            <a:ext cx="228600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5897880" y="1508760"/>
            <a:ext cx="22860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Who owns it</a:t>
            </a:r>
            <a:endParaRPr lang="en-US" sz="1200" dirty="0"/>
          </a:p>
        </p:txBody>
      </p:sp>
      <p:sp>
        <p:nvSpPr>
          <p:cNvPr id="42" name="Shape 39"/>
          <p:cNvSpPr/>
          <p:nvPr/>
        </p:nvSpPr>
        <p:spPr>
          <a:xfrm>
            <a:off x="8183880" y="1508760"/>
            <a:ext cx="3474720" cy="502920"/>
          </a:xfrm>
          <a:prstGeom prst="rect">
            <a:avLst/>
          </a:prstGeom>
          <a:solidFill>
            <a:srgbClr val="F6F5F8"/>
          </a:solidFill>
          <a:ln w="9525">
            <a:solidFill>
              <a:srgbClr val="E3E0E8"/>
            </a:solidFill>
            <a:prstDash val="solid"/>
          </a:ln>
        </p:spPr>
        <p:txBody>
          <a:bodyPr/>
          <a:lstStyle/>
          <a:p>
            <a:endParaRPr/>
          </a:p>
        </p:txBody>
      </p:sp>
      <p:sp>
        <p:nvSpPr>
          <p:cNvPr id="43" name="Text 40"/>
          <p:cNvSpPr/>
          <p:nvPr/>
        </p:nvSpPr>
        <p:spPr>
          <a:xfrm>
            <a:off x="8183880" y="1508760"/>
            <a:ext cx="34747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What goes wrong without it</a:t>
            </a:r>
            <a:endParaRPr lang="en-US" sz="1200" dirty="0"/>
          </a:p>
        </p:txBody>
      </p:sp>
      <p:sp>
        <p:nvSpPr>
          <p:cNvPr id="44" name="Shape 41"/>
          <p:cNvSpPr/>
          <p:nvPr/>
        </p:nvSpPr>
        <p:spPr>
          <a:xfrm>
            <a:off x="502920" y="2011680"/>
            <a:ext cx="173736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594360" y="201168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Design</a:t>
            </a:r>
            <a:endParaRPr lang="en-US" sz="1200" dirty="0"/>
          </a:p>
        </p:txBody>
      </p:sp>
      <p:sp>
        <p:nvSpPr>
          <p:cNvPr id="46" name="Shape 43"/>
          <p:cNvSpPr/>
          <p:nvPr/>
        </p:nvSpPr>
        <p:spPr>
          <a:xfrm>
            <a:off x="2240280" y="2011680"/>
            <a:ext cx="365760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2331720" y="201168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Contract first, reviewed before code exists</a:t>
            </a:r>
            <a:endParaRPr lang="en-US" sz="1200" dirty="0"/>
          </a:p>
        </p:txBody>
      </p:sp>
      <p:sp>
        <p:nvSpPr>
          <p:cNvPr id="48" name="Shape 45"/>
          <p:cNvSpPr/>
          <p:nvPr/>
        </p:nvSpPr>
        <p:spPr>
          <a:xfrm>
            <a:off x="5897880" y="2011680"/>
            <a:ext cx="2286000" cy="594360"/>
          </a:xfrm>
          <a:prstGeom prst="rect">
            <a:avLst/>
          </a:prstGeom>
          <a:solidFill>
            <a:srgbClr val="FFFFFF"/>
          </a:solidFill>
          <a:ln w="6350">
            <a:solidFill>
              <a:srgbClr val="E3E0E8"/>
            </a:solidFill>
            <a:prstDash val="solid"/>
          </a:ln>
        </p:spPr>
        <p:txBody>
          <a:bodyPr/>
          <a:lstStyle/>
          <a:p>
            <a:endParaRPr/>
          </a:p>
        </p:txBody>
      </p:sp>
      <p:sp>
        <p:nvSpPr>
          <p:cNvPr id="49" name="Text 46"/>
          <p:cNvSpPr/>
          <p:nvPr/>
        </p:nvSpPr>
        <p:spPr>
          <a:xfrm>
            <a:off x="5989320" y="201168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Owning team + architect</a:t>
            </a:r>
            <a:endParaRPr lang="en-US" sz="1200" dirty="0"/>
          </a:p>
        </p:txBody>
      </p:sp>
      <p:sp>
        <p:nvSpPr>
          <p:cNvPr id="50" name="Shape 47"/>
          <p:cNvSpPr/>
          <p:nvPr/>
        </p:nvSpPr>
        <p:spPr>
          <a:xfrm>
            <a:off x="8183880" y="2011680"/>
            <a:ext cx="3474720" cy="594360"/>
          </a:xfrm>
          <a:prstGeom prst="rect">
            <a:avLst/>
          </a:prstGeom>
          <a:solidFill>
            <a:srgbClr val="FFFFFF"/>
          </a:solidFill>
          <a:ln w="6350">
            <a:solidFill>
              <a:srgbClr val="E3E0E8"/>
            </a:solidFill>
            <a:prstDash val="solid"/>
          </a:ln>
        </p:spPr>
        <p:txBody>
          <a:bodyPr/>
          <a:lstStyle/>
          <a:p>
            <a:endParaRPr/>
          </a:p>
        </p:txBody>
      </p:sp>
      <p:sp>
        <p:nvSpPr>
          <p:cNvPr id="51" name="Text 48"/>
          <p:cNvSpPr/>
          <p:nvPr/>
        </p:nvSpPr>
        <p:spPr>
          <a:xfrm>
            <a:off x="8275320" y="201168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Every client integrates differently</a:t>
            </a:r>
            <a:endParaRPr lang="en-US" sz="1200" dirty="0"/>
          </a:p>
        </p:txBody>
      </p:sp>
      <p:sp>
        <p:nvSpPr>
          <p:cNvPr id="52" name="Shape 49"/>
          <p:cNvSpPr/>
          <p:nvPr/>
        </p:nvSpPr>
        <p:spPr>
          <a:xfrm>
            <a:off x="502920" y="2606040"/>
            <a:ext cx="173736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594360" y="260604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Publish</a:t>
            </a:r>
            <a:endParaRPr lang="en-US" sz="1200" dirty="0"/>
          </a:p>
        </p:txBody>
      </p:sp>
      <p:sp>
        <p:nvSpPr>
          <p:cNvPr id="54" name="Shape 51"/>
          <p:cNvSpPr/>
          <p:nvPr/>
        </p:nvSpPr>
        <p:spPr>
          <a:xfrm>
            <a:off x="2240280" y="2606040"/>
            <a:ext cx="3657600" cy="594360"/>
          </a:xfrm>
          <a:prstGeom prst="rect">
            <a:avLst/>
          </a:prstGeom>
          <a:solidFill>
            <a:srgbClr val="FBFCFD"/>
          </a:solidFill>
          <a:ln w="6350">
            <a:solidFill>
              <a:srgbClr val="E3E0E8"/>
            </a:solidFill>
            <a:prstDash val="solid"/>
          </a:ln>
        </p:spPr>
        <p:txBody>
          <a:bodyPr/>
          <a:lstStyle/>
          <a:p>
            <a:endParaRPr/>
          </a:p>
        </p:txBody>
      </p:sp>
      <p:sp>
        <p:nvSpPr>
          <p:cNvPr id="55" name="Text 52"/>
          <p:cNvSpPr/>
          <p:nvPr/>
        </p:nvSpPr>
        <p:spPr>
          <a:xfrm>
            <a:off x="2331720" y="260604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catalogue or developer portal with real examples</a:t>
            </a:r>
            <a:endParaRPr lang="en-US" sz="1200" dirty="0"/>
          </a:p>
        </p:txBody>
      </p:sp>
      <p:sp>
        <p:nvSpPr>
          <p:cNvPr id="56" name="Shape 53"/>
          <p:cNvSpPr/>
          <p:nvPr/>
        </p:nvSpPr>
        <p:spPr>
          <a:xfrm>
            <a:off x="5897880" y="2606040"/>
            <a:ext cx="2286000" cy="594360"/>
          </a:xfrm>
          <a:prstGeom prst="rect">
            <a:avLst/>
          </a:prstGeom>
          <a:solidFill>
            <a:srgbClr val="FBFCFD"/>
          </a:solidFill>
          <a:ln w="6350">
            <a:solidFill>
              <a:srgbClr val="E3E0E8"/>
            </a:solidFill>
            <a:prstDash val="solid"/>
          </a:ln>
        </p:spPr>
        <p:txBody>
          <a:bodyPr/>
          <a:lstStyle/>
          <a:p>
            <a:endParaRPr/>
          </a:p>
        </p:txBody>
      </p:sp>
      <p:sp>
        <p:nvSpPr>
          <p:cNvPr id="57" name="Text 54"/>
          <p:cNvSpPr/>
          <p:nvPr/>
        </p:nvSpPr>
        <p:spPr>
          <a:xfrm>
            <a:off x="5989320" y="260604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Platform team</a:t>
            </a:r>
            <a:endParaRPr lang="en-US" sz="1200" dirty="0"/>
          </a:p>
        </p:txBody>
      </p:sp>
      <p:sp>
        <p:nvSpPr>
          <p:cNvPr id="58" name="Shape 55"/>
          <p:cNvSpPr/>
          <p:nvPr/>
        </p:nvSpPr>
        <p:spPr>
          <a:xfrm>
            <a:off x="8183880" y="2606040"/>
            <a:ext cx="3474720" cy="594360"/>
          </a:xfrm>
          <a:prstGeom prst="rect">
            <a:avLst/>
          </a:prstGeom>
          <a:solidFill>
            <a:srgbClr val="FBFCFD"/>
          </a:solidFill>
          <a:ln w="6350">
            <a:solidFill>
              <a:srgbClr val="E3E0E8"/>
            </a:solidFill>
            <a:prstDash val="solid"/>
          </a:ln>
        </p:spPr>
        <p:txBody>
          <a:bodyPr/>
          <a:lstStyle/>
          <a:p>
            <a:endParaRPr/>
          </a:p>
        </p:txBody>
      </p:sp>
      <p:sp>
        <p:nvSpPr>
          <p:cNvPr id="59" name="Text 56"/>
          <p:cNvSpPr/>
          <p:nvPr/>
        </p:nvSpPr>
        <p:spPr>
          <a:xfrm>
            <a:off x="8275320" y="260604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Partners email you for the URL</a:t>
            </a:r>
            <a:endParaRPr lang="en-US" sz="1200" dirty="0"/>
          </a:p>
        </p:txBody>
      </p:sp>
      <p:sp>
        <p:nvSpPr>
          <p:cNvPr id="60" name="Shape 57"/>
          <p:cNvSpPr/>
          <p:nvPr/>
        </p:nvSpPr>
        <p:spPr>
          <a:xfrm>
            <a:off x="502920" y="3200400"/>
            <a:ext cx="1737360" cy="594360"/>
          </a:xfrm>
          <a:prstGeom prst="rect">
            <a:avLst/>
          </a:prstGeom>
          <a:solidFill>
            <a:srgbClr val="FFFFFF"/>
          </a:solidFill>
          <a:ln w="6350">
            <a:solidFill>
              <a:srgbClr val="E3E0E8"/>
            </a:solidFill>
            <a:prstDash val="solid"/>
          </a:ln>
        </p:spPr>
        <p:txBody>
          <a:bodyPr/>
          <a:lstStyle/>
          <a:p>
            <a:endParaRPr/>
          </a:p>
        </p:txBody>
      </p:sp>
      <p:sp>
        <p:nvSpPr>
          <p:cNvPr id="61" name="Text 58"/>
          <p:cNvSpPr/>
          <p:nvPr/>
        </p:nvSpPr>
        <p:spPr>
          <a:xfrm>
            <a:off x="594360" y="320040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Secure</a:t>
            </a:r>
            <a:endParaRPr lang="en-US" sz="1200" dirty="0"/>
          </a:p>
        </p:txBody>
      </p:sp>
      <p:sp>
        <p:nvSpPr>
          <p:cNvPr id="62" name="Shape 59"/>
          <p:cNvSpPr/>
          <p:nvPr/>
        </p:nvSpPr>
        <p:spPr>
          <a:xfrm>
            <a:off x="2240280" y="3200400"/>
            <a:ext cx="3657600" cy="594360"/>
          </a:xfrm>
          <a:prstGeom prst="rect">
            <a:avLst/>
          </a:prstGeom>
          <a:solidFill>
            <a:srgbClr val="FFFFFF"/>
          </a:solidFill>
          <a:ln w="6350">
            <a:solidFill>
              <a:srgbClr val="E3E0E8"/>
            </a:solidFill>
            <a:prstDash val="solid"/>
          </a:ln>
        </p:spPr>
        <p:txBody>
          <a:bodyPr/>
          <a:lstStyle/>
          <a:p>
            <a:endParaRPr/>
          </a:p>
        </p:txBody>
      </p:sp>
      <p:sp>
        <p:nvSpPr>
          <p:cNvPr id="63" name="Text 60"/>
          <p:cNvSpPr/>
          <p:nvPr/>
        </p:nvSpPr>
        <p:spPr>
          <a:xfrm>
            <a:off x="2331720" y="320040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Identity token, scopes, rate limit per caller</a:t>
            </a:r>
            <a:endParaRPr lang="en-US" sz="1200" dirty="0"/>
          </a:p>
        </p:txBody>
      </p:sp>
      <p:sp>
        <p:nvSpPr>
          <p:cNvPr id="64" name="Shape 61"/>
          <p:cNvSpPr/>
          <p:nvPr/>
        </p:nvSpPr>
        <p:spPr>
          <a:xfrm>
            <a:off x="5897880" y="3200400"/>
            <a:ext cx="2286000" cy="594360"/>
          </a:xfrm>
          <a:prstGeom prst="rect">
            <a:avLst/>
          </a:prstGeom>
          <a:solidFill>
            <a:srgbClr val="FFFFFF"/>
          </a:solidFill>
          <a:ln w="6350">
            <a:solidFill>
              <a:srgbClr val="E3E0E8"/>
            </a:solidFill>
            <a:prstDash val="solid"/>
          </a:ln>
        </p:spPr>
        <p:txBody>
          <a:bodyPr/>
          <a:lstStyle/>
          <a:p>
            <a:endParaRPr/>
          </a:p>
        </p:txBody>
      </p:sp>
      <p:sp>
        <p:nvSpPr>
          <p:cNvPr id="65" name="Text 62"/>
          <p:cNvSpPr/>
          <p:nvPr/>
        </p:nvSpPr>
        <p:spPr>
          <a:xfrm>
            <a:off x="5989320" y="320040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Security + platform</a:t>
            </a:r>
            <a:endParaRPr lang="en-US" sz="1200" dirty="0"/>
          </a:p>
        </p:txBody>
      </p:sp>
      <p:sp>
        <p:nvSpPr>
          <p:cNvPr id="66" name="Shape 63"/>
          <p:cNvSpPr/>
          <p:nvPr/>
        </p:nvSpPr>
        <p:spPr>
          <a:xfrm>
            <a:off x="8183880" y="3200400"/>
            <a:ext cx="347472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8275320" y="320040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caller can take down everyone</a:t>
            </a:r>
            <a:endParaRPr lang="en-US" sz="1200" dirty="0"/>
          </a:p>
        </p:txBody>
      </p:sp>
      <p:sp>
        <p:nvSpPr>
          <p:cNvPr id="68" name="Shape 65"/>
          <p:cNvSpPr/>
          <p:nvPr/>
        </p:nvSpPr>
        <p:spPr>
          <a:xfrm>
            <a:off x="502920" y="3794760"/>
            <a:ext cx="1737360" cy="594360"/>
          </a:xfrm>
          <a:prstGeom prst="rect">
            <a:avLst/>
          </a:prstGeom>
          <a:solidFill>
            <a:srgbClr val="FBFCFD"/>
          </a:solidFill>
          <a:ln w="6350">
            <a:solidFill>
              <a:srgbClr val="E3E0E8"/>
            </a:solidFill>
            <a:prstDash val="solid"/>
          </a:ln>
        </p:spPr>
        <p:txBody>
          <a:bodyPr/>
          <a:lstStyle/>
          <a:p>
            <a:endParaRPr/>
          </a:p>
        </p:txBody>
      </p:sp>
      <p:sp>
        <p:nvSpPr>
          <p:cNvPr id="69" name="Text 66"/>
          <p:cNvSpPr/>
          <p:nvPr/>
        </p:nvSpPr>
        <p:spPr>
          <a:xfrm>
            <a:off x="594360" y="379476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Observe</a:t>
            </a:r>
            <a:endParaRPr lang="en-US" sz="1200" dirty="0"/>
          </a:p>
        </p:txBody>
      </p:sp>
      <p:sp>
        <p:nvSpPr>
          <p:cNvPr id="70" name="Shape 67"/>
          <p:cNvSpPr/>
          <p:nvPr/>
        </p:nvSpPr>
        <p:spPr>
          <a:xfrm>
            <a:off x="2240280" y="3794760"/>
            <a:ext cx="3657600" cy="594360"/>
          </a:xfrm>
          <a:prstGeom prst="rect">
            <a:avLst/>
          </a:prstGeom>
          <a:solidFill>
            <a:srgbClr val="FBFCFD"/>
          </a:solidFill>
          <a:ln w="6350">
            <a:solidFill>
              <a:srgbClr val="E3E0E8"/>
            </a:solidFill>
            <a:prstDash val="solid"/>
          </a:ln>
        </p:spPr>
        <p:txBody>
          <a:bodyPr/>
          <a:lstStyle/>
          <a:p>
            <a:endParaRPr/>
          </a:p>
        </p:txBody>
      </p:sp>
      <p:sp>
        <p:nvSpPr>
          <p:cNvPr id="71" name="Text 68"/>
          <p:cNvSpPr/>
          <p:nvPr/>
        </p:nvSpPr>
        <p:spPr>
          <a:xfrm>
            <a:off x="2331720" y="379476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Calls, errors and p95 per caller, not just totals</a:t>
            </a:r>
            <a:endParaRPr lang="en-US" sz="1200" dirty="0"/>
          </a:p>
        </p:txBody>
      </p:sp>
      <p:sp>
        <p:nvSpPr>
          <p:cNvPr id="72" name="Shape 69"/>
          <p:cNvSpPr/>
          <p:nvPr/>
        </p:nvSpPr>
        <p:spPr>
          <a:xfrm>
            <a:off x="5897880" y="3794760"/>
            <a:ext cx="228600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89320" y="379476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Owning team</a:t>
            </a:r>
            <a:endParaRPr lang="en-US" sz="1200" dirty="0"/>
          </a:p>
        </p:txBody>
      </p:sp>
      <p:sp>
        <p:nvSpPr>
          <p:cNvPr id="74" name="Shape 71"/>
          <p:cNvSpPr/>
          <p:nvPr/>
        </p:nvSpPr>
        <p:spPr>
          <a:xfrm>
            <a:off x="8183880" y="3794760"/>
            <a:ext cx="347472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8275320" y="379476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learn about outages from Twitter</a:t>
            </a:r>
            <a:endParaRPr lang="en-US" sz="1200" dirty="0"/>
          </a:p>
        </p:txBody>
      </p:sp>
      <p:sp>
        <p:nvSpPr>
          <p:cNvPr id="76" name="Shape 73"/>
          <p:cNvSpPr/>
          <p:nvPr/>
        </p:nvSpPr>
        <p:spPr>
          <a:xfrm>
            <a:off x="502920" y="4389120"/>
            <a:ext cx="1737360" cy="594360"/>
          </a:xfrm>
          <a:prstGeom prst="rect">
            <a:avLst/>
          </a:prstGeom>
          <a:solidFill>
            <a:srgbClr val="FFFFFF"/>
          </a:solidFill>
          <a:ln w="6350">
            <a:solidFill>
              <a:srgbClr val="E3E0E8"/>
            </a:solidFill>
            <a:prstDash val="solid"/>
          </a:ln>
        </p:spPr>
        <p:txBody>
          <a:bodyPr/>
          <a:lstStyle/>
          <a:p>
            <a:endParaRPr/>
          </a:p>
        </p:txBody>
      </p:sp>
      <p:sp>
        <p:nvSpPr>
          <p:cNvPr id="77" name="Text 74"/>
          <p:cNvSpPr/>
          <p:nvPr/>
        </p:nvSpPr>
        <p:spPr>
          <a:xfrm>
            <a:off x="594360" y="438912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Version</a:t>
            </a:r>
            <a:endParaRPr lang="en-US" sz="1200" dirty="0"/>
          </a:p>
        </p:txBody>
      </p:sp>
      <p:sp>
        <p:nvSpPr>
          <p:cNvPr id="78" name="Shape 75"/>
          <p:cNvSpPr/>
          <p:nvPr/>
        </p:nvSpPr>
        <p:spPr>
          <a:xfrm>
            <a:off x="2240280" y="4389120"/>
            <a:ext cx="3657600" cy="594360"/>
          </a:xfrm>
          <a:prstGeom prst="rect">
            <a:avLst/>
          </a:prstGeom>
          <a:solidFill>
            <a:srgbClr val="FFFFFF"/>
          </a:solidFill>
          <a:ln w="6350">
            <a:solidFill>
              <a:srgbClr val="E3E0E8"/>
            </a:solidFill>
            <a:prstDash val="solid"/>
          </a:ln>
        </p:spPr>
        <p:txBody>
          <a:bodyPr/>
          <a:lstStyle/>
          <a:p>
            <a:endParaRPr/>
          </a:p>
        </p:txBody>
      </p:sp>
      <p:sp>
        <p:nvSpPr>
          <p:cNvPr id="79" name="Text 76"/>
          <p:cNvSpPr/>
          <p:nvPr/>
        </p:nvSpPr>
        <p:spPr>
          <a:xfrm>
            <a:off x="2331720" y="438912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v1 and v2 live together; v1 has an end date</a:t>
            </a:r>
            <a:endParaRPr lang="en-US" sz="1200" dirty="0"/>
          </a:p>
        </p:txBody>
      </p:sp>
      <p:sp>
        <p:nvSpPr>
          <p:cNvPr id="80" name="Shape 77"/>
          <p:cNvSpPr/>
          <p:nvPr/>
        </p:nvSpPr>
        <p:spPr>
          <a:xfrm>
            <a:off x="5897880" y="4389120"/>
            <a:ext cx="2286000" cy="594360"/>
          </a:xfrm>
          <a:prstGeom prst="rect">
            <a:avLst/>
          </a:prstGeom>
          <a:solidFill>
            <a:srgbClr val="FFFFFF"/>
          </a:solidFill>
          <a:ln w="6350">
            <a:solidFill>
              <a:srgbClr val="E3E0E8"/>
            </a:solidFill>
            <a:prstDash val="solid"/>
          </a:ln>
        </p:spPr>
        <p:txBody>
          <a:bodyPr/>
          <a:lstStyle/>
          <a:p>
            <a:endParaRPr/>
          </a:p>
        </p:txBody>
      </p:sp>
      <p:sp>
        <p:nvSpPr>
          <p:cNvPr id="81" name="Text 78"/>
          <p:cNvSpPr/>
          <p:nvPr/>
        </p:nvSpPr>
        <p:spPr>
          <a:xfrm>
            <a:off x="5989320" y="438912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Owning team</a:t>
            </a:r>
            <a:endParaRPr lang="en-US" sz="1200" dirty="0"/>
          </a:p>
        </p:txBody>
      </p:sp>
      <p:sp>
        <p:nvSpPr>
          <p:cNvPr id="82" name="Shape 79"/>
          <p:cNvSpPr/>
          <p:nvPr/>
        </p:nvSpPr>
        <p:spPr>
          <a:xfrm>
            <a:off x="8183880" y="4389120"/>
            <a:ext cx="3474720" cy="594360"/>
          </a:xfrm>
          <a:prstGeom prst="rect">
            <a:avLst/>
          </a:prstGeom>
          <a:solidFill>
            <a:srgbClr val="FFFFFF"/>
          </a:solidFill>
          <a:ln w="6350">
            <a:solidFill>
              <a:srgbClr val="E3E0E8"/>
            </a:solidFill>
            <a:prstDash val="solid"/>
          </a:ln>
        </p:spPr>
        <p:txBody>
          <a:bodyPr/>
          <a:lstStyle/>
          <a:p>
            <a:endParaRPr/>
          </a:p>
        </p:txBody>
      </p:sp>
      <p:sp>
        <p:nvSpPr>
          <p:cNvPr id="83" name="Text 80"/>
          <p:cNvSpPr/>
          <p:nvPr/>
        </p:nvSpPr>
        <p:spPr>
          <a:xfrm>
            <a:off x="8275320" y="438912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can never change anything safely</a:t>
            </a:r>
            <a:endParaRPr lang="en-US" sz="1200" dirty="0"/>
          </a:p>
        </p:txBody>
      </p:sp>
      <p:sp>
        <p:nvSpPr>
          <p:cNvPr id="84" name="Shape 81"/>
          <p:cNvSpPr/>
          <p:nvPr/>
        </p:nvSpPr>
        <p:spPr>
          <a:xfrm>
            <a:off x="502920" y="4983480"/>
            <a:ext cx="1737360" cy="594360"/>
          </a:xfrm>
          <a:prstGeom prst="rect">
            <a:avLst/>
          </a:prstGeom>
          <a:solidFill>
            <a:srgbClr val="FBFCFD"/>
          </a:solidFill>
          <a:ln w="6350">
            <a:solidFill>
              <a:srgbClr val="E3E0E8"/>
            </a:solidFill>
            <a:prstDash val="solid"/>
          </a:ln>
        </p:spPr>
        <p:txBody>
          <a:bodyPr/>
          <a:lstStyle/>
          <a:p>
            <a:endParaRPr/>
          </a:p>
        </p:txBody>
      </p:sp>
      <p:sp>
        <p:nvSpPr>
          <p:cNvPr id="85" name="Text 82"/>
          <p:cNvSpPr/>
          <p:nvPr/>
        </p:nvSpPr>
        <p:spPr>
          <a:xfrm>
            <a:off x="594360" y="4983480"/>
            <a:ext cx="155448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Retire</a:t>
            </a:r>
            <a:endParaRPr lang="en-US" sz="1200" dirty="0"/>
          </a:p>
        </p:txBody>
      </p:sp>
      <p:sp>
        <p:nvSpPr>
          <p:cNvPr id="86" name="Shape 83"/>
          <p:cNvSpPr/>
          <p:nvPr/>
        </p:nvSpPr>
        <p:spPr>
          <a:xfrm>
            <a:off x="2240280" y="4983480"/>
            <a:ext cx="3657600" cy="594360"/>
          </a:xfrm>
          <a:prstGeom prst="rect">
            <a:avLst/>
          </a:prstGeom>
          <a:solidFill>
            <a:srgbClr val="FBFCFD"/>
          </a:solidFill>
          <a:ln w="6350">
            <a:solidFill>
              <a:srgbClr val="E3E0E8"/>
            </a:solidFill>
            <a:prstDash val="solid"/>
          </a:ln>
        </p:spPr>
        <p:txBody>
          <a:bodyPr/>
          <a:lstStyle/>
          <a:p>
            <a:endParaRPr/>
          </a:p>
        </p:txBody>
      </p:sp>
      <p:sp>
        <p:nvSpPr>
          <p:cNvPr id="87" name="Text 84"/>
          <p:cNvSpPr/>
          <p:nvPr/>
        </p:nvSpPr>
        <p:spPr>
          <a:xfrm>
            <a:off x="2331720" y="4983480"/>
            <a:ext cx="34747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Announce, warn, measure who still calls, then switch off</a:t>
            </a:r>
            <a:endParaRPr lang="en-US" sz="1200" dirty="0"/>
          </a:p>
        </p:txBody>
      </p:sp>
      <p:sp>
        <p:nvSpPr>
          <p:cNvPr id="88" name="Shape 85"/>
          <p:cNvSpPr/>
          <p:nvPr/>
        </p:nvSpPr>
        <p:spPr>
          <a:xfrm>
            <a:off x="5897880" y="4983480"/>
            <a:ext cx="2286000" cy="594360"/>
          </a:xfrm>
          <a:prstGeom prst="rect">
            <a:avLst/>
          </a:prstGeom>
          <a:solidFill>
            <a:srgbClr val="FBFCFD"/>
          </a:solidFill>
          <a:ln w="6350">
            <a:solidFill>
              <a:srgbClr val="E3E0E8"/>
            </a:solidFill>
            <a:prstDash val="solid"/>
          </a:ln>
        </p:spPr>
        <p:txBody>
          <a:bodyPr/>
          <a:lstStyle/>
          <a:p>
            <a:endParaRPr/>
          </a:p>
        </p:txBody>
      </p:sp>
      <p:sp>
        <p:nvSpPr>
          <p:cNvPr id="89" name="Text 86"/>
          <p:cNvSpPr/>
          <p:nvPr/>
        </p:nvSpPr>
        <p:spPr>
          <a:xfrm>
            <a:off x="5989320" y="4983480"/>
            <a:ext cx="21031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Owning team</a:t>
            </a:r>
            <a:endParaRPr lang="en-US" sz="1200" dirty="0"/>
          </a:p>
        </p:txBody>
      </p:sp>
      <p:sp>
        <p:nvSpPr>
          <p:cNvPr id="90" name="Shape 87"/>
          <p:cNvSpPr/>
          <p:nvPr/>
        </p:nvSpPr>
        <p:spPr>
          <a:xfrm>
            <a:off x="8183880" y="4983480"/>
            <a:ext cx="3474720" cy="594360"/>
          </a:xfrm>
          <a:prstGeom prst="rect">
            <a:avLst/>
          </a:prstGeom>
          <a:solidFill>
            <a:srgbClr val="FBFCFD"/>
          </a:solidFill>
          <a:ln w="6350">
            <a:solidFill>
              <a:srgbClr val="E3E0E8"/>
            </a:solidFill>
            <a:prstDash val="solid"/>
          </a:ln>
        </p:spPr>
        <p:txBody>
          <a:bodyPr/>
          <a:lstStyle/>
          <a:p>
            <a:endParaRPr/>
          </a:p>
        </p:txBody>
      </p:sp>
      <p:sp>
        <p:nvSpPr>
          <p:cNvPr id="91" name="Text 88"/>
          <p:cNvSpPr/>
          <p:nvPr/>
        </p:nvSpPr>
        <p:spPr>
          <a:xfrm>
            <a:off x="8275320" y="4983480"/>
            <a:ext cx="32918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You support v1 forever, for free</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Real case 3    the shopper was charged twice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One missing header caused a refund campaign and a bad news story.</a:t>
            </a:r>
            <a:endParaRPr lang="en-US" sz="1300" dirty="0"/>
          </a:p>
        </p:txBody>
      </p:sp>
      <p:sp>
        <p:nvSpPr>
          <p:cNvPr id="27" name="Shape 25"/>
          <p:cNvSpPr/>
          <p:nvPr/>
        </p:nvSpPr>
        <p:spPr>
          <a:xfrm>
            <a:off x="9585655" y="256032"/>
            <a:ext cx="2148840" cy="347472"/>
          </a:xfrm>
          <a:prstGeom prst="roundRect">
            <a:avLst>
              <a:gd name="adj" fmla="val 50000"/>
            </a:avLst>
          </a:prstGeom>
          <a:solidFill>
            <a:srgbClr val="0F1A2E"/>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CASE STUDY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73</a:t>
            </a:r>
            <a:endParaRPr lang="en-US" sz="1000" dirty="0"/>
          </a:p>
        </p:txBody>
      </p:sp>
      <p:sp>
        <p:nvSpPr>
          <p:cNvPr id="36" name="Shape 33"/>
          <p:cNvSpPr/>
          <p:nvPr/>
        </p:nvSpPr>
        <p:spPr>
          <a:xfrm>
            <a:off x="502920" y="1417320"/>
            <a:ext cx="11185855" cy="868680"/>
          </a:xfrm>
          <a:prstGeom prst="roundRect">
            <a:avLst>
              <a:gd name="adj" fmla="val 10526"/>
            </a:avLst>
          </a:prstGeom>
          <a:solidFill>
            <a:srgbClr val="0F1A2E"/>
          </a:solidFill>
          <a:ln/>
        </p:spPr>
        <p:txBody>
          <a:bodyPr/>
          <a:lstStyle/>
          <a:p>
            <a:endParaRPr/>
          </a:p>
        </p:txBody>
      </p:sp>
      <p:sp>
        <p:nvSpPr>
          <p:cNvPr id="37" name="Text 34"/>
          <p:cNvSpPr/>
          <p:nvPr/>
        </p:nvSpPr>
        <p:spPr>
          <a:xfrm>
            <a:off x="685800" y="1417320"/>
            <a:ext cx="548640" cy="868680"/>
          </a:xfrm>
          <a:prstGeom prst="rect">
            <a:avLst/>
          </a:prstGeom>
          <a:noFill/>
          <a:ln/>
        </p:spPr>
        <p:txBody>
          <a:bodyPr wrap="square" rtlCol="0" anchor="ctr"/>
          <a:lstStyle/>
          <a:p>
            <a:pPr marL="0" indent="0" algn="ctr">
              <a:buNone/>
            </a:pPr>
            <a:r>
              <a:rPr lang="en-US" sz="2400" dirty="0">
                <a:solidFill>
                  <a:srgbClr val="F5C239"/>
                </a:solidFill>
                <a:latin typeface="Segoe UI Symbol" pitchFamily="34" charset="0"/>
                <a:ea typeface="Segoe UI Symbol" pitchFamily="34" charset="-122"/>
                <a:cs typeface="Segoe UI Symbol" pitchFamily="34" charset="-120"/>
              </a:rPr>
              <a:t>⚠</a:t>
            </a:r>
            <a:endParaRPr lang="en-US" sz="2400" dirty="0"/>
          </a:p>
        </p:txBody>
      </p:sp>
      <p:sp>
        <p:nvSpPr>
          <p:cNvPr id="38" name="Text 35"/>
          <p:cNvSpPr/>
          <p:nvPr/>
        </p:nvSpPr>
        <p:spPr>
          <a:xfrm>
            <a:off x="1325880" y="1417320"/>
            <a:ext cx="10180015" cy="868680"/>
          </a:xfrm>
          <a:prstGeom prst="rect">
            <a:avLst/>
          </a:prstGeom>
          <a:noFill/>
          <a:ln/>
        </p:spPr>
        <p:txBody>
          <a:bodyPr wrap="square" rtlCol="0" anchor="ctr"/>
          <a:lstStyle/>
          <a:p>
            <a:pPr marL="0" indent="0">
              <a:lnSpc>
                <a:spcPct val="115000"/>
              </a:lnSpc>
              <a:buNone/>
            </a:pPr>
            <a:r>
              <a:rPr lang="en-US" sz="1300" b="1" kern="0" spc="200" dirty="0">
                <a:solidFill>
                  <a:srgbClr val="F5C239"/>
                </a:solidFill>
                <a:latin typeface="Segoe UI" pitchFamily="34" charset="0"/>
                <a:ea typeface="Segoe UI" pitchFamily="34" charset="-122"/>
                <a:cs typeface="Segoe UI" pitchFamily="34" charset="-120"/>
              </a:rPr>
              <a:t>Scenario:  </a:t>
            </a:r>
            <a:r>
              <a:rPr lang="en-US" sz="1300" dirty="0">
                <a:solidFill>
                  <a:srgbClr val="FFFFFF"/>
                </a:solidFill>
                <a:latin typeface="Segoe UI" pitchFamily="34" charset="0"/>
                <a:ea typeface="Segoe UI" pitchFamily="34" charset="-122"/>
                <a:cs typeface="Segoe UI" pitchFamily="34" charset="-120"/>
              </a:rPr>
              <a:t>Checkout called POST /charge with no idempotency key. The first call was slow, so the shopper clicked Pay again. The bank charged the card twice.</a:t>
            </a:r>
            <a:endParaRPr lang="en-US" sz="1300" dirty="0"/>
          </a:p>
        </p:txBody>
      </p:sp>
      <p:sp>
        <p:nvSpPr>
          <p:cNvPr id="39" name="Shape 36"/>
          <p:cNvSpPr/>
          <p:nvPr/>
        </p:nvSpPr>
        <p:spPr>
          <a:xfrm>
            <a:off x="502920"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0" name="Shape 37"/>
          <p:cNvSpPr/>
          <p:nvPr/>
        </p:nvSpPr>
        <p:spPr>
          <a:xfrm>
            <a:off x="1505674" y="2715768"/>
            <a:ext cx="594360" cy="594360"/>
          </a:xfrm>
          <a:prstGeom prst="ellipse">
            <a:avLst/>
          </a:prstGeom>
          <a:solidFill>
            <a:srgbClr val="E4F5F3"/>
          </a:solidFill>
          <a:ln w="12700">
            <a:solidFill>
              <a:srgbClr val="43BFB8"/>
            </a:solidFill>
            <a:prstDash val="solid"/>
          </a:ln>
        </p:spPr>
        <p:txBody>
          <a:bodyPr/>
          <a:lstStyle/>
          <a:p>
            <a:endParaRPr/>
          </a:p>
        </p:txBody>
      </p:sp>
      <p:sp>
        <p:nvSpPr>
          <p:cNvPr id="41" name="Text 38"/>
          <p:cNvSpPr/>
          <p:nvPr/>
        </p:nvSpPr>
        <p:spPr>
          <a:xfrm>
            <a:off x="1505674" y="2715768"/>
            <a:ext cx="594360" cy="594360"/>
          </a:xfrm>
          <a:prstGeom prst="rect">
            <a:avLst/>
          </a:prstGeom>
          <a:noFill/>
          <a:ln/>
        </p:spPr>
        <p:txBody>
          <a:bodyPr wrap="square" rtlCol="0" anchor="ctr"/>
          <a:lstStyle/>
          <a:p>
            <a:pPr marL="0" indent="0" algn="ctr">
              <a:buNone/>
            </a:pPr>
            <a:r>
              <a:rPr lang="en-US" sz="2000" b="1" dirty="0">
                <a:solidFill>
                  <a:srgbClr val="43BFB8"/>
                </a:solidFill>
                <a:latin typeface="Segoe UI Symbol" pitchFamily="34" charset="0"/>
                <a:ea typeface="Segoe UI Symbol" pitchFamily="34" charset="-122"/>
                <a:cs typeface="Segoe UI Symbol" pitchFamily="34" charset="-120"/>
              </a:rPr>
              <a:t>👁</a:t>
            </a:r>
            <a:endParaRPr lang="en-US" sz="2000" dirty="0"/>
          </a:p>
        </p:txBody>
      </p:sp>
      <p:sp>
        <p:nvSpPr>
          <p:cNvPr id="42" name="Text 39"/>
          <p:cNvSpPr/>
          <p:nvPr/>
        </p:nvSpPr>
        <p:spPr>
          <a:xfrm>
            <a:off x="502920" y="3383280"/>
            <a:ext cx="2590724" cy="365760"/>
          </a:xfrm>
          <a:prstGeom prst="rect">
            <a:avLst/>
          </a:prstGeom>
          <a:noFill/>
          <a:ln/>
        </p:spPr>
        <p:txBody>
          <a:bodyPr wrap="square" rtlCol="0" anchor="ctr"/>
          <a:lstStyle/>
          <a:p>
            <a:pPr marL="0" indent="0" algn="ctr">
              <a:buNone/>
            </a:pPr>
            <a:r>
              <a:rPr lang="en-US" sz="1400" b="1" kern="0" spc="100" dirty="0">
                <a:solidFill>
                  <a:srgbClr val="43BFB8"/>
                </a:solidFill>
                <a:latin typeface="Segoe UI" pitchFamily="34" charset="0"/>
                <a:ea typeface="Segoe UI" pitchFamily="34" charset="-122"/>
                <a:cs typeface="Segoe UI" pitchFamily="34" charset="-120"/>
              </a:rPr>
              <a:t>See</a:t>
            </a:r>
            <a:endParaRPr lang="en-US" sz="1400" dirty="0"/>
          </a:p>
        </p:txBody>
      </p:sp>
      <p:sp>
        <p:nvSpPr>
          <p:cNvPr id="43" name="Text 40"/>
          <p:cNvSpPr/>
          <p:nvPr/>
        </p:nvSpPr>
        <p:spPr>
          <a:xfrm>
            <a:off x="685800"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A money request was retried and treated as a brand new request.</a:t>
            </a:r>
            <a:endParaRPr lang="en-US" sz="1200" dirty="0"/>
          </a:p>
        </p:txBody>
      </p:sp>
      <p:sp>
        <p:nvSpPr>
          <p:cNvPr id="44" name="Shape 41"/>
          <p:cNvSpPr/>
          <p:nvPr/>
        </p:nvSpPr>
        <p:spPr>
          <a:xfrm>
            <a:off x="3367964"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5" name="Shape 42"/>
          <p:cNvSpPr/>
          <p:nvPr/>
        </p:nvSpPr>
        <p:spPr>
          <a:xfrm>
            <a:off x="4370718" y="2715768"/>
            <a:ext cx="594360" cy="594360"/>
          </a:xfrm>
          <a:prstGeom prst="ellipse">
            <a:avLst/>
          </a:prstGeom>
          <a:solidFill>
            <a:srgbClr val="FDECDF"/>
          </a:solidFill>
          <a:ln w="12700">
            <a:solidFill>
              <a:srgbClr val="E76F30"/>
            </a:solidFill>
            <a:prstDash val="solid"/>
          </a:ln>
        </p:spPr>
        <p:txBody>
          <a:bodyPr/>
          <a:lstStyle/>
          <a:p>
            <a:endParaRPr/>
          </a:p>
        </p:txBody>
      </p:sp>
      <p:sp>
        <p:nvSpPr>
          <p:cNvPr id="46" name="Text 43"/>
          <p:cNvSpPr/>
          <p:nvPr/>
        </p:nvSpPr>
        <p:spPr>
          <a:xfrm>
            <a:off x="4370718" y="2715768"/>
            <a:ext cx="594360" cy="594360"/>
          </a:xfrm>
          <a:prstGeom prst="rect">
            <a:avLst/>
          </a:prstGeom>
          <a:noFill/>
          <a:ln/>
        </p:spPr>
        <p:txBody>
          <a:bodyPr wrap="square" rtlCol="0" anchor="ctr"/>
          <a:lstStyle/>
          <a:p>
            <a:pPr marL="0" indent="0" algn="ctr">
              <a:buNone/>
            </a:pPr>
            <a:r>
              <a:rPr lang="en-US" sz="2000" b="1" dirty="0">
                <a:solidFill>
                  <a:srgbClr val="E76F30"/>
                </a:solidFill>
                <a:latin typeface="Segoe UI Symbol" pitchFamily="34" charset="0"/>
                <a:ea typeface="Segoe UI Symbol" pitchFamily="34" charset="-122"/>
                <a:cs typeface="Segoe UI Symbol" pitchFamily="34" charset="-120"/>
              </a:rPr>
              <a:t>🎯</a:t>
            </a:r>
            <a:endParaRPr lang="en-US" sz="2000" dirty="0"/>
          </a:p>
        </p:txBody>
      </p:sp>
      <p:sp>
        <p:nvSpPr>
          <p:cNvPr id="47" name="Text 44"/>
          <p:cNvSpPr/>
          <p:nvPr/>
        </p:nvSpPr>
        <p:spPr>
          <a:xfrm>
            <a:off x="3367964" y="3383280"/>
            <a:ext cx="2590724" cy="365760"/>
          </a:xfrm>
          <a:prstGeom prst="rect">
            <a:avLst/>
          </a:prstGeom>
          <a:noFill/>
          <a:ln/>
        </p:spPr>
        <p:txBody>
          <a:bodyPr wrap="square" rtlCol="0" anchor="ctr"/>
          <a:lstStyle/>
          <a:p>
            <a:pPr marL="0" indent="0" algn="ctr">
              <a:buNone/>
            </a:pPr>
            <a:r>
              <a:rPr lang="en-US" sz="1400" b="1" kern="0" spc="100" dirty="0">
                <a:solidFill>
                  <a:srgbClr val="E76F30"/>
                </a:solidFill>
                <a:latin typeface="Segoe UI" pitchFamily="34" charset="0"/>
                <a:ea typeface="Segoe UI" pitchFamily="34" charset="-122"/>
                <a:cs typeface="Segoe UI" pitchFamily="34" charset="-120"/>
              </a:rPr>
              <a:t>Name</a:t>
            </a:r>
            <a:endParaRPr lang="en-US" sz="1400" dirty="0"/>
          </a:p>
        </p:txBody>
      </p:sp>
      <p:sp>
        <p:nvSpPr>
          <p:cNvPr id="48" name="Text 45"/>
          <p:cNvSpPr/>
          <p:nvPr/>
        </p:nvSpPr>
        <p:spPr>
          <a:xfrm>
            <a:off x="3550844"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Missing idempotency: the same logical payment must always produce the same result.</a:t>
            </a:r>
            <a:endParaRPr lang="en-US" sz="1200" dirty="0"/>
          </a:p>
        </p:txBody>
      </p:sp>
      <p:sp>
        <p:nvSpPr>
          <p:cNvPr id="49" name="Shape 46"/>
          <p:cNvSpPr/>
          <p:nvPr/>
        </p:nvSpPr>
        <p:spPr>
          <a:xfrm>
            <a:off x="6233008"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0" name="Shape 47"/>
          <p:cNvSpPr/>
          <p:nvPr/>
        </p:nvSpPr>
        <p:spPr>
          <a:xfrm>
            <a:off x="7235761" y="2715768"/>
            <a:ext cx="594360" cy="594360"/>
          </a:xfrm>
          <a:prstGeom prst="ellipse">
            <a:avLst/>
          </a:prstGeom>
          <a:solidFill>
            <a:srgbClr val="E1F5EC"/>
          </a:solidFill>
          <a:ln w="12700">
            <a:solidFill>
              <a:srgbClr val="3EB489"/>
            </a:solidFill>
            <a:prstDash val="solid"/>
          </a:ln>
        </p:spPr>
        <p:txBody>
          <a:bodyPr/>
          <a:lstStyle/>
          <a:p>
            <a:endParaRPr/>
          </a:p>
        </p:txBody>
      </p:sp>
      <p:sp>
        <p:nvSpPr>
          <p:cNvPr id="51" name="Text 48"/>
          <p:cNvSpPr/>
          <p:nvPr/>
        </p:nvSpPr>
        <p:spPr>
          <a:xfrm>
            <a:off x="7235761" y="2715768"/>
            <a:ext cx="594360" cy="594360"/>
          </a:xfrm>
          <a:prstGeom prst="rect">
            <a:avLst/>
          </a:prstGeom>
          <a:noFill/>
          <a:ln/>
        </p:spPr>
        <p:txBody>
          <a:bodyPr wrap="square" rtlCol="0" anchor="ctr"/>
          <a:lstStyle/>
          <a:p>
            <a:pPr marL="0" indent="0" algn="ctr">
              <a:buNone/>
            </a:pPr>
            <a:r>
              <a:rPr lang="en-US" sz="2000" b="1" dirty="0">
                <a:solidFill>
                  <a:srgbClr val="3EB489"/>
                </a:solidFill>
                <a:latin typeface="Segoe UI Symbol" pitchFamily="34" charset="0"/>
                <a:ea typeface="Segoe UI Symbol" pitchFamily="34" charset="-122"/>
                <a:cs typeface="Segoe UI Symbol" pitchFamily="34" charset="-120"/>
              </a:rPr>
              <a:t>✓</a:t>
            </a:r>
            <a:endParaRPr lang="en-US" sz="2000" dirty="0"/>
          </a:p>
        </p:txBody>
      </p:sp>
      <p:sp>
        <p:nvSpPr>
          <p:cNvPr id="52" name="Text 49"/>
          <p:cNvSpPr/>
          <p:nvPr/>
        </p:nvSpPr>
        <p:spPr>
          <a:xfrm>
            <a:off x="6233008" y="3383280"/>
            <a:ext cx="2590724" cy="365760"/>
          </a:xfrm>
          <a:prstGeom prst="rect">
            <a:avLst/>
          </a:prstGeom>
          <a:noFill/>
          <a:ln/>
        </p:spPr>
        <p:txBody>
          <a:bodyPr wrap="square" rtlCol="0" anchor="ctr"/>
          <a:lstStyle/>
          <a:p>
            <a:pPr marL="0" indent="0" algn="ctr">
              <a:buNone/>
            </a:pPr>
            <a:r>
              <a:rPr lang="en-US" sz="1400" b="1" kern="0" spc="100" dirty="0">
                <a:solidFill>
                  <a:srgbClr val="3EB489"/>
                </a:solidFill>
                <a:latin typeface="Segoe UI" pitchFamily="34" charset="0"/>
                <a:ea typeface="Segoe UI" pitchFamily="34" charset="-122"/>
                <a:cs typeface="Segoe UI" pitchFamily="34" charset="-120"/>
              </a:rPr>
              <a:t>Do</a:t>
            </a:r>
            <a:endParaRPr lang="en-US" sz="1400" dirty="0"/>
          </a:p>
        </p:txBody>
      </p:sp>
      <p:sp>
        <p:nvSpPr>
          <p:cNvPr id="53" name="Text 50"/>
          <p:cNvSpPr/>
          <p:nvPr/>
        </p:nvSpPr>
        <p:spPr>
          <a:xfrm>
            <a:off x="6415888"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Client sends Idempotency-Key. The server stores the first result and returns it again for repeats.</a:t>
            </a:r>
            <a:endParaRPr lang="en-US" sz="1200" dirty="0"/>
          </a:p>
        </p:txBody>
      </p:sp>
      <p:sp>
        <p:nvSpPr>
          <p:cNvPr id="54" name="Shape 51"/>
          <p:cNvSpPr/>
          <p:nvPr/>
        </p:nvSpPr>
        <p:spPr>
          <a:xfrm>
            <a:off x="9098051"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5" name="Shape 52"/>
          <p:cNvSpPr/>
          <p:nvPr/>
        </p:nvSpPr>
        <p:spPr>
          <a:xfrm>
            <a:off x="10100805" y="2715768"/>
            <a:ext cx="594360" cy="594360"/>
          </a:xfrm>
          <a:prstGeom prst="ellipse">
            <a:avLst/>
          </a:prstGeom>
          <a:solidFill>
            <a:srgbClr val="FEE2E2"/>
          </a:solidFill>
          <a:ln w="12700">
            <a:solidFill>
              <a:srgbClr val="DC2626"/>
            </a:solidFill>
            <a:prstDash val="solid"/>
          </a:ln>
        </p:spPr>
        <p:txBody>
          <a:bodyPr/>
          <a:lstStyle/>
          <a:p>
            <a:endParaRPr/>
          </a:p>
        </p:txBody>
      </p:sp>
      <p:sp>
        <p:nvSpPr>
          <p:cNvPr id="56" name="Text 53"/>
          <p:cNvSpPr/>
          <p:nvPr/>
        </p:nvSpPr>
        <p:spPr>
          <a:xfrm>
            <a:off x="10100805" y="2715768"/>
            <a:ext cx="594360" cy="594360"/>
          </a:xfrm>
          <a:prstGeom prst="rect">
            <a:avLst/>
          </a:prstGeom>
          <a:noFill/>
          <a:ln/>
        </p:spPr>
        <p:txBody>
          <a:bodyPr wrap="square" rtlCol="0" anchor="ctr"/>
          <a:lstStyle/>
          <a:p>
            <a:pPr marL="0" indent="0" algn="ctr">
              <a:buNone/>
            </a:pPr>
            <a:r>
              <a:rPr lang="en-US" sz="2000" b="1" dirty="0">
                <a:solidFill>
                  <a:srgbClr val="DC2626"/>
                </a:solidFill>
                <a:latin typeface="Segoe UI Symbol" pitchFamily="34" charset="0"/>
                <a:ea typeface="Segoe UI Symbol" pitchFamily="34" charset="-122"/>
                <a:cs typeface="Segoe UI Symbol" pitchFamily="34" charset="-120"/>
              </a:rPr>
              <a:t>✕</a:t>
            </a:r>
            <a:endParaRPr lang="en-US" sz="2000" dirty="0"/>
          </a:p>
        </p:txBody>
      </p:sp>
      <p:sp>
        <p:nvSpPr>
          <p:cNvPr id="57" name="Text 54"/>
          <p:cNvSpPr/>
          <p:nvPr/>
        </p:nvSpPr>
        <p:spPr>
          <a:xfrm>
            <a:off x="9098051" y="3383280"/>
            <a:ext cx="2590724" cy="365760"/>
          </a:xfrm>
          <a:prstGeom prst="rect">
            <a:avLst/>
          </a:prstGeom>
          <a:noFill/>
          <a:ln/>
        </p:spPr>
        <p:txBody>
          <a:bodyPr wrap="square" rtlCol="0" anchor="ctr"/>
          <a:lstStyle/>
          <a:p>
            <a:pPr marL="0" indent="0" algn="ctr">
              <a:buNone/>
            </a:pPr>
            <a:r>
              <a:rPr lang="en-US" sz="1400" b="1" kern="0" spc="100" dirty="0">
                <a:solidFill>
                  <a:srgbClr val="DC2626"/>
                </a:solidFill>
                <a:latin typeface="Segoe UI" pitchFamily="34" charset="0"/>
                <a:ea typeface="Segoe UI" pitchFamily="34" charset="-122"/>
                <a:cs typeface="Segoe UI" pitchFamily="34" charset="-120"/>
              </a:rPr>
              <a:t>Avoid</a:t>
            </a:r>
            <a:endParaRPr lang="en-US" sz="1400" dirty="0"/>
          </a:p>
        </p:txBody>
      </p:sp>
      <p:sp>
        <p:nvSpPr>
          <p:cNvPr id="58" name="Text 55"/>
          <p:cNvSpPr/>
          <p:nvPr/>
        </p:nvSpPr>
        <p:spPr>
          <a:xfrm>
            <a:off x="9280931"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Telling shoppers not to click twice. People will always click twice.</a:t>
            </a:r>
            <a:endParaRPr lang="en-US" sz="1200" dirty="0"/>
          </a:p>
        </p:txBody>
      </p:sp>
      <p:sp>
        <p:nvSpPr>
          <p:cNvPr id="59" name="Shape 56"/>
          <p:cNvSpPr/>
          <p:nvPr/>
        </p:nvSpPr>
        <p:spPr>
          <a:xfrm>
            <a:off x="502920" y="5257800"/>
            <a:ext cx="11185855" cy="685800"/>
          </a:xfrm>
          <a:prstGeom prst="roundRect">
            <a:avLst>
              <a:gd name="adj" fmla="val 13333"/>
            </a:avLst>
          </a:prstGeom>
          <a:solidFill>
            <a:srgbClr val="E4F5F3"/>
          </a:solidFill>
          <a:ln/>
        </p:spPr>
        <p:txBody>
          <a:bodyPr/>
          <a:lstStyle/>
          <a:p>
            <a:endParaRPr/>
          </a:p>
        </p:txBody>
      </p:sp>
      <p:sp>
        <p:nvSpPr>
          <p:cNvPr id="60" name="Text 57"/>
          <p:cNvSpPr/>
          <p:nvPr/>
        </p:nvSpPr>
        <p:spPr>
          <a:xfrm>
            <a:off x="731520" y="5257800"/>
            <a:ext cx="10820095" cy="685800"/>
          </a:xfrm>
          <a:prstGeom prst="rect">
            <a:avLst/>
          </a:prstGeom>
          <a:noFill/>
          <a:ln/>
        </p:spPr>
        <p:txBody>
          <a:bodyPr wrap="square" rtlCol="0" anchor="ctr"/>
          <a:lstStyle/>
          <a:p>
            <a:pPr marL="0" indent="0">
              <a:buNone/>
            </a:pPr>
            <a:r>
              <a:rPr lang="en-US" sz="1300" b="1" kern="0" spc="200" dirty="0">
                <a:solidFill>
                  <a:srgbClr val="2F9992"/>
                </a:solidFill>
                <a:latin typeface="Segoe UI" pitchFamily="34" charset="0"/>
                <a:ea typeface="Segoe UI" pitchFamily="34" charset="-122"/>
                <a:cs typeface="Segoe UI" pitchFamily="34" charset="-120"/>
              </a:rPr>
              <a:t>Verify:  </a:t>
            </a:r>
            <a:r>
              <a:rPr lang="en-US" sz="1300" dirty="0">
                <a:solidFill>
                  <a:srgbClr val="24162A"/>
                </a:solidFill>
                <a:latin typeface="Segoe UI" pitchFamily="34" charset="0"/>
                <a:ea typeface="Segoe UI" pitchFamily="34" charset="-122"/>
                <a:cs typeface="Segoe UI" pitchFamily="34" charset="-120"/>
              </a:rPr>
              <a:t>The room can say: money endpoints need an idempotency key, and events need a unique key per order.</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Check your understanding</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Warehouse must start picking after payment succeeds. What should Checkout do?</a:t>
            </a:r>
            <a:endParaRPr lang="en-US" sz="1300" dirty="0"/>
          </a:p>
        </p:txBody>
      </p:sp>
      <p:sp>
        <p:nvSpPr>
          <p:cNvPr id="27" name="Shape 25"/>
          <p:cNvSpPr/>
          <p:nvPr/>
        </p:nvSpPr>
        <p:spPr>
          <a:xfrm>
            <a:off x="9585655" y="256032"/>
            <a:ext cx="2148840" cy="347472"/>
          </a:xfrm>
          <a:prstGeom prst="roundRect">
            <a:avLst>
              <a:gd name="adj" fmla="val 50000"/>
            </a:avLst>
          </a:prstGeom>
          <a:solidFill>
            <a:srgbClr val="4A7DE0"/>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CHECK</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74</a:t>
            </a:r>
            <a:endParaRPr lang="en-US" sz="1000" dirty="0"/>
          </a:p>
        </p:txBody>
      </p:sp>
      <p:sp>
        <p:nvSpPr>
          <p:cNvPr id="35" name="Shape 33"/>
          <p:cNvSpPr/>
          <p:nvPr/>
        </p:nvSpPr>
        <p:spPr>
          <a:xfrm>
            <a:off x="502920" y="1920240"/>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36" name="Shape 34"/>
          <p:cNvSpPr/>
          <p:nvPr/>
        </p:nvSpPr>
        <p:spPr>
          <a:xfrm>
            <a:off x="640080" y="2029968"/>
            <a:ext cx="457200" cy="438912"/>
          </a:xfrm>
          <a:prstGeom prst="roundRect">
            <a:avLst>
              <a:gd name="adj" fmla="val 16667"/>
            </a:avLst>
          </a:prstGeom>
          <a:solidFill>
            <a:srgbClr val="F6F5F8"/>
          </a:solidFill>
          <a:ln/>
        </p:spPr>
        <p:txBody>
          <a:bodyPr/>
          <a:lstStyle/>
          <a:p>
            <a:endParaRPr/>
          </a:p>
        </p:txBody>
      </p:sp>
      <p:sp>
        <p:nvSpPr>
          <p:cNvPr id="37" name="Text 35"/>
          <p:cNvSpPr/>
          <p:nvPr/>
        </p:nvSpPr>
        <p:spPr>
          <a:xfrm>
            <a:off x="640080" y="2029968"/>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A</a:t>
            </a:r>
            <a:endParaRPr lang="en-US" sz="1400" dirty="0"/>
          </a:p>
        </p:txBody>
      </p:sp>
      <p:sp>
        <p:nvSpPr>
          <p:cNvPr id="38" name="Text 36"/>
          <p:cNvSpPr/>
          <p:nvPr/>
        </p:nvSpPr>
        <p:spPr>
          <a:xfrm>
            <a:off x="1234440" y="1920240"/>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Call the warehouse API and wait for its reply</a:t>
            </a:r>
            <a:endParaRPr lang="en-US" sz="1300" dirty="0"/>
          </a:p>
        </p:txBody>
      </p:sp>
      <p:sp>
        <p:nvSpPr>
          <p:cNvPr id="39" name="Shape 37"/>
          <p:cNvSpPr/>
          <p:nvPr/>
        </p:nvSpPr>
        <p:spPr>
          <a:xfrm>
            <a:off x="502920" y="2715768"/>
            <a:ext cx="11185855" cy="658368"/>
          </a:xfrm>
          <a:prstGeom prst="roundRect">
            <a:avLst>
              <a:gd name="adj" fmla="val 13889"/>
            </a:avLst>
          </a:prstGeom>
          <a:solidFill>
            <a:srgbClr val="E1F5EC"/>
          </a:solidFill>
          <a:ln w="19050">
            <a:solidFill>
              <a:srgbClr val="3EB489"/>
            </a:solidFill>
            <a:prstDash val="solid"/>
          </a:ln>
        </p:spPr>
        <p:txBody>
          <a:bodyPr/>
          <a:lstStyle/>
          <a:p>
            <a:endParaRPr/>
          </a:p>
        </p:txBody>
      </p:sp>
      <p:sp>
        <p:nvSpPr>
          <p:cNvPr id="40" name="Shape 38"/>
          <p:cNvSpPr/>
          <p:nvPr/>
        </p:nvSpPr>
        <p:spPr>
          <a:xfrm>
            <a:off x="640080" y="2825496"/>
            <a:ext cx="457200" cy="438912"/>
          </a:xfrm>
          <a:prstGeom prst="roundRect">
            <a:avLst>
              <a:gd name="adj" fmla="val 16667"/>
            </a:avLst>
          </a:prstGeom>
          <a:solidFill>
            <a:srgbClr val="3EB489"/>
          </a:solidFill>
          <a:ln/>
        </p:spPr>
        <p:txBody>
          <a:bodyPr/>
          <a:lstStyle/>
          <a:p>
            <a:endParaRPr/>
          </a:p>
        </p:txBody>
      </p:sp>
      <p:sp>
        <p:nvSpPr>
          <p:cNvPr id="41" name="Text 39"/>
          <p:cNvSpPr/>
          <p:nvPr/>
        </p:nvSpPr>
        <p:spPr>
          <a:xfrm>
            <a:off x="640080" y="2825496"/>
            <a:ext cx="457200"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B</a:t>
            </a:r>
            <a:endParaRPr lang="en-US" sz="1400" dirty="0"/>
          </a:p>
        </p:txBody>
      </p:sp>
      <p:sp>
        <p:nvSpPr>
          <p:cNvPr id="42" name="Text 40"/>
          <p:cNvSpPr/>
          <p:nvPr/>
        </p:nvSpPr>
        <p:spPr>
          <a:xfrm>
            <a:off x="1234440" y="2715768"/>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Publish PaymentCaptured and finish the shopper's request</a:t>
            </a:r>
            <a:endParaRPr lang="en-US" sz="1300" dirty="0"/>
          </a:p>
        </p:txBody>
      </p:sp>
      <p:sp>
        <p:nvSpPr>
          <p:cNvPr id="43" name="Text 41"/>
          <p:cNvSpPr/>
          <p:nvPr/>
        </p:nvSpPr>
        <p:spPr>
          <a:xfrm>
            <a:off x="10682935" y="2715768"/>
            <a:ext cx="868680" cy="658368"/>
          </a:xfrm>
          <a:prstGeom prst="rect">
            <a:avLst/>
          </a:prstGeom>
          <a:noFill/>
          <a:ln/>
        </p:spPr>
        <p:txBody>
          <a:bodyPr wrap="square" rtlCol="0" anchor="ctr"/>
          <a:lstStyle/>
          <a:p>
            <a:pPr marL="0" indent="0" algn="r">
              <a:buNone/>
            </a:pPr>
            <a:r>
              <a:rPr lang="en-US" sz="1100" b="1" dirty="0">
                <a:solidFill>
                  <a:srgbClr val="1F8F65"/>
                </a:solidFill>
                <a:latin typeface="Segoe UI" pitchFamily="34" charset="0"/>
                <a:ea typeface="Segoe UI" pitchFamily="34" charset="-122"/>
                <a:cs typeface="Segoe UI" pitchFamily="34" charset="-120"/>
              </a:rPr>
              <a:t>✓ correct</a:t>
            </a:r>
            <a:endParaRPr lang="en-US" sz="1100" dirty="0"/>
          </a:p>
        </p:txBody>
      </p:sp>
      <p:sp>
        <p:nvSpPr>
          <p:cNvPr id="44" name="Shape 42"/>
          <p:cNvSpPr/>
          <p:nvPr/>
        </p:nvSpPr>
        <p:spPr>
          <a:xfrm>
            <a:off x="502920" y="3511296"/>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5" name="Shape 43"/>
          <p:cNvSpPr/>
          <p:nvPr/>
        </p:nvSpPr>
        <p:spPr>
          <a:xfrm>
            <a:off x="640080" y="3621024"/>
            <a:ext cx="457200" cy="438912"/>
          </a:xfrm>
          <a:prstGeom prst="roundRect">
            <a:avLst>
              <a:gd name="adj" fmla="val 16667"/>
            </a:avLst>
          </a:prstGeom>
          <a:solidFill>
            <a:srgbClr val="F6F5F8"/>
          </a:solidFill>
          <a:ln/>
        </p:spPr>
        <p:txBody>
          <a:bodyPr/>
          <a:lstStyle/>
          <a:p>
            <a:endParaRPr/>
          </a:p>
        </p:txBody>
      </p:sp>
      <p:sp>
        <p:nvSpPr>
          <p:cNvPr id="46" name="Text 44"/>
          <p:cNvSpPr/>
          <p:nvPr/>
        </p:nvSpPr>
        <p:spPr>
          <a:xfrm>
            <a:off x="640080" y="3621024"/>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C</a:t>
            </a:r>
            <a:endParaRPr lang="en-US" sz="1400" dirty="0"/>
          </a:p>
        </p:txBody>
      </p:sp>
      <p:sp>
        <p:nvSpPr>
          <p:cNvPr id="47" name="Text 45"/>
          <p:cNvSpPr/>
          <p:nvPr/>
        </p:nvSpPr>
        <p:spPr>
          <a:xfrm>
            <a:off x="1234440" y="3511296"/>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Put the picking rules inside the API gateway</a:t>
            </a:r>
            <a:endParaRPr lang="en-US" sz="1300" dirty="0"/>
          </a:p>
        </p:txBody>
      </p:sp>
      <p:sp>
        <p:nvSpPr>
          <p:cNvPr id="48" name="Shape 46"/>
          <p:cNvSpPr/>
          <p:nvPr/>
        </p:nvSpPr>
        <p:spPr>
          <a:xfrm>
            <a:off x="502920" y="4306824"/>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9" name="Shape 47"/>
          <p:cNvSpPr/>
          <p:nvPr/>
        </p:nvSpPr>
        <p:spPr>
          <a:xfrm>
            <a:off x="640080" y="4416552"/>
            <a:ext cx="457200" cy="438912"/>
          </a:xfrm>
          <a:prstGeom prst="roundRect">
            <a:avLst>
              <a:gd name="adj" fmla="val 16667"/>
            </a:avLst>
          </a:prstGeom>
          <a:solidFill>
            <a:srgbClr val="F6F5F8"/>
          </a:solidFill>
          <a:ln/>
        </p:spPr>
        <p:txBody>
          <a:bodyPr/>
          <a:lstStyle/>
          <a:p>
            <a:endParaRPr/>
          </a:p>
        </p:txBody>
      </p:sp>
      <p:sp>
        <p:nvSpPr>
          <p:cNvPr id="50" name="Text 48"/>
          <p:cNvSpPr/>
          <p:nvPr/>
        </p:nvSpPr>
        <p:spPr>
          <a:xfrm>
            <a:off x="640080" y="4416552"/>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D</a:t>
            </a:r>
            <a:endParaRPr lang="en-US" sz="1400" dirty="0"/>
          </a:p>
        </p:txBody>
      </p:sp>
      <p:sp>
        <p:nvSpPr>
          <p:cNvPr id="51" name="Text 49"/>
          <p:cNvSpPr/>
          <p:nvPr/>
        </p:nvSpPr>
        <p:spPr>
          <a:xfrm>
            <a:off x="1234440" y="4306824"/>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Write directly into the warehouse database</a:t>
            </a:r>
            <a:endParaRPr lang="en-US" sz="1300" dirty="0"/>
          </a:p>
        </p:txBody>
      </p:sp>
      <p:sp>
        <p:nvSpPr>
          <p:cNvPr id="52" name="Shape 50"/>
          <p:cNvSpPr/>
          <p:nvPr/>
        </p:nvSpPr>
        <p:spPr>
          <a:xfrm>
            <a:off x="502920" y="5148072"/>
            <a:ext cx="11185855" cy="731520"/>
          </a:xfrm>
          <a:prstGeom prst="roundRect">
            <a:avLst>
              <a:gd name="adj" fmla="val 10000"/>
            </a:avLst>
          </a:prstGeom>
          <a:solidFill>
            <a:srgbClr val="E4F5F3"/>
          </a:solidFill>
          <a:ln/>
        </p:spPr>
        <p:txBody>
          <a:bodyPr/>
          <a:lstStyle/>
          <a:p>
            <a:endParaRPr/>
          </a:p>
        </p:txBody>
      </p:sp>
      <p:sp>
        <p:nvSpPr>
          <p:cNvPr id="53" name="Text 51"/>
          <p:cNvSpPr/>
          <p:nvPr/>
        </p:nvSpPr>
        <p:spPr>
          <a:xfrm>
            <a:off x="685800" y="5148072"/>
            <a:ext cx="10820095" cy="731520"/>
          </a:xfrm>
          <a:prstGeom prst="rect">
            <a:avLst/>
          </a:prstGeom>
          <a:noFill/>
          <a:ln/>
        </p:spPr>
        <p:txBody>
          <a:bodyPr wrap="square" rtlCol="0" anchor="ctr"/>
          <a:lstStyle/>
          <a:p>
            <a:pPr marL="0" indent="0">
              <a:lnSpc>
                <a:spcPct val="125000"/>
              </a:lnSpc>
              <a:buNone/>
            </a:pPr>
            <a:r>
              <a:rPr lang="en-US" sz="1200" b="1" kern="0" spc="200" dirty="0">
                <a:solidFill>
                  <a:srgbClr val="2F9992"/>
                </a:solidFill>
                <a:latin typeface="Segoe UI" pitchFamily="34" charset="0"/>
                <a:ea typeface="Segoe UI" pitchFamily="34" charset="-122"/>
                <a:cs typeface="Segoe UI" pitchFamily="34" charset="-120"/>
              </a:rPr>
              <a:t>Why:  </a:t>
            </a:r>
            <a:r>
              <a:rPr lang="en-US" sz="1200" dirty="0">
                <a:solidFill>
                  <a:srgbClr val="24162A"/>
                </a:solidFill>
                <a:latin typeface="Segoe UI" pitchFamily="34" charset="0"/>
                <a:ea typeface="Segoe UI" pitchFamily="34" charset="-122"/>
                <a:cs typeface="Segoe UI" pitchFamily="34" charset="-120"/>
              </a:rPr>
              <a:t>Payment is the fact. Warehouse reacts to it. Checkout must not wait for warehouse, must not own warehouse rules, and must never write another service's data.</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3    what to remember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lines to keep.</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75</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Request when a human is waiting. Event when other systems must react.</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the contract before the code, and version it from day one.</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Events are facts in the past tense, with a version and a unique key.</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The gateway does identity, limits and routing  never business rules.</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Money paths need idempotency, and secrets never live in Git.</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7FA745-7034-CD96-7068-51D39A0B6E27}"/>
              </a:ext>
            </a:extLst>
          </p:cNvPr>
          <p:cNvPicPr>
            <a:picLocks noChangeAspect="1"/>
          </p:cNvPicPr>
          <p:nvPr/>
        </p:nvPicPr>
        <p:blipFill>
          <a:blip r:embed="rId2"/>
          <a:stretch>
            <a:fillRect/>
          </a:stretch>
        </p:blipFill>
        <p:spPr>
          <a:xfrm>
            <a:off x="1985932" y="1671624"/>
            <a:ext cx="8220135" cy="3514751"/>
          </a:xfrm>
          <a:prstGeom prst="rect">
            <a:avLst/>
          </a:prstGeom>
        </p:spPr>
      </p:pic>
    </p:spTree>
    <p:extLst>
      <p:ext uri="{BB962C8B-B14F-4D97-AF65-F5344CB8AC3E}">
        <p14:creationId xmlns:p14="http://schemas.microsoft.com/office/powerpoint/2010/main" val="24695107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1414455" y="0"/>
            <a:ext cx="777240" cy="6858000"/>
          </a:xfrm>
          <a:prstGeom prst="rect">
            <a:avLst/>
          </a:prstGeom>
          <a:solidFill>
            <a:srgbClr val="5F1B3C"/>
          </a:solidFill>
          <a:ln/>
        </p:spPr>
        <p:txBody>
          <a:bodyPr/>
          <a:lstStyle/>
          <a:p>
            <a:endParaRPr/>
          </a:p>
        </p:txBody>
      </p:sp>
      <p:sp>
        <p:nvSpPr>
          <p:cNvPr id="7" name="Shape 5"/>
          <p:cNvSpPr/>
          <p:nvPr/>
        </p:nvSpPr>
        <p:spPr>
          <a:xfrm>
            <a:off x="868680" y="1691640"/>
            <a:ext cx="502920" cy="73152"/>
          </a:xfrm>
          <a:prstGeom prst="rect">
            <a:avLst/>
          </a:prstGeom>
          <a:solidFill>
            <a:srgbClr val="43BFB8"/>
          </a:solidFill>
          <a:ln/>
        </p:spPr>
        <p:txBody>
          <a:bodyPr/>
          <a:lstStyle/>
          <a:p>
            <a:endParaRPr/>
          </a:p>
        </p:txBody>
      </p:sp>
      <p:sp>
        <p:nvSpPr>
          <p:cNvPr id="8" name="Text 6"/>
          <p:cNvSpPr/>
          <p:nvPr/>
        </p:nvSpPr>
        <p:spPr>
          <a:xfrm>
            <a:off x="868680" y="1783080"/>
            <a:ext cx="3657600" cy="320040"/>
          </a:xfrm>
          <a:prstGeom prst="rect">
            <a:avLst/>
          </a:prstGeom>
          <a:noFill/>
          <a:ln/>
        </p:spPr>
        <p:txBody>
          <a:bodyPr wrap="square" rtlCol="0" anchor="ctr"/>
          <a:lstStyle/>
          <a:p>
            <a:pPr marL="0" indent="0">
              <a:buNone/>
            </a:pPr>
            <a:r>
              <a:rPr lang="en-US" sz="1200" b="1" kern="0" spc="400" dirty="0">
                <a:solidFill>
                  <a:srgbClr val="5F1B3C"/>
                </a:solidFill>
                <a:latin typeface="Segoe UI" pitchFamily="34" charset="0"/>
                <a:ea typeface="Segoe UI" pitchFamily="34" charset="-122"/>
                <a:cs typeface="Segoe UI" pitchFamily="34" charset="-120"/>
              </a:rPr>
              <a:t>DAY 4</a:t>
            </a:r>
            <a:endParaRPr lang="en-US" sz="1200" dirty="0"/>
          </a:p>
        </p:txBody>
      </p:sp>
      <p:sp>
        <p:nvSpPr>
          <p:cNvPr id="9" name="Text 7"/>
          <p:cNvSpPr/>
          <p:nvPr/>
        </p:nvSpPr>
        <p:spPr>
          <a:xfrm>
            <a:off x="822960" y="2331720"/>
            <a:ext cx="2377440" cy="2194560"/>
          </a:xfrm>
          <a:prstGeom prst="rect">
            <a:avLst/>
          </a:prstGeom>
          <a:noFill/>
          <a:ln/>
        </p:spPr>
        <p:txBody>
          <a:bodyPr wrap="square" rtlCol="0" anchor="t"/>
          <a:lstStyle/>
          <a:p>
            <a:pPr marL="0" indent="0" algn="l">
              <a:buNone/>
            </a:pPr>
            <a:r>
              <a:rPr lang="en-US" sz="9600" b="1" dirty="0">
                <a:solidFill>
                  <a:srgbClr val="5F1B3C"/>
                </a:solidFill>
                <a:latin typeface="Segoe UI" pitchFamily="34" charset="0"/>
                <a:ea typeface="Segoe UI" pitchFamily="34" charset="-122"/>
                <a:cs typeface="Segoe UI" pitchFamily="34" charset="-120"/>
              </a:rPr>
              <a:t>04</a:t>
            </a:r>
            <a:endParaRPr lang="en-US" sz="9600" dirty="0"/>
          </a:p>
        </p:txBody>
      </p:sp>
      <p:sp>
        <p:nvSpPr>
          <p:cNvPr id="10" name="Text 8"/>
          <p:cNvSpPr/>
          <p:nvPr/>
        </p:nvSpPr>
        <p:spPr>
          <a:xfrm>
            <a:off x="3108960" y="2468880"/>
            <a:ext cx="7680960" cy="777240"/>
          </a:xfrm>
          <a:prstGeom prst="rect">
            <a:avLst/>
          </a:prstGeom>
          <a:noFill/>
          <a:ln/>
        </p:spPr>
        <p:txBody>
          <a:bodyPr wrap="square" rtlCol="0" anchor="t"/>
          <a:lstStyle/>
          <a:p>
            <a:pPr marL="0" indent="0" algn="l">
              <a:lnSpc>
                <a:spcPct val="110000"/>
              </a:lnSpc>
              <a:buNone/>
            </a:pPr>
            <a:r>
              <a:rPr lang="en-US" sz="2800" b="1" dirty="0">
                <a:solidFill>
                  <a:srgbClr val="5F1B3C"/>
                </a:solidFill>
                <a:latin typeface="Segoe UI" pitchFamily="34" charset="0"/>
                <a:ea typeface="Segoe UI" pitchFamily="34" charset="-122"/>
                <a:cs typeface="Segoe UI" pitchFamily="34" charset="-120"/>
              </a:rPr>
              <a:t>Cloud-native, resilience, observability</a:t>
            </a:r>
            <a:endParaRPr lang="en-US" sz="2800" dirty="0"/>
          </a:p>
        </p:txBody>
      </p:sp>
      <p:sp>
        <p:nvSpPr>
          <p:cNvPr id="11" name="Text 9"/>
          <p:cNvSpPr/>
          <p:nvPr/>
        </p:nvSpPr>
        <p:spPr>
          <a:xfrm>
            <a:off x="3108960" y="3337560"/>
            <a:ext cx="7680960" cy="1463040"/>
          </a:xfrm>
          <a:prstGeom prst="rect">
            <a:avLst/>
          </a:prstGeom>
          <a:noFill/>
          <a:ln/>
        </p:spPr>
        <p:txBody>
          <a:bodyPr wrap="square" rtlCol="0" anchor="t"/>
          <a:lstStyle/>
          <a:p>
            <a:pPr marL="0" indent="0" algn="l">
              <a:lnSpc>
                <a:spcPct val="125000"/>
              </a:lnSpc>
              <a:buNone/>
            </a:pPr>
            <a:r>
              <a:rPr lang="en-US" sz="1400" dirty="0">
                <a:solidFill>
                  <a:srgbClr val="2F9992"/>
                </a:solidFill>
                <a:latin typeface="Segoe UI" pitchFamily="34" charset="0"/>
                <a:ea typeface="Segoe UI" pitchFamily="34" charset="-122"/>
                <a:cs typeface="Segoe UI" pitchFamily="34" charset="-120"/>
              </a:rPr>
              <a:t>How the system survives growth and failure  and how we can see what it is doing.</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4    what you will be able to do tonight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Today we plan for sale day, not for a quiet Tuesday.</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77</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Explain cloud-native in three rules, without naming any vendor.</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Choose between scaling up and scaling out, and say when each one fails.</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Name the cloud pattern that fits a problem, instead of guessing.</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Apply timeout, circuit breaker and bulkhead to one Northline flow.</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one service-level objective with a stop rule.</a:t>
            </a:r>
            <a:endParaRPr lang="en-US" sz="1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Cloud-native in three rules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This is a way of designing, not a place where you rent servers.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78</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A cloud-native system is designed so that identical copies can be started and stopped at any moment, configuration comes from outside the code, and no important state lives only on one machine.</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Stateless where possible  the shopper's session lives in a shared store such as Redis, not on one server's disk.</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Configuration outside the code  database hosts and keys come from the environment, for example ${ORDERS_DB_HOST}. Never commit a real secret.</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Disposable processes  if one copy dies, another starts and nobody notices. The design must allow that.</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Health checks and graceful shutdown  a copy must say “I am ready” and must finish work before it exits.</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On sale day Northline needs more copies of checkout within minutes. If sessions live on one machine, extra copies serve nobody and the money is still lost.</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say whether checkout is stateless enough to copy.</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point to one secret that must become a placeholder.</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explain what happens when one copy is killed.</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Northline's last outage: CPU was only 30 percent and checkout was dead. The bottleneck was state on local disk, not missing hardware.</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12factor.net (config, processes, disposability)  ·  CNCF definition: github.com/cncf/toc/blob/main/DEFINITION.md</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Kubernetes in four words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Four words are enough today. Do not teach twenty objects.</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79</a:t>
            </a:r>
            <a:endParaRPr lang="en-US" sz="1000" dirty="0"/>
          </a:p>
        </p:txBody>
      </p:sp>
      <p:sp>
        <p:nvSpPr>
          <p:cNvPr id="36" name="Shape 33"/>
          <p:cNvSpPr/>
          <p:nvPr/>
        </p:nvSpPr>
        <p:spPr>
          <a:xfrm>
            <a:off x="502920" y="1280160"/>
            <a:ext cx="11185855" cy="768096"/>
          </a:xfrm>
          <a:prstGeom prst="roundRect">
            <a:avLst>
              <a:gd name="adj" fmla="val 11905"/>
            </a:avLst>
          </a:prstGeom>
          <a:solidFill>
            <a:srgbClr val="FFFFFF"/>
          </a:solidFill>
          <a:ln w="19050">
            <a:solidFill>
              <a:srgbClr val="5F1B3C"/>
            </a:solidFill>
            <a:prstDash val="solid"/>
          </a:ln>
          <a:effectLst>
            <a:outerShdw blurRad="63500" dist="25400" dir="5400000" algn="bl" rotWithShape="0">
              <a:srgbClr val="1F1F1F">
                <a:alpha val="7000"/>
              </a:srgbClr>
            </a:outerShdw>
          </a:effectLst>
        </p:spPr>
        <p:txBody>
          <a:bodyPr/>
          <a:lstStyle/>
          <a:p>
            <a:endParaRPr/>
          </a:p>
        </p:txBody>
      </p:sp>
      <p:sp>
        <p:nvSpPr>
          <p:cNvPr id="37" name="Shape 34"/>
          <p:cNvSpPr/>
          <p:nvPr/>
        </p:nvSpPr>
        <p:spPr>
          <a:xfrm>
            <a:off x="502920" y="1280160"/>
            <a:ext cx="2331720" cy="768096"/>
          </a:xfrm>
          <a:prstGeom prst="rect">
            <a:avLst/>
          </a:prstGeom>
          <a:solidFill>
            <a:srgbClr val="5F1B3C"/>
          </a:solidFill>
          <a:ln/>
        </p:spPr>
        <p:txBody>
          <a:bodyPr/>
          <a:lstStyle/>
          <a:p>
            <a:endParaRPr/>
          </a:p>
        </p:txBody>
      </p:sp>
      <p:sp>
        <p:nvSpPr>
          <p:cNvPr id="38" name="Text 35"/>
          <p:cNvSpPr/>
          <p:nvPr/>
        </p:nvSpPr>
        <p:spPr>
          <a:xfrm>
            <a:off x="630936" y="1280160"/>
            <a:ext cx="2084832" cy="768096"/>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Cluster = city</a:t>
            </a:r>
            <a:endParaRPr lang="en-US" sz="1400" dirty="0"/>
          </a:p>
        </p:txBody>
      </p:sp>
      <p:sp>
        <p:nvSpPr>
          <p:cNvPr id="39" name="Text 36"/>
          <p:cNvSpPr/>
          <p:nvPr/>
        </p:nvSpPr>
        <p:spPr>
          <a:xfrm>
            <a:off x="3017520" y="1335024"/>
            <a:ext cx="8488375" cy="658368"/>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The whole place where our work runs. It has capacity, rules and a boundary.</a:t>
            </a:r>
            <a:endParaRPr lang="en-US" sz="1300" dirty="0"/>
          </a:p>
        </p:txBody>
      </p:sp>
      <p:sp>
        <p:nvSpPr>
          <p:cNvPr id="40" name="Text 37"/>
          <p:cNvSpPr/>
          <p:nvPr/>
        </p:nvSpPr>
        <p:spPr>
          <a:xfrm>
            <a:off x="9814255" y="1335024"/>
            <a:ext cx="1737360" cy="274320"/>
          </a:xfrm>
          <a:prstGeom prst="rect">
            <a:avLst/>
          </a:prstGeom>
          <a:noFill/>
          <a:ln/>
        </p:spPr>
        <p:txBody>
          <a:bodyPr wrap="square" rtlCol="0" anchor="ctr"/>
          <a:lstStyle/>
          <a:p>
            <a:pPr marL="0" indent="0" algn="r">
              <a:buNone/>
            </a:pPr>
            <a:r>
              <a:rPr lang="en-US" sz="1000" b="1" dirty="0">
                <a:solidFill>
                  <a:srgbClr val="5F1B3C"/>
                </a:solidFill>
                <a:latin typeface="Segoe UI" pitchFamily="34" charset="0"/>
                <a:ea typeface="Segoe UI" pitchFamily="34" charset="-122"/>
                <a:cs typeface="Segoe UI" pitchFamily="34" charset="-120"/>
              </a:rPr>
              <a:t>WHOLE</a:t>
            </a:r>
            <a:endParaRPr lang="en-US" sz="1000" dirty="0"/>
          </a:p>
        </p:txBody>
      </p:sp>
      <p:sp>
        <p:nvSpPr>
          <p:cNvPr id="41" name="Shape 38"/>
          <p:cNvSpPr/>
          <p:nvPr/>
        </p:nvSpPr>
        <p:spPr>
          <a:xfrm>
            <a:off x="886968" y="2194560"/>
            <a:ext cx="10417759" cy="768096"/>
          </a:xfrm>
          <a:prstGeom prst="roundRect">
            <a:avLst>
              <a:gd name="adj" fmla="val 11905"/>
            </a:avLst>
          </a:prstGeom>
          <a:solidFill>
            <a:srgbClr val="FFFFFF"/>
          </a:solidFill>
          <a:ln w="19050">
            <a:solidFill>
              <a:srgbClr val="E76F30"/>
            </a:solidFill>
            <a:prstDash val="solid"/>
          </a:ln>
          <a:effectLst>
            <a:outerShdw blurRad="63500" dist="25400" dir="5400000" algn="bl" rotWithShape="0">
              <a:srgbClr val="1F1F1F">
                <a:alpha val="7000"/>
              </a:srgbClr>
            </a:outerShdw>
          </a:effectLst>
        </p:spPr>
        <p:txBody>
          <a:bodyPr/>
          <a:lstStyle/>
          <a:p>
            <a:endParaRPr/>
          </a:p>
        </p:txBody>
      </p:sp>
      <p:sp>
        <p:nvSpPr>
          <p:cNvPr id="42" name="Shape 39"/>
          <p:cNvSpPr/>
          <p:nvPr/>
        </p:nvSpPr>
        <p:spPr>
          <a:xfrm>
            <a:off x="886968" y="2194560"/>
            <a:ext cx="2331720" cy="768096"/>
          </a:xfrm>
          <a:prstGeom prst="rect">
            <a:avLst/>
          </a:prstGeom>
          <a:solidFill>
            <a:srgbClr val="E76F30"/>
          </a:solidFill>
          <a:ln/>
        </p:spPr>
        <p:txBody>
          <a:bodyPr/>
          <a:lstStyle/>
          <a:p>
            <a:endParaRPr/>
          </a:p>
        </p:txBody>
      </p:sp>
      <p:sp>
        <p:nvSpPr>
          <p:cNvPr id="43" name="Text 40"/>
          <p:cNvSpPr/>
          <p:nvPr/>
        </p:nvSpPr>
        <p:spPr>
          <a:xfrm>
            <a:off x="1014984" y="2194560"/>
            <a:ext cx="2084832" cy="768096"/>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Node = building</a:t>
            </a:r>
            <a:endParaRPr lang="en-US" sz="1400" dirty="0"/>
          </a:p>
        </p:txBody>
      </p:sp>
      <p:sp>
        <p:nvSpPr>
          <p:cNvPr id="44" name="Text 41"/>
          <p:cNvSpPr/>
          <p:nvPr/>
        </p:nvSpPr>
        <p:spPr>
          <a:xfrm>
            <a:off x="3401568" y="2249424"/>
            <a:ext cx="7720279" cy="658368"/>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One machine inside the city. It hosts many rooms.</a:t>
            </a:r>
            <a:endParaRPr lang="en-US" sz="1300" dirty="0"/>
          </a:p>
        </p:txBody>
      </p:sp>
      <p:sp>
        <p:nvSpPr>
          <p:cNvPr id="45" name="Text 42"/>
          <p:cNvSpPr/>
          <p:nvPr/>
        </p:nvSpPr>
        <p:spPr>
          <a:xfrm>
            <a:off x="9430207" y="2249424"/>
            <a:ext cx="1737360" cy="274320"/>
          </a:xfrm>
          <a:prstGeom prst="rect">
            <a:avLst/>
          </a:prstGeom>
          <a:noFill/>
          <a:ln/>
        </p:spPr>
        <p:txBody>
          <a:bodyPr wrap="square" rtlCol="0" anchor="ctr"/>
          <a:lstStyle/>
          <a:p>
            <a:pPr marL="0" indent="0" algn="r">
              <a:buNone/>
            </a:pPr>
            <a:r>
              <a:rPr lang="en-US" sz="1000" b="1" dirty="0">
                <a:solidFill>
                  <a:srgbClr val="E76F30"/>
                </a:solidFill>
                <a:latin typeface="Segoe UI" pitchFamily="34" charset="0"/>
                <a:ea typeface="Segoe UI" pitchFamily="34" charset="-122"/>
                <a:cs typeface="Segoe UI" pitchFamily="34" charset="-120"/>
              </a:rPr>
              <a:t>MACHINE</a:t>
            </a:r>
            <a:endParaRPr lang="en-US" sz="1000" dirty="0"/>
          </a:p>
        </p:txBody>
      </p:sp>
      <p:sp>
        <p:nvSpPr>
          <p:cNvPr id="46" name="Shape 43"/>
          <p:cNvSpPr/>
          <p:nvPr/>
        </p:nvSpPr>
        <p:spPr>
          <a:xfrm>
            <a:off x="1271016" y="3108960"/>
            <a:ext cx="9649663" cy="768096"/>
          </a:xfrm>
          <a:prstGeom prst="roundRect">
            <a:avLst>
              <a:gd name="adj" fmla="val 11905"/>
            </a:avLst>
          </a:prstGeom>
          <a:solidFill>
            <a:srgbClr val="FFFFFF"/>
          </a:solidFill>
          <a:ln w="19050">
            <a:solidFill>
              <a:srgbClr val="4A7DE0"/>
            </a:solidFill>
            <a:prstDash val="solid"/>
          </a:ln>
          <a:effectLst>
            <a:outerShdw blurRad="63500" dist="25400" dir="5400000" algn="bl" rotWithShape="0">
              <a:srgbClr val="1F1F1F">
                <a:alpha val="7000"/>
              </a:srgbClr>
            </a:outerShdw>
          </a:effectLst>
        </p:spPr>
        <p:txBody>
          <a:bodyPr/>
          <a:lstStyle/>
          <a:p>
            <a:endParaRPr/>
          </a:p>
        </p:txBody>
      </p:sp>
      <p:sp>
        <p:nvSpPr>
          <p:cNvPr id="47" name="Shape 44"/>
          <p:cNvSpPr/>
          <p:nvPr/>
        </p:nvSpPr>
        <p:spPr>
          <a:xfrm>
            <a:off x="1271016" y="3108960"/>
            <a:ext cx="2331720" cy="768096"/>
          </a:xfrm>
          <a:prstGeom prst="rect">
            <a:avLst/>
          </a:prstGeom>
          <a:solidFill>
            <a:srgbClr val="4A7DE0"/>
          </a:solidFill>
          <a:ln/>
        </p:spPr>
        <p:txBody>
          <a:bodyPr/>
          <a:lstStyle/>
          <a:p>
            <a:endParaRPr/>
          </a:p>
        </p:txBody>
      </p:sp>
      <p:sp>
        <p:nvSpPr>
          <p:cNvPr id="48" name="Text 45"/>
          <p:cNvSpPr/>
          <p:nvPr/>
        </p:nvSpPr>
        <p:spPr>
          <a:xfrm>
            <a:off x="1399032" y="3108960"/>
            <a:ext cx="2084832" cy="768096"/>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Pod = room</a:t>
            </a:r>
            <a:endParaRPr lang="en-US" sz="1400" dirty="0"/>
          </a:p>
        </p:txBody>
      </p:sp>
      <p:sp>
        <p:nvSpPr>
          <p:cNvPr id="49" name="Text 46"/>
          <p:cNvSpPr/>
          <p:nvPr/>
        </p:nvSpPr>
        <p:spPr>
          <a:xfrm>
            <a:off x="3785616" y="3163824"/>
            <a:ext cx="6952183" cy="658368"/>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The smallest thing that runs. It can die and come back somewhere else.</a:t>
            </a:r>
            <a:endParaRPr lang="en-US" sz="1300" dirty="0"/>
          </a:p>
        </p:txBody>
      </p:sp>
      <p:sp>
        <p:nvSpPr>
          <p:cNvPr id="50" name="Text 47"/>
          <p:cNvSpPr/>
          <p:nvPr/>
        </p:nvSpPr>
        <p:spPr>
          <a:xfrm>
            <a:off x="9046159" y="3163824"/>
            <a:ext cx="1737360" cy="274320"/>
          </a:xfrm>
          <a:prstGeom prst="rect">
            <a:avLst/>
          </a:prstGeom>
          <a:noFill/>
          <a:ln/>
        </p:spPr>
        <p:txBody>
          <a:bodyPr wrap="square" rtlCol="0" anchor="ctr"/>
          <a:lstStyle/>
          <a:p>
            <a:pPr marL="0" indent="0" algn="r">
              <a:buNone/>
            </a:pPr>
            <a:r>
              <a:rPr lang="en-US" sz="1000" b="1" dirty="0">
                <a:solidFill>
                  <a:srgbClr val="4A7DE0"/>
                </a:solidFill>
                <a:latin typeface="Segoe UI" pitchFamily="34" charset="0"/>
                <a:ea typeface="Segoe UI" pitchFamily="34" charset="-122"/>
                <a:cs typeface="Segoe UI" pitchFamily="34" charset="-120"/>
              </a:rPr>
              <a:t>RUNNING UNIT</a:t>
            </a:r>
            <a:endParaRPr lang="en-US" sz="1000" dirty="0"/>
          </a:p>
        </p:txBody>
      </p:sp>
      <p:sp>
        <p:nvSpPr>
          <p:cNvPr id="51" name="Shape 48"/>
          <p:cNvSpPr/>
          <p:nvPr/>
        </p:nvSpPr>
        <p:spPr>
          <a:xfrm>
            <a:off x="1655064" y="4023360"/>
            <a:ext cx="8881567" cy="768096"/>
          </a:xfrm>
          <a:prstGeom prst="roundRect">
            <a:avLst>
              <a:gd name="adj" fmla="val 11905"/>
            </a:avLst>
          </a:prstGeom>
          <a:solidFill>
            <a:srgbClr val="FFFFFF"/>
          </a:solidFill>
          <a:ln w="19050">
            <a:solidFill>
              <a:srgbClr val="43BFB8"/>
            </a:solidFill>
            <a:prstDash val="solid"/>
          </a:ln>
          <a:effectLst>
            <a:outerShdw blurRad="63500" dist="25400" dir="5400000" algn="bl" rotWithShape="0">
              <a:srgbClr val="1F1F1F">
                <a:alpha val="7000"/>
              </a:srgbClr>
            </a:outerShdw>
          </a:effectLst>
        </p:spPr>
        <p:txBody>
          <a:bodyPr/>
          <a:lstStyle/>
          <a:p>
            <a:endParaRPr/>
          </a:p>
        </p:txBody>
      </p:sp>
      <p:sp>
        <p:nvSpPr>
          <p:cNvPr id="52" name="Shape 49"/>
          <p:cNvSpPr/>
          <p:nvPr/>
        </p:nvSpPr>
        <p:spPr>
          <a:xfrm>
            <a:off x="1655064" y="4023360"/>
            <a:ext cx="2331720" cy="768096"/>
          </a:xfrm>
          <a:prstGeom prst="rect">
            <a:avLst/>
          </a:prstGeom>
          <a:solidFill>
            <a:srgbClr val="43BFB8"/>
          </a:solidFill>
          <a:ln/>
        </p:spPr>
        <p:txBody>
          <a:bodyPr/>
          <a:lstStyle/>
          <a:p>
            <a:endParaRPr/>
          </a:p>
        </p:txBody>
      </p:sp>
      <p:sp>
        <p:nvSpPr>
          <p:cNvPr id="53" name="Text 50"/>
          <p:cNvSpPr/>
          <p:nvPr/>
        </p:nvSpPr>
        <p:spPr>
          <a:xfrm>
            <a:off x="1783080" y="4023360"/>
            <a:ext cx="2084832" cy="768096"/>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Service = door</a:t>
            </a:r>
            <a:endParaRPr lang="en-US" sz="1400" dirty="0"/>
          </a:p>
        </p:txBody>
      </p:sp>
      <p:sp>
        <p:nvSpPr>
          <p:cNvPr id="54" name="Text 51"/>
          <p:cNvSpPr/>
          <p:nvPr/>
        </p:nvSpPr>
        <p:spPr>
          <a:xfrm>
            <a:off x="4169664" y="4078224"/>
            <a:ext cx="6184087" cy="658368"/>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The stable address. Shoppers reach the Service, never a dying Pod directly.</a:t>
            </a:r>
            <a:endParaRPr lang="en-US" sz="1300" dirty="0"/>
          </a:p>
        </p:txBody>
      </p:sp>
      <p:sp>
        <p:nvSpPr>
          <p:cNvPr id="55" name="Text 52"/>
          <p:cNvSpPr/>
          <p:nvPr/>
        </p:nvSpPr>
        <p:spPr>
          <a:xfrm>
            <a:off x="8662111" y="4078224"/>
            <a:ext cx="1737360" cy="274320"/>
          </a:xfrm>
          <a:prstGeom prst="rect">
            <a:avLst/>
          </a:prstGeom>
          <a:noFill/>
          <a:ln/>
        </p:spPr>
        <p:txBody>
          <a:bodyPr wrap="square" rtlCol="0" anchor="ctr"/>
          <a:lstStyle/>
          <a:p>
            <a:pPr marL="0" indent="0" algn="r">
              <a:buNone/>
            </a:pPr>
            <a:r>
              <a:rPr lang="en-US" sz="1000" b="1" dirty="0">
                <a:solidFill>
                  <a:srgbClr val="43BFB8"/>
                </a:solidFill>
                <a:latin typeface="Segoe UI" pitchFamily="34" charset="0"/>
                <a:ea typeface="Segoe UI" pitchFamily="34" charset="-122"/>
                <a:cs typeface="Segoe UI" pitchFamily="34" charset="-120"/>
              </a:rPr>
              <a:t>STABLE ADDRESS</a:t>
            </a:r>
            <a:endParaRPr lang="en-US" sz="1000" dirty="0"/>
          </a:p>
        </p:txBody>
      </p:sp>
      <p:sp>
        <p:nvSpPr>
          <p:cNvPr id="56" name="Shape 53"/>
          <p:cNvSpPr/>
          <p:nvPr/>
        </p:nvSpPr>
        <p:spPr>
          <a:xfrm>
            <a:off x="502920" y="4974336"/>
            <a:ext cx="11185855" cy="713232"/>
          </a:xfrm>
          <a:prstGeom prst="roundRect">
            <a:avLst>
              <a:gd name="adj" fmla="val 11538"/>
            </a:avLst>
          </a:prstGeom>
          <a:solidFill>
            <a:srgbClr val="E1F5EC"/>
          </a:solidFill>
          <a:ln/>
        </p:spPr>
        <p:txBody>
          <a:bodyPr/>
          <a:lstStyle/>
          <a:p>
            <a:endParaRPr/>
          </a:p>
        </p:txBody>
      </p:sp>
      <p:sp>
        <p:nvSpPr>
          <p:cNvPr id="57" name="Shape 54"/>
          <p:cNvSpPr/>
          <p:nvPr/>
        </p:nvSpPr>
        <p:spPr>
          <a:xfrm>
            <a:off x="502920" y="4974336"/>
            <a:ext cx="100584" cy="713232"/>
          </a:xfrm>
          <a:prstGeom prst="rect">
            <a:avLst/>
          </a:prstGeom>
          <a:solidFill>
            <a:srgbClr val="1F8F65"/>
          </a:solidFill>
          <a:ln/>
        </p:spPr>
        <p:txBody>
          <a:bodyPr/>
          <a:lstStyle/>
          <a:p>
            <a:endParaRPr/>
          </a:p>
        </p:txBody>
      </p:sp>
      <p:sp>
        <p:nvSpPr>
          <p:cNvPr id="58" name="Text 55"/>
          <p:cNvSpPr/>
          <p:nvPr/>
        </p:nvSpPr>
        <p:spPr>
          <a:xfrm>
            <a:off x="740664" y="4974336"/>
            <a:ext cx="10783519" cy="713232"/>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Never send traffic to a Pod address. Always go through a Service, so a restart is invisible to the caller.</a:t>
            </a:r>
            <a:endParaRPr lang="en-US" sz="1250" dirty="0"/>
          </a:p>
        </p:txBody>
      </p:sp>
      <p:sp>
        <p:nvSpPr>
          <p:cNvPr id="59" name="Shape 56"/>
          <p:cNvSpPr/>
          <p:nvPr/>
        </p:nvSpPr>
        <p:spPr>
          <a:xfrm>
            <a:off x="502920" y="5870448"/>
            <a:ext cx="54864" cy="201168"/>
          </a:xfrm>
          <a:prstGeom prst="rect">
            <a:avLst/>
          </a:prstGeom>
          <a:solidFill>
            <a:srgbClr val="43BFB8"/>
          </a:solidFill>
          <a:ln/>
        </p:spPr>
        <p:txBody>
          <a:bodyPr/>
          <a:lstStyle/>
          <a:p>
            <a:endParaRPr/>
          </a:p>
        </p:txBody>
      </p:sp>
      <p:sp>
        <p:nvSpPr>
          <p:cNvPr id="60" name="Text 57"/>
          <p:cNvSpPr/>
          <p:nvPr/>
        </p:nvSpPr>
        <p:spPr>
          <a:xfrm>
            <a:off x="667512" y="577900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kubernetes.io/docs/concepts  Pods, Services, Deployments, and health probes.</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600" b="1" dirty="0">
                <a:solidFill>
                  <a:srgbClr val="5F1B3C"/>
                </a:solidFill>
                <a:latin typeface="Segoe UI" pitchFamily="34" charset="0"/>
                <a:ea typeface="Segoe UI" pitchFamily="34" charset="-122"/>
                <a:cs typeface="Segoe UI" pitchFamily="34" charset="-120"/>
              </a:rPr>
              <a:t>Cloud design patterns    six that solve real Northline problems</a:t>
            </a:r>
            <a:endParaRPr lang="en-US" sz="16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Each card is a problem you already have, and the pattern with a name you can look up.</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82</a:t>
            </a:r>
            <a:endParaRPr lang="en-US" sz="1000" dirty="0"/>
          </a:p>
        </p:txBody>
      </p:sp>
      <p:sp>
        <p:nvSpPr>
          <p:cNvPr id="36" name="Shape 33"/>
          <p:cNvSpPr/>
          <p:nvPr/>
        </p:nvSpPr>
        <p:spPr>
          <a:xfrm>
            <a:off x="502920"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243584"/>
            <a:ext cx="3594506" cy="384048"/>
          </a:xfrm>
          <a:prstGeom prst="rect">
            <a:avLst/>
          </a:prstGeom>
          <a:solidFill>
            <a:srgbClr val="43BFB8"/>
          </a:solidFill>
          <a:ln/>
        </p:spPr>
        <p:txBody>
          <a:bodyPr/>
          <a:lstStyle/>
          <a:p>
            <a:endParaRPr/>
          </a:p>
        </p:txBody>
      </p:sp>
      <p:sp>
        <p:nvSpPr>
          <p:cNvPr id="38" name="Text 35"/>
          <p:cNvSpPr/>
          <p:nvPr/>
        </p:nvSpPr>
        <p:spPr>
          <a:xfrm>
            <a:off x="649224"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Cache-aside</a:t>
            </a:r>
            <a:endParaRPr lang="en-US" sz="1150" dirty="0"/>
          </a:p>
        </p:txBody>
      </p:sp>
      <p:sp>
        <p:nvSpPr>
          <p:cNvPr id="39" name="Text 36"/>
          <p:cNvSpPr/>
          <p:nvPr/>
        </p:nvSpPr>
        <p:spPr>
          <a:xfrm>
            <a:off x="649224"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0" name="Text 37"/>
          <p:cNvSpPr/>
          <p:nvPr/>
        </p:nvSpPr>
        <p:spPr>
          <a:xfrm>
            <a:off x="649224"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One product page hits the database 4,000 times a minute for data that never changes.</a:t>
            </a:r>
            <a:endParaRPr lang="en-US" sz="1150" dirty="0"/>
          </a:p>
        </p:txBody>
      </p:sp>
      <p:sp>
        <p:nvSpPr>
          <p:cNvPr id="41" name="Text 38"/>
          <p:cNvSpPr/>
          <p:nvPr/>
        </p:nvSpPr>
        <p:spPr>
          <a:xfrm>
            <a:off x="649224"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2" name="Text 39"/>
          <p:cNvSpPr/>
          <p:nvPr/>
        </p:nvSpPr>
        <p:spPr>
          <a:xfrm>
            <a:off x="649224"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Read the cache first; on a miss read the database and store it. Always set an expiry.</a:t>
            </a:r>
            <a:endParaRPr lang="en-US" sz="1150" dirty="0"/>
          </a:p>
        </p:txBody>
      </p:sp>
      <p:sp>
        <p:nvSpPr>
          <p:cNvPr id="43" name="Shape 40"/>
          <p:cNvSpPr/>
          <p:nvPr/>
        </p:nvSpPr>
        <p:spPr>
          <a:xfrm>
            <a:off x="4298594"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4298594" y="1243584"/>
            <a:ext cx="3594506" cy="384048"/>
          </a:xfrm>
          <a:prstGeom prst="rect">
            <a:avLst/>
          </a:prstGeom>
          <a:solidFill>
            <a:srgbClr val="E76F30"/>
          </a:solidFill>
          <a:ln/>
        </p:spPr>
        <p:txBody>
          <a:bodyPr/>
          <a:lstStyle/>
          <a:p>
            <a:endParaRPr/>
          </a:p>
        </p:txBody>
      </p:sp>
      <p:sp>
        <p:nvSpPr>
          <p:cNvPr id="45" name="Text 42"/>
          <p:cNvSpPr/>
          <p:nvPr/>
        </p:nvSpPr>
        <p:spPr>
          <a:xfrm>
            <a:off x="4444898"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Queue-based load levelling</a:t>
            </a:r>
            <a:endParaRPr lang="en-US" sz="1150" dirty="0"/>
          </a:p>
        </p:txBody>
      </p:sp>
      <p:sp>
        <p:nvSpPr>
          <p:cNvPr id="46" name="Text 43"/>
          <p:cNvSpPr/>
          <p:nvPr/>
        </p:nvSpPr>
        <p:spPr>
          <a:xfrm>
            <a:off x="4444898"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47" name="Text 44"/>
          <p:cNvSpPr/>
          <p:nvPr/>
        </p:nvSpPr>
        <p:spPr>
          <a:xfrm>
            <a:off x="4444898"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sale spike arrives in two minutes and the database falls over.</a:t>
            </a:r>
            <a:endParaRPr lang="en-US" sz="1150" dirty="0"/>
          </a:p>
        </p:txBody>
      </p:sp>
      <p:sp>
        <p:nvSpPr>
          <p:cNvPr id="48" name="Text 45"/>
          <p:cNvSpPr/>
          <p:nvPr/>
        </p:nvSpPr>
        <p:spPr>
          <a:xfrm>
            <a:off x="4444898"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49" name="Text 46"/>
          <p:cNvSpPr/>
          <p:nvPr/>
        </p:nvSpPr>
        <p:spPr>
          <a:xfrm>
            <a:off x="4444898"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Put a queue in front of the slow part. It absorbs the spike; workers drain it.</a:t>
            </a:r>
            <a:endParaRPr lang="en-US" sz="1150" dirty="0"/>
          </a:p>
        </p:txBody>
      </p:sp>
      <p:sp>
        <p:nvSpPr>
          <p:cNvPr id="50" name="Shape 47"/>
          <p:cNvSpPr/>
          <p:nvPr/>
        </p:nvSpPr>
        <p:spPr>
          <a:xfrm>
            <a:off x="8094269" y="1243584"/>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8094269" y="1243584"/>
            <a:ext cx="3594506" cy="384048"/>
          </a:xfrm>
          <a:prstGeom prst="rect">
            <a:avLst/>
          </a:prstGeom>
          <a:solidFill>
            <a:srgbClr val="4A7DE0"/>
          </a:solidFill>
          <a:ln/>
        </p:spPr>
        <p:txBody>
          <a:bodyPr/>
          <a:lstStyle/>
          <a:p>
            <a:endParaRPr/>
          </a:p>
        </p:txBody>
      </p:sp>
      <p:sp>
        <p:nvSpPr>
          <p:cNvPr id="52" name="Text 49"/>
          <p:cNvSpPr/>
          <p:nvPr/>
        </p:nvSpPr>
        <p:spPr>
          <a:xfrm>
            <a:off x="8240573" y="1243584"/>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CQRS  (separate read model)</a:t>
            </a:r>
            <a:endParaRPr lang="en-US" sz="1150" dirty="0"/>
          </a:p>
        </p:txBody>
      </p:sp>
      <p:sp>
        <p:nvSpPr>
          <p:cNvPr id="53" name="Text 50"/>
          <p:cNvSpPr/>
          <p:nvPr/>
        </p:nvSpPr>
        <p:spPr>
          <a:xfrm>
            <a:off x="8240573" y="1682496"/>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54" name="Text 51"/>
          <p:cNvSpPr/>
          <p:nvPr/>
        </p:nvSpPr>
        <p:spPr>
          <a:xfrm>
            <a:off x="8240573" y="1856232"/>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Reports lock the same tables shoppers are buying from.</a:t>
            </a:r>
            <a:endParaRPr lang="en-US" sz="1150" dirty="0"/>
          </a:p>
        </p:txBody>
      </p:sp>
      <p:sp>
        <p:nvSpPr>
          <p:cNvPr id="55" name="Text 52"/>
          <p:cNvSpPr/>
          <p:nvPr/>
        </p:nvSpPr>
        <p:spPr>
          <a:xfrm>
            <a:off x="8240573" y="2468880"/>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56" name="Text 53"/>
          <p:cNvSpPr/>
          <p:nvPr/>
        </p:nvSpPr>
        <p:spPr>
          <a:xfrm>
            <a:off x="8240573" y="2642616"/>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model to write, a shaped copy to read. Accept a few seconds of delay.</a:t>
            </a:r>
            <a:endParaRPr lang="en-US" sz="1150" dirty="0"/>
          </a:p>
        </p:txBody>
      </p:sp>
      <p:sp>
        <p:nvSpPr>
          <p:cNvPr id="57" name="Shape 54"/>
          <p:cNvSpPr/>
          <p:nvPr/>
        </p:nvSpPr>
        <p:spPr>
          <a:xfrm>
            <a:off x="502920"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502920" y="3401568"/>
            <a:ext cx="3594506" cy="384048"/>
          </a:xfrm>
          <a:prstGeom prst="rect">
            <a:avLst/>
          </a:prstGeom>
          <a:solidFill>
            <a:srgbClr val="5F1B3C"/>
          </a:solidFill>
          <a:ln/>
        </p:spPr>
        <p:txBody>
          <a:bodyPr/>
          <a:lstStyle/>
          <a:p>
            <a:endParaRPr/>
          </a:p>
        </p:txBody>
      </p:sp>
      <p:sp>
        <p:nvSpPr>
          <p:cNvPr id="59" name="Text 56"/>
          <p:cNvSpPr/>
          <p:nvPr/>
        </p:nvSpPr>
        <p:spPr>
          <a:xfrm>
            <a:off x="649224"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Sharding</a:t>
            </a:r>
            <a:endParaRPr lang="en-US" sz="1150" dirty="0"/>
          </a:p>
        </p:txBody>
      </p:sp>
      <p:sp>
        <p:nvSpPr>
          <p:cNvPr id="60" name="Text 57"/>
          <p:cNvSpPr/>
          <p:nvPr/>
        </p:nvSpPr>
        <p:spPr>
          <a:xfrm>
            <a:off x="649224"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1" name="Text 58"/>
          <p:cNvSpPr/>
          <p:nvPr/>
        </p:nvSpPr>
        <p:spPr>
          <a:xfrm>
            <a:off x="649224"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One database is too big for one machine, whatever you buy.</a:t>
            </a:r>
            <a:endParaRPr lang="en-US" sz="1150" dirty="0"/>
          </a:p>
        </p:txBody>
      </p:sp>
      <p:sp>
        <p:nvSpPr>
          <p:cNvPr id="62" name="Text 59"/>
          <p:cNvSpPr/>
          <p:nvPr/>
        </p:nvSpPr>
        <p:spPr>
          <a:xfrm>
            <a:off x="649224"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63" name="Text 60"/>
          <p:cNvSpPr/>
          <p:nvPr/>
        </p:nvSpPr>
        <p:spPr>
          <a:xfrm>
            <a:off x="649224"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Split rows by a key such as region. Choose that key with great care.</a:t>
            </a:r>
            <a:endParaRPr lang="en-US" sz="1150" dirty="0"/>
          </a:p>
        </p:txBody>
      </p:sp>
      <p:sp>
        <p:nvSpPr>
          <p:cNvPr id="64" name="Shape 61"/>
          <p:cNvSpPr/>
          <p:nvPr/>
        </p:nvSpPr>
        <p:spPr>
          <a:xfrm>
            <a:off x="4298594"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65" name="Shape 62"/>
          <p:cNvSpPr/>
          <p:nvPr/>
        </p:nvSpPr>
        <p:spPr>
          <a:xfrm>
            <a:off x="4298594" y="3401568"/>
            <a:ext cx="3594506" cy="384048"/>
          </a:xfrm>
          <a:prstGeom prst="rect">
            <a:avLst/>
          </a:prstGeom>
          <a:solidFill>
            <a:srgbClr val="1F8F65"/>
          </a:solidFill>
          <a:ln/>
        </p:spPr>
        <p:txBody>
          <a:bodyPr/>
          <a:lstStyle/>
          <a:p>
            <a:endParaRPr/>
          </a:p>
        </p:txBody>
      </p:sp>
      <p:sp>
        <p:nvSpPr>
          <p:cNvPr id="66" name="Text 63"/>
          <p:cNvSpPr/>
          <p:nvPr/>
        </p:nvSpPr>
        <p:spPr>
          <a:xfrm>
            <a:off x="4444898"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Retry with backoff</a:t>
            </a:r>
            <a:endParaRPr lang="en-US" sz="1150" dirty="0"/>
          </a:p>
        </p:txBody>
      </p:sp>
      <p:sp>
        <p:nvSpPr>
          <p:cNvPr id="67" name="Text 64"/>
          <p:cNvSpPr/>
          <p:nvPr/>
        </p:nvSpPr>
        <p:spPr>
          <a:xfrm>
            <a:off x="4444898"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68" name="Text 65"/>
          <p:cNvSpPr/>
          <p:nvPr/>
        </p:nvSpPr>
        <p:spPr>
          <a:xfrm>
            <a:off x="4444898"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A one-second network blip failed 300 orders that would have worked.</a:t>
            </a:r>
            <a:endParaRPr lang="en-US" sz="1150" dirty="0"/>
          </a:p>
        </p:txBody>
      </p:sp>
      <p:sp>
        <p:nvSpPr>
          <p:cNvPr id="69" name="Text 66"/>
          <p:cNvSpPr/>
          <p:nvPr/>
        </p:nvSpPr>
        <p:spPr>
          <a:xfrm>
            <a:off x="4444898"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0" name="Text 67"/>
          <p:cNvSpPr/>
          <p:nvPr/>
        </p:nvSpPr>
        <p:spPr>
          <a:xfrm>
            <a:off x="4444898"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Retry a few times, waiting longer each time, plus a random offset. Safe calls only.</a:t>
            </a:r>
            <a:endParaRPr lang="en-US" sz="1150" dirty="0"/>
          </a:p>
        </p:txBody>
      </p:sp>
      <p:sp>
        <p:nvSpPr>
          <p:cNvPr id="71" name="Shape 68"/>
          <p:cNvSpPr/>
          <p:nvPr/>
        </p:nvSpPr>
        <p:spPr>
          <a:xfrm>
            <a:off x="8094269" y="3401568"/>
            <a:ext cx="3594506" cy="1956816"/>
          </a:xfrm>
          <a:prstGeom prst="roundRect">
            <a:avLst>
              <a:gd name="adj" fmla="val 5140"/>
            </a:avLst>
          </a:prstGeom>
          <a:solidFill>
            <a:srgbClr val="FFFFFF"/>
          </a:solidFill>
          <a:ln w="11430">
            <a:solidFill>
              <a:srgbClr val="E3E0E8"/>
            </a:solidFill>
            <a:prstDash val="solid"/>
          </a:ln>
          <a:effectLst>
            <a:outerShdw blurRad="76200" dist="25400" dir="5400000" algn="bl" rotWithShape="0">
              <a:srgbClr val="1F1F1F">
                <a:alpha val="8000"/>
              </a:srgbClr>
            </a:outerShdw>
          </a:effectLst>
        </p:spPr>
        <p:txBody>
          <a:bodyPr/>
          <a:lstStyle/>
          <a:p>
            <a:endParaRPr/>
          </a:p>
        </p:txBody>
      </p:sp>
      <p:sp>
        <p:nvSpPr>
          <p:cNvPr id="72" name="Shape 69"/>
          <p:cNvSpPr/>
          <p:nvPr/>
        </p:nvSpPr>
        <p:spPr>
          <a:xfrm>
            <a:off x="8094269" y="3401568"/>
            <a:ext cx="3594506" cy="384048"/>
          </a:xfrm>
          <a:prstGeom prst="rect">
            <a:avLst/>
          </a:prstGeom>
          <a:solidFill>
            <a:srgbClr val="2F9992"/>
          </a:solidFill>
          <a:ln/>
        </p:spPr>
        <p:txBody>
          <a:bodyPr/>
          <a:lstStyle/>
          <a:p>
            <a:endParaRPr/>
          </a:p>
        </p:txBody>
      </p:sp>
      <p:sp>
        <p:nvSpPr>
          <p:cNvPr id="73" name="Text 70"/>
          <p:cNvSpPr/>
          <p:nvPr/>
        </p:nvSpPr>
        <p:spPr>
          <a:xfrm>
            <a:off x="8240573" y="3401568"/>
            <a:ext cx="3301898" cy="384048"/>
          </a:xfrm>
          <a:prstGeom prst="rect">
            <a:avLst/>
          </a:prstGeom>
          <a:noFill/>
          <a:ln/>
        </p:spPr>
        <p:txBody>
          <a:bodyPr wrap="square"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Sidecar</a:t>
            </a:r>
            <a:endParaRPr lang="en-US" sz="1150" dirty="0"/>
          </a:p>
        </p:txBody>
      </p:sp>
      <p:sp>
        <p:nvSpPr>
          <p:cNvPr id="74" name="Text 71"/>
          <p:cNvSpPr/>
          <p:nvPr/>
        </p:nvSpPr>
        <p:spPr>
          <a:xfrm>
            <a:off x="8240573" y="3840480"/>
            <a:ext cx="3301898" cy="182880"/>
          </a:xfrm>
          <a:prstGeom prst="rect">
            <a:avLst/>
          </a:prstGeom>
          <a:noFill/>
          <a:ln/>
        </p:spPr>
        <p:txBody>
          <a:bodyPr wrap="square" rtlCol="0" anchor="ctr"/>
          <a:lstStyle/>
          <a:p>
            <a:pPr marL="0" indent="0">
              <a:buNone/>
            </a:pPr>
            <a:r>
              <a:rPr lang="en-US" sz="850" b="1" kern="0" spc="100" dirty="0">
                <a:solidFill>
                  <a:srgbClr val="DC2626"/>
                </a:solidFill>
                <a:latin typeface="Segoe UI" pitchFamily="34" charset="0"/>
                <a:ea typeface="Segoe UI" pitchFamily="34" charset="-122"/>
                <a:cs typeface="Segoe UI" pitchFamily="34" charset="-120"/>
              </a:rPr>
              <a:t>Problem</a:t>
            </a:r>
            <a:endParaRPr lang="en-US" sz="850" dirty="0"/>
          </a:p>
        </p:txBody>
      </p:sp>
      <p:sp>
        <p:nvSpPr>
          <p:cNvPr id="75" name="Text 72"/>
          <p:cNvSpPr/>
          <p:nvPr/>
        </p:nvSpPr>
        <p:spPr>
          <a:xfrm>
            <a:off x="8240573" y="4014216"/>
            <a:ext cx="3301898" cy="585216"/>
          </a:xfrm>
          <a:prstGeom prst="rect">
            <a:avLst/>
          </a:prstGeom>
          <a:noFill/>
          <a:ln/>
        </p:spPr>
        <p:txBody>
          <a:bodyPr wrap="square" rtlCol="0" anchor="t"/>
          <a:lstStyle/>
          <a:p>
            <a:pPr marL="0" indent="0">
              <a:lnSpc>
                <a:spcPct val="105000"/>
              </a:lnSpc>
              <a:buNone/>
            </a:pPr>
            <a:r>
              <a:rPr lang="en-US" sz="1150" dirty="0">
                <a:solidFill>
                  <a:srgbClr val="3D3348"/>
                </a:solidFill>
                <a:latin typeface="Segoe UI" pitchFamily="34" charset="0"/>
                <a:ea typeface="Segoe UI" pitchFamily="34" charset="-122"/>
                <a:cs typeface="Segoe UI" pitchFamily="34" charset="-120"/>
              </a:rPr>
              <a:t>Every service re-wrote logging, metrics and TLS, each one badly.</a:t>
            </a:r>
            <a:endParaRPr lang="en-US" sz="1150" dirty="0"/>
          </a:p>
        </p:txBody>
      </p:sp>
      <p:sp>
        <p:nvSpPr>
          <p:cNvPr id="76" name="Text 73"/>
          <p:cNvSpPr/>
          <p:nvPr/>
        </p:nvSpPr>
        <p:spPr>
          <a:xfrm>
            <a:off x="8240573" y="4626864"/>
            <a:ext cx="3301898" cy="182880"/>
          </a:xfrm>
          <a:prstGeom prst="rect">
            <a:avLst/>
          </a:prstGeom>
          <a:noFill/>
          <a:ln/>
        </p:spPr>
        <p:txBody>
          <a:bodyPr wrap="square" rtlCol="0" anchor="ctr"/>
          <a:lstStyle/>
          <a:p>
            <a:pPr marL="0" indent="0">
              <a:buNone/>
            </a:pPr>
            <a:r>
              <a:rPr lang="en-US" sz="850" b="1" kern="0" spc="100" dirty="0">
                <a:solidFill>
                  <a:srgbClr val="1F8F65"/>
                </a:solidFill>
                <a:latin typeface="Segoe UI" pitchFamily="34" charset="0"/>
                <a:ea typeface="Segoe UI" pitchFamily="34" charset="-122"/>
                <a:cs typeface="Segoe UI" pitchFamily="34" charset="-120"/>
              </a:rPr>
              <a:t>Use it when</a:t>
            </a:r>
            <a:endParaRPr lang="en-US" sz="850" dirty="0"/>
          </a:p>
        </p:txBody>
      </p:sp>
      <p:sp>
        <p:nvSpPr>
          <p:cNvPr id="77" name="Text 74"/>
          <p:cNvSpPr/>
          <p:nvPr/>
        </p:nvSpPr>
        <p:spPr>
          <a:xfrm>
            <a:off x="8240573" y="4800600"/>
            <a:ext cx="3301898" cy="585216"/>
          </a:xfrm>
          <a:prstGeom prst="rect">
            <a:avLst/>
          </a:prstGeom>
          <a:noFill/>
          <a:ln/>
        </p:spPr>
        <p:txBody>
          <a:bodyPr wrap="square" rtlCol="0" anchor="t"/>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Run the shared concern in a helper container beside it. A service mesh does this.</a:t>
            </a:r>
            <a:endParaRPr lang="en-US" sz="1150" dirty="0"/>
          </a:p>
        </p:txBody>
      </p:sp>
      <p:sp>
        <p:nvSpPr>
          <p:cNvPr id="78" name="Shape 75"/>
          <p:cNvSpPr/>
          <p:nvPr/>
        </p:nvSpPr>
        <p:spPr>
          <a:xfrm>
            <a:off x="502920" y="5486400"/>
            <a:ext cx="91440" cy="457200"/>
          </a:xfrm>
          <a:prstGeom prst="rect">
            <a:avLst/>
          </a:prstGeom>
          <a:solidFill>
            <a:srgbClr val="1F8F65"/>
          </a:solidFill>
          <a:ln/>
        </p:spPr>
        <p:txBody>
          <a:bodyPr/>
          <a:lstStyle/>
          <a:p>
            <a:endParaRPr/>
          </a:p>
        </p:txBody>
      </p:sp>
      <p:sp>
        <p:nvSpPr>
          <p:cNvPr id="79" name="Text 76"/>
          <p:cNvSpPr/>
          <p:nvPr/>
        </p:nvSpPr>
        <p:spPr>
          <a:xfrm>
            <a:off x="704088" y="5486400"/>
            <a:ext cx="10911535" cy="457200"/>
          </a:xfrm>
          <a:prstGeom prst="rect">
            <a:avLst/>
          </a:prstGeom>
          <a:noFill/>
          <a:ln/>
        </p:spPr>
        <p:txBody>
          <a:bodyPr wrap="square" rtlCol="0" anchor="ctr"/>
          <a:lstStyle/>
          <a:p>
            <a:pPr marL="0" indent="0">
              <a:buNone/>
            </a:pPr>
            <a:r>
              <a:rPr lang="en-US" sz="1200" b="1" kern="0" spc="100" dirty="0">
                <a:solidFill>
                  <a:srgbClr val="1F8F65"/>
                </a:solidFill>
                <a:latin typeface="Segoe UI" pitchFamily="34" charset="0"/>
                <a:ea typeface="Segoe UI" pitchFamily="34" charset="-122"/>
                <a:cs typeface="Segoe UI" pitchFamily="34" charset="-120"/>
              </a:rPr>
              <a:t>BEST PRACTICE   </a:t>
            </a:r>
            <a:r>
              <a:rPr lang="en-US" sz="1200" dirty="0">
                <a:solidFill>
                  <a:srgbClr val="24162A"/>
                </a:solidFill>
                <a:latin typeface="Segoe UI" pitchFamily="34" charset="0"/>
                <a:ea typeface="Segoe UI" pitchFamily="34" charset="-122"/>
                <a:cs typeface="Segoe UI" pitchFamily="34" charset="-120"/>
              </a:rPr>
              <a:t>Never add a cache to hide a slow query you have not measured. Measure first, then choose the pattern, then measure again.</a:t>
            </a:r>
            <a:endParaRPr lang="en-US" sz="1200" dirty="0"/>
          </a:p>
        </p:txBody>
      </p:sp>
      <p:sp>
        <p:nvSpPr>
          <p:cNvPr id="80" name="Shape 77"/>
          <p:cNvSpPr/>
          <p:nvPr/>
        </p:nvSpPr>
        <p:spPr>
          <a:xfrm>
            <a:off x="502920" y="6071616"/>
            <a:ext cx="54864" cy="201168"/>
          </a:xfrm>
          <a:prstGeom prst="rect">
            <a:avLst/>
          </a:prstGeom>
          <a:solidFill>
            <a:srgbClr val="43BFB8"/>
          </a:solidFill>
          <a:ln/>
        </p:spPr>
        <p:txBody>
          <a:bodyPr/>
          <a:lstStyle/>
          <a:p>
            <a:endParaRPr/>
          </a:p>
        </p:txBody>
      </p:sp>
      <p:sp>
        <p:nvSpPr>
          <p:cNvPr id="81" name="Text 78"/>
          <p:cNvSpPr/>
          <p:nvPr/>
        </p:nvSpPr>
        <p:spPr>
          <a:xfrm>
            <a:off x="667512" y="598017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Full free catalogue with code: learn.microsoft.com/azure/architecture/patterns  ·  AWS: docs.aws.amazon.com/prescriptive-guidance/latest/cloud-design-patterns</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Resilience    three moves in one picture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You cannot prevent all failure. You can stop one failure becoming a full outage.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84</a:t>
            </a:r>
            <a:endParaRPr lang="en-US" sz="1000" dirty="0"/>
          </a:p>
        </p:txBody>
      </p:sp>
      <p:sp>
        <p:nvSpPr>
          <p:cNvPr id="36" name="Shape 33"/>
          <p:cNvSpPr/>
          <p:nvPr/>
        </p:nvSpPr>
        <p:spPr>
          <a:xfrm>
            <a:off x="640080" y="2377440"/>
            <a:ext cx="2103120" cy="960120"/>
          </a:xfrm>
          <a:prstGeom prst="roundRect">
            <a:avLst>
              <a:gd name="adj" fmla="val 9524"/>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640080" y="2468880"/>
            <a:ext cx="2103120" cy="77724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Checkout</a:t>
            </a:r>
            <a:endParaRPr lang="en-US" sz="1300" dirty="0"/>
          </a:p>
        </p:txBody>
      </p:sp>
      <p:sp>
        <p:nvSpPr>
          <p:cNvPr id="38" name="Shape 35"/>
          <p:cNvSpPr/>
          <p:nvPr/>
        </p:nvSpPr>
        <p:spPr>
          <a:xfrm>
            <a:off x="3154680" y="1508760"/>
            <a:ext cx="2377440" cy="868680"/>
          </a:xfrm>
          <a:prstGeom prst="roundRect">
            <a:avLst>
              <a:gd name="adj" fmla="val 10526"/>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3154680" y="1600200"/>
            <a:ext cx="2377440" cy="68580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TIMEOUT  2s</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stop waiting</a:t>
            </a:r>
            <a:endParaRPr lang="en-US" sz="1300" dirty="0"/>
          </a:p>
        </p:txBody>
      </p:sp>
      <p:sp>
        <p:nvSpPr>
          <p:cNvPr id="40" name="Shape 37"/>
          <p:cNvSpPr/>
          <p:nvPr/>
        </p:nvSpPr>
        <p:spPr>
          <a:xfrm>
            <a:off x="3154680" y="2514600"/>
            <a:ext cx="2377440" cy="868680"/>
          </a:xfrm>
          <a:prstGeom prst="roundRect">
            <a:avLst>
              <a:gd name="adj" fmla="val 10526"/>
            </a:avLst>
          </a:prstGeom>
          <a:solidFill>
            <a:srgbClr val="FEE2E2"/>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3154680" y="2606040"/>
            <a:ext cx="2377440" cy="68580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CIRCUIT BREAKER</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5 fails → open 30s</a:t>
            </a:r>
            <a:endParaRPr lang="en-US" sz="1300" dirty="0"/>
          </a:p>
        </p:txBody>
      </p:sp>
      <p:sp>
        <p:nvSpPr>
          <p:cNvPr id="42" name="Shape 39"/>
          <p:cNvSpPr/>
          <p:nvPr/>
        </p:nvSpPr>
        <p:spPr>
          <a:xfrm>
            <a:off x="3154680" y="3520440"/>
            <a:ext cx="2377440" cy="868680"/>
          </a:xfrm>
          <a:prstGeom prst="roundRect">
            <a:avLst>
              <a:gd name="adj" fmla="val 10526"/>
            </a:avLst>
          </a:prstGeom>
          <a:solidFill>
            <a:srgbClr val="E7EEFC"/>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3154680" y="3611880"/>
            <a:ext cx="2377440" cy="685800"/>
          </a:xfrm>
          <a:prstGeom prst="rect">
            <a:avLst/>
          </a:prstGeom>
          <a:noFill/>
          <a:ln/>
        </p:spPr>
        <p:txBody>
          <a:bodyPr wrap="square" rtlCol="0" anchor="ctr"/>
          <a:lstStyle/>
          <a:p>
            <a:pPr marL="0" indent="0" algn="ctr">
              <a:buNone/>
            </a:pPr>
            <a:r>
              <a:rPr lang="en-US" sz="1300" b="1" dirty="0">
                <a:solidFill>
                  <a:srgbClr val="4A7DE0"/>
                </a:solidFill>
                <a:latin typeface="Segoe UI" pitchFamily="34" charset="0"/>
                <a:ea typeface="Segoe UI" pitchFamily="34" charset="-122"/>
                <a:cs typeface="Segoe UI" pitchFamily="34" charset="-120"/>
              </a:rPr>
              <a:t>BULKHEAD</a:t>
            </a:r>
            <a:endParaRPr lang="en-US" sz="1300" dirty="0"/>
          </a:p>
          <a:p>
            <a:pPr marL="0" indent="0" algn="ctr">
              <a:buNone/>
            </a:pPr>
            <a:r>
              <a:rPr lang="en-US" sz="1300" b="1" dirty="0">
                <a:solidFill>
                  <a:srgbClr val="4A7DE0"/>
                </a:solidFill>
                <a:latin typeface="Segoe UI" pitchFamily="34" charset="0"/>
                <a:ea typeface="Segoe UI" pitchFamily="34" charset="-122"/>
                <a:cs typeface="Segoe UI" pitchFamily="34" charset="-120"/>
              </a:rPr>
              <a:t>separate pools</a:t>
            </a:r>
            <a:endParaRPr lang="en-US" sz="1300" dirty="0"/>
          </a:p>
        </p:txBody>
      </p:sp>
      <p:sp>
        <p:nvSpPr>
          <p:cNvPr id="44" name="Shape 41"/>
          <p:cNvSpPr/>
          <p:nvPr/>
        </p:nvSpPr>
        <p:spPr>
          <a:xfrm>
            <a:off x="6583680" y="1508760"/>
            <a:ext cx="2651760" cy="868680"/>
          </a:xfrm>
          <a:prstGeom prst="roundRect">
            <a:avLst>
              <a:gd name="adj" fmla="val 10526"/>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5" name="Text 42"/>
          <p:cNvSpPr/>
          <p:nvPr/>
        </p:nvSpPr>
        <p:spPr>
          <a:xfrm>
            <a:off x="6583680" y="1600200"/>
            <a:ext cx="2651760" cy="68580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Payment gateway</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(slow or dead)</a:t>
            </a:r>
            <a:endParaRPr lang="en-US" sz="1300" dirty="0"/>
          </a:p>
        </p:txBody>
      </p:sp>
      <p:sp>
        <p:nvSpPr>
          <p:cNvPr id="46" name="Shape 43"/>
          <p:cNvSpPr/>
          <p:nvPr/>
        </p:nvSpPr>
        <p:spPr>
          <a:xfrm>
            <a:off x="6583680" y="2514600"/>
            <a:ext cx="2651760" cy="868680"/>
          </a:xfrm>
          <a:prstGeom prst="roundRect">
            <a:avLst>
              <a:gd name="adj" fmla="val 10526"/>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7" name="Text 44"/>
          <p:cNvSpPr/>
          <p:nvPr/>
        </p:nvSpPr>
        <p:spPr>
          <a:xfrm>
            <a:off x="6583680" y="2606040"/>
            <a:ext cx="2651760" cy="68580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Catalog</a:t>
            </a:r>
            <a:endParaRPr lang="en-US" sz="1300" dirty="0"/>
          </a:p>
        </p:txBody>
      </p:sp>
      <p:sp>
        <p:nvSpPr>
          <p:cNvPr id="48" name="Shape 45"/>
          <p:cNvSpPr/>
          <p:nvPr/>
        </p:nvSpPr>
        <p:spPr>
          <a:xfrm>
            <a:off x="6583680" y="3520440"/>
            <a:ext cx="2651760" cy="868680"/>
          </a:xfrm>
          <a:prstGeom prst="roundRect">
            <a:avLst>
              <a:gd name="adj" fmla="val 10526"/>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9" name="Text 46"/>
          <p:cNvSpPr/>
          <p:nvPr/>
        </p:nvSpPr>
        <p:spPr>
          <a:xfrm>
            <a:off x="6583680" y="3611880"/>
            <a:ext cx="2651760" cy="68580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Reviews</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(may fail freely)</a:t>
            </a:r>
            <a:endParaRPr lang="en-US" sz="1300" dirty="0"/>
          </a:p>
        </p:txBody>
      </p:sp>
      <p:sp>
        <p:nvSpPr>
          <p:cNvPr id="50" name="Shape 47"/>
          <p:cNvSpPr/>
          <p:nvPr/>
        </p:nvSpPr>
        <p:spPr>
          <a:xfrm>
            <a:off x="640080" y="4663440"/>
            <a:ext cx="10424160" cy="731520"/>
          </a:xfrm>
          <a:prstGeom prst="roundRect">
            <a:avLst>
              <a:gd name="adj" fmla="val 12500"/>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51" name="Text 48"/>
          <p:cNvSpPr/>
          <p:nvPr/>
        </p:nvSpPr>
        <p:spPr>
          <a:xfrm>
            <a:off x="640080" y="4754880"/>
            <a:ext cx="10424160" cy="54864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Shopper still sees: “Payment is busy. Your card was NOT charged. Please try again.”</a:t>
            </a:r>
            <a:endParaRPr lang="en-US" sz="1300" dirty="0"/>
          </a:p>
        </p:txBody>
      </p:sp>
      <p:sp>
        <p:nvSpPr>
          <p:cNvPr id="52" name="Shape 49"/>
          <p:cNvSpPr/>
          <p:nvPr/>
        </p:nvSpPr>
        <p:spPr>
          <a:xfrm flipV="1">
            <a:off x="2743200" y="1943100"/>
            <a:ext cx="411480" cy="914400"/>
          </a:xfrm>
          <a:prstGeom prst="line">
            <a:avLst/>
          </a:prstGeom>
          <a:noFill/>
          <a:ln w="19050">
            <a:solidFill>
              <a:srgbClr val="E76F30"/>
            </a:solidFill>
            <a:prstDash val="solid"/>
            <a:tailEnd type="triangle"/>
          </a:ln>
        </p:spPr>
        <p:txBody>
          <a:bodyPr/>
          <a:lstStyle/>
          <a:p>
            <a:endParaRPr/>
          </a:p>
        </p:txBody>
      </p:sp>
      <p:sp>
        <p:nvSpPr>
          <p:cNvPr id="53" name="Shape 50"/>
          <p:cNvSpPr/>
          <p:nvPr/>
        </p:nvSpPr>
        <p:spPr>
          <a:xfrm>
            <a:off x="2743200" y="2857500"/>
            <a:ext cx="411480" cy="91440"/>
          </a:xfrm>
          <a:prstGeom prst="line">
            <a:avLst/>
          </a:prstGeom>
          <a:noFill/>
          <a:ln w="19050">
            <a:solidFill>
              <a:srgbClr val="DC2626"/>
            </a:solidFill>
            <a:prstDash val="solid"/>
            <a:tailEnd type="triangle"/>
          </a:ln>
        </p:spPr>
        <p:txBody>
          <a:bodyPr/>
          <a:lstStyle/>
          <a:p>
            <a:endParaRPr/>
          </a:p>
        </p:txBody>
      </p:sp>
      <p:sp>
        <p:nvSpPr>
          <p:cNvPr id="54" name="Shape 51"/>
          <p:cNvSpPr/>
          <p:nvPr/>
        </p:nvSpPr>
        <p:spPr>
          <a:xfrm>
            <a:off x="2743200" y="2857500"/>
            <a:ext cx="411480" cy="1097280"/>
          </a:xfrm>
          <a:prstGeom prst="line">
            <a:avLst/>
          </a:prstGeom>
          <a:noFill/>
          <a:ln w="19050">
            <a:solidFill>
              <a:srgbClr val="4A7DE0"/>
            </a:solidFill>
            <a:prstDash val="solid"/>
            <a:tailEnd type="triangle"/>
          </a:ln>
        </p:spPr>
        <p:txBody>
          <a:bodyPr/>
          <a:lstStyle/>
          <a:p>
            <a:endParaRPr/>
          </a:p>
        </p:txBody>
      </p:sp>
      <p:sp>
        <p:nvSpPr>
          <p:cNvPr id="55" name="Shape 52"/>
          <p:cNvSpPr/>
          <p:nvPr/>
        </p:nvSpPr>
        <p:spPr>
          <a:xfrm>
            <a:off x="5532120" y="1943100"/>
            <a:ext cx="1051560" cy="914"/>
          </a:xfrm>
          <a:prstGeom prst="line">
            <a:avLst/>
          </a:prstGeom>
          <a:noFill/>
          <a:ln w="19050">
            <a:solidFill>
              <a:srgbClr val="E76F30"/>
            </a:solidFill>
            <a:prstDash val="solid"/>
            <a:tailEnd type="triangle"/>
          </a:ln>
        </p:spPr>
        <p:txBody>
          <a:bodyPr/>
          <a:lstStyle/>
          <a:p>
            <a:endParaRPr/>
          </a:p>
        </p:txBody>
      </p:sp>
      <p:sp>
        <p:nvSpPr>
          <p:cNvPr id="56" name="Shape 53"/>
          <p:cNvSpPr/>
          <p:nvPr/>
        </p:nvSpPr>
        <p:spPr>
          <a:xfrm>
            <a:off x="5532120" y="2948940"/>
            <a:ext cx="1051560" cy="914"/>
          </a:xfrm>
          <a:prstGeom prst="line">
            <a:avLst/>
          </a:prstGeom>
          <a:noFill/>
          <a:ln w="19050">
            <a:solidFill>
              <a:srgbClr val="DC2626"/>
            </a:solidFill>
            <a:prstDash val="solid"/>
            <a:tailEnd type="triangle"/>
          </a:ln>
        </p:spPr>
        <p:txBody>
          <a:bodyPr/>
          <a:lstStyle/>
          <a:p>
            <a:endParaRPr/>
          </a:p>
        </p:txBody>
      </p:sp>
      <p:sp>
        <p:nvSpPr>
          <p:cNvPr id="57" name="Shape 54"/>
          <p:cNvSpPr/>
          <p:nvPr/>
        </p:nvSpPr>
        <p:spPr>
          <a:xfrm>
            <a:off x="5532120" y="3954780"/>
            <a:ext cx="1051560" cy="914"/>
          </a:xfrm>
          <a:prstGeom prst="line">
            <a:avLst/>
          </a:prstGeom>
          <a:noFill/>
          <a:ln w="19050">
            <a:solidFill>
              <a:srgbClr val="4A7DE0"/>
            </a:solidFill>
            <a:prstDash val="solid"/>
            <a:tailEnd type="triangle"/>
          </a:ln>
        </p:spPr>
        <p:txBody>
          <a:bodyPr/>
          <a:lstStyle/>
          <a:p>
            <a:endParaRPr/>
          </a:p>
        </p:txBody>
      </p:sp>
      <p:sp>
        <p:nvSpPr>
          <p:cNvPr id="58" name="Shape 55"/>
          <p:cNvSpPr/>
          <p:nvPr/>
        </p:nvSpPr>
        <p:spPr>
          <a:xfrm>
            <a:off x="502920" y="5925312"/>
            <a:ext cx="54864" cy="201168"/>
          </a:xfrm>
          <a:prstGeom prst="rect">
            <a:avLst/>
          </a:prstGeom>
          <a:solidFill>
            <a:srgbClr val="43BFB8"/>
          </a:solidFill>
          <a:ln/>
        </p:spPr>
        <p:txBody>
          <a:bodyPr/>
          <a:lstStyle/>
          <a:p>
            <a:endParaRPr/>
          </a:p>
        </p:txBody>
      </p:sp>
      <p:sp>
        <p:nvSpPr>
          <p:cNvPr id="59" name="Text 5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learn.microsoft.com/azure/architecture/patterns  Retry, Circuit Breaker, Bulkhead  ·  resilience4j.readme.io</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100" b="1" dirty="0">
                <a:solidFill>
                  <a:srgbClr val="5F1B3C"/>
                </a:solidFill>
                <a:latin typeface="Segoe UI" pitchFamily="34" charset="0"/>
                <a:ea typeface="Segoe UI" pitchFamily="34" charset="-122"/>
                <a:cs typeface="Segoe UI" pitchFamily="34" charset="-120"/>
              </a:rPr>
              <a:t>Observability    three signals, one question each</a:t>
            </a:r>
            <a:endParaRPr lang="en-US" sz="21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If you cannot answer the three questions, you are guessing during an outage.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86</a:t>
            </a:r>
            <a:endParaRPr lang="en-US" sz="1000" dirty="0"/>
          </a:p>
        </p:txBody>
      </p:sp>
      <p:sp>
        <p:nvSpPr>
          <p:cNvPr id="36" name="Shape 33"/>
          <p:cNvSpPr/>
          <p:nvPr/>
        </p:nvSpPr>
        <p:spPr>
          <a:xfrm>
            <a:off x="502920" y="1280160"/>
            <a:ext cx="11185855" cy="960120"/>
          </a:xfrm>
          <a:prstGeom prst="roundRect">
            <a:avLst>
              <a:gd name="adj" fmla="val 9524"/>
            </a:avLst>
          </a:prstGeom>
          <a:solidFill>
            <a:srgbClr val="FFFFFF"/>
          </a:solidFill>
          <a:ln w="19050">
            <a:solidFill>
              <a:srgbClr val="5F1B3C"/>
            </a:solidFill>
            <a:prstDash val="solid"/>
          </a:ln>
          <a:effectLst>
            <a:outerShdw blurRad="63500" dist="25400" dir="5400000" algn="bl" rotWithShape="0">
              <a:srgbClr val="1F1F1F">
                <a:alpha val="7000"/>
              </a:srgbClr>
            </a:outerShdw>
          </a:effectLst>
        </p:spPr>
        <p:txBody>
          <a:bodyPr/>
          <a:lstStyle/>
          <a:p>
            <a:endParaRPr/>
          </a:p>
        </p:txBody>
      </p:sp>
      <p:sp>
        <p:nvSpPr>
          <p:cNvPr id="37" name="Shape 34"/>
          <p:cNvSpPr/>
          <p:nvPr/>
        </p:nvSpPr>
        <p:spPr>
          <a:xfrm>
            <a:off x="502920" y="1280160"/>
            <a:ext cx="2331720" cy="960120"/>
          </a:xfrm>
          <a:prstGeom prst="rect">
            <a:avLst/>
          </a:prstGeom>
          <a:solidFill>
            <a:srgbClr val="5F1B3C"/>
          </a:solidFill>
          <a:ln/>
        </p:spPr>
        <p:txBody>
          <a:bodyPr/>
          <a:lstStyle/>
          <a:p>
            <a:endParaRPr/>
          </a:p>
        </p:txBody>
      </p:sp>
      <p:sp>
        <p:nvSpPr>
          <p:cNvPr id="38" name="Text 35"/>
          <p:cNvSpPr/>
          <p:nvPr/>
        </p:nvSpPr>
        <p:spPr>
          <a:xfrm>
            <a:off x="630936" y="1280160"/>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Traces</a:t>
            </a:r>
            <a:endParaRPr lang="en-US" sz="1400" dirty="0"/>
          </a:p>
        </p:txBody>
      </p:sp>
      <p:sp>
        <p:nvSpPr>
          <p:cNvPr id="39" name="Text 36"/>
          <p:cNvSpPr/>
          <p:nvPr/>
        </p:nvSpPr>
        <p:spPr>
          <a:xfrm>
            <a:off x="3017520" y="1335024"/>
            <a:ext cx="8488375"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“WHERE is the time going?” One shopper's request across all five services, with the slow step highlighted.</a:t>
            </a:r>
            <a:endParaRPr lang="en-US" sz="1300" dirty="0"/>
          </a:p>
        </p:txBody>
      </p:sp>
      <p:sp>
        <p:nvSpPr>
          <p:cNvPr id="40" name="Text 37"/>
          <p:cNvSpPr/>
          <p:nvPr/>
        </p:nvSpPr>
        <p:spPr>
          <a:xfrm>
            <a:off x="9814255" y="1335024"/>
            <a:ext cx="1737360" cy="274320"/>
          </a:xfrm>
          <a:prstGeom prst="rect">
            <a:avLst/>
          </a:prstGeom>
          <a:noFill/>
          <a:ln/>
        </p:spPr>
        <p:txBody>
          <a:bodyPr wrap="square" rtlCol="0" anchor="ctr"/>
          <a:lstStyle/>
          <a:p>
            <a:pPr marL="0" indent="0" algn="r">
              <a:buNone/>
            </a:pPr>
            <a:r>
              <a:rPr lang="en-US" sz="1000" b="1" dirty="0">
                <a:solidFill>
                  <a:srgbClr val="5F1B3C"/>
                </a:solidFill>
                <a:latin typeface="Segoe UI" pitchFamily="34" charset="0"/>
                <a:ea typeface="Segoe UI" pitchFamily="34" charset="-122"/>
                <a:cs typeface="Segoe UI" pitchFamily="34" charset="-120"/>
              </a:rPr>
              <a:t>WHERE</a:t>
            </a:r>
            <a:endParaRPr lang="en-US" sz="1000" dirty="0"/>
          </a:p>
        </p:txBody>
      </p:sp>
      <p:sp>
        <p:nvSpPr>
          <p:cNvPr id="41" name="Shape 38"/>
          <p:cNvSpPr/>
          <p:nvPr/>
        </p:nvSpPr>
        <p:spPr>
          <a:xfrm>
            <a:off x="886968" y="2386584"/>
            <a:ext cx="10417759" cy="960120"/>
          </a:xfrm>
          <a:prstGeom prst="roundRect">
            <a:avLst>
              <a:gd name="adj" fmla="val 9524"/>
            </a:avLst>
          </a:prstGeom>
          <a:solidFill>
            <a:srgbClr val="FFFFFF"/>
          </a:solidFill>
          <a:ln w="19050">
            <a:solidFill>
              <a:srgbClr val="E76F30"/>
            </a:solidFill>
            <a:prstDash val="solid"/>
          </a:ln>
          <a:effectLst>
            <a:outerShdw blurRad="63500" dist="25400" dir="5400000" algn="bl" rotWithShape="0">
              <a:srgbClr val="1F1F1F">
                <a:alpha val="7000"/>
              </a:srgbClr>
            </a:outerShdw>
          </a:effectLst>
        </p:spPr>
        <p:txBody>
          <a:bodyPr/>
          <a:lstStyle/>
          <a:p>
            <a:endParaRPr/>
          </a:p>
        </p:txBody>
      </p:sp>
      <p:sp>
        <p:nvSpPr>
          <p:cNvPr id="42" name="Shape 39"/>
          <p:cNvSpPr/>
          <p:nvPr/>
        </p:nvSpPr>
        <p:spPr>
          <a:xfrm>
            <a:off x="886968" y="2386584"/>
            <a:ext cx="2331720" cy="960120"/>
          </a:xfrm>
          <a:prstGeom prst="rect">
            <a:avLst/>
          </a:prstGeom>
          <a:solidFill>
            <a:srgbClr val="E76F30"/>
          </a:solidFill>
          <a:ln/>
        </p:spPr>
        <p:txBody>
          <a:bodyPr/>
          <a:lstStyle/>
          <a:p>
            <a:endParaRPr/>
          </a:p>
        </p:txBody>
      </p:sp>
      <p:sp>
        <p:nvSpPr>
          <p:cNvPr id="43" name="Text 40"/>
          <p:cNvSpPr/>
          <p:nvPr/>
        </p:nvSpPr>
        <p:spPr>
          <a:xfrm>
            <a:off x="1014984" y="2386584"/>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Metrics</a:t>
            </a:r>
            <a:endParaRPr lang="en-US" sz="1400" dirty="0"/>
          </a:p>
        </p:txBody>
      </p:sp>
      <p:sp>
        <p:nvSpPr>
          <p:cNvPr id="44" name="Text 41"/>
          <p:cNvSpPr/>
          <p:nvPr/>
        </p:nvSpPr>
        <p:spPr>
          <a:xfrm>
            <a:off x="3401568" y="2441448"/>
            <a:ext cx="7720279"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“HOW BAD is it, right now?” Numbers over time: requests per second, error rate, p95 latency.</a:t>
            </a:r>
            <a:endParaRPr lang="en-US" sz="1300" dirty="0"/>
          </a:p>
        </p:txBody>
      </p:sp>
      <p:sp>
        <p:nvSpPr>
          <p:cNvPr id="45" name="Text 42"/>
          <p:cNvSpPr/>
          <p:nvPr/>
        </p:nvSpPr>
        <p:spPr>
          <a:xfrm>
            <a:off x="9430207" y="2441448"/>
            <a:ext cx="1737360" cy="274320"/>
          </a:xfrm>
          <a:prstGeom prst="rect">
            <a:avLst/>
          </a:prstGeom>
          <a:noFill/>
          <a:ln/>
        </p:spPr>
        <p:txBody>
          <a:bodyPr wrap="square" rtlCol="0" anchor="ctr"/>
          <a:lstStyle/>
          <a:p>
            <a:pPr marL="0" indent="0" algn="r">
              <a:buNone/>
            </a:pPr>
            <a:r>
              <a:rPr lang="en-US" sz="1000" b="1" dirty="0">
                <a:solidFill>
                  <a:srgbClr val="E76F30"/>
                </a:solidFill>
                <a:latin typeface="Segoe UI" pitchFamily="34" charset="0"/>
                <a:ea typeface="Segoe UI" pitchFamily="34" charset="-122"/>
                <a:cs typeface="Segoe UI" pitchFamily="34" charset="-120"/>
              </a:rPr>
              <a:t>HOW BAD</a:t>
            </a:r>
            <a:endParaRPr lang="en-US" sz="1000" dirty="0"/>
          </a:p>
        </p:txBody>
      </p:sp>
      <p:sp>
        <p:nvSpPr>
          <p:cNvPr id="46" name="Shape 43"/>
          <p:cNvSpPr/>
          <p:nvPr/>
        </p:nvSpPr>
        <p:spPr>
          <a:xfrm>
            <a:off x="1271016" y="3493008"/>
            <a:ext cx="9649663" cy="960120"/>
          </a:xfrm>
          <a:prstGeom prst="roundRect">
            <a:avLst>
              <a:gd name="adj" fmla="val 9524"/>
            </a:avLst>
          </a:prstGeom>
          <a:solidFill>
            <a:srgbClr val="FFFFFF"/>
          </a:solidFill>
          <a:ln w="19050">
            <a:solidFill>
              <a:srgbClr val="4A7DE0"/>
            </a:solidFill>
            <a:prstDash val="solid"/>
          </a:ln>
          <a:effectLst>
            <a:outerShdw blurRad="63500" dist="25400" dir="5400000" algn="bl" rotWithShape="0">
              <a:srgbClr val="1F1F1F">
                <a:alpha val="7000"/>
              </a:srgbClr>
            </a:outerShdw>
          </a:effectLst>
        </p:spPr>
        <p:txBody>
          <a:bodyPr/>
          <a:lstStyle/>
          <a:p>
            <a:endParaRPr/>
          </a:p>
        </p:txBody>
      </p:sp>
      <p:sp>
        <p:nvSpPr>
          <p:cNvPr id="47" name="Shape 44"/>
          <p:cNvSpPr/>
          <p:nvPr/>
        </p:nvSpPr>
        <p:spPr>
          <a:xfrm>
            <a:off x="1271016" y="3493008"/>
            <a:ext cx="2331720" cy="960120"/>
          </a:xfrm>
          <a:prstGeom prst="rect">
            <a:avLst/>
          </a:prstGeom>
          <a:solidFill>
            <a:srgbClr val="4A7DE0"/>
          </a:solidFill>
          <a:ln/>
        </p:spPr>
        <p:txBody>
          <a:bodyPr/>
          <a:lstStyle/>
          <a:p>
            <a:endParaRPr/>
          </a:p>
        </p:txBody>
      </p:sp>
      <p:sp>
        <p:nvSpPr>
          <p:cNvPr id="48" name="Text 45"/>
          <p:cNvSpPr/>
          <p:nvPr/>
        </p:nvSpPr>
        <p:spPr>
          <a:xfrm>
            <a:off x="1399032" y="3493008"/>
            <a:ext cx="2084832" cy="96012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Logs</a:t>
            </a:r>
            <a:endParaRPr lang="en-US" sz="1400" dirty="0"/>
          </a:p>
        </p:txBody>
      </p:sp>
      <p:sp>
        <p:nvSpPr>
          <p:cNvPr id="49" name="Text 46"/>
          <p:cNvSpPr/>
          <p:nvPr/>
        </p:nvSpPr>
        <p:spPr>
          <a:xfrm>
            <a:off x="3785616" y="3547872"/>
            <a:ext cx="6952183" cy="850392"/>
          </a:xfrm>
          <a:prstGeom prst="rect">
            <a:avLst/>
          </a:prstGeom>
          <a:noFill/>
          <a:ln/>
        </p:spPr>
        <p:txBody>
          <a:bodyPr wrap="square" rtlCol="0" anchor="ctr"/>
          <a:lstStyle/>
          <a:p>
            <a:pPr marL="0" indent="0">
              <a:lnSpc>
                <a:spcPct val="110000"/>
              </a:lnSpc>
              <a:buNone/>
            </a:pPr>
            <a:r>
              <a:rPr lang="en-US" sz="1300" dirty="0">
                <a:solidFill>
                  <a:srgbClr val="24162A"/>
                </a:solidFill>
                <a:latin typeface="Segoe UI" pitchFamily="34" charset="0"/>
                <a:ea typeface="Segoe UI" pitchFamily="34" charset="-122"/>
                <a:cs typeface="Segoe UI" pitchFamily="34" charset="-120"/>
              </a:rPr>
              <a:t>“WHAT exactly happened to order 8871?” One line per event, with a timestamp and a request id.</a:t>
            </a:r>
            <a:endParaRPr lang="en-US" sz="1300" dirty="0"/>
          </a:p>
        </p:txBody>
      </p:sp>
      <p:sp>
        <p:nvSpPr>
          <p:cNvPr id="50" name="Text 47"/>
          <p:cNvSpPr/>
          <p:nvPr/>
        </p:nvSpPr>
        <p:spPr>
          <a:xfrm>
            <a:off x="9046159" y="3547872"/>
            <a:ext cx="1737360" cy="274320"/>
          </a:xfrm>
          <a:prstGeom prst="rect">
            <a:avLst/>
          </a:prstGeom>
          <a:noFill/>
          <a:ln/>
        </p:spPr>
        <p:txBody>
          <a:bodyPr wrap="square" rtlCol="0" anchor="ctr"/>
          <a:lstStyle/>
          <a:p>
            <a:pPr marL="0" indent="0" algn="r">
              <a:buNone/>
            </a:pPr>
            <a:r>
              <a:rPr lang="en-US" sz="1000" b="1" dirty="0">
                <a:solidFill>
                  <a:srgbClr val="4A7DE0"/>
                </a:solidFill>
                <a:latin typeface="Segoe UI" pitchFamily="34" charset="0"/>
                <a:ea typeface="Segoe UI" pitchFamily="34" charset="-122"/>
                <a:cs typeface="Segoe UI" pitchFamily="34" charset="-120"/>
              </a:rPr>
              <a:t>WHAT</a:t>
            </a:r>
            <a:endParaRPr lang="en-US" sz="1000" dirty="0"/>
          </a:p>
        </p:txBody>
      </p:sp>
      <p:sp>
        <p:nvSpPr>
          <p:cNvPr id="51" name="Shape 48"/>
          <p:cNvSpPr/>
          <p:nvPr/>
        </p:nvSpPr>
        <p:spPr>
          <a:xfrm>
            <a:off x="502920" y="4636008"/>
            <a:ext cx="11185855" cy="713232"/>
          </a:xfrm>
          <a:prstGeom prst="roundRect">
            <a:avLst>
              <a:gd name="adj" fmla="val 11538"/>
            </a:avLst>
          </a:prstGeom>
          <a:solidFill>
            <a:srgbClr val="E1F5EC"/>
          </a:solidFill>
          <a:ln/>
        </p:spPr>
        <p:txBody>
          <a:bodyPr/>
          <a:lstStyle/>
          <a:p>
            <a:endParaRPr/>
          </a:p>
        </p:txBody>
      </p:sp>
      <p:sp>
        <p:nvSpPr>
          <p:cNvPr id="52" name="Shape 49"/>
          <p:cNvSpPr/>
          <p:nvPr/>
        </p:nvSpPr>
        <p:spPr>
          <a:xfrm>
            <a:off x="502920" y="4636008"/>
            <a:ext cx="100584" cy="713232"/>
          </a:xfrm>
          <a:prstGeom prst="rect">
            <a:avLst/>
          </a:prstGeom>
          <a:solidFill>
            <a:srgbClr val="1F8F65"/>
          </a:solidFill>
          <a:ln/>
        </p:spPr>
        <p:txBody>
          <a:bodyPr/>
          <a:lstStyle/>
          <a:p>
            <a:endParaRPr/>
          </a:p>
        </p:txBody>
      </p:sp>
      <p:sp>
        <p:nvSpPr>
          <p:cNvPr id="53" name="Text 50"/>
          <p:cNvSpPr/>
          <p:nvPr/>
        </p:nvSpPr>
        <p:spPr>
          <a:xfrm>
            <a:off x="740664" y="4636008"/>
            <a:ext cx="10783519" cy="713232"/>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Put the same request id in all three signals. Without a shared id they are three separate mysteries instead of one answer.</a:t>
            </a:r>
            <a:endParaRPr lang="en-US" sz="1250" dirty="0"/>
          </a:p>
        </p:txBody>
      </p:sp>
      <p:sp>
        <p:nvSpPr>
          <p:cNvPr id="54" name="Shape 51"/>
          <p:cNvSpPr/>
          <p:nvPr/>
        </p:nvSpPr>
        <p:spPr>
          <a:xfrm>
            <a:off x="502920" y="5532120"/>
            <a:ext cx="54864" cy="201168"/>
          </a:xfrm>
          <a:prstGeom prst="rect">
            <a:avLst/>
          </a:prstGeom>
          <a:solidFill>
            <a:srgbClr val="43BFB8"/>
          </a:solidFill>
          <a:ln/>
        </p:spPr>
        <p:txBody>
          <a:bodyPr/>
          <a:lstStyle/>
          <a:p>
            <a:endParaRPr/>
          </a:p>
        </p:txBody>
      </p:sp>
      <p:sp>
        <p:nvSpPr>
          <p:cNvPr id="55" name="Text 52"/>
          <p:cNvSpPr/>
          <p:nvPr/>
        </p:nvSpPr>
        <p:spPr>
          <a:xfrm>
            <a:off x="667512" y="5440680"/>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opentelemetry.io/docs/concepts/signals  the vendor-neutral standard for logs, metrics and traces  ·  Google SRE book, chapter 6 (Monitoring).</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What the orchestrator does for you    and what it will not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Kubernetes is a very good machine operator. It is not an architect.</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80</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kubernetes.io/docs/concepts/workloads  ·  kubernetes.io/docs/tasks/configure-pod-container/configure-liveness-readiness-startup-probes</a:t>
            </a:r>
            <a:endParaRPr lang="en-US" sz="1050" dirty="0"/>
          </a:p>
        </p:txBody>
      </p:sp>
      <p:sp>
        <p:nvSpPr>
          <p:cNvPr id="36" name="Shape 33"/>
          <p:cNvSpPr/>
          <p:nvPr/>
        </p:nvSpPr>
        <p:spPr>
          <a:xfrm>
            <a:off x="502920" y="1508760"/>
            <a:ext cx="274320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274320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You want</a:t>
            </a:r>
            <a:endParaRPr lang="en-US" sz="1200" dirty="0"/>
          </a:p>
        </p:txBody>
      </p:sp>
      <p:sp>
        <p:nvSpPr>
          <p:cNvPr id="38" name="Shape 35"/>
          <p:cNvSpPr/>
          <p:nvPr/>
        </p:nvSpPr>
        <p:spPr>
          <a:xfrm>
            <a:off x="3246120" y="1508760"/>
            <a:ext cx="420624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3246120" y="1508760"/>
            <a:ext cx="420624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The orchestrator gives you</a:t>
            </a:r>
            <a:endParaRPr lang="en-US" sz="1200" dirty="0"/>
          </a:p>
        </p:txBody>
      </p:sp>
      <p:sp>
        <p:nvSpPr>
          <p:cNvPr id="40" name="Shape 37"/>
          <p:cNvSpPr/>
          <p:nvPr/>
        </p:nvSpPr>
        <p:spPr>
          <a:xfrm>
            <a:off x="7452360" y="1508760"/>
            <a:ext cx="420624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7452360" y="1508760"/>
            <a:ext cx="420624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But only if your design...</a:t>
            </a:r>
            <a:endParaRPr lang="en-US" sz="1200" dirty="0"/>
          </a:p>
        </p:txBody>
      </p:sp>
      <p:sp>
        <p:nvSpPr>
          <p:cNvPr id="42" name="Shape 39"/>
          <p:cNvSpPr/>
          <p:nvPr/>
        </p:nvSpPr>
        <p:spPr>
          <a:xfrm>
            <a:off x="502920" y="2011680"/>
            <a:ext cx="274320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594360" y="201168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More copies under load</a:t>
            </a:r>
            <a:endParaRPr lang="en-US" sz="1200" dirty="0"/>
          </a:p>
        </p:txBody>
      </p:sp>
      <p:sp>
        <p:nvSpPr>
          <p:cNvPr id="44" name="Shape 41"/>
          <p:cNvSpPr/>
          <p:nvPr/>
        </p:nvSpPr>
        <p:spPr>
          <a:xfrm>
            <a:off x="3246120" y="2011680"/>
            <a:ext cx="420624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3337560" y="201168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Horizontal Pod Autoscaler adds and removes copies</a:t>
            </a:r>
            <a:endParaRPr lang="en-US" sz="1200" dirty="0"/>
          </a:p>
        </p:txBody>
      </p:sp>
      <p:sp>
        <p:nvSpPr>
          <p:cNvPr id="46" name="Shape 43"/>
          <p:cNvSpPr/>
          <p:nvPr/>
        </p:nvSpPr>
        <p:spPr>
          <a:xfrm>
            <a:off x="7452360" y="2011680"/>
            <a:ext cx="420624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7543800" y="201168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...keeps no state on the local disk</a:t>
            </a:r>
            <a:endParaRPr lang="en-US" sz="1200" dirty="0"/>
          </a:p>
        </p:txBody>
      </p:sp>
      <p:sp>
        <p:nvSpPr>
          <p:cNvPr id="48" name="Shape 45"/>
          <p:cNvSpPr/>
          <p:nvPr/>
        </p:nvSpPr>
        <p:spPr>
          <a:xfrm>
            <a:off x="502920" y="2606040"/>
            <a:ext cx="274320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594360" y="260604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Survive a machine dying</a:t>
            </a:r>
            <a:endParaRPr lang="en-US" sz="1200" dirty="0"/>
          </a:p>
        </p:txBody>
      </p:sp>
      <p:sp>
        <p:nvSpPr>
          <p:cNvPr id="50" name="Shape 47"/>
          <p:cNvSpPr/>
          <p:nvPr/>
        </p:nvSpPr>
        <p:spPr>
          <a:xfrm>
            <a:off x="3246120" y="2606040"/>
            <a:ext cx="420624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3337560" y="260604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The Pod is recreated on another Node</a:t>
            </a:r>
            <a:endParaRPr lang="en-US" sz="1200" dirty="0"/>
          </a:p>
        </p:txBody>
      </p:sp>
      <p:sp>
        <p:nvSpPr>
          <p:cNvPr id="52" name="Shape 49"/>
          <p:cNvSpPr/>
          <p:nvPr/>
        </p:nvSpPr>
        <p:spPr>
          <a:xfrm>
            <a:off x="7452360" y="2606040"/>
            <a:ext cx="420624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7543800" y="260604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...can restart without losing work in progress</a:t>
            </a:r>
            <a:endParaRPr lang="en-US" sz="1200" dirty="0"/>
          </a:p>
        </p:txBody>
      </p:sp>
      <p:sp>
        <p:nvSpPr>
          <p:cNvPr id="54" name="Shape 51"/>
          <p:cNvSpPr/>
          <p:nvPr/>
        </p:nvSpPr>
        <p:spPr>
          <a:xfrm>
            <a:off x="502920" y="3200400"/>
            <a:ext cx="274320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594360" y="320040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Zero-downtime release</a:t>
            </a:r>
            <a:endParaRPr lang="en-US" sz="1200" dirty="0"/>
          </a:p>
        </p:txBody>
      </p:sp>
      <p:sp>
        <p:nvSpPr>
          <p:cNvPr id="56" name="Shape 53"/>
          <p:cNvSpPr/>
          <p:nvPr/>
        </p:nvSpPr>
        <p:spPr>
          <a:xfrm>
            <a:off x="3246120" y="3200400"/>
            <a:ext cx="420624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3337560" y="320040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Rolling update, a few copies at a time</a:t>
            </a:r>
            <a:endParaRPr lang="en-US" sz="1200" dirty="0"/>
          </a:p>
        </p:txBody>
      </p:sp>
      <p:sp>
        <p:nvSpPr>
          <p:cNvPr id="58" name="Shape 55"/>
          <p:cNvSpPr/>
          <p:nvPr/>
        </p:nvSpPr>
        <p:spPr>
          <a:xfrm>
            <a:off x="7452360" y="3200400"/>
            <a:ext cx="4206240" cy="594360"/>
          </a:xfrm>
          <a:prstGeom prst="rect">
            <a:avLst/>
          </a:prstGeom>
          <a:solidFill>
            <a:srgbClr val="FFFFFF"/>
          </a:solidFill>
          <a:ln w="6350">
            <a:solidFill>
              <a:srgbClr val="E3E0E8"/>
            </a:solidFill>
            <a:prstDash val="solid"/>
          </a:ln>
        </p:spPr>
        <p:txBody>
          <a:bodyPr/>
          <a:lstStyle/>
          <a:p>
            <a:endParaRPr/>
          </a:p>
        </p:txBody>
      </p:sp>
      <p:sp>
        <p:nvSpPr>
          <p:cNvPr id="59" name="Text 56"/>
          <p:cNvSpPr/>
          <p:nvPr/>
        </p:nvSpPr>
        <p:spPr>
          <a:xfrm>
            <a:off x="7543800" y="320040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...has a readiness probe that tells the truth</a:t>
            </a:r>
            <a:endParaRPr lang="en-US" sz="1200" dirty="0"/>
          </a:p>
        </p:txBody>
      </p:sp>
      <p:sp>
        <p:nvSpPr>
          <p:cNvPr id="60" name="Shape 57"/>
          <p:cNvSpPr/>
          <p:nvPr/>
        </p:nvSpPr>
        <p:spPr>
          <a:xfrm>
            <a:off x="502920" y="3794760"/>
            <a:ext cx="274320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594360" y="379476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Traffic to a healthy copy</a:t>
            </a:r>
            <a:endParaRPr lang="en-US" sz="1200" dirty="0"/>
          </a:p>
        </p:txBody>
      </p:sp>
      <p:sp>
        <p:nvSpPr>
          <p:cNvPr id="62" name="Shape 59"/>
          <p:cNvSpPr/>
          <p:nvPr/>
        </p:nvSpPr>
        <p:spPr>
          <a:xfrm>
            <a:off x="3246120" y="3794760"/>
            <a:ext cx="420624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3337560" y="379476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Service load-balances only to ready Pods</a:t>
            </a:r>
            <a:endParaRPr lang="en-US" sz="1200" dirty="0"/>
          </a:p>
        </p:txBody>
      </p:sp>
      <p:sp>
        <p:nvSpPr>
          <p:cNvPr id="64" name="Shape 61"/>
          <p:cNvSpPr/>
          <p:nvPr/>
        </p:nvSpPr>
        <p:spPr>
          <a:xfrm>
            <a:off x="7452360" y="3794760"/>
            <a:ext cx="4206240" cy="594360"/>
          </a:xfrm>
          <a:prstGeom prst="rect">
            <a:avLst/>
          </a:prstGeom>
          <a:solidFill>
            <a:srgbClr val="FBFCFD"/>
          </a:solidFill>
          <a:ln w="6350">
            <a:solidFill>
              <a:srgbClr val="E3E0E8"/>
            </a:solidFill>
            <a:prstDash val="solid"/>
          </a:ln>
        </p:spPr>
        <p:txBody>
          <a:bodyPr/>
          <a:lstStyle/>
          <a:p>
            <a:endParaRPr/>
          </a:p>
        </p:txBody>
      </p:sp>
      <p:sp>
        <p:nvSpPr>
          <p:cNvPr id="65" name="Text 62"/>
          <p:cNvSpPr/>
          <p:nvPr/>
        </p:nvSpPr>
        <p:spPr>
          <a:xfrm>
            <a:off x="7543800" y="379476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...answers /ready with 200 only when it really is</a:t>
            </a:r>
            <a:endParaRPr lang="en-US" sz="1200" dirty="0"/>
          </a:p>
        </p:txBody>
      </p:sp>
      <p:sp>
        <p:nvSpPr>
          <p:cNvPr id="66" name="Shape 63"/>
          <p:cNvSpPr/>
          <p:nvPr/>
        </p:nvSpPr>
        <p:spPr>
          <a:xfrm>
            <a:off x="502920" y="4389120"/>
            <a:ext cx="274320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594360" y="438912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Config and secrets outside code</a:t>
            </a:r>
            <a:endParaRPr lang="en-US" sz="1200" dirty="0"/>
          </a:p>
        </p:txBody>
      </p:sp>
      <p:sp>
        <p:nvSpPr>
          <p:cNvPr id="68" name="Shape 65"/>
          <p:cNvSpPr/>
          <p:nvPr/>
        </p:nvSpPr>
        <p:spPr>
          <a:xfrm>
            <a:off x="3246120" y="4389120"/>
            <a:ext cx="4206240" cy="594360"/>
          </a:xfrm>
          <a:prstGeom prst="rect">
            <a:avLst/>
          </a:prstGeom>
          <a:solidFill>
            <a:srgbClr val="FFFFFF"/>
          </a:solidFill>
          <a:ln w="6350">
            <a:solidFill>
              <a:srgbClr val="E3E0E8"/>
            </a:solidFill>
            <a:prstDash val="solid"/>
          </a:ln>
        </p:spPr>
        <p:txBody>
          <a:bodyPr/>
          <a:lstStyle/>
          <a:p>
            <a:endParaRPr/>
          </a:p>
        </p:txBody>
      </p:sp>
      <p:sp>
        <p:nvSpPr>
          <p:cNvPr id="69" name="Text 66"/>
          <p:cNvSpPr/>
          <p:nvPr/>
        </p:nvSpPr>
        <p:spPr>
          <a:xfrm>
            <a:off x="3337560" y="438912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ConfigMap and Secret, injected at start-up</a:t>
            </a:r>
            <a:endParaRPr lang="en-US" sz="1200" dirty="0"/>
          </a:p>
        </p:txBody>
      </p:sp>
      <p:sp>
        <p:nvSpPr>
          <p:cNvPr id="70" name="Shape 67"/>
          <p:cNvSpPr/>
          <p:nvPr/>
        </p:nvSpPr>
        <p:spPr>
          <a:xfrm>
            <a:off x="7452360" y="4389120"/>
            <a:ext cx="4206240" cy="594360"/>
          </a:xfrm>
          <a:prstGeom prst="rect">
            <a:avLst/>
          </a:prstGeom>
          <a:solidFill>
            <a:srgbClr val="FFFFFF"/>
          </a:solidFill>
          <a:ln w="6350">
            <a:solidFill>
              <a:srgbClr val="E3E0E8"/>
            </a:solidFill>
            <a:prstDash val="solid"/>
          </a:ln>
        </p:spPr>
        <p:txBody>
          <a:bodyPr/>
          <a:lstStyle/>
          <a:p>
            <a:endParaRPr/>
          </a:p>
        </p:txBody>
      </p:sp>
      <p:sp>
        <p:nvSpPr>
          <p:cNvPr id="71" name="Text 68"/>
          <p:cNvSpPr/>
          <p:nvPr/>
        </p:nvSpPr>
        <p:spPr>
          <a:xfrm>
            <a:off x="7543800" y="438912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...reads them from the environment, not a file in Git</a:t>
            </a:r>
            <a:endParaRPr lang="en-US" sz="1200" dirty="0"/>
          </a:p>
        </p:txBody>
      </p:sp>
      <p:sp>
        <p:nvSpPr>
          <p:cNvPr id="72" name="Shape 69"/>
          <p:cNvSpPr/>
          <p:nvPr/>
        </p:nvSpPr>
        <p:spPr>
          <a:xfrm>
            <a:off x="502920" y="4983480"/>
            <a:ext cx="2743200" cy="594360"/>
          </a:xfrm>
          <a:prstGeom prst="rect">
            <a:avLst/>
          </a:prstGeom>
          <a:solidFill>
            <a:srgbClr val="FBFCFD"/>
          </a:solidFill>
          <a:ln w="6350">
            <a:solidFill>
              <a:srgbClr val="E3E0E8"/>
            </a:solidFill>
            <a:prstDash val="solid"/>
          </a:ln>
        </p:spPr>
        <p:txBody>
          <a:bodyPr/>
          <a:lstStyle/>
          <a:p>
            <a:endParaRPr/>
          </a:p>
        </p:txBody>
      </p:sp>
      <p:sp>
        <p:nvSpPr>
          <p:cNvPr id="73" name="Text 70"/>
          <p:cNvSpPr/>
          <p:nvPr/>
        </p:nvSpPr>
        <p:spPr>
          <a:xfrm>
            <a:off x="594360" y="4983480"/>
            <a:ext cx="256032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Fair resource use</a:t>
            </a:r>
            <a:endParaRPr lang="en-US" sz="1200" dirty="0"/>
          </a:p>
        </p:txBody>
      </p:sp>
      <p:sp>
        <p:nvSpPr>
          <p:cNvPr id="74" name="Shape 71"/>
          <p:cNvSpPr/>
          <p:nvPr/>
        </p:nvSpPr>
        <p:spPr>
          <a:xfrm>
            <a:off x="3246120" y="4983480"/>
            <a:ext cx="4206240" cy="594360"/>
          </a:xfrm>
          <a:prstGeom prst="rect">
            <a:avLst/>
          </a:prstGeom>
          <a:solidFill>
            <a:srgbClr val="FBFCFD"/>
          </a:solidFill>
          <a:ln w="6350">
            <a:solidFill>
              <a:srgbClr val="E3E0E8"/>
            </a:solidFill>
            <a:prstDash val="solid"/>
          </a:ln>
        </p:spPr>
        <p:txBody>
          <a:bodyPr/>
          <a:lstStyle/>
          <a:p>
            <a:endParaRPr/>
          </a:p>
        </p:txBody>
      </p:sp>
      <p:sp>
        <p:nvSpPr>
          <p:cNvPr id="75" name="Text 72"/>
          <p:cNvSpPr/>
          <p:nvPr/>
        </p:nvSpPr>
        <p:spPr>
          <a:xfrm>
            <a:off x="3337560" y="498348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Requests and limits per Pod</a:t>
            </a:r>
            <a:endParaRPr lang="en-US" sz="1200" dirty="0"/>
          </a:p>
        </p:txBody>
      </p:sp>
      <p:sp>
        <p:nvSpPr>
          <p:cNvPr id="76" name="Shape 73"/>
          <p:cNvSpPr/>
          <p:nvPr/>
        </p:nvSpPr>
        <p:spPr>
          <a:xfrm>
            <a:off x="7452360" y="4983480"/>
            <a:ext cx="4206240" cy="594360"/>
          </a:xfrm>
          <a:prstGeom prst="rect">
            <a:avLst/>
          </a:prstGeom>
          <a:solidFill>
            <a:srgbClr val="FBFCFD"/>
          </a:solidFill>
          <a:ln w="6350">
            <a:solidFill>
              <a:srgbClr val="E3E0E8"/>
            </a:solidFill>
            <a:prstDash val="solid"/>
          </a:ln>
        </p:spPr>
        <p:txBody>
          <a:bodyPr/>
          <a:lstStyle/>
          <a:p>
            <a:endParaRPr/>
          </a:p>
        </p:txBody>
      </p:sp>
      <p:sp>
        <p:nvSpPr>
          <p:cNvPr id="77" name="Text 74"/>
          <p:cNvSpPr/>
          <p:nvPr/>
        </p:nvSpPr>
        <p:spPr>
          <a:xfrm>
            <a:off x="7543800" y="498348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...has a measured memory and CPU need, not a guess</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decide scale up or scale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in pairs. Use the numbers from the last sale day.</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81</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Define the two moves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Scale up = a bigger machine. Scale out = more identical copies.</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Ask the state question first</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Does checkout keep the session on local disk? If yes, scaling out cannot work yet.</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Read one real number</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Last sale: checkout p95 was 11 seconds while CPU sat at 30 percent.</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first action</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Either “move sessions to a shared store, then add copies”, or “fix the query before buying anything”.</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sale-day numbers</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traffic  : x3</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CPU      : 30 %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p95      : 2 s  -&gt;  41 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action taken by the team: bigger servers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result   : no improvement</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diagnosis: sessions on local disk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=&gt; the service was stateful</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correct order:</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1. move session to shared store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2. scale out to more copies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3. autoscale on p95, never on average</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written decision  up, out, or fix state first  with the number that justifies it.</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Fix state first, then scale out, then autoscale on p95. Best practice: 30 percent CPU proves capacity was not the problem.</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12factor.net/processes  ·  k6.io/docs (load testing)  ·  kubernetes.io Horizontal Pod Autoscaler on custom metrics.</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700" b="1" dirty="0">
                <a:solidFill>
                  <a:srgbClr val="5F1B3C"/>
                </a:solidFill>
                <a:latin typeface="Segoe UI" pitchFamily="34" charset="0"/>
                <a:ea typeface="Segoe UI" pitchFamily="34" charset="-122"/>
                <a:cs typeface="Segoe UI" pitchFamily="34" charset="-120"/>
              </a:rPr>
              <a:t>The two lines that make a service operable    line by line</a:t>
            </a:r>
            <a:endParaRPr lang="en-US" sz="17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Health checks and structured logs. Nine lines that decide whether your night operator can sleep.</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83</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services/catalog/server.js</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JAVASCRIPT</a:t>
            </a:r>
            <a:endParaRPr lang="en-US" sz="850" dirty="0"/>
          </a:p>
        </p:txBody>
      </p:sp>
      <p:sp>
        <p:nvSpPr>
          <p:cNvPr id="43" name="Text 40"/>
          <p:cNvSpPr/>
          <p:nvPr/>
        </p:nvSpPr>
        <p:spPr>
          <a:xfrm>
            <a:off x="594360" y="159105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1</a:t>
            </a:r>
            <a:endParaRPr lang="en-US" sz="800" dirty="0"/>
          </a:p>
        </p:txBody>
      </p:sp>
      <p:sp>
        <p:nvSpPr>
          <p:cNvPr id="44" name="Text 41"/>
          <p:cNvSpPr/>
          <p:nvPr/>
        </p:nvSpPr>
        <p:spPr>
          <a:xfrm>
            <a:off x="960120" y="159105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app.get("/health", (req, res) =&gt;</a:t>
            </a:r>
            <a:endParaRPr lang="en-US" sz="950" dirty="0"/>
          </a:p>
        </p:txBody>
      </p:sp>
      <p:sp>
        <p:nvSpPr>
          <p:cNvPr id="45" name="Shape 42"/>
          <p:cNvSpPr/>
          <p:nvPr/>
        </p:nvSpPr>
        <p:spPr>
          <a:xfrm>
            <a:off x="6035040" y="1709928"/>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 tiny address the platform can call to ask “are you alive?”.</a:t>
            </a:r>
            <a:endParaRPr lang="en-US" sz="1100" dirty="0"/>
          </a:p>
        </p:txBody>
      </p:sp>
      <p:sp>
        <p:nvSpPr>
          <p:cNvPr id="47" name="Text 44"/>
          <p:cNvSpPr/>
          <p:nvPr/>
        </p:nvSpPr>
        <p:spPr>
          <a:xfrm>
            <a:off x="594360" y="197510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2</a:t>
            </a:r>
            <a:endParaRPr lang="en-US" sz="800" dirty="0"/>
          </a:p>
        </p:txBody>
      </p:sp>
      <p:sp>
        <p:nvSpPr>
          <p:cNvPr id="48" name="Text 45"/>
          <p:cNvSpPr/>
          <p:nvPr/>
        </p:nvSpPr>
        <p:spPr>
          <a:xfrm>
            <a:off x="960120" y="197510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res.json({ status: "ok" }));</a:t>
            </a:r>
            <a:endParaRPr lang="en-US" sz="950" dirty="0"/>
          </a:p>
        </p:txBody>
      </p:sp>
      <p:sp>
        <p:nvSpPr>
          <p:cNvPr id="49" name="Shape 46"/>
          <p:cNvSpPr/>
          <p:nvPr/>
        </p:nvSpPr>
        <p:spPr>
          <a:xfrm>
            <a:off x="6035040" y="2093976"/>
            <a:ext cx="155448" cy="155448"/>
          </a:xfrm>
          <a:prstGeom prst="ellipse">
            <a:avLst/>
          </a:prstGeom>
          <a:solidFill>
            <a:srgbClr val="43BFB8"/>
          </a:solidFill>
          <a:ln/>
        </p:spPr>
        <p:txBody>
          <a:bodyPr/>
          <a:lstStyle/>
          <a:p>
            <a:endParaRPr/>
          </a:p>
        </p:txBody>
      </p:sp>
      <p:sp>
        <p:nvSpPr>
          <p:cNvPr id="50" name="Text 47"/>
          <p:cNvSpPr/>
          <p:nvPr/>
        </p:nvSpPr>
        <p:spPr>
          <a:xfrm>
            <a:off x="6291072" y="197510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Answer immediately. Never check the database here, or a slow database restarts a healthy service.</a:t>
            </a:r>
            <a:endParaRPr lang="en-US" sz="1100" dirty="0"/>
          </a:p>
        </p:txBody>
      </p:sp>
      <p:sp>
        <p:nvSpPr>
          <p:cNvPr id="51" name="Text 48"/>
          <p:cNvSpPr/>
          <p:nvPr/>
        </p:nvSpPr>
        <p:spPr>
          <a:xfrm>
            <a:off x="594360" y="235915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3</a:t>
            </a:r>
            <a:endParaRPr lang="en-US" sz="800" dirty="0"/>
          </a:p>
        </p:txBody>
      </p:sp>
      <p:sp>
        <p:nvSpPr>
          <p:cNvPr id="52" name="Text 49"/>
          <p:cNvSpPr/>
          <p:nvPr/>
        </p:nvSpPr>
        <p:spPr>
          <a:xfrm>
            <a:off x="960120" y="235915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app.get("/ready", async (req, res) =&gt; {</a:t>
            </a:r>
            <a:endParaRPr lang="en-US" sz="950" dirty="0"/>
          </a:p>
        </p:txBody>
      </p:sp>
      <p:sp>
        <p:nvSpPr>
          <p:cNvPr id="53" name="Shape 50"/>
          <p:cNvSpPr/>
          <p:nvPr/>
        </p:nvSpPr>
        <p:spPr>
          <a:xfrm>
            <a:off x="6035040" y="2478024"/>
            <a:ext cx="155448" cy="155448"/>
          </a:xfrm>
          <a:prstGeom prst="ellipse">
            <a:avLst/>
          </a:prstGeom>
          <a:solidFill>
            <a:srgbClr val="43BFB8"/>
          </a:solidFill>
          <a:ln/>
        </p:spPr>
        <p:txBody>
          <a:bodyPr/>
          <a:lstStyle/>
          <a:p>
            <a:endParaRPr/>
          </a:p>
        </p:txBody>
      </p:sp>
      <p:sp>
        <p:nvSpPr>
          <p:cNvPr id="54" name="Text 51"/>
          <p:cNvSpPr/>
          <p:nvPr/>
        </p:nvSpPr>
        <p:spPr>
          <a:xfrm>
            <a:off x="6291072" y="235915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 second address: “are you ready to receive real traffic?”. This one is allowed to check dependencies.</a:t>
            </a:r>
            <a:endParaRPr lang="en-US" sz="1100" dirty="0"/>
          </a:p>
        </p:txBody>
      </p:sp>
      <p:sp>
        <p:nvSpPr>
          <p:cNvPr id="55" name="Text 52"/>
          <p:cNvSpPr/>
          <p:nvPr/>
        </p:nvSpPr>
        <p:spPr>
          <a:xfrm>
            <a:off x="594360" y="274320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4</a:t>
            </a:r>
            <a:endParaRPr lang="en-US" sz="800" dirty="0"/>
          </a:p>
        </p:txBody>
      </p:sp>
      <p:sp>
        <p:nvSpPr>
          <p:cNvPr id="56" name="Text 53"/>
          <p:cNvSpPr/>
          <p:nvPr/>
        </p:nvSpPr>
        <p:spPr>
          <a:xfrm>
            <a:off x="960120" y="274320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const ok = await db.ping();</a:t>
            </a:r>
            <a:endParaRPr lang="en-US" sz="950" dirty="0"/>
          </a:p>
        </p:txBody>
      </p:sp>
      <p:sp>
        <p:nvSpPr>
          <p:cNvPr id="57" name="Shape 54"/>
          <p:cNvSpPr/>
          <p:nvPr/>
        </p:nvSpPr>
        <p:spPr>
          <a:xfrm>
            <a:off x="6035040" y="2862072"/>
            <a:ext cx="155448" cy="155448"/>
          </a:xfrm>
          <a:prstGeom prst="ellipse">
            <a:avLst/>
          </a:prstGeom>
          <a:solidFill>
            <a:srgbClr val="43BFB8"/>
          </a:solidFill>
          <a:ln/>
        </p:spPr>
        <p:txBody>
          <a:bodyPr/>
          <a:lstStyle/>
          <a:p>
            <a:endParaRPr/>
          </a:p>
        </p:txBody>
      </p:sp>
      <p:sp>
        <p:nvSpPr>
          <p:cNvPr id="58" name="Text 55"/>
          <p:cNvSpPr/>
          <p:nvPr/>
        </p:nvSpPr>
        <p:spPr>
          <a:xfrm>
            <a:off x="6291072" y="274320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Ask the database if it answers. If not, we are alive but not ready.</a:t>
            </a:r>
            <a:endParaRPr lang="en-US" sz="1100" dirty="0"/>
          </a:p>
        </p:txBody>
      </p:sp>
      <p:sp>
        <p:nvSpPr>
          <p:cNvPr id="59" name="Text 56"/>
          <p:cNvSpPr/>
          <p:nvPr/>
        </p:nvSpPr>
        <p:spPr>
          <a:xfrm>
            <a:off x="594360" y="3127248"/>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5</a:t>
            </a:r>
            <a:endParaRPr lang="en-US" sz="800" dirty="0"/>
          </a:p>
        </p:txBody>
      </p:sp>
      <p:sp>
        <p:nvSpPr>
          <p:cNvPr id="60" name="Text 57"/>
          <p:cNvSpPr/>
          <p:nvPr/>
        </p:nvSpPr>
        <p:spPr>
          <a:xfrm>
            <a:off x="960120" y="3127248"/>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res.status(ok ? 200 : 503).end();</a:t>
            </a:r>
            <a:endParaRPr lang="en-US" sz="950" dirty="0"/>
          </a:p>
        </p:txBody>
      </p:sp>
      <p:sp>
        <p:nvSpPr>
          <p:cNvPr id="61" name="Shape 58"/>
          <p:cNvSpPr/>
          <p:nvPr/>
        </p:nvSpPr>
        <p:spPr>
          <a:xfrm>
            <a:off x="6035040" y="3246120"/>
            <a:ext cx="155448" cy="155448"/>
          </a:xfrm>
          <a:prstGeom prst="ellipse">
            <a:avLst/>
          </a:prstGeom>
          <a:solidFill>
            <a:srgbClr val="43BFB8"/>
          </a:solidFill>
          <a:ln/>
        </p:spPr>
        <p:txBody>
          <a:bodyPr/>
          <a:lstStyle/>
          <a:p>
            <a:endParaRPr/>
          </a:p>
        </p:txBody>
      </p:sp>
      <p:sp>
        <p:nvSpPr>
          <p:cNvPr id="62" name="Text 59"/>
          <p:cNvSpPr/>
          <p:nvPr/>
        </p:nvSpPr>
        <p:spPr>
          <a:xfrm>
            <a:off x="6291072" y="3127248"/>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200 means send me shoppers. 503 means hold traffic, do not kill me.</a:t>
            </a:r>
            <a:endParaRPr lang="en-US" sz="1100" dirty="0"/>
          </a:p>
        </p:txBody>
      </p:sp>
      <p:sp>
        <p:nvSpPr>
          <p:cNvPr id="63" name="Text 60"/>
          <p:cNvSpPr/>
          <p:nvPr/>
        </p:nvSpPr>
        <p:spPr>
          <a:xfrm>
            <a:off x="594360" y="351129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6</a:t>
            </a:r>
            <a:endParaRPr lang="en-US" sz="800" dirty="0"/>
          </a:p>
        </p:txBody>
      </p:sp>
      <p:sp>
        <p:nvSpPr>
          <p:cNvPr id="64" name="Text 61"/>
          <p:cNvSpPr/>
          <p:nvPr/>
        </p:nvSpPr>
        <p:spPr>
          <a:xfrm>
            <a:off x="960120" y="351129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a:t>
            </a:r>
            <a:endParaRPr lang="en-US" sz="950" dirty="0"/>
          </a:p>
        </p:txBody>
      </p:sp>
      <p:sp>
        <p:nvSpPr>
          <p:cNvPr id="65" name="Shape 62"/>
          <p:cNvSpPr/>
          <p:nvPr/>
        </p:nvSpPr>
        <p:spPr>
          <a:xfrm>
            <a:off x="6035040" y="3630168"/>
            <a:ext cx="155448" cy="155448"/>
          </a:xfrm>
          <a:prstGeom prst="ellipse">
            <a:avLst/>
          </a:prstGeom>
          <a:solidFill>
            <a:srgbClr val="43BFB8"/>
          </a:solidFill>
          <a:ln/>
        </p:spPr>
        <p:txBody>
          <a:bodyPr/>
          <a:lstStyle/>
          <a:p>
            <a:endParaRPr/>
          </a:p>
        </p:txBody>
      </p:sp>
      <p:sp>
        <p:nvSpPr>
          <p:cNvPr id="66" name="Text 63"/>
          <p:cNvSpPr/>
          <p:nvPr/>
        </p:nvSpPr>
        <p:spPr>
          <a:xfrm>
            <a:off x="6291072" y="351129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End of the readiness check. Two addresses, two very different questions.</a:t>
            </a:r>
            <a:endParaRPr lang="en-US" sz="1100" dirty="0"/>
          </a:p>
        </p:txBody>
      </p:sp>
      <p:sp>
        <p:nvSpPr>
          <p:cNvPr id="67" name="Text 64"/>
          <p:cNvSpPr/>
          <p:nvPr/>
        </p:nvSpPr>
        <p:spPr>
          <a:xfrm>
            <a:off x="594360" y="389534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7</a:t>
            </a:r>
            <a:endParaRPr lang="en-US" sz="800" dirty="0"/>
          </a:p>
        </p:txBody>
      </p:sp>
      <p:sp>
        <p:nvSpPr>
          <p:cNvPr id="68" name="Text 65"/>
          <p:cNvSpPr/>
          <p:nvPr/>
        </p:nvSpPr>
        <p:spPr>
          <a:xfrm>
            <a:off x="960120" y="389534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function log(event, data) {</a:t>
            </a:r>
            <a:endParaRPr lang="en-US" sz="950" dirty="0"/>
          </a:p>
        </p:txBody>
      </p:sp>
      <p:sp>
        <p:nvSpPr>
          <p:cNvPr id="69" name="Shape 66"/>
          <p:cNvSpPr/>
          <p:nvPr/>
        </p:nvSpPr>
        <p:spPr>
          <a:xfrm>
            <a:off x="6035040" y="4014216"/>
            <a:ext cx="155448" cy="155448"/>
          </a:xfrm>
          <a:prstGeom prst="ellipse">
            <a:avLst/>
          </a:prstGeom>
          <a:solidFill>
            <a:srgbClr val="43BFB8"/>
          </a:solidFill>
          <a:ln/>
        </p:spPr>
        <p:txBody>
          <a:bodyPr/>
          <a:lstStyle/>
          <a:p>
            <a:endParaRPr/>
          </a:p>
        </p:txBody>
      </p:sp>
      <p:sp>
        <p:nvSpPr>
          <p:cNvPr id="70" name="Text 67"/>
          <p:cNvSpPr/>
          <p:nvPr/>
        </p:nvSpPr>
        <p:spPr>
          <a:xfrm>
            <a:off x="6291072" y="389534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One place for all logging, so every line in the whole service has the same shape.</a:t>
            </a:r>
            <a:endParaRPr lang="en-US" sz="1100" dirty="0"/>
          </a:p>
        </p:txBody>
      </p:sp>
      <p:sp>
        <p:nvSpPr>
          <p:cNvPr id="71" name="Text 68"/>
          <p:cNvSpPr/>
          <p:nvPr/>
        </p:nvSpPr>
        <p:spPr>
          <a:xfrm>
            <a:off x="594360" y="427939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8</a:t>
            </a:r>
            <a:endParaRPr lang="en-US" sz="800" dirty="0"/>
          </a:p>
        </p:txBody>
      </p:sp>
      <p:sp>
        <p:nvSpPr>
          <p:cNvPr id="72" name="Text 69"/>
          <p:cNvSpPr/>
          <p:nvPr/>
        </p:nvSpPr>
        <p:spPr>
          <a:xfrm>
            <a:off x="960120" y="427939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console.log(JSON.stringify({ ts: Date.now(),</a:t>
            </a:r>
            <a:endParaRPr lang="en-US" sz="950" dirty="0"/>
          </a:p>
        </p:txBody>
      </p:sp>
      <p:sp>
        <p:nvSpPr>
          <p:cNvPr id="73" name="Shape 70"/>
          <p:cNvSpPr/>
          <p:nvPr/>
        </p:nvSpPr>
        <p:spPr>
          <a:xfrm>
            <a:off x="6035040" y="4398264"/>
            <a:ext cx="155448" cy="155448"/>
          </a:xfrm>
          <a:prstGeom prst="ellipse">
            <a:avLst/>
          </a:prstGeom>
          <a:solidFill>
            <a:srgbClr val="43BFB8"/>
          </a:solidFill>
          <a:ln/>
        </p:spPr>
        <p:txBody>
          <a:bodyPr/>
          <a:lstStyle/>
          <a:p>
            <a:endParaRPr/>
          </a:p>
        </p:txBody>
      </p:sp>
      <p:sp>
        <p:nvSpPr>
          <p:cNvPr id="74" name="Text 71"/>
          <p:cNvSpPr/>
          <p:nvPr/>
        </p:nvSpPr>
        <p:spPr>
          <a:xfrm>
            <a:off x="6291072" y="427939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 timestamp on every line. Without it you cannot line up two services during an incident.</a:t>
            </a:r>
            <a:endParaRPr lang="en-US" sz="1100" dirty="0"/>
          </a:p>
        </p:txBody>
      </p:sp>
      <p:sp>
        <p:nvSpPr>
          <p:cNvPr id="75" name="Text 72"/>
          <p:cNvSpPr/>
          <p:nvPr/>
        </p:nvSpPr>
        <p:spPr>
          <a:xfrm>
            <a:off x="594360" y="466344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9</a:t>
            </a:r>
            <a:endParaRPr lang="en-US" sz="800" dirty="0"/>
          </a:p>
        </p:txBody>
      </p:sp>
      <p:sp>
        <p:nvSpPr>
          <p:cNvPr id="76" name="Text 73"/>
          <p:cNvSpPr/>
          <p:nvPr/>
        </p:nvSpPr>
        <p:spPr>
          <a:xfrm>
            <a:off x="960120" y="466344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event, requestId: data.requestId, ...data }));</a:t>
            </a:r>
            <a:endParaRPr lang="en-US" sz="950" dirty="0"/>
          </a:p>
        </p:txBody>
      </p:sp>
      <p:sp>
        <p:nvSpPr>
          <p:cNvPr id="77" name="Shape 74"/>
          <p:cNvSpPr/>
          <p:nvPr/>
        </p:nvSpPr>
        <p:spPr>
          <a:xfrm>
            <a:off x="6035040" y="4782312"/>
            <a:ext cx="155448" cy="155448"/>
          </a:xfrm>
          <a:prstGeom prst="ellipse">
            <a:avLst/>
          </a:prstGeom>
          <a:solidFill>
            <a:srgbClr val="43BFB8"/>
          </a:solidFill>
          <a:ln/>
        </p:spPr>
        <p:txBody>
          <a:bodyPr/>
          <a:lstStyle/>
          <a:p>
            <a:endParaRPr/>
          </a:p>
        </p:txBody>
      </p:sp>
      <p:sp>
        <p:nvSpPr>
          <p:cNvPr id="78" name="Text 75"/>
          <p:cNvSpPr/>
          <p:nvPr/>
        </p:nvSpPr>
        <p:spPr>
          <a:xfrm>
            <a:off x="6291072" y="466344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 request id on every line. This is what lets you follow one shopper through five services.</a:t>
            </a:r>
            <a:endParaRPr lang="en-US" sz="1100" dirty="0"/>
          </a:p>
        </p:txBody>
      </p:sp>
      <p:sp>
        <p:nvSpPr>
          <p:cNvPr id="79" name="Shape 76"/>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80" name="Shape 77"/>
          <p:cNvSpPr/>
          <p:nvPr/>
        </p:nvSpPr>
        <p:spPr>
          <a:xfrm>
            <a:off x="502920" y="5175504"/>
            <a:ext cx="100584" cy="676656"/>
          </a:xfrm>
          <a:prstGeom prst="rect">
            <a:avLst/>
          </a:prstGeom>
          <a:solidFill>
            <a:srgbClr val="E76F30"/>
          </a:solidFill>
          <a:ln/>
        </p:spPr>
        <p:txBody>
          <a:bodyPr/>
          <a:lstStyle/>
          <a:p>
            <a:endParaRPr/>
          </a:p>
        </p:txBody>
      </p:sp>
      <p:sp>
        <p:nvSpPr>
          <p:cNvPr id="81" name="Text 78"/>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Liveness answers “am I alive”, readiness answers “should you send me work”. Mixing them causes healthy services to be killed during a database blip. And a log line without a timestamp and a request id cannot be searched, which means at 2 a.m. it does not exist.</a:t>
            </a:r>
            <a:endParaRPr lang="en-US" sz="1250" dirty="0"/>
          </a:p>
        </p:txBody>
      </p:sp>
      <p:sp>
        <p:nvSpPr>
          <p:cNvPr id="82" name="Shape 79"/>
          <p:cNvSpPr/>
          <p:nvPr/>
        </p:nvSpPr>
        <p:spPr>
          <a:xfrm>
            <a:off x="502920" y="5980176"/>
            <a:ext cx="54864" cy="201168"/>
          </a:xfrm>
          <a:prstGeom prst="rect">
            <a:avLst/>
          </a:prstGeom>
          <a:solidFill>
            <a:srgbClr val="43BFB8"/>
          </a:solidFill>
          <a:ln/>
        </p:spPr>
        <p:txBody>
          <a:bodyPr/>
          <a:lstStyle/>
          <a:p>
            <a:endParaRPr/>
          </a:p>
        </p:txBody>
      </p:sp>
      <p:sp>
        <p:nvSpPr>
          <p:cNvPr id="83" name="Text 80"/>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kubernetes.io/docs/tasks/configure-pod-container/configure-liveness-readiness-startup-probes  ·  opentelemetry.io/docs/concepts/signals/logs</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000" b="1" dirty="0">
                <a:solidFill>
                  <a:srgbClr val="5F1B3C"/>
                </a:solidFill>
                <a:latin typeface="Segoe UI" pitchFamily="34" charset="0"/>
                <a:ea typeface="Segoe UI" pitchFamily="34" charset="-122"/>
                <a:cs typeface="Segoe UI" pitchFamily="34" charset="-120"/>
              </a:rPr>
              <a:t>Practise: write three resilience rules for checkout</a:t>
            </a:r>
            <a:endParaRPr lang="en-US" sz="20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10 minutes, in pairs. Plain English messages, not error codes.</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85</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Pick three dependencies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Payments, Catalog, Reviews.</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Set a timeout and a message</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Payments: wait at most 2 seconds, then say “Payment is busy. Your card was not charged.”</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Add a circuit breaker</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After 5 failures, stop calling payments for 30 seconds and let it recover.</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Isolate the optional part</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Reviews get their own pool. If reviews die, the product page still sells.</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rule card</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PAYMENTS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timeout 2s · breaker 5 fails / open 30s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retry ONLY with an Idempotency-Key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message: card was NOT charged</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CATALOG</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timeout 500ms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if down: do not start new checkouts</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REVIEWS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own thread pool · failure is hidden</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stars may be empty, the item still sells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A small table: dependency, timeout, user message, retry yes or no.</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Money gets timeout, breaker and idempotent retry. Reviews are isolated and allowed to fail. Best practice: the message must say whether money moved.</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learn.microsoft.com/azure/architecture/patterns/circuit-breaker  ·  resilience4j.readme.io/docs/circuitbreaker</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Logs and dashboards    do and don't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difference between a five-minute incident and a five-hour one.</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87</a:t>
            </a:r>
            <a:endParaRPr lang="en-US" sz="1000" dirty="0"/>
          </a:p>
        </p:txBody>
      </p:sp>
      <p:sp>
        <p:nvSpPr>
          <p:cNvPr id="36" name="Shape 33"/>
          <p:cNvSpPr/>
          <p:nvPr/>
        </p:nvSpPr>
        <p:spPr>
          <a:xfrm>
            <a:off x="502920" y="1243584"/>
            <a:ext cx="5455768" cy="420624"/>
          </a:xfrm>
          <a:prstGeom prst="roundRect">
            <a:avLst>
              <a:gd name="adj" fmla="val 19565"/>
            </a:avLst>
          </a:prstGeom>
          <a:solidFill>
            <a:srgbClr val="1F8F65"/>
          </a:solidFill>
          <a:ln/>
        </p:spPr>
        <p:txBody>
          <a:bodyPr/>
          <a:lstStyle/>
          <a:p>
            <a:endParaRPr/>
          </a:p>
        </p:txBody>
      </p:sp>
      <p:sp>
        <p:nvSpPr>
          <p:cNvPr id="37" name="Text 34"/>
          <p:cNvSpPr/>
          <p:nvPr/>
        </p:nvSpPr>
        <p:spPr>
          <a:xfrm>
            <a:off x="685800"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    best practice</a:t>
            </a:r>
            <a:endParaRPr lang="en-US" sz="1300" dirty="0"/>
          </a:p>
        </p:txBody>
      </p:sp>
      <p:sp>
        <p:nvSpPr>
          <p:cNvPr id="38" name="Shape 35"/>
          <p:cNvSpPr/>
          <p:nvPr/>
        </p:nvSpPr>
        <p:spPr>
          <a:xfrm>
            <a:off x="6233008" y="1243584"/>
            <a:ext cx="5455768" cy="420624"/>
          </a:xfrm>
          <a:prstGeom prst="roundRect">
            <a:avLst>
              <a:gd name="adj" fmla="val 19565"/>
            </a:avLst>
          </a:prstGeom>
          <a:solidFill>
            <a:srgbClr val="DC2626"/>
          </a:solidFill>
          <a:ln/>
        </p:spPr>
        <p:txBody>
          <a:bodyPr/>
          <a:lstStyle/>
          <a:p>
            <a:endParaRPr/>
          </a:p>
        </p:txBody>
      </p:sp>
      <p:sp>
        <p:nvSpPr>
          <p:cNvPr id="39" name="Text 36"/>
          <p:cNvSpPr/>
          <p:nvPr/>
        </p:nvSpPr>
        <p:spPr>
          <a:xfrm>
            <a:off x="6415888" y="1243584"/>
            <a:ext cx="5090008" cy="420624"/>
          </a:xfrm>
          <a:prstGeom prst="rect">
            <a:avLst/>
          </a:prstGeom>
          <a:noFill/>
          <a:ln/>
        </p:spPr>
        <p:txBody>
          <a:bodyPr wrap="square" rtlCol="0" anchor="ctr"/>
          <a:lstStyle/>
          <a:p>
            <a:pPr marL="0" indent="0">
              <a:buNone/>
            </a:pPr>
            <a:r>
              <a:rPr lang="en-US" sz="1300" b="1" kern="0" spc="80" dirty="0">
                <a:solidFill>
                  <a:srgbClr val="FFFFFF"/>
                </a:solidFill>
                <a:latin typeface="Segoe UI" pitchFamily="34" charset="0"/>
                <a:ea typeface="Segoe UI" pitchFamily="34" charset="-122"/>
                <a:cs typeface="Segoe UI" pitchFamily="34" charset="-120"/>
              </a:rPr>
              <a:t>DON'T    what breaks in production</a:t>
            </a:r>
            <a:endParaRPr lang="en-US" sz="1300" dirty="0"/>
          </a:p>
        </p:txBody>
      </p:sp>
      <p:sp>
        <p:nvSpPr>
          <p:cNvPr id="40" name="Shape 37"/>
          <p:cNvSpPr/>
          <p:nvPr/>
        </p:nvSpPr>
        <p:spPr>
          <a:xfrm>
            <a:off x="502920" y="1792224"/>
            <a:ext cx="5455768" cy="681228"/>
          </a:xfrm>
          <a:prstGeom prst="roundRect">
            <a:avLst>
              <a:gd name="adj" fmla="val 12081"/>
            </a:avLst>
          </a:prstGeom>
          <a:solidFill>
            <a:srgbClr val="E1F5EC"/>
          </a:solidFill>
          <a:ln/>
        </p:spPr>
        <p:txBody>
          <a:bodyPr/>
          <a:lstStyle/>
          <a:p>
            <a:endParaRPr/>
          </a:p>
        </p:txBody>
      </p:sp>
      <p:sp>
        <p:nvSpPr>
          <p:cNvPr id="41" name="Text 38"/>
          <p:cNvSpPr/>
          <p:nvPr/>
        </p:nvSpPr>
        <p:spPr>
          <a:xfrm>
            <a:off x="612648" y="1847088"/>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2" name="Text 39"/>
          <p:cNvSpPr/>
          <p:nvPr/>
        </p:nvSpPr>
        <p:spPr>
          <a:xfrm>
            <a:off x="960120"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Put a request id on every log line and pass it to every service you call.</a:t>
            </a:r>
            <a:endParaRPr lang="en-US" sz="1150" dirty="0"/>
          </a:p>
        </p:txBody>
      </p:sp>
      <p:sp>
        <p:nvSpPr>
          <p:cNvPr id="43" name="Shape 40"/>
          <p:cNvSpPr/>
          <p:nvPr/>
        </p:nvSpPr>
        <p:spPr>
          <a:xfrm>
            <a:off x="6233008" y="1792224"/>
            <a:ext cx="5455768" cy="681228"/>
          </a:xfrm>
          <a:prstGeom prst="roundRect">
            <a:avLst>
              <a:gd name="adj" fmla="val 12081"/>
            </a:avLst>
          </a:prstGeom>
          <a:solidFill>
            <a:srgbClr val="FEE2E2"/>
          </a:solidFill>
          <a:ln/>
        </p:spPr>
        <p:txBody>
          <a:bodyPr/>
          <a:lstStyle/>
          <a:p>
            <a:endParaRPr/>
          </a:p>
        </p:txBody>
      </p:sp>
      <p:sp>
        <p:nvSpPr>
          <p:cNvPr id="44" name="Text 41"/>
          <p:cNvSpPr/>
          <p:nvPr/>
        </p:nvSpPr>
        <p:spPr>
          <a:xfrm>
            <a:off x="6342736" y="1847088"/>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45" name="Text 42"/>
          <p:cNvSpPr/>
          <p:nvPr/>
        </p:nvSpPr>
        <p:spPr>
          <a:xfrm>
            <a:off x="6690208" y="1828800"/>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Log free-text sentences with no id. You cannot follow one shopper through five services.</a:t>
            </a:r>
            <a:endParaRPr lang="en-US" sz="1150" dirty="0"/>
          </a:p>
        </p:txBody>
      </p:sp>
      <p:sp>
        <p:nvSpPr>
          <p:cNvPr id="46" name="Shape 43"/>
          <p:cNvSpPr/>
          <p:nvPr/>
        </p:nvSpPr>
        <p:spPr>
          <a:xfrm>
            <a:off x="502920" y="2583180"/>
            <a:ext cx="5455768" cy="681228"/>
          </a:xfrm>
          <a:prstGeom prst="roundRect">
            <a:avLst>
              <a:gd name="adj" fmla="val 12081"/>
            </a:avLst>
          </a:prstGeom>
          <a:solidFill>
            <a:srgbClr val="E1F5EC"/>
          </a:solidFill>
          <a:ln/>
        </p:spPr>
        <p:txBody>
          <a:bodyPr/>
          <a:lstStyle/>
          <a:p>
            <a:endParaRPr/>
          </a:p>
        </p:txBody>
      </p:sp>
      <p:sp>
        <p:nvSpPr>
          <p:cNvPr id="47" name="Text 44"/>
          <p:cNvSpPr/>
          <p:nvPr/>
        </p:nvSpPr>
        <p:spPr>
          <a:xfrm>
            <a:off x="612648" y="2638044"/>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48" name="Text 45"/>
          <p:cNvSpPr/>
          <p:nvPr/>
        </p:nvSpPr>
        <p:spPr>
          <a:xfrm>
            <a:off x="960120"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Log in a structured format (JSON) so you can filter by field.</a:t>
            </a:r>
            <a:endParaRPr lang="en-US" sz="1150" dirty="0"/>
          </a:p>
        </p:txBody>
      </p:sp>
      <p:sp>
        <p:nvSpPr>
          <p:cNvPr id="49" name="Shape 46"/>
          <p:cNvSpPr/>
          <p:nvPr/>
        </p:nvSpPr>
        <p:spPr>
          <a:xfrm>
            <a:off x="6233008" y="2583180"/>
            <a:ext cx="5455768" cy="681228"/>
          </a:xfrm>
          <a:prstGeom prst="roundRect">
            <a:avLst>
              <a:gd name="adj" fmla="val 12081"/>
            </a:avLst>
          </a:prstGeom>
          <a:solidFill>
            <a:srgbClr val="FEE2E2"/>
          </a:solidFill>
          <a:ln/>
        </p:spPr>
        <p:txBody>
          <a:bodyPr/>
          <a:lstStyle/>
          <a:p>
            <a:endParaRPr/>
          </a:p>
        </p:txBody>
      </p:sp>
      <p:sp>
        <p:nvSpPr>
          <p:cNvPr id="50" name="Text 47"/>
          <p:cNvSpPr/>
          <p:nvPr/>
        </p:nvSpPr>
        <p:spPr>
          <a:xfrm>
            <a:off x="6342736" y="2638044"/>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1" name="Text 48"/>
          <p:cNvSpPr/>
          <p:nvPr/>
        </p:nvSpPr>
        <p:spPr>
          <a:xfrm>
            <a:off x="6690208" y="2619756"/>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Print strings glued together. Searching becomes reading, and reading does not scale.</a:t>
            </a:r>
            <a:endParaRPr lang="en-US" sz="1150" dirty="0"/>
          </a:p>
        </p:txBody>
      </p:sp>
      <p:sp>
        <p:nvSpPr>
          <p:cNvPr id="52" name="Shape 49"/>
          <p:cNvSpPr/>
          <p:nvPr/>
        </p:nvSpPr>
        <p:spPr>
          <a:xfrm>
            <a:off x="502920" y="3374136"/>
            <a:ext cx="5455768" cy="681228"/>
          </a:xfrm>
          <a:prstGeom prst="roundRect">
            <a:avLst>
              <a:gd name="adj" fmla="val 12081"/>
            </a:avLst>
          </a:prstGeom>
          <a:solidFill>
            <a:srgbClr val="E1F5EC"/>
          </a:solidFill>
          <a:ln/>
        </p:spPr>
        <p:txBody>
          <a:bodyPr/>
          <a:lstStyle/>
          <a:p>
            <a:endParaRPr/>
          </a:p>
        </p:txBody>
      </p:sp>
      <p:sp>
        <p:nvSpPr>
          <p:cNvPr id="53" name="Text 50"/>
          <p:cNvSpPr/>
          <p:nvPr/>
        </p:nvSpPr>
        <p:spPr>
          <a:xfrm>
            <a:off x="612648" y="3429000"/>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54" name="Text 51"/>
          <p:cNvSpPr/>
          <p:nvPr/>
        </p:nvSpPr>
        <p:spPr>
          <a:xfrm>
            <a:off x="960120"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Show p95 and p99 per endpoint on the dashboard, plus error rate.</a:t>
            </a:r>
            <a:endParaRPr lang="en-US" sz="1150" dirty="0"/>
          </a:p>
        </p:txBody>
      </p:sp>
      <p:sp>
        <p:nvSpPr>
          <p:cNvPr id="55" name="Shape 52"/>
          <p:cNvSpPr/>
          <p:nvPr/>
        </p:nvSpPr>
        <p:spPr>
          <a:xfrm>
            <a:off x="6233008" y="3374136"/>
            <a:ext cx="5455768" cy="681228"/>
          </a:xfrm>
          <a:prstGeom prst="roundRect">
            <a:avLst>
              <a:gd name="adj" fmla="val 12081"/>
            </a:avLst>
          </a:prstGeom>
          <a:solidFill>
            <a:srgbClr val="FEE2E2"/>
          </a:solidFill>
          <a:ln/>
        </p:spPr>
        <p:txBody>
          <a:bodyPr/>
          <a:lstStyle/>
          <a:p>
            <a:endParaRPr/>
          </a:p>
        </p:txBody>
      </p:sp>
      <p:sp>
        <p:nvSpPr>
          <p:cNvPr id="56" name="Text 53"/>
          <p:cNvSpPr/>
          <p:nvPr/>
        </p:nvSpPr>
        <p:spPr>
          <a:xfrm>
            <a:off x="6342736" y="3429000"/>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57" name="Text 54"/>
          <p:cNvSpPr/>
          <p:nvPr/>
        </p:nvSpPr>
        <p:spPr>
          <a:xfrm>
            <a:off x="6690208" y="3410712"/>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Show the average response time. The average stays green while 5 percent of shoppers cannot buy.</a:t>
            </a:r>
            <a:endParaRPr lang="en-US" sz="1150" dirty="0"/>
          </a:p>
        </p:txBody>
      </p:sp>
      <p:sp>
        <p:nvSpPr>
          <p:cNvPr id="58" name="Shape 55"/>
          <p:cNvSpPr/>
          <p:nvPr/>
        </p:nvSpPr>
        <p:spPr>
          <a:xfrm>
            <a:off x="502920" y="4165092"/>
            <a:ext cx="5455768" cy="681228"/>
          </a:xfrm>
          <a:prstGeom prst="roundRect">
            <a:avLst>
              <a:gd name="adj" fmla="val 12081"/>
            </a:avLst>
          </a:prstGeom>
          <a:solidFill>
            <a:srgbClr val="E1F5EC"/>
          </a:solidFill>
          <a:ln/>
        </p:spPr>
        <p:txBody>
          <a:bodyPr/>
          <a:lstStyle/>
          <a:p>
            <a:endParaRPr/>
          </a:p>
        </p:txBody>
      </p:sp>
      <p:sp>
        <p:nvSpPr>
          <p:cNvPr id="59" name="Text 56"/>
          <p:cNvSpPr/>
          <p:nvPr/>
        </p:nvSpPr>
        <p:spPr>
          <a:xfrm>
            <a:off x="612648" y="4219956"/>
            <a:ext cx="292608" cy="292608"/>
          </a:xfrm>
          <a:prstGeom prst="rect">
            <a:avLst/>
          </a:prstGeom>
          <a:noFill/>
          <a:ln/>
        </p:spPr>
        <p:txBody>
          <a:bodyPr wrap="square" rtlCol="0" anchor="ctr"/>
          <a:lstStyle/>
          <a:p>
            <a:pPr marL="0" indent="0" algn="ctr">
              <a:buNone/>
            </a:pPr>
            <a:r>
              <a:rPr lang="en-US" sz="1400" b="1" dirty="0">
                <a:solidFill>
                  <a:srgbClr val="1F8F65"/>
                </a:solidFill>
                <a:latin typeface="Segoe UI" pitchFamily="34" charset="0"/>
                <a:ea typeface="Segoe UI" pitchFamily="34" charset="-122"/>
                <a:cs typeface="Segoe UI" pitchFamily="34" charset="-120"/>
              </a:rPr>
              <a:t>✓</a:t>
            </a:r>
            <a:endParaRPr lang="en-US" sz="1400" dirty="0"/>
          </a:p>
        </p:txBody>
      </p:sp>
      <p:sp>
        <p:nvSpPr>
          <p:cNvPr id="60" name="Text 57"/>
          <p:cNvSpPr/>
          <p:nvPr/>
        </p:nvSpPr>
        <p:spPr>
          <a:xfrm>
            <a:off x="960120"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Alert on customer symptoms: checkout success rate falling.</a:t>
            </a:r>
            <a:endParaRPr lang="en-US" sz="1150" dirty="0"/>
          </a:p>
        </p:txBody>
      </p:sp>
      <p:sp>
        <p:nvSpPr>
          <p:cNvPr id="61" name="Shape 58"/>
          <p:cNvSpPr/>
          <p:nvPr/>
        </p:nvSpPr>
        <p:spPr>
          <a:xfrm>
            <a:off x="6233008" y="4165092"/>
            <a:ext cx="5455768" cy="681228"/>
          </a:xfrm>
          <a:prstGeom prst="roundRect">
            <a:avLst>
              <a:gd name="adj" fmla="val 12081"/>
            </a:avLst>
          </a:prstGeom>
          <a:solidFill>
            <a:srgbClr val="FEE2E2"/>
          </a:solidFill>
          <a:ln/>
        </p:spPr>
        <p:txBody>
          <a:bodyPr/>
          <a:lstStyle/>
          <a:p>
            <a:endParaRPr/>
          </a:p>
        </p:txBody>
      </p:sp>
      <p:sp>
        <p:nvSpPr>
          <p:cNvPr id="62" name="Text 59"/>
          <p:cNvSpPr/>
          <p:nvPr/>
        </p:nvSpPr>
        <p:spPr>
          <a:xfrm>
            <a:off x="6342736" y="4219956"/>
            <a:ext cx="292608" cy="292608"/>
          </a:xfrm>
          <a:prstGeom prst="rect">
            <a:avLst/>
          </a:prstGeom>
          <a:noFill/>
          <a:ln/>
        </p:spPr>
        <p:txBody>
          <a:bodyPr wrap="square" rtlCol="0" anchor="ctr"/>
          <a:lstStyle/>
          <a:p>
            <a:pPr marL="0" indent="0" algn="ctr">
              <a:buNone/>
            </a:pPr>
            <a:r>
              <a:rPr lang="en-US" sz="1400" b="1" dirty="0">
                <a:solidFill>
                  <a:srgbClr val="DC2626"/>
                </a:solidFill>
                <a:latin typeface="Segoe UI" pitchFamily="34" charset="0"/>
                <a:ea typeface="Segoe UI" pitchFamily="34" charset="-122"/>
                <a:cs typeface="Segoe UI" pitchFamily="34" charset="-120"/>
              </a:rPr>
              <a:t>✗</a:t>
            </a:r>
            <a:endParaRPr lang="en-US" sz="1400" dirty="0"/>
          </a:p>
        </p:txBody>
      </p:sp>
      <p:sp>
        <p:nvSpPr>
          <p:cNvPr id="63" name="Text 60"/>
          <p:cNvSpPr/>
          <p:nvPr/>
        </p:nvSpPr>
        <p:spPr>
          <a:xfrm>
            <a:off x="6690208" y="4201668"/>
            <a:ext cx="4852264" cy="608076"/>
          </a:xfrm>
          <a:prstGeom prst="rect">
            <a:avLst/>
          </a:prstGeom>
          <a:noFill/>
          <a:ln/>
        </p:spPr>
        <p:txBody>
          <a:bodyPr wrap="square" rtlCol="0" anchor="ctr"/>
          <a:lstStyle/>
          <a:p>
            <a:pPr marL="0" indent="0">
              <a:lnSpc>
                <a:spcPct val="110000"/>
              </a:lnSpc>
              <a:buNone/>
            </a:pPr>
            <a:r>
              <a:rPr lang="en-US" sz="1150" dirty="0">
                <a:solidFill>
                  <a:srgbClr val="24162A"/>
                </a:solidFill>
                <a:latin typeface="Segoe UI" pitchFamily="34" charset="0"/>
                <a:ea typeface="Segoe UI" pitchFamily="34" charset="-122"/>
                <a:cs typeface="Segoe UI" pitchFamily="34" charset="-120"/>
              </a:rPr>
              <a:t>Alert on every CPU spike. Alerts nobody acts on train people to ignore all alerts.</a:t>
            </a:r>
            <a:endParaRPr lang="en-US" sz="1150" dirty="0"/>
          </a:p>
        </p:txBody>
      </p:sp>
      <p:sp>
        <p:nvSpPr>
          <p:cNvPr id="64" name="Shape 61"/>
          <p:cNvSpPr/>
          <p:nvPr/>
        </p:nvSpPr>
        <p:spPr>
          <a:xfrm>
            <a:off x="502920" y="4992624"/>
            <a:ext cx="11185855" cy="658368"/>
          </a:xfrm>
          <a:prstGeom prst="roundRect">
            <a:avLst>
              <a:gd name="adj" fmla="val 12500"/>
            </a:avLst>
          </a:prstGeom>
          <a:solidFill>
            <a:srgbClr val="E1F5EC"/>
          </a:solidFill>
          <a:ln/>
        </p:spPr>
        <p:txBody>
          <a:bodyPr/>
          <a:lstStyle/>
          <a:p>
            <a:endParaRPr/>
          </a:p>
        </p:txBody>
      </p:sp>
      <p:sp>
        <p:nvSpPr>
          <p:cNvPr id="65" name="Shape 62"/>
          <p:cNvSpPr/>
          <p:nvPr/>
        </p:nvSpPr>
        <p:spPr>
          <a:xfrm>
            <a:off x="502920" y="4992624"/>
            <a:ext cx="100584" cy="658368"/>
          </a:xfrm>
          <a:prstGeom prst="rect">
            <a:avLst/>
          </a:prstGeom>
          <a:solidFill>
            <a:srgbClr val="1F8F65"/>
          </a:solidFill>
          <a:ln/>
        </p:spPr>
        <p:txBody>
          <a:bodyPr/>
          <a:lstStyle/>
          <a:p>
            <a:endParaRPr/>
          </a:p>
        </p:txBody>
      </p:sp>
      <p:sp>
        <p:nvSpPr>
          <p:cNvPr id="66" name="Text 63"/>
          <p:cNvSpPr/>
          <p:nvPr/>
        </p:nvSpPr>
        <p:spPr>
          <a:xfrm>
            <a:off x="740664" y="4992624"/>
            <a:ext cx="10783519" cy="65836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Never log a card number, a token or a password  not even once, not even in a test environment.</a:t>
            </a:r>
            <a:endParaRPr lang="en-US" sz="1250" dirty="0"/>
          </a:p>
        </p:txBody>
      </p:sp>
      <p:sp>
        <p:nvSpPr>
          <p:cNvPr id="67" name="Shape 64"/>
          <p:cNvSpPr/>
          <p:nvPr/>
        </p:nvSpPr>
        <p:spPr>
          <a:xfrm>
            <a:off x="502920" y="5815584"/>
            <a:ext cx="54864" cy="201168"/>
          </a:xfrm>
          <a:prstGeom prst="rect">
            <a:avLst/>
          </a:prstGeom>
          <a:solidFill>
            <a:srgbClr val="43BFB8"/>
          </a:solidFill>
          <a:ln/>
        </p:spPr>
        <p:txBody>
          <a:bodyPr/>
          <a:lstStyle/>
          <a:p>
            <a:endParaRPr/>
          </a:p>
        </p:txBody>
      </p:sp>
      <p:sp>
        <p:nvSpPr>
          <p:cNvPr id="68" name="Text 65"/>
          <p:cNvSpPr/>
          <p:nvPr/>
        </p:nvSpPr>
        <p:spPr>
          <a:xfrm>
            <a:off x="667512" y="5724144"/>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sre.google/sre-book/monitoring-distributed-systems  ·  opentelemetry.io/docs/concepts/signals/logs  ·  OWASP Logging Cheat Sheet.</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From a number to a decision    the SLO</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Four steps that turn “the site feels slow” into permission to act.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88</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SLI  measure</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The indicator. “Share of checkouts completed in under 2 seconds.” One clear measurement.</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SLO  promise</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The target. “99 % of checkouts under 2 seconds, over 30 days.” A number, not an adjective.</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Error budget</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The remaining 1 %. This is what we are allowed to spend on change and incidents.</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Stop rule</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If the budget is empty, we freeze risky changes and fix reliability. Written before the sale.</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Watch p95 and p99, not the average. The average hides exactly the customers who are suffering.</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sre.google/sre-book/service-level-objectives  ·  sre.google/workbook/implementing-slos  ·  opentelemetry.io for the measurement.</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write the checkout SLO</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10 minutes, in pairs. Four lines and one named owner.</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89</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SLI</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What exactly we measure: percentage of checkouts finished in under 2 seconds.</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SLO</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The target and the window: 99 percent over 30 days.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error budget</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The failure you accept  here the remaining 1 percent.</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stop rule and owner</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Who freezes risky work, and after which signal.</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one page</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SLI    : checkouts completed in &lt; 2 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SLO    : 99 % over a rolling 30 days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Budget : 1 %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Watch  : p95 and p99  (never the average)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Stop rule: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if the budget is spent, no new risky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releases until p95 &lt; 2 s for 7 days</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Owner  : checkout team lead (named person)</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Four lines  SLI, SLO, budget, stop rule  plus one named owner.</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99 percent under 2 seconds, p95 on the dashboard, freeze risk when the budget is gone. Best practice: agree the stop rule before the sale, never during the incident.</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sre.google/sre-book/service-level-objectives  ·  sre.google/workbook/implementing-slos</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SLO document you will hand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One page. It is the only architecture document an on-call engineer will read at 2 a.m.</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90</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08-SLO-template.docx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It turns a feeling (“checkout is slow”) into a number, a promise, and permission to act. Without the last two sections, an engineer who wants to stop a risky release has no authority to do it.</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The indicator (SLI)</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Exactly what is measured, and where the measurement is taken. “Checkouts completed in under 2 s, measured at the gateway.”</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The promise (SLO)</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A number and a window. “99 percent over a rolling 30 days.” Never an adjective like fast or reliable.</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Error budget</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failure you accept, and how it is tracked. 1 percent of 30 days is about 7 hours. Write the hours down.</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Stop rule</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What happens when the budget is spent. Who is allowed to freeze releases, and for how long.</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Owner + review date</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named person, not a team name. And the date you will re-read this page.</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Write the error budget in hours, not in percent. “7 hours a month” starts a real conversation; “99 percent” does not.</a:t>
            </a:r>
            <a:endParaRPr lang="en-US" sz="1250" dirty="0"/>
          </a:p>
        </p:txBody>
      </p:sp>
      <p:sp>
        <p:nvSpPr>
          <p:cNvPr id="68" name="Shape 65"/>
          <p:cNvSpPr/>
          <p:nvPr/>
        </p:nvSpPr>
        <p:spPr>
          <a:xfrm>
            <a:off x="502920" y="5925312"/>
            <a:ext cx="54864" cy="201168"/>
          </a:xfrm>
          <a:prstGeom prst="rect">
            <a:avLst/>
          </a:prstGeom>
          <a:solidFill>
            <a:srgbClr val="43BFB8"/>
          </a:solidFill>
          <a:ln/>
        </p:spPr>
        <p:txBody>
          <a:bodyPr/>
          <a:lstStyle/>
          <a:p>
            <a:endParaRPr/>
          </a:p>
        </p:txBody>
      </p:sp>
      <p:sp>
        <p:nvSpPr>
          <p:cNvPr id="69" name="Text 6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sre.google/workbook/implementing-</a:t>
            </a:r>
            <a:r>
              <a:rPr lang="en-US" sz="1050" dirty="0" err="1">
                <a:solidFill>
                  <a:srgbClr val="6E637A"/>
                </a:solidFill>
                <a:latin typeface="Segoe UI" pitchFamily="34" charset="0"/>
                <a:ea typeface="Segoe UI" pitchFamily="34" charset="-122"/>
                <a:cs typeface="Segoe UI" pitchFamily="34" charset="-120"/>
              </a:rPr>
              <a:t>slos</a:t>
            </a:r>
            <a:r>
              <a:rPr lang="en-US" sz="1050" dirty="0">
                <a:solidFill>
                  <a:srgbClr val="6E637A"/>
                </a:solidFill>
                <a:latin typeface="Segoe UI" pitchFamily="34" charset="0"/>
                <a:ea typeface="Segoe UI" pitchFamily="34" charset="-122"/>
                <a:cs typeface="Segoe UI" pitchFamily="34" charset="-120"/>
              </a:rPr>
              <a:t>  includes worked examples and a document structure.</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Real case 4    sale day fall-over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Traffic tripled. CPU was 30 percent. Checkout still died.</a:t>
            </a:r>
            <a:endParaRPr lang="en-US" sz="1300" dirty="0"/>
          </a:p>
        </p:txBody>
      </p:sp>
      <p:sp>
        <p:nvSpPr>
          <p:cNvPr id="27" name="Shape 25"/>
          <p:cNvSpPr/>
          <p:nvPr/>
        </p:nvSpPr>
        <p:spPr>
          <a:xfrm>
            <a:off x="9585655" y="256032"/>
            <a:ext cx="2148840" cy="347472"/>
          </a:xfrm>
          <a:prstGeom prst="roundRect">
            <a:avLst>
              <a:gd name="adj" fmla="val 50000"/>
            </a:avLst>
          </a:prstGeom>
          <a:solidFill>
            <a:srgbClr val="0F1A2E"/>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CASE STUDY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91</a:t>
            </a:r>
            <a:endParaRPr lang="en-US" sz="1000" dirty="0"/>
          </a:p>
        </p:txBody>
      </p:sp>
      <p:sp>
        <p:nvSpPr>
          <p:cNvPr id="36" name="Shape 33"/>
          <p:cNvSpPr/>
          <p:nvPr/>
        </p:nvSpPr>
        <p:spPr>
          <a:xfrm>
            <a:off x="502920" y="1417320"/>
            <a:ext cx="11185855" cy="868680"/>
          </a:xfrm>
          <a:prstGeom prst="roundRect">
            <a:avLst>
              <a:gd name="adj" fmla="val 10526"/>
            </a:avLst>
          </a:prstGeom>
          <a:solidFill>
            <a:srgbClr val="0F1A2E"/>
          </a:solidFill>
          <a:ln/>
        </p:spPr>
        <p:txBody>
          <a:bodyPr/>
          <a:lstStyle/>
          <a:p>
            <a:endParaRPr/>
          </a:p>
        </p:txBody>
      </p:sp>
      <p:sp>
        <p:nvSpPr>
          <p:cNvPr id="37" name="Text 34"/>
          <p:cNvSpPr/>
          <p:nvPr/>
        </p:nvSpPr>
        <p:spPr>
          <a:xfrm>
            <a:off x="685800" y="1417320"/>
            <a:ext cx="548640" cy="868680"/>
          </a:xfrm>
          <a:prstGeom prst="rect">
            <a:avLst/>
          </a:prstGeom>
          <a:noFill/>
          <a:ln/>
        </p:spPr>
        <p:txBody>
          <a:bodyPr wrap="square" rtlCol="0" anchor="ctr"/>
          <a:lstStyle/>
          <a:p>
            <a:pPr marL="0" indent="0" algn="ctr">
              <a:buNone/>
            </a:pPr>
            <a:r>
              <a:rPr lang="en-US" sz="2400" dirty="0">
                <a:solidFill>
                  <a:srgbClr val="F5C239"/>
                </a:solidFill>
                <a:latin typeface="Segoe UI Symbol" pitchFamily="34" charset="0"/>
                <a:ea typeface="Segoe UI Symbol" pitchFamily="34" charset="-122"/>
                <a:cs typeface="Segoe UI Symbol" pitchFamily="34" charset="-120"/>
              </a:rPr>
              <a:t>⚠</a:t>
            </a:r>
            <a:endParaRPr lang="en-US" sz="2400" dirty="0"/>
          </a:p>
        </p:txBody>
      </p:sp>
      <p:sp>
        <p:nvSpPr>
          <p:cNvPr id="38" name="Text 35"/>
          <p:cNvSpPr/>
          <p:nvPr/>
        </p:nvSpPr>
        <p:spPr>
          <a:xfrm>
            <a:off x="1325880" y="1417320"/>
            <a:ext cx="10180015" cy="868680"/>
          </a:xfrm>
          <a:prstGeom prst="rect">
            <a:avLst/>
          </a:prstGeom>
          <a:noFill/>
          <a:ln/>
        </p:spPr>
        <p:txBody>
          <a:bodyPr wrap="square" rtlCol="0" anchor="ctr"/>
          <a:lstStyle/>
          <a:p>
            <a:pPr marL="0" indent="0">
              <a:lnSpc>
                <a:spcPct val="115000"/>
              </a:lnSpc>
              <a:buNone/>
            </a:pPr>
            <a:r>
              <a:rPr lang="en-US" sz="1300" b="1" kern="0" spc="200" dirty="0">
                <a:solidFill>
                  <a:srgbClr val="F5C239"/>
                </a:solidFill>
                <a:latin typeface="Segoe UI" pitchFamily="34" charset="0"/>
                <a:ea typeface="Segoe UI" pitchFamily="34" charset="-122"/>
                <a:cs typeface="Segoe UI" pitchFamily="34" charset="-120"/>
              </a:rPr>
              <a:t>Scenario:  </a:t>
            </a:r>
            <a:r>
              <a:rPr lang="en-US" sz="1300" dirty="0">
                <a:solidFill>
                  <a:srgbClr val="FFFFFF"/>
                </a:solidFill>
                <a:latin typeface="Segoe UI" pitchFamily="34" charset="0"/>
                <a:ea typeface="Segoe UI" pitchFamily="34" charset="-122"/>
                <a:cs typeface="Segoe UI" pitchFamily="34" charset="-120"/>
              </a:rPr>
              <a:t>At 20:00 traffic tripled. Checkout p95 went from 2 seconds to 41 seconds. The team bought bigger servers twice. Nothing improved.</a:t>
            </a:r>
            <a:endParaRPr lang="en-US" sz="1300" dirty="0"/>
          </a:p>
        </p:txBody>
      </p:sp>
      <p:sp>
        <p:nvSpPr>
          <p:cNvPr id="39" name="Shape 36"/>
          <p:cNvSpPr/>
          <p:nvPr/>
        </p:nvSpPr>
        <p:spPr>
          <a:xfrm>
            <a:off x="502920"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0" name="Shape 37"/>
          <p:cNvSpPr/>
          <p:nvPr/>
        </p:nvSpPr>
        <p:spPr>
          <a:xfrm>
            <a:off x="1505674" y="2715768"/>
            <a:ext cx="594360" cy="594360"/>
          </a:xfrm>
          <a:prstGeom prst="ellipse">
            <a:avLst/>
          </a:prstGeom>
          <a:solidFill>
            <a:srgbClr val="E4F5F3"/>
          </a:solidFill>
          <a:ln w="12700">
            <a:solidFill>
              <a:srgbClr val="43BFB8"/>
            </a:solidFill>
            <a:prstDash val="solid"/>
          </a:ln>
        </p:spPr>
        <p:txBody>
          <a:bodyPr/>
          <a:lstStyle/>
          <a:p>
            <a:endParaRPr/>
          </a:p>
        </p:txBody>
      </p:sp>
      <p:sp>
        <p:nvSpPr>
          <p:cNvPr id="41" name="Text 38"/>
          <p:cNvSpPr/>
          <p:nvPr/>
        </p:nvSpPr>
        <p:spPr>
          <a:xfrm>
            <a:off x="1505674" y="2715768"/>
            <a:ext cx="594360" cy="594360"/>
          </a:xfrm>
          <a:prstGeom prst="rect">
            <a:avLst/>
          </a:prstGeom>
          <a:noFill/>
          <a:ln/>
        </p:spPr>
        <p:txBody>
          <a:bodyPr wrap="square" rtlCol="0" anchor="ctr"/>
          <a:lstStyle/>
          <a:p>
            <a:pPr marL="0" indent="0" algn="ctr">
              <a:buNone/>
            </a:pPr>
            <a:r>
              <a:rPr lang="en-US" sz="2000" b="1" dirty="0">
                <a:solidFill>
                  <a:srgbClr val="43BFB8"/>
                </a:solidFill>
                <a:latin typeface="Segoe UI Symbol" pitchFamily="34" charset="0"/>
                <a:ea typeface="Segoe UI Symbol" pitchFamily="34" charset="-122"/>
                <a:cs typeface="Segoe UI Symbol" pitchFamily="34" charset="-120"/>
              </a:rPr>
              <a:t>👁</a:t>
            </a:r>
            <a:endParaRPr lang="en-US" sz="2000" dirty="0"/>
          </a:p>
        </p:txBody>
      </p:sp>
      <p:sp>
        <p:nvSpPr>
          <p:cNvPr id="42" name="Text 39"/>
          <p:cNvSpPr/>
          <p:nvPr/>
        </p:nvSpPr>
        <p:spPr>
          <a:xfrm>
            <a:off x="502920" y="3383280"/>
            <a:ext cx="2590724" cy="365760"/>
          </a:xfrm>
          <a:prstGeom prst="rect">
            <a:avLst/>
          </a:prstGeom>
          <a:noFill/>
          <a:ln/>
        </p:spPr>
        <p:txBody>
          <a:bodyPr wrap="square" rtlCol="0" anchor="ctr"/>
          <a:lstStyle/>
          <a:p>
            <a:pPr marL="0" indent="0" algn="ctr">
              <a:buNone/>
            </a:pPr>
            <a:r>
              <a:rPr lang="en-US" sz="1400" b="1" kern="0" spc="100" dirty="0">
                <a:solidFill>
                  <a:srgbClr val="43BFB8"/>
                </a:solidFill>
                <a:latin typeface="Segoe UI" pitchFamily="34" charset="0"/>
                <a:ea typeface="Segoe UI" pitchFamily="34" charset="-122"/>
                <a:cs typeface="Segoe UI" pitchFamily="34" charset="-120"/>
              </a:rPr>
              <a:t>See</a:t>
            </a:r>
            <a:endParaRPr lang="en-US" sz="1400" dirty="0"/>
          </a:p>
        </p:txBody>
      </p:sp>
      <p:sp>
        <p:nvSpPr>
          <p:cNvPr id="43" name="Text 40"/>
          <p:cNvSpPr/>
          <p:nvPr/>
        </p:nvSpPr>
        <p:spPr>
          <a:xfrm>
            <a:off x="685800"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CPU was low, so capacity was not the first problem.</a:t>
            </a:r>
            <a:endParaRPr lang="en-US" sz="1200" dirty="0"/>
          </a:p>
        </p:txBody>
      </p:sp>
      <p:sp>
        <p:nvSpPr>
          <p:cNvPr id="44" name="Shape 41"/>
          <p:cNvSpPr/>
          <p:nvPr/>
        </p:nvSpPr>
        <p:spPr>
          <a:xfrm>
            <a:off x="3367964"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45" name="Shape 42"/>
          <p:cNvSpPr/>
          <p:nvPr/>
        </p:nvSpPr>
        <p:spPr>
          <a:xfrm>
            <a:off x="4370718" y="2715768"/>
            <a:ext cx="594360" cy="594360"/>
          </a:xfrm>
          <a:prstGeom prst="ellipse">
            <a:avLst/>
          </a:prstGeom>
          <a:solidFill>
            <a:srgbClr val="FDECDF"/>
          </a:solidFill>
          <a:ln w="12700">
            <a:solidFill>
              <a:srgbClr val="E76F30"/>
            </a:solidFill>
            <a:prstDash val="solid"/>
          </a:ln>
        </p:spPr>
        <p:txBody>
          <a:bodyPr/>
          <a:lstStyle/>
          <a:p>
            <a:endParaRPr/>
          </a:p>
        </p:txBody>
      </p:sp>
      <p:sp>
        <p:nvSpPr>
          <p:cNvPr id="46" name="Text 43"/>
          <p:cNvSpPr/>
          <p:nvPr/>
        </p:nvSpPr>
        <p:spPr>
          <a:xfrm>
            <a:off x="4370718" y="2715768"/>
            <a:ext cx="594360" cy="594360"/>
          </a:xfrm>
          <a:prstGeom prst="rect">
            <a:avLst/>
          </a:prstGeom>
          <a:noFill/>
          <a:ln/>
        </p:spPr>
        <p:txBody>
          <a:bodyPr wrap="square" rtlCol="0" anchor="ctr"/>
          <a:lstStyle/>
          <a:p>
            <a:pPr marL="0" indent="0" algn="ctr">
              <a:buNone/>
            </a:pPr>
            <a:r>
              <a:rPr lang="en-US" sz="2000" b="1" dirty="0">
                <a:solidFill>
                  <a:srgbClr val="E76F30"/>
                </a:solidFill>
                <a:latin typeface="Segoe UI Symbol" pitchFamily="34" charset="0"/>
                <a:ea typeface="Segoe UI Symbol" pitchFamily="34" charset="-122"/>
                <a:cs typeface="Segoe UI Symbol" pitchFamily="34" charset="-120"/>
              </a:rPr>
              <a:t>🎯</a:t>
            </a:r>
            <a:endParaRPr lang="en-US" sz="2000" dirty="0"/>
          </a:p>
        </p:txBody>
      </p:sp>
      <p:sp>
        <p:nvSpPr>
          <p:cNvPr id="47" name="Text 44"/>
          <p:cNvSpPr/>
          <p:nvPr/>
        </p:nvSpPr>
        <p:spPr>
          <a:xfrm>
            <a:off x="3367964" y="3383280"/>
            <a:ext cx="2590724" cy="365760"/>
          </a:xfrm>
          <a:prstGeom prst="rect">
            <a:avLst/>
          </a:prstGeom>
          <a:noFill/>
          <a:ln/>
        </p:spPr>
        <p:txBody>
          <a:bodyPr wrap="square" rtlCol="0" anchor="ctr"/>
          <a:lstStyle/>
          <a:p>
            <a:pPr marL="0" indent="0" algn="ctr">
              <a:buNone/>
            </a:pPr>
            <a:r>
              <a:rPr lang="en-US" sz="1400" b="1" kern="0" spc="100" dirty="0">
                <a:solidFill>
                  <a:srgbClr val="E76F30"/>
                </a:solidFill>
                <a:latin typeface="Segoe UI" pitchFamily="34" charset="0"/>
                <a:ea typeface="Segoe UI" pitchFamily="34" charset="-122"/>
                <a:cs typeface="Segoe UI" pitchFamily="34" charset="-120"/>
              </a:rPr>
              <a:t>Name</a:t>
            </a:r>
            <a:endParaRPr lang="en-US" sz="1400" dirty="0"/>
          </a:p>
        </p:txBody>
      </p:sp>
      <p:sp>
        <p:nvSpPr>
          <p:cNvPr id="48" name="Text 45"/>
          <p:cNvSpPr/>
          <p:nvPr/>
        </p:nvSpPr>
        <p:spPr>
          <a:xfrm>
            <a:off x="3550844"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Sessions lived on local disk, so the service was stateful and could not be copied.</a:t>
            </a:r>
            <a:endParaRPr lang="en-US" sz="1200" dirty="0"/>
          </a:p>
        </p:txBody>
      </p:sp>
      <p:sp>
        <p:nvSpPr>
          <p:cNvPr id="49" name="Shape 46"/>
          <p:cNvSpPr/>
          <p:nvPr/>
        </p:nvSpPr>
        <p:spPr>
          <a:xfrm>
            <a:off x="6233008"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0" name="Shape 47"/>
          <p:cNvSpPr/>
          <p:nvPr/>
        </p:nvSpPr>
        <p:spPr>
          <a:xfrm>
            <a:off x="7235761" y="2715768"/>
            <a:ext cx="594360" cy="594360"/>
          </a:xfrm>
          <a:prstGeom prst="ellipse">
            <a:avLst/>
          </a:prstGeom>
          <a:solidFill>
            <a:srgbClr val="E1F5EC"/>
          </a:solidFill>
          <a:ln w="12700">
            <a:solidFill>
              <a:srgbClr val="3EB489"/>
            </a:solidFill>
            <a:prstDash val="solid"/>
          </a:ln>
        </p:spPr>
        <p:txBody>
          <a:bodyPr/>
          <a:lstStyle/>
          <a:p>
            <a:endParaRPr/>
          </a:p>
        </p:txBody>
      </p:sp>
      <p:sp>
        <p:nvSpPr>
          <p:cNvPr id="51" name="Text 48"/>
          <p:cNvSpPr/>
          <p:nvPr/>
        </p:nvSpPr>
        <p:spPr>
          <a:xfrm>
            <a:off x="7235761" y="2715768"/>
            <a:ext cx="594360" cy="594360"/>
          </a:xfrm>
          <a:prstGeom prst="rect">
            <a:avLst/>
          </a:prstGeom>
          <a:noFill/>
          <a:ln/>
        </p:spPr>
        <p:txBody>
          <a:bodyPr wrap="square" rtlCol="0" anchor="ctr"/>
          <a:lstStyle/>
          <a:p>
            <a:pPr marL="0" indent="0" algn="ctr">
              <a:buNone/>
            </a:pPr>
            <a:r>
              <a:rPr lang="en-US" sz="2000" b="1" dirty="0">
                <a:solidFill>
                  <a:srgbClr val="3EB489"/>
                </a:solidFill>
                <a:latin typeface="Segoe UI Symbol" pitchFamily="34" charset="0"/>
                <a:ea typeface="Segoe UI Symbol" pitchFamily="34" charset="-122"/>
                <a:cs typeface="Segoe UI Symbol" pitchFamily="34" charset="-120"/>
              </a:rPr>
              <a:t>✓</a:t>
            </a:r>
            <a:endParaRPr lang="en-US" sz="2000" dirty="0"/>
          </a:p>
        </p:txBody>
      </p:sp>
      <p:sp>
        <p:nvSpPr>
          <p:cNvPr id="52" name="Text 49"/>
          <p:cNvSpPr/>
          <p:nvPr/>
        </p:nvSpPr>
        <p:spPr>
          <a:xfrm>
            <a:off x="6233008" y="3383280"/>
            <a:ext cx="2590724" cy="365760"/>
          </a:xfrm>
          <a:prstGeom prst="rect">
            <a:avLst/>
          </a:prstGeom>
          <a:noFill/>
          <a:ln/>
        </p:spPr>
        <p:txBody>
          <a:bodyPr wrap="square" rtlCol="0" anchor="ctr"/>
          <a:lstStyle/>
          <a:p>
            <a:pPr marL="0" indent="0" algn="ctr">
              <a:buNone/>
            </a:pPr>
            <a:r>
              <a:rPr lang="en-US" sz="1400" b="1" kern="0" spc="100" dirty="0">
                <a:solidFill>
                  <a:srgbClr val="3EB489"/>
                </a:solidFill>
                <a:latin typeface="Segoe UI" pitchFamily="34" charset="0"/>
                <a:ea typeface="Segoe UI" pitchFamily="34" charset="-122"/>
                <a:cs typeface="Segoe UI" pitchFamily="34" charset="-120"/>
              </a:rPr>
              <a:t>Do</a:t>
            </a:r>
            <a:endParaRPr lang="en-US" sz="1400" dirty="0"/>
          </a:p>
        </p:txBody>
      </p:sp>
      <p:sp>
        <p:nvSpPr>
          <p:cNvPr id="53" name="Text 50"/>
          <p:cNvSpPr/>
          <p:nvPr/>
        </p:nvSpPr>
        <p:spPr>
          <a:xfrm>
            <a:off x="6415888"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Move sessions to a shared store, then scale out, then autoscale on p95.</a:t>
            </a:r>
            <a:endParaRPr lang="en-US" sz="1200" dirty="0"/>
          </a:p>
        </p:txBody>
      </p:sp>
      <p:sp>
        <p:nvSpPr>
          <p:cNvPr id="54" name="Shape 51"/>
          <p:cNvSpPr/>
          <p:nvPr/>
        </p:nvSpPr>
        <p:spPr>
          <a:xfrm>
            <a:off x="9098051" y="2514600"/>
            <a:ext cx="2590724" cy="2514600"/>
          </a:xfrm>
          <a:prstGeom prst="roundRect">
            <a:avLst>
              <a:gd name="adj" fmla="val 4364"/>
            </a:avLst>
          </a:prstGeom>
          <a:solidFill>
            <a:srgbClr val="FFFFFF"/>
          </a:solidFill>
          <a:ln w="9525">
            <a:solidFill>
              <a:srgbClr val="E3E0E8"/>
            </a:solidFill>
            <a:prstDash val="solid"/>
          </a:ln>
          <a:effectLst>
            <a:outerShdw blurRad="101600" dist="25400" dir="5400000" algn="bl" rotWithShape="0">
              <a:srgbClr val="1F1F1F">
                <a:alpha val="10000"/>
              </a:srgbClr>
            </a:outerShdw>
          </a:effectLst>
        </p:spPr>
        <p:txBody>
          <a:bodyPr/>
          <a:lstStyle/>
          <a:p>
            <a:endParaRPr/>
          </a:p>
        </p:txBody>
      </p:sp>
      <p:sp>
        <p:nvSpPr>
          <p:cNvPr id="55" name="Shape 52"/>
          <p:cNvSpPr/>
          <p:nvPr/>
        </p:nvSpPr>
        <p:spPr>
          <a:xfrm>
            <a:off x="10100805" y="2715768"/>
            <a:ext cx="594360" cy="594360"/>
          </a:xfrm>
          <a:prstGeom prst="ellipse">
            <a:avLst/>
          </a:prstGeom>
          <a:solidFill>
            <a:srgbClr val="FEE2E2"/>
          </a:solidFill>
          <a:ln w="12700">
            <a:solidFill>
              <a:srgbClr val="DC2626"/>
            </a:solidFill>
            <a:prstDash val="solid"/>
          </a:ln>
        </p:spPr>
        <p:txBody>
          <a:bodyPr/>
          <a:lstStyle/>
          <a:p>
            <a:endParaRPr/>
          </a:p>
        </p:txBody>
      </p:sp>
      <p:sp>
        <p:nvSpPr>
          <p:cNvPr id="56" name="Text 53"/>
          <p:cNvSpPr/>
          <p:nvPr/>
        </p:nvSpPr>
        <p:spPr>
          <a:xfrm>
            <a:off x="10100805" y="2715768"/>
            <a:ext cx="594360" cy="594360"/>
          </a:xfrm>
          <a:prstGeom prst="rect">
            <a:avLst/>
          </a:prstGeom>
          <a:noFill/>
          <a:ln/>
        </p:spPr>
        <p:txBody>
          <a:bodyPr wrap="square" rtlCol="0" anchor="ctr"/>
          <a:lstStyle/>
          <a:p>
            <a:pPr marL="0" indent="0" algn="ctr">
              <a:buNone/>
            </a:pPr>
            <a:r>
              <a:rPr lang="en-US" sz="2000" b="1" dirty="0">
                <a:solidFill>
                  <a:srgbClr val="DC2626"/>
                </a:solidFill>
                <a:latin typeface="Segoe UI Symbol" pitchFamily="34" charset="0"/>
                <a:ea typeface="Segoe UI Symbol" pitchFamily="34" charset="-122"/>
                <a:cs typeface="Segoe UI Symbol" pitchFamily="34" charset="-120"/>
              </a:rPr>
              <a:t>✕</a:t>
            </a:r>
            <a:endParaRPr lang="en-US" sz="2000" dirty="0"/>
          </a:p>
        </p:txBody>
      </p:sp>
      <p:sp>
        <p:nvSpPr>
          <p:cNvPr id="57" name="Text 54"/>
          <p:cNvSpPr/>
          <p:nvPr/>
        </p:nvSpPr>
        <p:spPr>
          <a:xfrm>
            <a:off x="9098051" y="3383280"/>
            <a:ext cx="2590724" cy="365760"/>
          </a:xfrm>
          <a:prstGeom prst="rect">
            <a:avLst/>
          </a:prstGeom>
          <a:noFill/>
          <a:ln/>
        </p:spPr>
        <p:txBody>
          <a:bodyPr wrap="square" rtlCol="0" anchor="ctr"/>
          <a:lstStyle/>
          <a:p>
            <a:pPr marL="0" indent="0" algn="ctr">
              <a:buNone/>
            </a:pPr>
            <a:r>
              <a:rPr lang="en-US" sz="1400" b="1" kern="0" spc="100" dirty="0">
                <a:solidFill>
                  <a:srgbClr val="DC2626"/>
                </a:solidFill>
                <a:latin typeface="Segoe UI" pitchFamily="34" charset="0"/>
                <a:ea typeface="Segoe UI" pitchFamily="34" charset="-122"/>
                <a:cs typeface="Segoe UI" pitchFamily="34" charset="-120"/>
              </a:rPr>
              <a:t>Avoid</a:t>
            </a:r>
            <a:endParaRPr lang="en-US" sz="1400" dirty="0"/>
          </a:p>
        </p:txBody>
      </p:sp>
      <p:sp>
        <p:nvSpPr>
          <p:cNvPr id="58" name="Text 55"/>
          <p:cNvSpPr/>
          <p:nvPr/>
        </p:nvSpPr>
        <p:spPr>
          <a:xfrm>
            <a:off x="9280931" y="3749040"/>
            <a:ext cx="2224964" cy="1188720"/>
          </a:xfrm>
          <a:prstGeom prst="rect">
            <a:avLst/>
          </a:prstGeom>
          <a:noFill/>
          <a:ln/>
        </p:spPr>
        <p:txBody>
          <a:bodyPr wrap="square" rtlCol="0" anchor="ctr"/>
          <a:lstStyle/>
          <a:p>
            <a:pPr marL="0" indent="0" algn="ctr">
              <a:lnSpc>
                <a:spcPct val="120000"/>
              </a:lnSpc>
              <a:buNone/>
            </a:pPr>
            <a:r>
              <a:rPr lang="en-US" sz="1200" dirty="0">
                <a:solidFill>
                  <a:srgbClr val="3D3348"/>
                </a:solidFill>
                <a:latin typeface="Segoe UI" pitchFamily="34" charset="0"/>
                <a:ea typeface="Segoe UI" pitchFamily="34" charset="-122"/>
                <a:cs typeface="Segoe UI" pitchFamily="34" charset="-120"/>
              </a:rPr>
              <a:t>Buying an even larger machine. The next sale will be bigger than the machine.</a:t>
            </a:r>
            <a:endParaRPr lang="en-US" sz="1200" dirty="0"/>
          </a:p>
        </p:txBody>
      </p:sp>
      <p:sp>
        <p:nvSpPr>
          <p:cNvPr id="59" name="Shape 56"/>
          <p:cNvSpPr/>
          <p:nvPr/>
        </p:nvSpPr>
        <p:spPr>
          <a:xfrm>
            <a:off x="502920" y="5257800"/>
            <a:ext cx="11185855" cy="685800"/>
          </a:xfrm>
          <a:prstGeom prst="roundRect">
            <a:avLst>
              <a:gd name="adj" fmla="val 13333"/>
            </a:avLst>
          </a:prstGeom>
          <a:solidFill>
            <a:srgbClr val="E4F5F3"/>
          </a:solidFill>
          <a:ln/>
        </p:spPr>
        <p:txBody>
          <a:bodyPr/>
          <a:lstStyle/>
          <a:p>
            <a:endParaRPr/>
          </a:p>
        </p:txBody>
      </p:sp>
      <p:sp>
        <p:nvSpPr>
          <p:cNvPr id="60" name="Text 57"/>
          <p:cNvSpPr/>
          <p:nvPr/>
        </p:nvSpPr>
        <p:spPr>
          <a:xfrm>
            <a:off x="731520" y="5257800"/>
            <a:ext cx="10820095" cy="685800"/>
          </a:xfrm>
          <a:prstGeom prst="rect">
            <a:avLst/>
          </a:prstGeom>
          <a:noFill/>
          <a:ln/>
        </p:spPr>
        <p:txBody>
          <a:bodyPr wrap="square" rtlCol="0" anchor="ctr"/>
          <a:lstStyle/>
          <a:p>
            <a:pPr marL="0" indent="0">
              <a:buNone/>
            </a:pPr>
            <a:r>
              <a:rPr lang="en-US" sz="1300" b="1" kern="0" spc="200" dirty="0">
                <a:solidFill>
                  <a:srgbClr val="2F9992"/>
                </a:solidFill>
                <a:latin typeface="Segoe UI" pitchFamily="34" charset="0"/>
                <a:ea typeface="Segoe UI" pitchFamily="34" charset="-122"/>
                <a:cs typeface="Segoe UI" pitchFamily="34" charset="-120"/>
              </a:rPr>
              <a:t>Verify:  </a:t>
            </a:r>
            <a:r>
              <a:rPr lang="en-US" sz="1300" dirty="0">
                <a:solidFill>
                  <a:srgbClr val="24162A"/>
                </a:solidFill>
                <a:latin typeface="Segoe UI" pitchFamily="34" charset="0"/>
                <a:ea typeface="Segoe UI" pitchFamily="34" charset="-122"/>
                <a:cs typeface="Segoe UI" pitchFamily="34" charset="-120"/>
              </a:rPr>
              <a:t>The room can explain why 30 percent CPU proves the bottleneck was state, a lock, or a slow dependency.</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Check your understanding</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Your service reports unhealthy whenever the database is slow, so the platform restarts it. What is wrong?</a:t>
            </a:r>
            <a:endParaRPr lang="en-US" sz="1300" dirty="0"/>
          </a:p>
        </p:txBody>
      </p:sp>
      <p:sp>
        <p:nvSpPr>
          <p:cNvPr id="27" name="Shape 25"/>
          <p:cNvSpPr/>
          <p:nvPr/>
        </p:nvSpPr>
        <p:spPr>
          <a:xfrm>
            <a:off x="9585655" y="256032"/>
            <a:ext cx="2148840" cy="347472"/>
          </a:xfrm>
          <a:prstGeom prst="roundRect">
            <a:avLst>
              <a:gd name="adj" fmla="val 50000"/>
            </a:avLst>
          </a:prstGeom>
          <a:solidFill>
            <a:srgbClr val="4A7DE0"/>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CHECK</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92</a:t>
            </a:r>
            <a:endParaRPr lang="en-US" sz="1000" dirty="0"/>
          </a:p>
        </p:txBody>
      </p:sp>
      <p:sp>
        <p:nvSpPr>
          <p:cNvPr id="36" name="Shape 33"/>
          <p:cNvSpPr/>
          <p:nvPr/>
        </p:nvSpPr>
        <p:spPr>
          <a:xfrm>
            <a:off x="502920" y="1920240"/>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37" name="Shape 34"/>
          <p:cNvSpPr/>
          <p:nvPr/>
        </p:nvSpPr>
        <p:spPr>
          <a:xfrm>
            <a:off x="640080" y="2029968"/>
            <a:ext cx="457200" cy="438912"/>
          </a:xfrm>
          <a:prstGeom prst="roundRect">
            <a:avLst>
              <a:gd name="adj" fmla="val 16667"/>
            </a:avLst>
          </a:prstGeom>
          <a:solidFill>
            <a:srgbClr val="F6F5F8"/>
          </a:solidFill>
          <a:ln/>
        </p:spPr>
        <p:txBody>
          <a:bodyPr/>
          <a:lstStyle/>
          <a:p>
            <a:endParaRPr/>
          </a:p>
        </p:txBody>
      </p:sp>
      <p:sp>
        <p:nvSpPr>
          <p:cNvPr id="38" name="Text 35"/>
          <p:cNvSpPr/>
          <p:nvPr/>
        </p:nvSpPr>
        <p:spPr>
          <a:xfrm>
            <a:off x="640080" y="2029968"/>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A</a:t>
            </a:r>
            <a:endParaRPr lang="en-US" sz="1400" dirty="0"/>
          </a:p>
        </p:txBody>
      </p:sp>
      <p:sp>
        <p:nvSpPr>
          <p:cNvPr id="39" name="Text 36"/>
          <p:cNvSpPr/>
          <p:nvPr/>
        </p:nvSpPr>
        <p:spPr>
          <a:xfrm>
            <a:off x="1234440" y="1920240"/>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The database needs a bigger machine</a:t>
            </a:r>
            <a:endParaRPr lang="en-US" sz="1300" dirty="0"/>
          </a:p>
        </p:txBody>
      </p:sp>
      <p:sp>
        <p:nvSpPr>
          <p:cNvPr id="40" name="Shape 37"/>
          <p:cNvSpPr/>
          <p:nvPr/>
        </p:nvSpPr>
        <p:spPr>
          <a:xfrm>
            <a:off x="502920" y="2715768"/>
            <a:ext cx="11185855" cy="658368"/>
          </a:xfrm>
          <a:prstGeom prst="roundRect">
            <a:avLst>
              <a:gd name="adj" fmla="val 13889"/>
            </a:avLst>
          </a:prstGeom>
          <a:solidFill>
            <a:srgbClr val="E1F5EC"/>
          </a:solidFill>
          <a:ln w="19050">
            <a:solidFill>
              <a:srgbClr val="3EB489"/>
            </a:solidFill>
            <a:prstDash val="solid"/>
          </a:ln>
        </p:spPr>
        <p:txBody>
          <a:bodyPr/>
          <a:lstStyle/>
          <a:p>
            <a:endParaRPr/>
          </a:p>
        </p:txBody>
      </p:sp>
      <p:sp>
        <p:nvSpPr>
          <p:cNvPr id="41" name="Shape 38"/>
          <p:cNvSpPr/>
          <p:nvPr/>
        </p:nvSpPr>
        <p:spPr>
          <a:xfrm>
            <a:off x="640080" y="2825496"/>
            <a:ext cx="457200" cy="438912"/>
          </a:xfrm>
          <a:prstGeom prst="roundRect">
            <a:avLst>
              <a:gd name="adj" fmla="val 16667"/>
            </a:avLst>
          </a:prstGeom>
          <a:solidFill>
            <a:srgbClr val="3EB489"/>
          </a:solidFill>
          <a:ln/>
        </p:spPr>
        <p:txBody>
          <a:bodyPr/>
          <a:lstStyle/>
          <a:p>
            <a:endParaRPr/>
          </a:p>
        </p:txBody>
      </p:sp>
      <p:sp>
        <p:nvSpPr>
          <p:cNvPr id="42" name="Text 39"/>
          <p:cNvSpPr/>
          <p:nvPr/>
        </p:nvSpPr>
        <p:spPr>
          <a:xfrm>
            <a:off x="640080" y="2825496"/>
            <a:ext cx="457200"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B</a:t>
            </a:r>
            <a:endParaRPr lang="en-US" sz="1400" dirty="0"/>
          </a:p>
        </p:txBody>
      </p:sp>
      <p:sp>
        <p:nvSpPr>
          <p:cNvPr id="43" name="Text 40"/>
          <p:cNvSpPr/>
          <p:nvPr/>
        </p:nvSpPr>
        <p:spPr>
          <a:xfrm>
            <a:off x="1234440" y="2715768"/>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The liveness check is testing a dependency instead of the service itself</a:t>
            </a:r>
            <a:endParaRPr lang="en-US" sz="1300" dirty="0"/>
          </a:p>
        </p:txBody>
      </p:sp>
      <p:sp>
        <p:nvSpPr>
          <p:cNvPr id="44" name="Text 41"/>
          <p:cNvSpPr/>
          <p:nvPr/>
        </p:nvSpPr>
        <p:spPr>
          <a:xfrm>
            <a:off x="10682935" y="2715768"/>
            <a:ext cx="868680" cy="658368"/>
          </a:xfrm>
          <a:prstGeom prst="rect">
            <a:avLst/>
          </a:prstGeom>
          <a:noFill/>
          <a:ln/>
        </p:spPr>
        <p:txBody>
          <a:bodyPr wrap="square" rtlCol="0" anchor="ctr"/>
          <a:lstStyle/>
          <a:p>
            <a:pPr marL="0" indent="0" algn="r">
              <a:buNone/>
            </a:pPr>
            <a:r>
              <a:rPr lang="en-US" sz="1100" b="1" dirty="0">
                <a:solidFill>
                  <a:srgbClr val="1F8F65"/>
                </a:solidFill>
                <a:latin typeface="Segoe UI" pitchFamily="34" charset="0"/>
                <a:ea typeface="Segoe UI" pitchFamily="34" charset="-122"/>
                <a:cs typeface="Segoe UI" pitchFamily="34" charset="-120"/>
              </a:rPr>
              <a:t>✓ correct</a:t>
            </a:r>
            <a:endParaRPr lang="en-US" sz="1100" dirty="0"/>
          </a:p>
        </p:txBody>
      </p:sp>
      <p:sp>
        <p:nvSpPr>
          <p:cNvPr id="45" name="Shape 42"/>
          <p:cNvSpPr/>
          <p:nvPr/>
        </p:nvSpPr>
        <p:spPr>
          <a:xfrm>
            <a:off x="502920" y="3511296"/>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6" name="Shape 43"/>
          <p:cNvSpPr/>
          <p:nvPr/>
        </p:nvSpPr>
        <p:spPr>
          <a:xfrm>
            <a:off x="640080" y="3621024"/>
            <a:ext cx="457200" cy="438912"/>
          </a:xfrm>
          <a:prstGeom prst="roundRect">
            <a:avLst>
              <a:gd name="adj" fmla="val 16667"/>
            </a:avLst>
          </a:prstGeom>
          <a:solidFill>
            <a:srgbClr val="F6F5F8"/>
          </a:solidFill>
          <a:ln/>
        </p:spPr>
        <p:txBody>
          <a:bodyPr/>
          <a:lstStyle/>
          <a:p>
            <a:endParaRPr/>
          </a:p>
        </p:txBody>
      </p:sp>
      <p:sp>
        <p:nvSpPr>
          <p:cNvPr id="47" name="Text 44"/>
          <p:cNvSpPr/>
          <p:nvPr/>
        </p:nvSpPr>
        <p:spPr>
          <a:xfrm>
            <a:off x="640080" y="3621024"/>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C</a:t>
            </a:r>
            <a:endParaRPr lang="en-US" sz="1400" dirty="0"/>
          </a:p>
        </p:txBody>
      </p:sp>
      <p:sp>
        <p:nvSpPr>
          <p:cNvPr id="48" name="Text 45"/>
          <p:cNvSpPr/>
          <p:nvPr/>
        </p:nvSpPr>
        <p:spPr>
          <a:xfrm>
            <a:off x="1234440" y="3511296"/>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The service needs more copies</a:t>
            </a:r>
            <a:endParaRPr lang="en-US" sz="1300" dirty="0"/>
          </a:p>
        </p:txBody>
      </p:sp>
      <p:sp>
        <p:nvSpPr>
          <p:cNvPr id="49" name="Shape 46"/>
          <p:cNvSpPr/>
          <p:nvPr/>
        </p:nvSpPr>
        <p:spPr>
          <a:xfrm>
            <a:off x="502920" y="4306824"/>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50" name="Shape 47"/>
          <p:cNvSpPr/>
          <p:nvPr/>
        </p:nvSpPr>
        <p:spPr>
          <a:xfrm>
            <a:off x="640080" y="4416552"/>
            <a:ext cx="457200" cy="438912"/>
          </a:xfrm>
          <a:prstGeom prst="roundRect">
            <a:avLst>
              <a:gd name="adj" fmla="val 16667"/>
            </a:avLst>
          </a:prstGeom>
          <a:solidFill>
            <a:srgbClr val="F6F5F8"/>
          </a:solidFill>
          <a:ln/>
        </p:spPr>
        <p:txBody>
          <a:bodyPr/>
          <a:lstStyle/>
          <a:p>
            <a:endParaRPr/>
          </a:p>
        </p:txBody>
      </p:sp>
      <p:sp>
        <p:nvSpPr>
          <p:cNvPr id="51" name="Text 48"/>
          <p:cNvSpPr/>
          <p:nvPr/>
        </p:nvSpPr>
        <p:spPr>
          <a:xfrm>
            <a:off x="640080" y="4416552"/>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D</a:t>
            </a:r>
            <a:endParaRPr lang="en-US" sz="1400" dirty="0"/>
          </a:p>
        </p:txBody>
      </p:sp>
      <p:sp>
        <p:nvSpPr>
          <p:cNvPr id="52" name="Text 49"/>
          <p:cNvSpPr/>
          <p:nvPr/>
        </p:nvSpPr>
        <p:spPr>
          <a:xfrm>
            <a:off x="1234440" y="4306824"/>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The alert threshold is too low</a:t>
            </a:r>
            <a:endParaRPr lang="en-US" sz="1300" dirty="0"/>
          </a:p>
        </p:txBody>
      </p:sp>
      <p:sp>
        <p:nvSpPr>
          <p:cNvPr id="53" name="Shape 50"/>
          <p:cNvSpPr/>
          <p:nvPr/>
        </p:nvSpPr>
        <p:spPr>
          <a:xfrm>
            <a:off x="502920" y="5148072"/>
            <a:ext cx="11185855" cy="731520"/>
          </a:xfrm>
          <a:prstGeom prst="roundRect">
            <a:avLst>
              <a:gd name="adj" fmla="val 10000"/>
            </a:avLst>
          </a:prstGeom>
          <a:solidFill>
            <a:srgbClr val="E4F5F3"/>
          </a:solidFill>
          <a:ln/>
        </p:spPr>
        <p:txBody>
          <a:bodyPr/>
          <a:lstStyle/>
          <a:p>
            <a:endParaRPr/>
          </a:p>
        </p:txBody>
      </p:sp>
      <p:sp>
        <p:nvSpPr>
          <p:cNvPr id="54" name="Text 51"/>
          <p:cNvSpPr/>
          <p:nvPr/>
        </p:nvSpPr>
        <p:spPr>
          <a:xfrm>
            <a:off x="685800" y="5148072"/>
            <a:ext cx="10820095" cy="731520"/>
          </a:xfrm>
          <a:prstGeom prst="rect">
            <a:avLst/>
          </a:prstGeom>
          <a:noFill/>
          <a:ln/>
        </p:spPr>
        <p:txBody>
          <a:bodyPr wrap="square" rtlCol="0" anchor="ctr"/>
          <a:lstStyle/>
          <a:p>
            <a:pPr marL="0" indent="0">
              <a:lnSpc>
                <a:spcPct val="125000"/>
              </a:lnSpc>
              <a:buNone/>
            </a:pPr>
            <a:r>
              <a:rPr lang="en-US" sz="1200" b="1" kern="0" spc="200" dirty="0">
                <a:solidFill>
                  <a:srgbClr val="2F9992"/>
                </a:solidFill>
                <a:latin typeface="Segoe UI" pitchFamily="34" charset="0"/>
                <a:ea typeface="Segoe UI" pitchFamily="34" charset="-122"/>
                <a:cs typeface="Segoe UI" pitchFamily="34" charset="-120"/>
              </a:rPr>
              <a:t>Why:  </a:t>
            </a:r>
            <a:r>
              <a:rPr lang="en-US" sz="1200" dirty="0">
                <a:solidFill>
                  <a:srgbClr val="24162A"/>
                </a:solidFill>
                <a:latin typeface="Segoe UI" pitchFamily="34" charset="0"/>
                <a:ea typeface="Segoe UI" pitchFamily="34" charset="-122"/>
                <a:cs typeface="Segoe UI" pitchFamily="34" charset="-120"/>
              </a:rPr>
              <a:t>Liveness answers “am I alive”. Readiness answers “should you send me traffic”. Checking the database in the liveness probe turns a slow database into a restart storm across every service.</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4    what to remember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lines to keep.</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93</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Cloud-native means copies can start and stop, and no state is trapped on one machine.</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Scale out only after the service is stateless enough to copy.</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p95 is the number customers feel. The average hides the pain.</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Timeout, circuit breaker and bulkhead keep one failure small.</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An objective without a stop rule is decoration.</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1414455" y="0"/>
            <a:ext cx="777240" cy="6858000"/>
          </a:xfrm>
          <a:prstGeom prst="rect">
            <a:avLst/>
          </a:prstGeom>
          <a:solidFill>
            <a:srgbClr val="5F1B3C"/>
          </a:solidFill>
          <a:ln/>
        </p:spPr>
        <p:txBody>
          <a:bodyPr/>
          <a:lstStyle/>
          <a:p>
            <a:endParaRPr/>
          </a:p>
        </p:txBody>
      </p:sp>
      <p:sp>
        <p:nvSpPr>
          <p:cNvPr id="7" name="Shape 5"/>
          <p:cNvSpPr/>
          <p:nvPr/>
        </p:nvSpPr>
        <p:spPr>
          <a:xfrm>
            <a:off x="868680" y="1691640"/>
            <a:ext cx="502920" cy="73152"/>
          </a:xfrm>
          <a:prstGeom prst="rect">
            <a:avLst/>
          </a:prstGeom>
          <a:solidFill>
            <a:srgbClr val="43BFB8"/>
          </a:solidFill>
          <a:ln/>
        </p:spPr>
        <p:txBody>
          <a:bodyPr/>
          <a:lstStyle/>
          <a:p>
            <a:endParaRPr/>
          </a:p>
        </p:txBody>
      </p:sp>
      <p:sp>
        <p:nvSpPr>
          <p:cNvPr id="8" name="Text 6"/>
          <p:cNvSpPr/>
          <p:nvPr/>
        </p:nvSpPr>
        <p:spPr>
          <a:xfrm>
            <a:off x="868680" y="1783080"/>
            <a:ext cx="3657600" cy="320040"/>
          </a:xfrm>
          <a:prstGeom prst="rect">
            <a:avLst/>
          </a:prstGeom>
          <a:noFill/>
          <a:ln/>
        </p:spPr>
        <p:txBody>
          <a:bodyPr wrap="square" rtlCol="0" anchor="ctr"/>
          <a:lstStyle/>
          <a:p>
            <a:pPr marL="0" indent="0">
              <a:buNone/>
            </a:pPr>
            <a:r>
              <a:rPr lang="en-US" sz="1200" b="1" kern="0" spc="400" dirty="0">
                <a:solidFill>
                  <a:srgbClr val="5F1B3C"/>
                </a:solidFill>
                <a:latin typeface="Segoe UI" pitchFamily="34" charset="0"/>
                <a:ea typeface="Segoe UI" pitchFamily="34" charset="-122"/>
                <a:cs typeface="Segoe UI" pitchFamily="34" charset="-120"/>
              </a:rPr>
              <a:t>DAY 5</a:t>
            </a:r>
            <a:endParaRPr lang="en-US" sz="1200" dirty="0"/>
          </a:p>
        </p:txBody>
      </p:sp>
      <p:sp>
        <p:nvSpPr>
          <p:cNvPr id="9" name="Text 7"/>
          <p:cNvSpPr/>
          <p:nvPr/>
        </p:nvSpPr>
        <p:spPr>
          <a:xfrm>
            <a:off x="822960" y="2331720"/>
            <a:ext cx="2377440" cy="2194560"/>
          </a:xfrm>
          <a:prstGeom prst="rect">
            <a:avLst/>
          </a:prstGeom>
          <a:noFill/>
          <a:ln/>
        </p:spPr>
        <p:txBody>
          <a:bodyPr wrap="square" rtlCol="0" anchor="t"/>
          <a:lstStyle/>
          <a:p>
            <a:pPr marL="0" indent="0" algn="l">
              <a:buNone/>
            </a:pPr>
            <a:r>
              <a:rPr lang="en-US" sz="9600" b="1" dirty="0">
                <a:solidFill>
                  <a:srgbClr val="5F1B3C"/>
                </a:solidFill>
                <a:latin typeface="Segoe UI" pitchFamily="34" charset="0"/>
                <a:ea typeface="Segoe UI" pitchFamily="34" charset="-122"/>
                <a:cs typeface="Segoe UI" pitchFamily="34" charset="-120"/>
              </a:rPr>
              <a:t>05</a:t>
            </a:r>
            <a:endParaRPr lang="en-US" sz="9600" dirty="0"/>
          </a:p>
        </p:txBody>
      </p:sp>
      <p:sp>
        <p:nvSpPr>
          <p:cNvPr id="10" name="Text 8"/>
          <p:cNvSpPr/>
          <p:nvPr/>
        </p:nvSpPr>
        <p:spPr>
          <a:xfrm>
            <a:off x="3108960" y="2468880"/>
            <a:ext cx="7680960" cy="777240"/>
          </a:xfrm>
          <a:prstGeom prst="rect">
            <a:avLst/>
          </a:prstGeom>
          <a:noFill/>
          <a:ln/>
        </p:spPr>
        <p:txBody>
          <a:bodyPr wrap="square" rtlCol="0" anchor="t"/>
          <a:lstStyle/>
          <a:p>
            <a:pPr marL="0" indent="0" algn="l">
              <a:lnSpc>
                <a:spcPct val="110000"/>
              </a:lnSpc>
              <a:buNone/>
            </a:pPr>
            <a:r>
              <a:rPr lang="en-US" sz="3000" b="1" dirty="0">
                <a:solidFill>
                  <a:srgbClr val="5F1B3C"/>
                </a:solidFill>
                <a:latin typeface="Segoe UI" pitchFamily="34" charset="0"/>
                <a:ea typeface="Segoe UI" pitchFamily="34" charset="-122"/>
                <a:cs typeface="Segoe UI" pitchFamily="34" charset="-120"/>
              </a:rPr>
              <a:t>Modernise, assess, critique</a:t>
            </a:r>
            <a:endParaRPr lang="en-US" sz="3000" dirty="0"/>
          </a:p>
        </p:txBody>
      </p:sp>
      <p:sp>
        <p:nvSpPr>
          <p:cNvPr id="11" name="Text 9"/>
          <p:cNvSpPr/>
          <p:nvPr/>
        </p:nvSpPr>
        <p:spPr>
          <a:xfrm>
            <a:off x="3108960" y="3337560"/>
            <a:ext cx="7680960" cy="1463040"/>
          </a:xfrm>
          <a:prstGeom prst="rect">
            <a:avLst/>
          </a:prstGeom>
          <a:noFill/>
          <a:ln/>
        </p:spPr>
        <p:txBody>
          <a:bodyPr wrap="square" rtlCol="0" anchor="t"/>
          <a:lstStyle/>
          <a:p>
            <a:pPr marL="0" indent="0" algn="l">
              <a:lnSpc>
                <a:spcPct val="125000"/>
              </a:lnSpc>
              <a:buNone/>
            </a:pPr>
            <a:r>
              <a:rPr lang="en-US" sz="1400" dirty="0">
                <a:solidFill>
                  <a:srgbClr val="2F9992"/>
                </a:solidFill>
                <a:latin typeface="Segoe UI" pitchFamily="34" charset="0"/>
                <a:ea typeface="Segoe UI" pitchFamily="34" charset="-122"/>
                <a:cs typeface="Segoe UI" pitchFamily="34" charset="-120"/>
              </a:rPr>
              <a:t>Strangler Fig, anti-corruption layer, AI-ready design, golden paths, fitness functions, and a design you can defend.</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5    what you will be able to do tonight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You leave with a slice plan and a scorecard, not a rewrite slogan.</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95</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Apply the Strangler Fig pattern: route, build, switch, retire.</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Protect a new service with an anti-corruption layer.</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Say what makes a system AI-ready, without buying anything.</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one fitness function that makes an architecture rule fail a build.</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Run a 30-minute critique that attacks the design and never the designer.</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Strangler Fig    four verbs, in order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Replace the old system in slices, and always finish the last verb.</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96</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Route</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Put one facade in front of NorthlineCore so traffic can be redirected without touching clients.</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Build</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Build the new Catalog beside the old code. The old path keeps working the whole time.</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Switch</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Send 10 percent of reads to the new service, compare results for a week, then 100 percent.</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Retire</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Delete the old path. Skip this and you now pay for two systems forever.</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Write the undo sentence before slice one begins. Example: “point the route back to NorthlineCore.”</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martinfowler.com/bliki/StranglerFigApplication.html  ·  microservices.io/patterns/refactoring/strangler-application.html</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000" b="1" dirty="0">
                <a:solidFill>
                  <a:srgbClr val="5F1B3C"/>
                </a:solidFill>
                <a:latin typeface="Segoe UI" pitchFamily="34" charset="0"/>
                <a:ea typeface="Segoe UI" pitchFamily="34" charset="-122"/>
                <a:cs typeface="Segoe UI" pitchFamily="34" charset="-120"/>
              </a:rPr>
              <a:t>Anti-corruption layer    a translator at the border</a:t>
            </a:r>
            <a:endParaRPr lang="en-US" sz="20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The old mess stops at the wall.</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97</a:t>
            </a:r>
            <a:endParaRPr lang="en-US" sz="1000" dirty="0"/>
          </a:p>
        </p:txBody>
      </p:sp>
      <p:sp>
        <p:nvSpPr>
          <p:cNvPr id="36" name="Shape 33"/>
          <p:cNvSpPr/>
          <p:nvPr/>
        </p:nvSpPr>
        <p:spPr>
          <a:xfrm>
            <a:off x="640080" y="1828800"/>
            <a:ext cx="3566160" cy="1737360"/>
          </a:xfrm>
          <a:prstGeom prst="roundRect">
            <a:avLst>
              <a:gd name="adj" fmla="val 5263"/>
            </a:avLst>
          </a:prstGeom>
          <a:solidFill>
            <a:srgbClr val="FEE2E2"/>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640080" y="1920240"/>
            <a:ext cx="3566160" cy="155448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NorthlineCore (old)</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cust_type = 3, 7, 9</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mixed tables, 14 meanings</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of “customer”</a:t>
            </a:r>
            <a:endParaRPr lang="en-US" sz="1300" dirty="0"/>
          </a:p>
        </p:txBody>
      </p:sp>
      <p:sp>
        <p:nvSpPr>
          <p:cNvPr id="38" name="Shape 35"/>
          <p:cNvSpPr/>
          <p:nvPr/>
        </p:nvSpPr>
        <p:spPr>
          <a:xfrm>
            <a:off x="4663440" y="2011680"/>
            <a:ext cx="2788920" cy="1371600"/>
          </a:xfrm>
          <a:prstGeom prst="roundRect">
            <a:avLst>
              <a:gd name="adj" fmla="val 6667"/>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4663440" y="2103120"/>
            <a:ext cx="2788920" cy="118872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ANTI-CORRUPTION</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LAYER</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translate + validate</a:t>
            </a:r>
            <a:endParaRPr lang="en-US" sz="1300" dirty="0"/>
          </a:p>
        </p:txBody>
      </p:sp>
      <p:sp>
        <p:nvSpPr>
          <p:cNvPr id="40" name="Shape 37"/>
          <p:cNvSpPr/>
          <p:nvPr/>
        </p:nvSpPr>
        <p:spPr>
          <a:xfrm>
            <a:off x="7909560" y="1920240"/>
            <a:ext cx="3154680" cy="1554480"/>
          </a:xfrm>
          <a:prstGeom prst="roundRect">
            <a:avLst>
              <a:gd name="adj" fmla="val 5882"/>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7909560" y="2011680"/>
            <a:ext cx="3154680" cy="1371600"/>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Orders service (new)</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CustomerKind =</a:t>
            </a:r>
            <a:endParaRPr lang="en-US" sz="1300" dirty="0"/>
          </a:p>
          <a:p>
            <a:pPr marL="0" indent="0" algn="ctr">
              <a:buNone/>
            </a:pPr>
            <a:r>
              <a:rPr lang="en-US" sz="1300" b="1" dirty="0">
                <a:solidFill>
                  <a:srgbClr val="1F8F65"/>
                </a:solidFill>
                <a:latin typeface="Segoe UI" pitchFamily="34" charset="0"/>
                <a:ea typeface="Segoe UI" pitchFamily="34" charset="-122"/>
                <a:cs typeface="Segoe UI" pitchFamily="34" charset="-120"/>
              </a:rPr>
              <a:t>Guest | Member | Wholesale</a:t>
            </a:r>
            <a:endParaRPr lang="en-US" sz="1300" dirty="0"/>
          </a:p>
        </p:txBody>
      </p:sp>
      <p:sp>
        <p:nvSpPr>
          <p:cNvPr id="42" name="Shape 39"/>
          <p:cNvSpPr/>
          <p:nvPr/>
        </p:nvSpPr>
        <p:spPr>
          <a:xfrm>
            <a:off x="640080" y="3977640"/>
            <a:ext cx="10424160" cy="777240"/>
          </a:xfrm>
          <a:prstGeom prst="roundRect">
            <a:avLst>
              <a:gd name="adj" fmla="val 11765"/>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640080" y="4069080"/>
            <a:ext cx="10424160" cy="59436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Orders never imports the old table shape. Without this wall, the old model is inside the new design within weeks.</a:t>
            </a:r>
            <a:endParaRPr lang="en-US" sz="1300" dirty="0"/>
          </a:p>
        </p:txBody>
      </p:sp>
      <p:sp>
        <p:nvSpPr>
          <p:cNvPr id="44" name="Shape 41"/>
          <p:cNvSpPr/>
          <p:nvPr/>
        </p:nvSpPr>
        <p:spPr>
          <a:xfrm>
            <a:off x="4206240" y="2697480"/>
            <a:ext cx="457200" cy="914"/>
          </a:xfrm>
          <a:prstGeom prst="line">
            <a:avLst/>
          </a:prstGeom>
          <a:noFill/>
          <a:ln w="19050">
            <a:solidFill>
              <a:srgbClr val="DC2626"/>
            </a:solidFill>
            <a:prstDash val="solid"/>
            <a:tailEnd type="triangle"/>
          </a:ln>
        </p:spPr>
        <p:txBody>
          <a:bodyPr/>
          <a:lstStyle/>
          <a:p>
            <a:endParaRPr/>
          </a:p>
        </p:txBody>
      </p:sp>
      <p:sp>
        <p:nvSpPr>
          <p:cNvPr id="45" name="Shape 42"/>
          <p:cNvSpPr/>
          <p:nvPr/>
        </p:nvSpPr>
        <p:spPr>
          <a:xfrm>
            <a:off x="7452360" y="2697480"/>
            <a:ext cx="457200" cy="914"/>
          </a:xfrm>
          <a:prstGeom prst="line">
            <a:avLst/>
          </a:prstGeom>
          <a:noFill/>
          <a:ln w="19050">
            <a:solidFill>
              <a:srgbClr val="1F8F65"/>
            </a:solidFill>
            <a:prstDash val="solid"/>
            <a:tailEnd type="triangle"/>
          </a:ln>
        </p:spPr>
        <p:txBody>
          <a:bodyPr/>
          <a:lstStyle/>
          <a:p>
            <a:endParaRPr/>
          </a:p>
        </p:txBody>
      </p:sp>
      <p:sp>
        <p:nvSpPr>
          <p:cNvPr id="46" name="Shape 43"/>
          <p:cNvSpPr/>
          <p:nvPr/>
        </p:nvSpPr>
        <p:spPr>
          <a:xfrm>
            <a:off x="3749040" y="2569464"/>
            <a:ext cx="137160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47" name="Text 44"/>
          <p:cNvSpPr/>
          <p:nvPr/>
        </p:nvSpPr>
        <p:spPr>
          <a:xfrm>
            <a:off x="3749040" y="2569464"/>
            <a:ext cx="137160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old records</a:t>
            </a:r>
            <a:endParaRPr lang="en-US" sz="950" dirty="0"/>
          </a:p>
        </p:txBody>
      </p:sp>
      <p:sp>
        <p:nvSpPr>
          <p:cNvPr id="48" name="Shape 45"/>
          <p:cNvSpPr/>
          <p:nvPr/>
        </p:nvSpPr>
        <p:spPr>
          <a:xfrm>
            <a:off x="6995160" y="2569464"/>
            <a:ext cx="137160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49" name="Text 46"/>
          <p:cNvSpPr/>
          <p:nvPr/>
        </p:nvSpPr>
        <p:spPr>
          <a:xfrm>
            <a:off x="6995160" y="2569464"/>
            <a:ext cx="137160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clean model</a:t>
            </a:r>
            <a:endParaRPr lang="en-US" sz="950" dirty="0"/>
          </a:p>
        </p:txBody>
      </p:sp>
      <p:sp>
        <p:nvSpPr>
          <p:cNvPr id="50" name="Shape 47"/>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51" name="Shape 48"/>
          <p:cNvSpPr/>
          <p:nvPr/>
        </p:nvSpPr>
        <p:spPr>
          <a:xfrm>
            <a:off x="502920" y="5010912"/>
            <a:ext cx="100584" cy="731520"/>
          </a:xfrm>
          <a:prstGeom prst="rect">
            <a:avLst/>
          </a:prstGeom>
          <a:solidFill>
            <a:srgbClr val="1F8F65"/>
          </a:solidFill>
          <a:ln/>
        </p:spPr>
        <p:txBody>
          <a:bodyPr/>
          <a:lstStyle/>
          <a:p>
            <a:endParaRPr/>
          </a:p>
        </p:txBody>
      </p:sp>
      <p:sp>
        <p:nvSpPr>
          <p:cNvPr id="52" name="Text 49"/>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Never let a new service read the legacy tables directly, not even “temporarily”. Temporary access becomes permanent.</a:t>
            </a:r>
            <a:endParaRPr lang="en-US" sz="1250" dirty="0"/>
          </a:p>
        </p:txBody>
      </p:sp>
      <p:sp>
        <p:nvSpPr>
          <p:cNvPr id="53" name="Shape 50"/>
          <p:cNvSpPr/>
          <p:nvPr/>
        </p:nvSpPr>
        <p:spPr>
          <a:xfrm>
            <a:off x="502920" y="5925312"/>
            <a:ext cx="54864" cy="201168"/>
          </a:xfrm>
          <a:prstGeom prst="rect">
            <a:avLst/>
          </a:prstGeom>
          <a:solidFill>
            <a:srgbClr val="43BFB8"/>
          </a:solidFill>
          <a:ln/>
        </p:spPr>
        <p:txBody>
          <a:bodyPr/>
          <a:lstStyle/>
          <a:p>
            <a:endParaRPr/>
          </a:p>
        </p:txBody>
      </p:sp>
      <p:sp>
        <p:nvSpPr>
          <p:cNvPr id="54" name="Text 51"/>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learn.microsoft.com/azure/architecture/patterns/anti-corruption-layer  ·  Evans, DDD, context map patterns.</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700" b="1" dirty="0">
                <a:solidFill>
                  <a:srgbClr val="5F1B3C"/>
                </a:solidFill>
                <a:latin typeface="Segoe UI" pitchFamily="34" charset="0"/>
                <a:ea typeface="Segoe UI" pitchFamily="34" charset="-122"/>
                <a:cs typeface="Segoe UI" pitchFamily="34" charset="-120"/>
              </a:rPr>
              <a:t>The whole Strangler Fig, in one config file    line by line</a:t>
            </a:r>
            <a:endParaRPr lang="en-US" sz="17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This is the entire pattern. Six lines. And the undo is one line.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98</a:t>
            </a:r>
            <a:endParaRPr lang="en-US" sz="1000" dirty="0"/>
          </a:p>
        </p:txBody>
      </p:sp>
      <p:sp>
        <p:nvSpPr>
          <p:cNvPr id="36" name="Shape 33"/>
          <p:cNvSpPr/>
          <p:nvPr/>
        </p:nvSpPr>
        <p:spPr>
          <a:xfrm>
            <a:off x="502920" y="1207008"/>
            <a:ext cx="5257800" cy="3566160"/>
          </a:xfrm>
          <a:prstGeom prst="roundRect">
            <a:avLst>
              <a:gd name="adj" fmla="val 2308"/>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gateway/nginx.conf</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NGINX</a:t>
            </a:r>
            <a:endParaRPr lang="en-US" sz="850" dirty="0"/>
          </a:p>
        </p:txBody>
      </p:sp>
      <p:sp>
        <p:nvSpPr>
          <p:cNvPr id="43" name="Text 40"/>
          <p:cNvSpPr/>
          <p:nvPr/>
        </p:nvSpPr>
        <p:spPr>
          <a:xfrm>
            <a:off x="594360" y="1591056"/>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1</a:t>
            </a:r>
            <a:endParaRPr lang="en-US" sz="950" dirty="0"/>
          </a:p>
        </p:txBody>
      </p:sp>
      <p:sp>
        <p:nvSpPr>
          <p:cNvPr id="44" name="Text 41"/>
          <p:cNvSpPr/>
          <p:nvPr/>
        </p:nvSpPr>
        <p:spPr>
          <a:xfrm>
            <a:off x="960120" y="1591056"/>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location /v1/items/ {</a:t>
            </a:r>
            <a:endParaRPr lang="en-US" sz="1100" dirty="0"/>
          </a:p>
        </p:txBody>
      </p:sp>
      <p:sp>
        <p:nvSpPr>
          <p:cNvPr id="45" name="Shape 42"/>
          <p:cNvSpPr/>
          <p:nvPr/>
        </p:nvSpPr>
        <p:spPr>
          <a:xfrm>
            <a:off x="6035040" y="1773936"/>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“For any address that starts with /v1/items/ ...”. Only product reads are affected.</a:t>
            </a:r>
            <a:endParaRPr lang="en-US" sz="1250" dirty="0"/>
          </a:p>
        </p:txBody>
      </p:sp>
      <p:sp>
        <p:nvSpPr>
          <p:cNvPr id="47" name="Text 44"/>
          <p:cNvSpPr/>
          <p:nvPr/>
        </p:nvSpPr>
        <p:spPr>
          <a:xfrm>
            <a:off x="594360" y="2103120"/>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2</a:t>
            </a:r>
            <a:endParaRPr lang="en-US" sz="950" dirty="0"/>
          </a:p>
        </p:txBody>
      </p:sp>
      <p:sp>
        <p:nvSpPr>
          <p:cNvPr id="48" name="Text 45"/>
          <p:cNvSpPr/>
          <p:nvPr/>
        </p:nvSpPr>
        <p:spPr>
          <a:xfrm>
            <a:off x="960120" y="2103120"/>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proxy_pass http://new_catalog;</a:t>
            </a:r>
            <a:endParaRPr lang="en-US" sz="1100" dirty="0"/>
          </a:p>
        </p:txBody>
      </p:sp>
      <p:sp>
        <p:nvSpPr>
          <p:cNvPr id="49" name="Shape 46"/>
          <p:cNvSpPr/>
          <p:nvPr/>
        </p:nvSpPr>
        <p:spPr>
          <a:xfrm>
            <a:off x="6035040" y="2286000"/>
            <a:ext cx="155448" cy="155448"/>
          </a:xfrm>
          <a:prstGeom prst="ellipse">
            <a:avLst/>
          </a:prstGeom>
          <a:solidFill>
            <a:srgbClr val="43BFB8"/>
          </a:solidFill>
          <a:ln/>
        </p:spPr>
        <p:txBody>
          <a:bodyPr/>
          <a:lstStyle/>
          <a:p>
            <a:endParaRPr/>
          </a:p>
        </p:txBody>
      </p:sp>
      <p:sp>
        <p:nvSpPr>
          <p:cNvPr id="50" name="Text 47"/>
          <p:cNvSpPr/>
          <p:nvPr/>
        </p:nvSpPr>
        <p:spPr>
          <a:xfrm>
            <a:off x="6291072" y="2103120"/>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 send it to the NEW Catalog service.” This single line is the switch.</a:t>
            </a:r>
            <a:endParaRPr lang="en-US" sz="1250" dirty="0"/>
          </a:p>
        </p:txBody>
      </p:sp>
      <p:sp>
        <p:nvSpPr>
          <p:cNvPr id="51" name="Text 48"/>
          <p:cNvSpPr/>
          <p:nvPr/>
        </p:nvSpPr>
        <p:spPr>
          <a:xfrm>
            <a:off x="594360" y="2615184"/>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3</a:t>
            </a:r>
            <a:endParaRPr lang="en-US" sz="950" dirty="0"/>
          </a:p>
        </p:txBody>
      </p:sp>
      <p:sp>
        <p:nvSpPr>
          <p:cNvPr id="52" name="Text 49"/>
          <p:cNvSpPr/>
          <p:nvPr/>
        </p:nvSpPr>
        <p:spPr>
          <a:xfrm>
            <a:off x="960120" y="2615184"/>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a:t>
            </a:r>
            <a:endParaRPr lang="en-US" sz="1100" dirty="0"/>
          </a:p>
        </p:txBody>
      </p:sp>
      <p:sp>
        <p:nvSpPr>
          <p:cNvPr id="53" name="Shape 50"/>
          <p:cNvSpPr/>
          <p:nvPr/>
        </p:nvSpPr>
        <p:spPr>
          <a:xfrm>
            <a:off x="6035040" y="2798064"/>
            <a:ext cx="155448" cy="155448"/>
          </a:xfrm>
          <a:prstGeom prst="ellipse">
            <a:avLst/>
          </a:prstGeom>
          <a:solidFill>
            <a:srgbClr val="43BFB8"/>
          </a:solidFill>
          <a:ln/>
        </p:spPr>
        <p:txBody>
          <a:bodyPr/>
          <a:lstStyle/>
          <a:p>
            <a:endParaRPr/>
          </a:p>
        </p:txBody>
      </p:sp>
      <p:sp>
        <p:nvSpPr>
          <p:cNvPr id="54" name="Text 51"/>
          <p:cNvSpPr/>
          <p:nvPr/>
        </p:nvSpPr>
        <p:spPr>
          <a:xfrm>
            <a:off x="6291072" y="2615184"/>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End of the new route. Nothing else in the system changed.</a:t>
            </a:r>
            <a:endParaRPr lang="en-US" sz="1250" dirty="0"/>
          </a:p>
        </p:txBody>
      </p:sp>
      <p:sp>
        <p:nvSpPr>
          <p:cNvPr id="55" name="Text 52"/>
          <p:cNvSpPr/>
          <p:nvPr/>
        </p:nvSpPr>
        <p:spPr>
          <a:xfrm>
            <a:off x="594360" y="3127248"/>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4</a:t>
            </a:r>
            <a:endParaRPr lang="en-US" sz="950" dirty="0"/>
          </a:p>
        </p:txBody>
      </p:sp>
      <p:sp>
        <p:nvSpPr>
          <p:cNvPr id="56" name="Text 53"/>
          <p:cNvSpPr/>
          <p:nvPr/>
        </p:nvSpPr>
        <p:spPr>
          <a:xfrm>
            <a:off x="960120" y="3127248"/>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location / {</a:t>
            </a:r>
            <a:endParaRPr lang="en-US" sz="1100" dirty="0"/>
          </a:p>
        </p:txBody>
      </p:sp>
      <p:sp>
        <p:nvSpPr>
          <p:cNvPr id="57" name="Shape 54"/>
          <p:cNvSpPr/>
          <p:nvPr/>
        </p:nvSpPr>
        <p:spPr>
          <a:xfrm>
            <a:off x="6035040" y="3310128"/>
            <a:ext cx="155448" cy="155448"/>
          </a:xfrm>
          <a:prstGeom prst="ellipse">
            <a:avLst/>
          </a:prstGeom>
          <a:solidFill>
            <a:srgbClr val="43BFB8"/>
          </a:solidFill>
          <a:ln/>
        </p:spPr>
        <p:txBody>
          <a:bodyPr/>
          <a:lstStyle/>
          <a:p>
            <a:endParaRPr/>
          </a:p>
        </p:txBody>
      </p:sp>
      <p:sp>
        <p:nvSpPr>
          <p:cNvPr id="58" name="Text 55"/>
          <p:cNvSpPr/>
          <p:nvPr/>
        </p:nvSpPr>
        <p:spPr>
          <a:xfrm>
            <a:off x="6291072" y="3127248"/>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“For everything else ...”. Cart, checkout, shipping, all of it.</a:t>
            </a:r>
            <a:endParaRPr lang="en-US" sz="1250" dirty="0"/>
          </a:p>
        </p:txBody>
      </p:sp>
      <p:sp>
        <p:nvSpPr>
          <p:cNvPr id="59" name="Text 56"/>
          <p:cNvSpPr/>
          <p:nvPr/>
        </p:nvSpPr>
        <p:spPr>
          <a:xfrm>
            <a:off x="594360" y="3639312"/>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5</a:t>
            </a:r>
            <a:endParaRPr lang="en-US" sz="950" dirty="0"/>
          </a:p>
        </p:txBody>
      </p:sp>
      <p:sp>
        <p:nvSpPr>
          <p:cNvPr id="60" name="Text 57"/>
          <p:cNvSpPr/>
          <p:nvPr/>
        </p:nvSpPr>
        <p:spPr>
          <a:xfrm>
            <a:off x="960120" y="3639312"/>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  proxy_pass http://old_core;</a:t>
            </a:r>
            <a:endParaRPr lang="en-US" sz="1100" dirty="0"/>
          </a:p>
        </p:txBody>
      </p:sp>
      <p:sp>
        <p:nvSpPr>
          <p:cNvPr id="61" name="Shape 58"/>
          <p:cNvSpPr/>
          <p:nvPr/>
        </p:nvSpPr>
        <p:spPr>
          <a:xfrm>
            <a:off x="6035040" y="3822192"/>
            <a:ext cx="155448" cy="155448"/>
          </a:xfrm>
          <a:prstGeom prst="ellipse">
            <a:avLst/>
          </a:prstGeom>
          <a:solidFill>
            <a:srgbClr val="43BFB8"/>
          </a:solidFill>
          <a:ln/>
        </p:spPr>
        <p:txBody>
          <a:bodyPr/>
          <a:lstStyle/>
          <a:p>
            <a:endParaRPr/>
          </a:p>
        </p:txBody>
      </p:sp>
      <p:sp>
        <p:nvSpPr>
          <p:cNvPr id="62" name="Text 59"/>
          <p:cNvSpPr/>
          <p:nvPr/>
        </p:nvSpPr>
        <p:spPr>
          <a:xfrm>
            <a:off x="6291072" y="3639312"/>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 keep sending it to the old 2011 system.” The old path is untouched and still works.</a:t>
            </a:r>
            <a:endParaRPr lang="en-US" sz="1250" dirty="0"/>
          </a:p>
        </p:txBody>
      </p:sp>
      <p:sp>
        <p:nvSpPr>
          <p:cNvPr id="63" name="Text 60"/>
          <p:cNvSpPr/>
          <p:nvPr/>
        </p:nvSpPr>
        <p:spPr>
          <a:xfrm>
            <a:off x="594360" y="4151376"/>
            <a:ext cx="274320" cy="512064"/>
          </a:xfrm>
          <a:prstGeom prst="rect">
            <a:avLst/>
          </a:prstGeom>
          <a:noFill/>
          <a:ln/>
        </p:spPr>
        <p:txBody>
          <a:bodyPr wrap="square" rtlCol="0" anchor="ctr"/>
          <a:lstStyle/>
          <a:p>
            <a:pPr marL="0" indent="0" algn="r">
              <a:buNone/>
            </a:pPr>
            <a:r>
              <a:rPr lang="en-US" sz="950" dirty="0">
                <a:solidFill>
                  <a:srgbClr val="8A9BB8"/>
                </a:solidFill>
                <a:latin typeface="Consolas" pitchFamily="34" charset="0"/>
                <a:ea typeface="Consolas" pitchFamily="34" charset="-122"/>
                <a:cs typeface="Consolas" pitchFamily="34" charset="-120"/>
              </a:rPr>
              <a:t>6</a:t>
            </a:r>
            <a:endParaRPr lang="en-US" sz="950" dirty="0"/>
          </a:p>
        </p:txBody>
      </p:sp>
      <p:sp>
        <p:nvSpPr>
          <p:cNvPr id="64" name="Text 61"/>
          <p:cNvSpPr/>
          <p:nvPr/>
        </p:nvSpPr>
        <p:spPr>
          <a:xfrm>
            <a:off x="960120" y="4151376"/>
            <a:ext cx="4690872" cy="512064"/>
          </a:xfrm>
          <a:prstGeom prst="rect">
            <a:avLst/>
          </a:prstGeom>
          <a:noFill/>
          <a:ln/>
        </p:spPr>
        <p:txBody>
          <a:bodyPr wrap="square" rtlCol="0" anchor="ctr"/>
          <a:lstStyle/>
          <a:p>
            <a:pPr marL="0" indent="0">
              <a:buNone/>
            </a:pPr>
            <a:r>
              <a:rPr lang="en-US" sz="1100" dirty="0">
                <a:solidFill>
                  <a:srgbClr val="7EE7B3"/>
                </a:solidFill>
                <a:latin typeface="Consolas" pitchFamily="34" charset="0"/>
                <a:ea typeface="Consolas" pitchFamily="34" charset="-122"/>
                <a:cs typeface="Consolas" pitchFamily="34" charset="-120"/>
              </a:rPr>
              <a:t>}</a:t>
            </a:r>
            <a:endParaRPr lang="en-US" sz="1100" dirty="0"/>
          </a:p>
        </p:txBody>
      </p:sp>
      <p:sp>
        <p:nvSpPr>
          <p:cNvPr id="65" name="Shape 62"/>
          <p:cNvSpPr/>
          <p:nvPr/>
        </p:nvSpPr>
        <p:spPr>
          <a:xfrm>
            <a:off x="6035040" y="4334256"/>
            <a:ext cx="155448" cy="155448"/>
          </a:xfrm>
          <a:prstGeom prst="ellipse">
            <a:avLst/>
          </a:prstGeom>
          <a:solidFill>
            <a:srgbClr val="43BFB8"/>
          </a:solidFill>
          <a:ln/>
        </p:spPr>
        <p:txBody>
          <a:bodyPr/>
          <a:lstStyle/>
          <a:p>
            <a:endParaRPr/>
          </a:p>
        </p:txBody>
      </p:sp>
      <p:sp>
        <p:nvSpPr>
          <p:cNvPr id="66" name="Text 63"/>
          <p:cNvSpPr/>
          <p:nvPr/>
        </p:nvSpPr>
        <p:spPr>
          <a:xfrm>
            <a:off x="6291072" y="4151376"/>
            <a:ext cx="5397703" cy="512064"/>
          </a:xfrm>
          <a:prstGeom prst="rect">
            <a:avLst/>
          </a:prstGeom>
          <a:noFill/>
          <a:ln/>
        </p:spPr>
        <p:txBody>
          <a:bodyPr wrap="square" rtlCol="0" anchor="ctr"/>
          <a:lstStyle/>
          <a:p>
            <a:pPr marL="0" indent="0">
              <a:lnSpc>
                <a:spcPct val="100000"/>
              </a:lnSpc>
              <a:buNone/>
            </a:pPr>
            <a:r>
              <a:rPr lang="en-US" sz="1250" dirty="0">
                <a:solidFill>
                  <a:srgbClr val="24162A"/>
                </a:solidFill>
                <a:latin typeface="Segoe UI" pitchFamily="34" charset="0"/>
                <a:ea typeface="Segoe UI" pitchFamily="34" charset="-122"/>
                <a:cs typeface="Segoe UI" pitchFamily="34" charset="-120"/>
              </a:rPr>
              <a:t>End. The shopper's browser has no idea any of this happened.</a:t>
            </a:r>
            <a:endParaRPr lang="en-US" sz="1250" dirty="0"/>
          </a:p>
        </p:txBody>
      </p:sp>
      <p:sp>
        <p:nvSpPr>
          <p:cNvPr id="67" name="Shape 64"/>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68" name="Shape 65"/>
          <p:cNvSpPr/>
          <p:nvPr/>
        </p:nvSpPr>
        <p:spPr>
          <a:xfrm>
            <a:off x="502920" y="5175504"/>
            <a:ext cx="100584" cy="676656"/>
          </a:xfrm>
          <a:prstGeom prst="rect">
            <a:avLst/>
          </a:prstGeom>
          <a:solidFill>
            <a:srgbClr val="E76F30"/>
          </a:solidFill>
          <a:ln/>
        </p:spPr>
        <p:txBody>
          <a:bodyPr/>
          <a:lstStyle/>
          <a:p>
            <a:endParaRPr/>
          </a:p>
        </p:txBody>
      </p:sp>
      <p:sp>
        <p:nvSpPr>
          <p:cNvPr id="69" name="Text 66"/>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The shopper's address bar never changes. To undo the whole slice at 2 a.m. you change new_catalog to old_core on line 2 and reload the gateway. That is what “reversible” means in practice, and it is why slice one is a read path.</a:t>
            </a:r>
            <a:endParaRPr lang="en-US" sz="1250" dirty="0"/>
          </a:p>
        </p:txBody>
      </p:sp>
      <p:sp>
        <p:nvSpPr>
          <p:cNvPr id="70" name="Shape 67"/>
          <p:cNvSpPr/>
          <p:nvPr/>
        </p:nvSpPr>
        <p:spPr>
          <a:xfrm>
            <a:off x="502920" y="5980176"/>
            <a:ext cx="54864" cy="201168"/>
          </a:xfrm>
          <a:prstGeom prst="rect">
            <a:avLst/>
          </a:prstGeom>
          <a:solidFill>
            <a:srgbClr val="43BFB8"/>
          </a:solidFill>
          <a:ln/>
        </p:spPr>
        <p:txBody>
          <a:bodyPr/>
          <a:lstStyle/>
          <a:p>
            <a:endParaRPr/>
          </a:p>
        </p:txBody>
      </p:sp>
      <p:sp>
        <p:nvSpPr>
          <p:cNvPr id="71" name="Text 68"/>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nginx.org/en/docs/http/ngx_http_proxy_module.html  ·  martinfowler.com/bliki/StranglerFigApplication.html</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plan slice one for Northline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15 minutes, groups of three. This is the start of the capstone.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99</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slice one</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Prefer a read path such as Catalog reads over a money path.</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Fill the four verbs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Route, build, switch, retire  one short line each. Retire must name something you delete.</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undo</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One sentence a night operator could follow at 02:00.</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compare rule</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How will you prove the new path matches the old one for a week?</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slice one card</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Slice   : Catalog product reads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Route   : gateway /v1/items/{id} -&gt; new Catalog</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Build   : new service + its own data copy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Switch  : 10 % of reads, then 100 %</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Retire  : delete the old product-read code path</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Undo    : point the gateway route back to</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NorthlineCore  (one config change)</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Compare : same item id must return the same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name and price for 7 days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Four verbs filled in, one undo sentence, one compare rule. Payments is not slice one unless the undo is strong.</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Catalog reads first, undo is one route change. Best practice: always finish retire, or you will run and pay for two systems.</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martinfowler.com/bliki/StranglerFigApplication.html  ·  Newman, “Monolith to Microservices”.</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AI-ready systems    what it actually means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AI-ready is an architecture property. You cannot buy it.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100</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A system is AI-ready when clean, well-named, permissioned data can leave it safely through an interface, and when a model's answer can be used, logged and overruled inside a normal business flow.</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Data first: if “customer” means 14 things, no model will help. Bounded contexts are the real AI project.</a:t>
            </a:r>
            <a:endParaRPr lang="en-US" sz="1300" dirty="0"/>
          </a:p>
        </p:txBody>
      </p:sp>
      <p:sp>
        <p:nvSpPr>
          <p:cNvPr id="44" name="Shape 41"/>
          <p:cNvSpPr/>
          <p:nvPr/>
        </p:nvSpPr>
        <p:spPr>
          <a:xfrm>
            <a:off x="795528" y="3547872"/>
            <a:ext cx="182880" cy="182880"/>
          </a:xfrm>
          <a:prstGeom prst="ellipse">
            <a:avLst/>
          </a:prstGeom>
          <a:solidFill>
            <a:srgbClr val="43BFB8"/>
          </a:solidFill>
          <a:ln/>
        </p:spPr>
        <p:txBody>
          <a:bodyPr/>
          <a:lstStyle/>
          <a:p>
            <a:endParaRPr/>
          </a:p>
        </p:txBody>
      </p:sp>
      <p:sp>
        <p:nvSpPr>
          <p:cNvPr id="45" name="Text 42"/>
          <p:cNvSpPr/>
          <p:nvPr/>
        </p:nvSpPr>
        <p:spPr>
          <a:xfrm>
            <a:off x="1069848" y="347472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An interface, not a copy: reach the model through an API or an event stream, never a nightly spreadsheet.</a:t>
            </a:r>
            <a:endParaRPr lang="en-US" sz="1300" dirty="0"/>
          </a:p>
        </p:txBody>
      </p:sp>
      <p:sp>
        <p:nvSpPr>
          <p:cNvPr id="46" name="Shape 43"/>
          <p:cNvSpPr/>
          <p:nvPr/>
        </p:nvSpPr>
        <p:spPr>
          <a:xfrm>
            <a:off x="795528" y="4096512"/>
            <a:ext cx="182880" cy="182880"/>
          </a:xfrm>
          <a:prstGeom prst="ellipse">
            <a:avLst/>
          </a:prstGeom>
          <a:solidFill>
            <a:srgbClr val="43BFB8"/>
          </a:solidFill>
          <a:ln/>
        </p:spPr>
        <p:txBody>
          <a:bodyPr/>
          <a:lstStyle/>
          <a:p>
            <a:endParaRPr/>
          </a:p>
        </p:txBody>
      </p:sp>
      <p:sp>
        <p:nvSpPr>
          <p:cNvPr id="47" name="Text 44"/>
          <p:cNvSpPr/>
          <p:nvPr/>
        </p:nvSpPr>
        <p:spPr>
          <a:xfrm>
            <a:off x="1069848" y="402336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Always design the fallback: what does checkout do when the model is slow or wrong? A timeout and a default.</a:t>
            </a:r>
            <a:endParaRPr lang="en-US" sz="1300" dirty="0"/>
          </a:p>
        </p:txBody>
      </p:sp>
      <p:sp>
        <p:nvSpPr>
          <p:cNvPr id="48" name="Shape 45"/>
          <p:cNvSpPr/>
          <p:nvPr/>
        </p:nvSpPr>
        <p:spPr>
          <a:xfrm>
            <a:off x="795528" y="4645152"/>
            <a:ext cx="182880" cy="182880"/>
          </a:xfrm>
          <a:prstGeom prst="ellipse">
            <a:avLst/>
          </a:prstGeom>
          <a:solidFill>
            <a:srgbClr val="43BFB8"/>
          </a:solidFill>
          <a:ln/>
        </p:spPr>
        <p:txBody>
          <a:bodyPr/>
          <a:lstStyle/>
          <a:p>
            <a:endParaRPr/>
          </a:p>
        </p:txBody>
      </p:sp>
      <p:sp>
        <p:nvSpPr>
          <p:cNvPr id="49" name="Text 46"/>
          <p:cNvSpPr/>
          <p:nvPr/>
        </p:nvSpPr>
        <p:spPr>
          <a:xfrm>
            <a:off x="1069848" y="457200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Log the input, the answer and the model version, or you cannot explain a decision to an auditor.</a:t>
            </a:r>
            <a:endParaRPr lang="en-US" sz="1300" dirty="0"/>
          </a:p>
        </p:txBody>
      </p:sp>
      <p:sp>
        <p:nvSpPr>
          <p:cNvPr id="50" name="Shape 47"/>
          <p:cNvSpPr/>
          <p:nvPr/>
        </p:nvSpPr>
        <p:spPr>
          <a:xfrm>
            <a:off x="795528" y="5193792"/>
            <a:ext cx="182880" cy="182880"/>
          </a:xfrm>
          <a:prstGeom prst="ellipse">
            <a:avLst/>
          </a:prstGeom>
          <a:solidFill>
            <a:srgbClr val="43BFB8"/>
          </a:solidFill>
          <a:ln/>
        </p:spPr>
        <p:txBody>
          <a:bodyPr/>
          <a:lstStyle/>
          <a:p>
            <a:endParaRPr/>
          </a:p>
        </p:txBody>
      </p:sp>
      <p:sp>
        <p:nvSpPr>
          <p:cNvPr id="51" name="Text 48"/>
          <p:cNvSpPr/>
          <p:nvPr/>
        </p:nvSpPr>
        <p:spPr>
          <a:xfrm>
            <a:off x="1069848" y="5120640"/>
            <a:ext cx="4727448" cy="51206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Decide who may see what before the model sees anything. A model leaks whatever it was allowed to read.</a:t>
            </a:r>
            <a:endParaRPr lang="en-US" sz="1300" dirty="0"/>
          </a:p>
        </p:txBody>
      </p:sp>
      <p:sp>
        <p:nvSpPr>
          <p:cNvPr id="52" name="Shape 49"/>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3" name="Shape 50"/>
          <p:cNvSpPr/>
          <p:nvPr/>
        </p:nvSpPr>
        <p:spPr>
          <a:xfrm>
            <a:off x="6236208" y="1225296"/>
            <a:ext cx="128016" cy="4553712"/>
          </a:xfrm>
          <a:prstGeom prst="rect">
            <a:avLst/>
          </a:prstGeom>
          <a:solidFill>
            <a:srgbClr val="E76F30"/>
          </a:solidFill>
          <a:ln/>
        </p:spPr>
        <p:txBody>
          <a:bodyPr/>
          <a:lstStyle/>
          <a:p>
            <a:endParaRPr/>
          </a:p>
        </p:txBody>
      </p:sp>
      <p:sp>
        <p:nvSpPr>
          <p:cNvPr id="54" name="Text 51"/>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5" name="Text 52"/>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Northline wants product recommendations and fraud scoring. Both need clean product and order data with one owner each  which is exactly the work of Days 1 to 4. The architecture work IS the AI preparation.</a:t>
            </a:r>
            <a:endParaRPr lang="en-US" sz="1300" dirty="0"/>
          </a:p>
        </p:txBody>
      </p:sp>
      <p:sp>
        <p:nvSpPr>
          <p:cNvPr id="56" name="Text 53"/>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7" name="Shape 54"/>
          <p:cNvSpPr/>
          <p:nvPr/>
        </p:nvSpPr>
        <p:spPr>
          <a:xfrm>
            <a:off x="6492240" y="3017520"/>
            <a:ext cx="256032" cy="256032"/>
          </a:xfrm>
          <a:prstGeom prst="ellipse">
            <a:avLst/>
          </a:prstGeom>
          <a:solidFill>
            <a:srgbClr val="E76F30"/>
          </a:solidFill>
          <a:ln/>
        </p:spPr>
        <p:txBody>
          <a:bodyPr/>
          <a:lstStyle/>
          <a:p>
            <a:endParaRPr/>
          </a:p>
        </p:txBody>
      </p:sp>
      <p:sp>
        <p:nvSpPr>
          <p:cNvPr id="58" name="Text 55"/>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9" name="Text 56"/>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say whether Northline is AI-ready today, and name the first blocker.</a:t>
            </a:r>
            <a:endParaRPr lang="en-US" sz="1250" dirty="0"/>
          </a:p>
        </p:txBody>
      </p:sp>
      <p:sp>
        <p:nvSpPr>
          <p:cNvPr id="60" name="Shape 57"/>
          <p:cNvSpPr/>
          <p:nvPr/>
        </p:nvSpPr>
        <p:spPr>
          <a:xfrm>
            <a:off x="6492240" y="3523488"/>
            <a:ext cx="256032" cy="256032"/>
          </a:xfrm>
          <a:prstGeom prst="ellipse">
            <a:avLst/>
          </a:prstGeom>
          <a:solidFill>
            <a:srgbClr val="E76F30"/>
          </a:solidFill>
          <a:ln/>
        </p:spPr>
        <p:txBody>
          <a:bodyPr/>
          <a:lstStyle/>
          <a:p>
            <a:endParaRPr/>
          </a:p>
        </p:txBody>
      </p:sp>
      <p:sp>
        <p:nvSpPr>
          <p:cNvPr id="61" name="Text 58"/>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2" name="Text 59"/>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design a model call as a normal dependency with a timeout and a fallback.</a:t>
            </a:r>
            <a:endParaRPr lang="en-US" sz="1250" dirty="0"/>
          </a:p>
        </p:txBody>
      </p:sp>
      <p:sp>
        <p:nvSpPr>
          <p:cNvPr id="63" name="Shape 60"/>
          <p:cNvSpPr/>
          <p:nvPr/>
        </p:nvSpPr>
        <p:spPr>
          <a:xfrm>
            <a:off x="6492240" y="4029456"/>
            <a:ext cx="256032" cy="256032"/>
          </a:xfrm>
          <a:prstGeom prst="ellipse">
            <a:avLst/>
          </a:prstGeom>
          <a:solidFill>
            <a:srgbClr val="E76F30"/>
          </a:solidFill>
          <a:ln/>
        </p:spPr>
        <p:txBody>
          <a:bodyPr/>
          <a:lstStyle/>
          <a:p>
            <a:endParaRPr/>
          </a:p>
        </p:txBody>
      </p:sp>
      <p:sp>
        <p:nvSpPr>
          <p:cNvPr id="64" name="Text 61"/>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5" name="Text 62"/>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You can refuse an AI project that has no data owner.</a:t>
            </a:r>
            <a:endParaRPr lang="en-US" sz="1250" dirty="0"/>
          </a:p>
        </p:txBody>
      </p:sp>
      <p:sp>
        <p:nvSpPr>
          <p:cNvPr id="66" name="Shape 63"/>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7" name="Text 64"/>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8" name="Text 65"/>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Fraud scoring at checkout: call the model with a 300 ms timeout. If it does not answer, accept the order and review it later. The shopper is never blocked by a model.</a:t>
            </a:r>
            <a:endParaRPr lang="en-US" sz="1200" dirty="0"/>
          </a:p>
        </p:txBody>
      </p:sp>
      <p:sp>
        <p:nvSpPr>
          <p:cNvPr id="69" name="Shape 66"/>
          <p:cNvSpPr/>
          <p:nvPr/>
        </p:nvSpPr>
        <p:spPr>
          <a:xfrm>
            <a:off x="502920" y="5925312"/>
            <a:ext cx="54864" cy="201168"/>
          </a:xfrm>
          <a:prstGeom prst="rect">
            <a:avLst/>
          </a:prstGeom>
          <a:solidFill>
            <a:srgbClr val="43BFB8"/>
          </a:solidFill>
          <a:ln/>
        </p:spPr>
        <p:txBody>
          <a:bodyPr/>
          <a:lstStyle/>
          <a:p>
            <a:endParaRPr/>
          </a:p>
        </p:txBody>
      </p:sp>
      <p:sp>
        <p:nvSpPr>
          <p:cNvPr id="70" name="Text 67"/>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NIST AI Risk Management Framework 1.0  ·  Google, “Rules of Machine Learning”  ·  Microsoft Responsible AI Standard.</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AI-ready Northline    where the model plugs in</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The model is a dependency like any other, with a timeout and a fallback.</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101</a:t>
            </a:r>
            <a:endParaRPr lang="en-US" sz="1000" dirty="0"/>
          </a:p>
        </p:txBody>
      </p:sp>
      <p:sp>
        <p:nvSpPr>
          <p:cNvPr id="36" name="Shape 33"/>
          <p:cNvSpPr/>
          <p:nvPr/>
        </p:nvSpPr>
        <p:spPr>
          <a:xfrm>
            <a:off x="594360" y="1737360"/>
            <a:ext cx="2011680" cy="1051560"/>
          </a:xfrm>
          <a:prstGeom prst="roundRect">
            <a:avLst>
              <a:gd name="adj" fmla="val 8696"/>
            </a:avLst>
          </a:prstGeom>
          <a:solidFill>
            <a:srgbClr val="FDECD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37" name="Text 34"/>
          <p:cNvSpPr/>
          <p:nvPr/>
        </p:nvSpPr>
        <p:spPr>
          <a:xfrm>
            <a:off x="594360" y="1828800"/>
            <a:ext cx="2011680" cy="868680"/>
          </a:xfrm>
          <a:prstGeom prst="rect">
            <a:avLst/>
          </a:prstGeom>
          <a:noFill/>
          <a:ln/>
        </p:spPr>
        <p:txBody>
          <a:bodyPr wrap="square" rtlCol="0" anchor="ctr"/>
          <a:lstStyle/>
          <a:p>
            <a:pPr marL="0" indent="0" algn="ctr">
              <a:buNone/>
            </a:pPr>
            <a:r>
              <a:rPr lang="en-US" sz="1300" b="1" dirty="0">
                <a:solidFill>
                  <a:srgbClr val="E76F30"/>
                </a:solidFill>
                <a:latin typeface="Segoe UI" pitchFamily="34" charset="0"/>
                <a:ea typeface="Segoe UI" pitchFamily="34" charset="-122"/>
                <a:cs typeface="Segoe UI" pitchFamily="34" charset="-120"/>
              </a:rPr>
              <a:t>Checkout</a:t>
            </a:r>
            <a:endParaRPr lang="en-US" sz="1300" dirty="0"/>
          </a:p>
          <a:p>
            <a:pPr marL="0" indent="0" algn="ctr">
              <a:buNone/>
            </a:pPr>
            <a:r>
              <a:rPr lang="en-US" sz="1300" b="1" dirty="0">
                <a:solidFill>
                  <a:srgbClr val="E76F30"/>
                </a:solidFill>
                <a:latin typeface="Segoe UI" pitchFamily="34" charset="0"/>
                <a:ea typeface="Segoe UI" pitchFamily="34" charset="-122"/>
                <a:cs typeface="Segoe UI" pitchFamily="34" charset="-120"/>
              </a:rPr>
              <a:t>service</a:t>
            </a:r>
            <a:endParaRPr lang="en-US" sz="1300" dirty="0"/>
          </a:p>
        </p:txBody>
      </p:sp>
      <p:sp>
        <p:nvSpPr>
          <p:cNvPr id="38" name="Shape 35"/>
          <p:cNvSpPr/>
          <p:nvPr/>
        </p:nvSpPr>
        <p:spPr>
          <a:xfrm>
            <a:off x="2926080" y="1783080"/>
            <a:ext cx="2103120" cy="960120"/>
          </a:xfrm>
          <a:prstGeom prst="roundRect">
            <a:avLst>
              <a:gd name="adj" fmla="val 9524"/>
            </a:avLst>
          </a:prstGeom>
          <a:solidFill>
            <a:srgbClr val="FEE2E2"/>
          </a:solidFill>
          <a:ln w="19050">
            <a:solidFill>
              <a:srgbClr val="DC2626"/>
            </a:solidFill>
            <a:prstDash val="solid"/>
          </a:ln>
          <a:effectLst>
            <a:outerShdw blurRad="76200" dist="25400" dir="5400000" algn="bl" rotWithShape="0">
              <a:srgbClr val="1F1F1F">
                <a:alpha val="8000"/>
              </a:srgbClr>
            </a:outerShdw>
          </a:effectLst>
        </p:spPr>
        <p:txBody>
          <a:bodyPr/>
          <a:lstStyle/>
          <a:p>
            <a:endParaRPr/>
          </a:p>
        </p:txBody>
      </p:sp>
      <p:sp>
        <p:nvSpPr>
          <p:cNvPr id="39" name="Text 36"/>
          <p:cNvSpPr/>
          <p:nvPr/>
        </p:nvSpPr>
        <p:spPr>
          <a:xfrm>
            <a:off x="2926080" y="1874520"/>
            <a:ext cx="2103120" cy="777240"/>
          </a:xfrm>
          <a:prstGeom prst="rect">
            <a:avLst/>
          </a:prstGeom>
          <a:noFill/>
          <a:ln/>
        </p:spPr>
        <p:txBody>
          <a:bodyPr wrap="square" rtlCol="0" anchor="ctr"/>
          <a:lstStyle/>
          <a:p>
            <a:pPr marL="0" indent="0" algn="ctr">
              <a:buNone/>
            </a:pPr>
            <a:r>
              <a:rPr lang="en-US" sz="1300" b="1" dirty="0">
                <a:solidFill>
                  <a:srgbClr val="DC2626"/>
                </a:solidFill>
                <a:latin typeface="Segoe UI" pitchFamily="34" charset="0"/>
                <a:ea typeface="Segoe UI" pitchFamily="34" charset="-122"/>
                <a:cs typeface="Segoe UI" pitchFamily="34" charset="-120"/>
              </a:rPr>
              <a:t>timeout 300 ms</a:t>
            </a:r>
            <a:endParaRPr lang="en-US" sz="1300" dirty="0"/>
          </a:p>
          <a:p>
            <a:pPr marL="0" indent="0" algn="ctr">
              <a:buNone/>
            </a:pPr>
            <a:r>
              <a:rPr lang="en-US" sz="1300" b="1" dirty="0">
                <a:solidFill>
                  <a:srgbClr val="DC2626"/>
                </a:solidFill>
                <a:latin typeface="Segoe UI" pitchFamily="34" charset="0"/>
                <a:ea typeface="Segoe UI" pitchFamily="34" charset="-122"/>
                <a:cs typeface="Segoe UI" pitchFamily="34" charset="-120"/>
              </a:rPr>
              <a:t>+ fallback answer</a:t>
            </a:r>
            <a:endParaRPr lang="en-US" sz="1300" dirty="0"/>
          </a:p>
        </p:txBody>
      </p:sp>
      <p:sp>
        <p:nvSpPr>
          <p:cNvPr id="40" name="Shape 37"/>
          <p:cNvSpPr/>
          <p:nvPr/>
        </p:nvSpPr>
        <p:spPr>
          <a:xfrm>
            <a:off x="5349240" y="1783080"/>
            <a:ext cx="2331720" cy="960120"/>
          </a:xfrm>
          <a:prstGeom prst="roundRect">
            <a:avLst>
              <a:gd name="adj" fmla="val 9524"/>
            </a:avLst>
          </a:prstGeom>
          <a:solidFill>
            <a:srgbClr val="E7EEFC"/>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1" name="Text 38"/>
          <p:cNvSpPr/>
          <p:nvPr/>
        </p:nvSpPr>
        <p:spPr>
          <a:xfrm>
            <a:off x="5349240" y="1874520"/>
            <a:ext cx="2331720" cy="777240"/>
          </a:xfrm>
          <a:prstGeom prst="rect">
            <a:avLst/>
          </a:prstGeom>
          <a:noFill/>
          <a:ln/>
        </p:spPr>
        <p:txBody>
          <a:bodyPr wrap="square" rtlCol="0" anchor="ctr"/>
          <a:lstStyle/>
          <a:p>
            <a:pPr marL="0" indent="0" algn="ctr">
              <a:buNone/>
            </a:pPr>
            <a:r>
              <a:rPr lang="en-US" sz="1300" b="1" dirty="0">
                <a:solidFill>
                  <a:srgbClr val="4A7DE0"/>
                </a:solidFill>
                <a:latin typeface="Segoe UI" pitchFamily="34" charset="0"/>
                <a:ea typeface="Segoe UI" pitchFamily="34" charset="-122"/>
                <a:cs typeface="Segoe UI" pitchFamily="34" charset="-120"/>
              </a:rPr>
              <a:t>Fraud model</a:t>
            </a:r>
            <a:endParaRPr lang="en-US" sz="1300" dirty="0"/>
          </a:p>
          <a:p>
            <a:pPr marL="0" indent="0" algn="ctr">
              <a:buNone/>
            </a:pPr>
            <a:r>
              <a:rPr lang="en-US" sz="1300" b="1" dirty="0">
                <a:solidFill>
                  <a:srgbClr val="4A7DE0"/>
                </a:solidFill>
                <a:latin typeface="Segoe UI" pitchFamily="34" charset="0"/>
                <a:ea typeface="Segoe UI" pitchFamily="34" charset="-122"/>
                <a:cs typeface="Segoe UI" pitchFamily="34" charset="-120"/>
              </a:rPr>
              <a:t>(scores the order)</a:t>
            </a:r>
            <a:endParaRPr lang="en-US" sz="1300" dirty="0"/>
          </a:p>
        </p:txBody>
      </p:sp>
      <p:sp>
        <p:nvSpPr>
          <p:cNvPr id="42" name="Shape 39"/>
          <p:cNvSpPr/>
          <p:nvPr/>
        </p:nvSpPr>
        <p:spPr>
          <a:xfrm>
            <a:off x="5349240" y="3218688"/>
            <a:ext cx="2331720" cy="960120"/>
          </a:xfrm>
          <a:prstGeom prst="roundRect">
            <a:avLst>
              <a:gd name="adj" fmla="val 9524"/>
            </a:avLst>
          </a:prstGeom>
          <a:solidFill>
            <a:srgbClr val="E4F5F3"/>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43" name="Text 40"/>
          <p:cNvSpPr/>
          <p:nvPr/>
        </p:nvSpPr>
        <p:spPr>
          <a:xfrm>
            <a:off x="5349240" y="3310128"/>
            <a:ext cx="2331720" cy="777240"/>
          </a:xfrm>
          <a:prstGeom prst="rect">
            <a:avLst/>
          </a:prstGeom>
          <a:noFill/>
          <a:ln/>
        </p:spPr>
        <p:txBody>
          <a:bodyPr wrap="square" rtlCol="0" anchor="ctr"/>
          <a:lstStyle/>
          <a:p>
            <a:pPr marL="0" indent="0" algn="ctr">
              <a:buNone/>
            </a:pPr>
            <a:r>
              <a:rPr lang="en-US" sz="1300" b="1" dirty="0">
                <a:solidFill>
                  <a:srgbClr val="43BFB8"/>
                </a:solidFill>
                <a:latin typeface="Segoe UI" pitchFamily="34" charset="0"/>
                <a:ea typeface="Segoe UI" pitchFamily="34" charset="-122"/>
                <a:cs typeface="Segoe UI" pitchFamily="34" charset="-120"/>
              </a:rPr>
              <a:t>Feature data</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owned by ONE context each</a:t>
            </a:r>
            <a:endParaRPr lang="en-US" sz="1300" dirty="0"/>
          </a:p>
          <a:p>
            <a:pPr marL="0" indent="0" algn="ctr">
              <a:buNone/>
            </a:pPr>
            <a:r>
              <a:rPr lang="en-US" sz="1300" b="1" dirty="0">
                <a:solidFill>
                  <a:srgbClr val="43BFB8"/>
                </a:solidFill>
                <a:latin typeface="Segoe UI" pitchFamily="34" charset="0"/>
                <a:ea typeface="Segoe UI" pitchFamily="34" charset="-122"/>
                <a:cs typeface="Segoe UI" pitchFamily="34" charset="-120"/>
              </a:rPr>
              <a:t>(orders, catalog, customer)</a:t>
            </a:r>
            <a:endParaRPr lang="en-US" sz="1300" dirty="0"/>
          </a:p>
        </p:txBody>
      </p:sp>
      <p:sp>
        <p:nvSpPr>
          <p:cNvPr id="44" name="Shape 41"/>
          <p:cNvSpPr/>
          <p:nvPr/>
        </p:nvSpPr>
        <p:spPr>
          <a:xfrm>
            <a:off x="8092440" y="1691640"/>
            <a:ext cx="3017520" cy="1143000"/>
          </a:xfrm>
          <a:prstGeom prst="roundRect">
            <a:avLst>
              <a:gd name="adj" fmla="val 8000"/>
            </a:avLst>
          </a:prstGeom>
          <a:solidFill>
            <a:srgbClr val="F6F5F8"/>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45" name="Text 42"/>
          <p:cNvSpPr/>
          <p:nvPr/>
        </p:nvSpPr>
        <p:spPr>
          <a:xfrm>
            <a:off x="8092440" y="1783080"/>
            <a:ext cx="3017520" cy="960120"/>
          </a:xfrm>
          <a:prstGeom prst="rect">
            <a:avLst/>
          </a:prstGeom>
          <a:noFill/>
          <a:ln/>
        </p:spPr>
        <p:txBody>
          <a:bodyPr wrap="square" rtlCol="0" anchor="ctr"/>
          <a:lstStyle/>
          <a:p>
            <a:pPr marL="0" indent="0" algn="ctr">
              <a:buNone/>
            </a:pPr>
            <a:r>
              <a:rPr lang="en-US" sz="1300" b="1" dirty="0">
                <a:solidFill>
                  <a:srgbClr val="5F1B3C"/>
                </a:solidFill>
                <a:latin typeface="Segoe UI" pitchFamily="34" charset="0"/>
                <a:ea typeface="Segoe UI" pitchFamily="34" charset="-122"/>
                <a:cs typeface="Segoe UI" pitchFamily="34" charset="-120"/>
              </a:rPr>
              <a:t>Decision log</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input · score · model version</a:t>
            </a:r>
            <a:endParaRPr lang="en-US" sz="1300" dirty="0"/>
          </a:p>
          <a:p>
            <a:pPr marL="0" indent="0" algn="ctr">
              <a:buNone/>
            </a:pPr>
            <a:r>
              <a:rPr lang="en-US" sz="1300" b="1" dirty="0">
                <a:solidFill>
                  <a:srgbClr val="5F1B3C"/>
                </a:solidFill>
                <a:latin typeface="Segoe UI" pitchFamily="34" charset="0"/>
                <a:ea typeface="Segoe UI" pitchFamily="34" charset="-122"/>
                <a:cs typeface="Segoe UI" pitchFamily="34" charset="-120"/>
              </a:rPr>
              <a:t>· who overruled it</a:t>
            </a:r>
            <a:endParaRPr lang="en-US" sz="1300" dirty="0"/>
          </a:p>
        </p:txBody>
      </p:sp>
      <p:sp>
        <p:nvSpPr>
          <p:cNvPr id="46" name="Shape 43"/>
          <p:cNvSpPr/>
          <p:nvPr/>
        </p:nvSpPr>
        <p:spPr>
          <a:xfrm>
            <a:off x="594360" y="4343400"/>
            <a:ext cx="10515600" cy="566928"/>
          </a:xfrm>
          <a:prstGeom prst="roundRect">
            <a:avLst>
              <a:gd name="adj" fmla="val 16129"/>
            </a:avLst>
          </a:prstGeom>
          <a:solidFill>
            <a:srgbClr val="E1F5EC"/>
          </a:solidFill>
          <a:ln w="19050">
            <a:solidFill>
              <a:srgbClr val="1F8F65"/>
            </a:solidFill>
            <a:prstDash val="solid"/>
          </a:ln>
          <a:effectLst>
            <a:outerShdw blurRad="76200" dist="25400" dir="5400000" algn="bl" rotWithShape="0">
              <a:srgbClr val="1F1F1F">
                <a:alpha val="8000"/>
              </a:srgbClr>
            </a:outerShdw>
          </a:effectLst>
        </p:spPr>
        <p:txBody>
          <a:bodyPr/>
          <a:lstStyle/>
          <a:p>
            <a:endParaRPr/>
          </a:p>
        </p:txBody>
      </p:sp>
      <p:sp>
        <p:nvSpPr>
          <p:cNvPr id="47" name="Text 44"/>
          <p:cNvSpPr/>
          <p:nvPr/>
        </p:nvSpPr>
        <p:spPr>
          <a:xfrm>
            <a:off x="594360" y="4434840"/>
            <a:ext cx="10515600" cy="384048"/>
          </a:xfrm>
          <a:prstGeom prst="rect">
            <a:avLst/>
          </a:prstGeom>
          <a:noFill/>
          <a:ln/>
        </p:spPr>
        <p:txBody>
          <a:bodyPr wrap="square" rtlCol="0" anchor="ctr"/>
          <a:lstStyle/>
          <a:p>
            <a:pPr marL="0" indent="0" algn="ctr">
              <a:buNone/>
            </a:pPr>
            <a:r>
              <a:rPr lang="en-US" sz="1300" b="1" dirty="0">
                <a:solidFill>
                  <a:srgbClr val="1F8F65"/>
                </a:solidFill>
                <a:latin typeface="Segoe UI" pitchFamily="34" charset="0"/>
                <a:ea typeface="Segoe UI" pitchFamily="34" charset="-122"/>
                <a:cs typeface="Segoe UI" pitchFamily="34" charset="-120"/>
              </a:rPr>
              <a:t>Fallback rule: if the model does not answer in 300 ms, ACCEPT the order and flag it for human review. A shopper is never blocked by a model.</a:t>
            </a:r>
            <a:endParaRPr lang="en-US" sz="1300" dirty="0"/>
          </a:p>
        </p:txBody>
      </p:sp>
      <p:sp>
        <p:nvSpPr>
          <p:cNvPr id="48" name="Shape 45"/>
          <p:cNvSpPr/>
          <p:nvPr/>
        </p:nvSpPr>
        <p:spPr>
          <a:xfrm>
            <a:off x="2606040" y="2263140"/>
            <a:ext cx="320040" cy="914"/>
          </a:xfrm>
          <a:prstGeom prst="line">
            <a:avLst/>
          </a:prstGeom>
          <a:noFill/>
          <a:ln w="19050">
            <a:solidFill>
              <a:srgbClr val="E76F30"/>
            </a:solidFill>
            <a:prstDash val="solid"/>
            <a:tailEnd type="triangle"/>
          </a:ln>
        </p:spPr>
        <p:txBody>
          <a:bodyPr/>
          <a:lstStyle/>
          <a:p>
            <a:endParaRPr/>
          </a:p>
        </p:txBody>
      </p:sp>
      <p:sp>
        <p:nvSpPr>
          <p:cNvPr id="49" name="Shape 46"/>
          <p:cNvSpPr/>
          <p:nvPr/>
        </p:nvSpPr>
        <p:spPr>
          <a:xfrm>
            <a:off x="5029200" y="2263140"/>
            <a:ext cx="320040" cy="914"/>
          </a:xfrm>
          <a:prstGeom prst="line">
            <a:avLst/>
          </a:prstGeom>
          <a:noFill/>
          <a:ln w="19050">
            <a:solidFill>
              <a:srgbClr val="DC2626"/>
            </a:solidFill>
            <a:prstDash val="solid"/>
            <a:tailEnd type="triangle"/>
          </a:ln>
        </p:spPr>
        <p:txBody>
          <a:bodyPr/>
          <a:lstStyle/>
          <a:p>
            <a:endParaRPr/>
          </a:p>
        </p:txBody>
      </p:sp>
      <p:sp>
        <p:nvSpPr>
          <p:cNvPr id="50" name="Shape 47"/>
          <p:cNvSpPr/>
          <p:nvPr/>
        </p:nvSpPr>
        <p:spPr>
          <a:xfrm flipV="1">
            <a:off x="6515100" y="2743200"/>
            <a:ext cx="914" cy="475488"/>
          </a:xfrm>
          <a:prstGeom prst="line">
            <a:avLst/>
          </a:prstGeom>
          <a:noFill/>
          <a:ln w="19050">
            <a:solidFill>
              <a:srgbClr val="43BFB8"/>
            </a:solidFill>
            <a:prstDash val="solid"/>
            <a:tailEnd type="triangle"/>
          </a:ln>
        </p:spPr>
        <p:txBody>
          <a:bodyPr/>
          <a:lstStyle/>
          <a:p>
            <a:endParaRPr/>
          </a:p>
        </p:txBody>
      </p:sp>
      <p:sp>
        <p:nvSpPr>
          <p:cNvPr id="51" name="Shape 48"/>
          <p:cNvSpPr/>
          <p:nvPr/>
        </p:nvSpPr>
        <p:spPr>
          <a:xfrm>
            <a:off x="7680960" y="2263140"/>
            <a:ext cx="411480" cy="914"/>
          </a:xfrm>
          <a:prstGeom prst="line">
            <a:avLst/>
          </a:prstGeom>
          <a:noFill/>
          <a:ln w="19050">
            <a:solidFill>
              <a:srgbClr val="4A7DE0"/>
            </a:solidFill>
            <a:prstDash val="solid"/>
            <a:tailEnd type="triangle"/>
          </a:ln>
        </p:spPr>
        <p:txBody>
          <a:bodyPr/>
          <a:lstStyle/>
          <a:p>
            <a:endParaRPr/>
          </a:p>
        </p:txBody>
      </p:sp>
      <p:sp>
        <p:nvSpPr>
          <p:cNvPr id="52" name="Shape 49"/>
          <p:cNvSpPr/>
          <p:nvPr/>
        </p:nvSpPr>
        <p:spPr>
          <a:xfrm>
            <a:off x="2263140" y="213512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3" name="Text 50"/>
          <p:cNvSpPr/>
          <p:nvPr/>
        </p:nvSpPr>
        <p:spPr>
          <a:xfrm>
            <a:off x="2263140" y="213512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score?</a:t>
            </a:r>
            <a:endParaRPr lang="en-US" sz="950" dirty="0"/>
          </a:p>
        </p:txBody>
      </p:sp>
      <p:sp>
        <p:nvSpPr>
          <p:cNvPr id="54" name="Shape 51"/>
          <p:cNvSpPr/>
          <p:nvPr/>
        </p:nvSpPr>
        <p:spPr>
          <a:xfrm>
            <a:off x="4686300" y="213512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5" name="Text 52"/>
          <p:cNvSpPr/>
          <p:nvPr/>
        </p:nvSpPr>
        <p:spPr>
          <a:xfrm>
            <a:off x="4686300" y="213512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call</a:t>
            </a:r>
            <a:endParaRPr lang="en-US" sz="950" dirty="0"/>
          </a:p>
        </p:txBody>
      </p:sp>
      <p:sp>
        <p:nvSpPr>
          <p:cNvPr id="56" name="Shape 53"/>
          <p:cNvSpPr/>
          <p:nvPr/>
        </p:nvSpPr>
        <p:spPr>
          <a:xfrm>
            <a:off x="5829300" y="2852928"/>
            <a:ext cx="137160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7" name="Text 54"/>
          <p:cNvSpPr/>
          <p:nvPr/>
        </p:nvSpPr>
        <p:spPr>
          <a:xfrm>
            <a:off x="5829300" y="2852928"/>
            <a:ext cx="137160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clean facts</a:t>
            </a:r>
            <a:endParaRPr lang="en-US" sz="950" dirty="0"/>
          </a:p>
        </p:txBody>
      </p:sp>
      <p:sp>
        <p:nvSpPr>
          <p:cNvPr id="58" name="Shape 55"/>
          <p:cNvSpPr/>
          <p:nvPr/>
        </p:nvSpPr>
        <p:spPr>
          <a:xfrm>
            <a:off x="7383780" y="2135124"/>
            <a:ext cx="1005840" cy="256032"/>
          </a:xfrm>
          <a:prstGeom prst="roundRect">
            <a:avLst>
              <a:gd name="adj" fmla="val 21429"/>
            </a:avLst>
          </a:prstGeom>
          <a:solidFill>
            <a:srgbClr val="FFFFFF"/>
          </a:solidFill>
          <a:ln w="6350">
            <a:solidFill>
              <a:srgbClr val="E3E0E8"/>
            </a:solidFill>
            <a:prstDash val="solid"/>
          </a:ln>
        </p:spPr>
        <p:txBody>
          <a:bodyPr/>
          <a:lstStyle/>
          <a:p>
            <a:endParaRPr/>
          </a:p>
        </p:txBody>
      </p:sp>
      <p:sp>
        <p:nvSpPr>
          <p:cNvPr id="59" name="Text 56"/>
          <p:cNvSpPr/>
          <p:nvPr/>
        </p:nvSpPr>
        <p:spPr>
          <a:xfrm>
            <a:off x="7383780" y="2135124"/>
            <a:ext cx="1005840" cy="256032"/>
          </a:xfrm>
          <a:prstGeom prst="rect">
            <a:avLst/>
          </a:prstGeom>
          <a:noFill/>
          <a:ln/>
        </p:spPr>
        <p:txBody>
          <a:bodyPr wrap="square" rtlCol="0" anchor="ctr"/>
          <a:lstStyle/>
          <a:p>
            <a:pPr marL="0" indent="0" algn="ctr">
              <a:buNone/>
            </a:pPr>
            <a:r>
              <a:rPr lang="en-US" sz="950" i="1" dirty="0">
                <a:solidFill>
                  <a:srgbClr val="24162A"/>
                </a:solidFill>
                <a:latin typeface="Segoe UI" pitchFamily="34" charset="0"/>
                <a:ea typeface="Segoe UI" pitchFamily="34" charset="-122"/>
                <a:cs typeface="Segoe UI" pitchFamily="34" charset="-120"/>
              </a:rPr>
              <a:t>record</a:t>
            </a:r>
            <a:endParaRPr lang="en-US" sz="950" dirty="0"/>
          </a:p>
        </p:txBody>
      </p:sp>
      <p:sp>
        <p:nvSpPr>
          <p:cNvPr id="60" name="Shape 57"/>
          <p:cNvSpPr/>
          <p:nvPr/>
        </p:nvSpPr>
        <p:spPr>
          <a:xfrm>
            <a:off x="502920" y="5010912"/>
            <a:ext cx="11185855" cy="731520"/>
          </a:xfrm>
          <a:prstGeom prst="roundRect">
            <a:avLst>
              <a:gd name="adj" fmla="val 11250"/>
            </a:avLst>
          </a:prstGeom>
          <a:solidFill>
            <a:srgbClr val="E1F5EC"/>
          </a:solidFill>
          <a:ln/>
        </p:spPr>
        <p:txBody>
          <a:bodyPr/>
          <a:lstStyle/>
          <a:p>
            <a:endParaRPr/>
          </a:p>
        </p:txBody>
      </p:sp>
      <p:sp>
        <p:nvSpPr>
          <p:cNvPr id="61" name="Shape 58"/>
          <p:cNvSpPr/>
          <p:nvPr/>
        </p:nvSpPr>
        <p:spPr>
          <a:xfrm>
            <a:off x="502920" y="5010912"/>
            <a:ext cx="100584" cy="731520"/>
          </a:xfrm>
          <a:prstGeom prst="rect">
            <a:avLst/>
          </a:prstGeom>
          <a:solidFill>
            <a:srgbClr val="1F8F65"/>
          </a:solidFill>
          <a:ln/>
        </p:spPr>
        <p:txBody>
          <a:bodyPr/>
          <a:lstStyle/>
          <a:p>
            <a:endParaRPr/>
          </a:p>
        </p:txBody>
      </p:sp>
      <p:sp>
        <p:nvSpPr>
          <p:cNvPr id="62" name="Text 59"/>
          <p:cNvSpPr/>
          <p:nvPr/>
        </p:nvSpPr>
        <p:spPr>
          <a:xfrm>
            <a:off x="740664" y="5010912"/>
            <a:ext cx="10783519" cy="731520"/>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The model gets clean, owned data through an interface  never a direct read of another service's database.</a:t>
            </a:r>
            <a:endParaRPr lang="en-US" sz="1250" dirty="0"/>
          </a:p>
        </p:txBody>
      </p:sp>
      <p:sp>
        <p:nvSpPr>
          <p:cNvPr id="63" name="Shape 60"/>
          <p:cNvSpPr/>
          <p:nvPr/>
        </p:nvSpPr>
        <p:spPr>
          <a:xfrm>
            <a:off x="502920" y="5925312"/>
            <a:ext cx="54864" cy="201168"/>
          </a:xfrm>
          <a:prstGeom prst="rect">
            <a:avLst/>
          </a:prstGeom>
          <a:solidFill>
            <a:srgbClr val="43BFB8"/>
          </a:solidFill>
          <a:ln/>
        </p:spPr>
        <p:txBody>
          <a:bodyPr/>
          <a:lstStyle/>
          <a:p>
            <a:endParaRPr/>
          </a:p>
        </p:txBody>
      </p:sp>
      <p:sp>
        <p:nvSpPr>
          <p:cNvPr id="64" name="Text 61"/>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NIST AI RMF 1.0 (govern, map, measure, manage)  ·  learn.microsoft.com/azure/architecture/ai-ml  reference architectures.</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the AI-readiness check</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groups of three. Five questions, honest answers only.</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102</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Answer the five questions</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1) Does every fact have one owner? 2) Can data leave through an API? 3) Who may see it? 4) Is there a timeout and a fallback? 5) Do we log input, answer and model version?</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Score each one</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Ready, partly ready, or not ready. One word only. No long explanations.</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Name the single blocker</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The one thing that must be fixed first. Not a list of five.</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first architecture task</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It will almost always be a data-ownership task, not a model task.</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Northline today</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1  one owner per fact ?  NOT READY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stock has two writers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2  data leaves via API ?  PARTLY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only a nightly CSV to the ERP</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3  who may see it ?  NOT READY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no data classification exists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4  timeout + fallback ?  NOT READY</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5  decisions logged ?   NOT READY</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Blocker  : stock has two writers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First task: ADR  warehouse owns stock,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shop reads a copy via event</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Five one-word scores, one named blocker, and one first task written as an architecture decision.</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The first AI task is almost never a model. It is naming one owner per fact. Best practice: refuse an AI project that cannot name the owner of its input data.</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NIST AI RMF 1.0  the Map function covers exactly these questions  ·  Google, “Rules of Machine Learning”, rules 1 to 3.</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Platform engineering    the golden path</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Make the correct way the easiest way, and standards stop being a fight.</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103</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The problem</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Every new service is wired differently. Logging, health checks and pipelines are re-invented, badly, each time.</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Build one template</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One working starter service with logs, /health, /ready, a pipeline and a dashboard already connected.</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Make it one command</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A new service exists and is deployed in 30 minutes, not three weeks. That is the whole product.</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Then govern</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Now a fitness function can enforce the standard, because following it is easier than avoiding it.</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A standard nobody can follow in 30 minutes is not a standard, it is a wish. Ship the template before you ship the policy.</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backstage.io  software templates and service catalogue  ·  internaldeveloperplatform.org  ·  “Team Topologies” (Skelton &amp; Pais) for the platform team model.</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Governance and fitness functions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idea and the goal. A rule nobody checks is a wish, not a standard.</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104</a:t>
            </a:r>
            <a:endParaRPr lang="en-US" sz="1000" dirty="0"/>
          </a:p>
        </p:txBody>
      </p:sp>
      <p:sp>
        <p:nvSpPr>
          <p:cNvPr id="36" name="Shape 33"/>
          <p:cNvSpPr/>
          <p:nvPr/>
        </p:nvSpPr>
        <p:spPr>
          <a:xfrm>
            <a:off x="502920" y="1225296"/>
            <a:ext cx="5532120" cy="4553712"/>
          </a:xfrm>
          <a:prstGeom prst="roundRect">
            <a:avLst>
              <a:gd name="adj" fmla="val 2410"/>
            </a:avLst>
          </a:prstGeom>
          <a:solidFill>
            <a:srgbClr val="FFFFFF"/>
          </a:solidFill>
          <a:ln w="15875">
            <a:solidFill>
              <a:srgbClr val="43BFB8"/>
            </a:solidFill>
            <a:prstDash val="solid"/>
          </a:ln>
        </p:spPr>
        <p:txBody>
          <a:bodyPr/>
          <a:lstStyle/>
          <a:p>
            <a:endParaRPr/>
          </a:p>
        </p:txBody>
      </p:sp>
      <p:sp>
        <p:nvSpPr>
          <p:cNvPr id="37" name="Shape 34"/>
          <p:cNvSpPr/>
          <p:nvPr/>
        </p:nvSpPr>
        <p:spPr>
          <a:xfrm>
            <a:off x="502920" y="1225296"/>
            <a:ext cx="128016" cy="4553712"/>
          </a:xfrm>
          <a:prstGeom prst="rect">
            <a:avLst/>
          </a:prstGeom>
          <a:solidFill>
            <a:srgbClr val="43BFB8"/>
          </a:solidFill>
          <a:ln/>
        </p:spPr>
        <p:txBody>
          <a:bodyPr/>
          <a:lstStyle/>
          <a:p>
            <a:endParaRPr/>
          </a:p>
        </p:txBody>
      </p:sp>
      <p:sp>
        <p:nvSpPr>
          <p:cNvPr id="38" name="Text 35"/>
          <p:cNvSpPr/>
          <p:nvPr/>
        </p:nvSpPr>
        <p:spPr>
          <a:xfrm>
            <a:off x="758952" y="1316736"/>
            <a:ext cx="5129784" cy="292608"/>
          </a:xfrm>
          <a:prstGeom prst="rect">
            <a:avLst/>
          </a:prstGeom>
          <a:noFill/>
          <a:ln/>
        </p:spPr>
        <p:txBody>
          <a:bodyPr wrap="square" rtlCol="0" anchor="ctr"/>
          <a:lstStyle/>
          <a:p>
            <a:pPr marL="0" indent="0">
              <a:buNone/>
            </a:pPr>
            <a:r>
              <a:rPr lang="en-US" sz="1100" b="1" kern="0" spc="110" dirty="0">
                <a:solidFill>
                  <a:srgbClr val="2F9992"/>
                </a:solidFill>
                <a:latin typeface="Segoe UI" pitchFamily="34" charset="0"/>
                <a:ea typeface="Segoe UI" pitchFamily="34" charset="-122"/>
                <a:cs typeface="Segoe UI" pitchFamily="34" charset="-120"/>
              </a:rPr>
              <a:t>1   WHAT IT IS  (theory)</a:t>
            </a:r>
            <a:endParaRPr lang="en-US" sz="1100" dirty="0"/>
          </a:p>
        </p:txBody>
      </p:sp>
      <p:sp>
        <p:nvSpPr>
          <p:cNvPr id="39" name="Shape 36"/>
          <p:cNvSpPr/>
          <p:nvPr/>
        </p:nvSpPr>
        <p:spPr>
          <a:xfrm>
            <a:off x="758952" y="1645920"/>
            <a:ext cx="5093208" cy="1170432"/>
          </a:xfrm>
          <a:prstGeom prst="roundRect">
            <a:avLst>
              <a:gd name="adj" fmla="val 6250"/>
            </a:avLst>
          </a:prstGeom>
          <a:solidFill>
            <a:srgbClr val="E4F5F3"/>
          </a:solidFill>
          <a:ln/>
        </p:spPr>
        <p:txBody>
          <a:bodyPr/>
          <a:lstStyle/>
          <a:p>
            <a:endParaRPr/>
          </a:p>
        </p:txBody>
      </p:sp>
      <p:sp>
        <p:nvSpPr>
          <p:cNvPr id="40" name="Text 37"/>
          <p:cNvSpPr/>
          <p:nvPr/>
        </p:nvSpPr>
        <p:spPr>
          <a:xfrm>
            <a:off x="886968" y="1682496"/>
            <a:ext cx="4837176"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Definition</a:t>
            </a:r>
            <a:endParaRPr lang="en-US" sz="1000" dirty="0"/>
          </a:p>
        </p:txBody>
      </p:sp>
      <p:sp>
        <p:nvSpPr>
          <p:cNvPr id="41" name="Text 38"/>
          <p:cNvSpPr/>
          <p:nvPr/>
        </p:nvSpPr>
        <p:spPr>
          <a:xfrm>
            <a:off x="886968" y="1901952"/>
            <a:ext cx="4837176" cy="841248"/>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Governance is how a company keeps designs aligned: reviews, standards and automated checks. A fitness function is an automated test that fails when an architecture rule is broken.</a:t>
            </a:r>
            <a:endParaRPr lang="en-US" sz="1300" dirty="0"/>
          </a:p>
        </p:txBody>
      </p:sp>
      <p:sp>
        <p:nvSpPr>
          <p:cNvPr id="42" name="Shape 39"/>
          <p:cNvSpPr/>
          <p:nvPr/>
        </p:nvSpPr>
        <p:spPr>
          <a:xfrm>
            <a:off x="795528" y="2999232"/>
            <a:ext cx="182880" cy="182880"/>
          </a:xfrm>
          <a:prstGeom prst="ellipse">
            <a:avLst/>
          </a:prstGeom>
          <a:solidFill>
            <a:srgbClr val="43BFB8"/>
          </a:solidFill>
          <a:ln/>
        </p:spPr>
        <p:txBody>
          <a:bodyPr/>
          <a:lstStyle/>
          <a:p>
            <a:endParaRPr/>
          </a:p>
        </p:txBody>
      </p:sp>
      <p:sp>
        <p:nvSpPr>
          <p:cNvPr id="43" name="Text 40"/>
          <p:cNvSpPr/>
          <p:nvPr/>
        </p:nvSpPr>
        <p:spPr>
          <a:xfrm>
            <a:off x="1069848" y="29260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A document of principles is easy to ignore. A failing build is not.</a:t>
            </a:r>
            <a:endParaRPr lang="en-US" sz="1300" dirty="0"/>
          </a:p>
        </p:txBody>
      </p:sp>
      <p:sp>
        <p:nvSpPr>
          <p:cNvPr id="44" name="Shape 41"/>
          <p:cNvSpPr/>
          <p:nvPr/>
        </p:nvSpPr>
        <p:spPr>
          <a:xfrm>
            <a:off x="795528" y="3685032"/>
            <a:ext cx="182880" cy="182880"/>
          </a:xfrm>
          <a:prstGeom prst="ellipse">
            <a:avLst/>
          </a:prstGeom>
          <a:solidFill>
            <a:srgbClr val="43BFB8"/>
          </a:solidFill>
          <a:ln/>
        </p:spPr>
        <p:txBody>
          <a:bodyPr/>
          <a:lstStyle/>
          <a:p>
            <a:endParaRPr/>
          </a:p>
        </p:txBody>
      </p:sp>
      <p:sp>
        <p:nvSpPr>
          <p:cNvPr id="45" name="Text 42"/>
          <p:cNvSpPr/>
          <p:nvPr/>
        </p:nvSpPr>
        <p:spPr>
          <a:xfrm>
            <a:off x="1069848" y="36118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Example rule: no service may import another service's database driver or tables.</a:t>
            </a:r>
            <a:endParaRPr lang="en-US" sz="1300" dirty="0"/>
          </a:p>
        </p:txBody>
      </p:sp>
      <p:sp>
        <p:nvSpPr>
          <p:cNvPr id="46" name="Shape 43"/>
          <p:cNvSpPr/>
          <p:nvPr/>
        </p:nvSpPr>
        <p:spPr>
          <a:xfrm>
            <a:off x="795528" y="4370832"/>
            <a:ext cx="182880" cy="182880"/>
          </a:xfrm>
          <a:prstGeom prst="ellipse">
            <a:avLst/>
          </a:prstGeom>
          <a:solidFill>
            <a:srgbClr val="43BFB8"/>
          </a:solidFill>
          <a:ln/>
        </p:spPr>
        <p:txBody>
          <a:bodyPr/>
          <a:lstStyle/>
          <a:p>
            <a:endParaRPr/>
          </a:p>
        </p:txBody>
      </p:sp>
      <p:sp>
        <p:nvSpPr>
          <p:cNvPr id="47" name="Text 44"/>
          <p:cNvSpPr/>
          <p:nvPr/>
        </p:nvSpPr>
        <p:spPr>
          <a:xfrm>
            <a:off x="1069848" y="42976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The test scans the Warehouse service. If it reaches into Catalog's data, the build fails with a plain-English message.</a:t>
            </a:r>
            <a:endParaRPr lang="en-US" sz="1300" dirty="0"/>
          </a:p>
        </p:txBody>
      </p:sp>
      <p:sp>
        <p:nvSpPr>
          <p:cNvPr id="48" name="Shape 45"/>
          <p:cNvSpPr/>
          <p:nvPr/>
        </p:nvSpPr>
        <p:spPr>
          <a:xfrm>
            <a:off x="795528" y="5056632"/>
            <a:ext cx="182880" cy="182880"/>
          </a:xfrm>
          <a:prstGeom prst="ellipse">
            <a:avLst/>
          </a:prstGeom>
          <a:solidFill>
            <a:srgbClr val="43BFB8"/>
          </a:solidFill>
          <a:ln/>
        </p:spPr>
        <p:txBody>
          <a:bodyPr/>
          <a:lstStyle/>
          <a:p>
            <a:endParaRPr/>
          </a:p>
        </p:txBody>
      </p:sp>
      <p:sp>
        <p:nvSpPr>
          <p:cNvPr id="49" name="Text 46"/>
          <p:cNvSpPr/>
          <p:nvPr/>
        </p:nvSpPr>
        <p:spPr>
          <a:xfrm>
            <a:off x="1069848" y="4983480"/>
            <a:ext cx="4727448" cy="649224"/>
          </a:xfrm>
          <a:prstGeom prst="rect">
            <a:avLst/>
          </a:prstGeom>
          <a:noFill/>
          <a:ln/>
        </p:spPr>
        <p:txBody>
          <a:bodyPr wrap="square" rtlCol="0" anchor="t"/>
          <a:lstStyle/>
          <a:p>
            <a:pPr marL="0" indent="0">
              <a:buNone/>
            </a:pPr>
            <a:r>
              <a:rPr lang="en-US" sz="1300" dirty="0">
                <a:solidFill>
                  <a:srgbClr val="3D3348"/>
                </a:solidFill>
                <a:latin typeface="Segoe UI" pitchFamily="34" charset="0"/>
                <a:ea typeface="Segoe UI" pitchFamily="34" charset="-122"/>
                <a:cs typeface="Segoe UI" pitchFamily="34" charset="-120"/>
              </a:rPr>
              <a:t>Start with one rule. A wall of rules that nobody understands gets switched off in the first busy week.</a:t>
            </a:r>
            <a:endParaRPr lang="en-US" sz="1300" dirty="0"/>
          </a:p>
        </p:txBody>
      </p:sp>
      <p:sp>
        <p:nvSpPr>
          <p:cNvPr id="50" name="Shape 47"/>
          <p:cNvSpPr/>
          <p:nvPr/>
        </p:nvSpPr>
        <p:spPr>
          <a:xfrm>
            <a:off x="6236208" y="1225296"/>
            <a:ext cx="5452567" cy="4553712"/>
          </a:xfrm>
          <a:prstGeom prst="roundRect">
            <a:avLst>
              <a:gd name="adj" fmla="val 2410"/>
            </a:avLst>
          </a:prstGeom>
          <a:solidFill>
            <a:srgbClr val="FFFFFF"/>
          </a:solidFill>
          <a:ln w="15875">
            <a:solidFill>
              <a:srgbClr val="E76F30"/>
            </a:solidFill>
            <a:prstDash val="solid"/>
          </a:ln>
        </p:spPr>
        <p:txBody>
          <a:bodyPr/>
          <a:lstStyle/>
          <a:p>
            <a:endParaRPr/>
          </a:p>
        </p:txBody>
      </p:sp>
      <p:sp>
        <p:nvSpPr>
          <p:cNvPr id="51" name="Shape 48"/>
          <p:cNvSpPr/>
          <p:nvPr/>
        </p:nvSpPr>
        <p:spPr>
          <a:xfrm>
            <a:off x="6236208" y="1225296"/>
            <a:ext cx="128016" cy="4553712"/>
          </a:xfrm>
          <a:prstGeom prst="rect">
            <a:avLst/>
          </a:prstGeom>
          <a:solidFill>
            <a:srgbClr val="E76F30"/>
          </a:solidFill>
          <a:ln/>
        </p:spPr>
        <p:txBody>
          <a:bodyPr/>
          <a:lstStyle/>
          <a:p>
            <a:endParaRPr/>
          </a:p>
        </p:txBody>
      </p:sp>
      <p:sp>
        <p:nvSpPr>
          <p:cNvPr id="52" name="Text 49"/>
          <p:cNvSpPr/>
          <p:nvPr/>
        </p:nvSpPr>
        <p:spPr>
          <a:xfrm>
            <a:off x="6492240" y="1316736"/>
            <a:ext cx="5050231" cy="292608"/>
          </a:xfrm>
          <a:prstGeom prst="rect">
            <a:avLst/>
          </a:prstGeom>
          <a:noFill/>
          <a:ln/>
        </p:spPr>
        <p:txBody>
          <a:bodyPr wrap="square" rtlCol="0" anchor="ctr"/>
          <a:lstStyle/>
          <a:p>
            <a:pPr marL="0" indent="0">
              <a:buNone/>
            </a:pPr>
            <a:r>
              <a:rPr lang="en-US" sz="1100" b="1" kern="0" spc="80" dirty="0">
                <a:solidFill>
                  <a:srgbClr val="E76F30"/>
                </a:solidFill>
                <a:latin typeface="Segoe UI" pitchFamily="34" charset="0"/>
                <a:ea typeface="Segoe UI" pitchFamily="34" charset="-122"/>
                <a:cs typeface="Segoe UI" pitchFamily="34" charset="-120"/>
              </a:rPr>
              <a:t>2   THE GOAL  (why we learn this)</a:t>
            </a:r>
            <a:endParaRPr lang="en-US" sz="1100" dirty="0"/>
          </a:p>
        </p:txBody>
      </p:sp>
      <p:sp>
        <p:nvSpPr>
          <p:cNvPr id="53" name="Text 50"/>
          <p:cNvSpPr/>
          <p:nvPr/>
        </p:nvSpPr>
        <p:spPr>
          <a:xfrm>
            <a:off x="6492240" y="1664208"/>
            <a:ext cx="5013655" cy="960120"/>
          </a:xfrm>
          <a:prstGeom prst="rect">
            <a:avLst/>
          </a:prstGeom>
          <a:noFill/>
          <a:ln/>
        </p:spPr>
        <p:txBody>
          <a:bodyPr wrap="square" rtlCol="0" anchor="t"/>
          <a:lstStyle/>
          <a:p>
            <a:pPr marL="0" indent="0">
              <a:buNone/>
            </a:pPr>
            <a:r>
              <a:rPr lang="en-US" sz="1300" dirty="0">
                <a:solidFill>
                  <a:srgbClr val="24162A"/>
                </a:solidFill>
                <a:latin typeface="Segoe UI" pitchFamily="34" charset="0"/>
                <a:ea typeface="Segoe UI" pitchFamily="34" charset="-122"/>
                <a:cs typeface="Segoe UI" pitchFamily="34" charset="-120"/>
              </a:rPr>
              <a:t>On Day 2 we decided Catalog owns its data. Without a test, that decision quietly dies about three sprints after the course ends.</a:t>
            </a:r>
            <a:endParaRPr lang="en-US" sz="1300" dirty="0"/>
          </a:p>
        </p:txBody>
      </p:sp>
      <p:sp>
        <p:nvSpPr>
          <p:cNvPr id="54" name="Text 51"/>
          <p:cNvSpPr/>
          <p:nvPr/>
        </p:nvSpPr>
        <p:spPr>
          <a:xfrm>
            <a:off x="6492240" y="2670048"/>
            <a:ext cx="5013655" cy="256032"/>
          </a:xfrm>
          <a:prstGeom prst="rect">
            <a:avLst/>
          </a:prstGeom>
          <a:noFill/>
          <a:ln/>
        </p:spPr>
        <p:txBody>
          <a:bodyPr wrap="square" rtlCol="0" anchor="ctr"/>
          <a:lstStyle/>
          <a:p>
            <a:pPr marL="0" indent="0">
              <a:buNone/>
            </a:pPr>
            <a:r>
              <a:rPr lang="en-US" sz="1100" b="1" dirty="0">
                <a:solidFill>
                  <a:srgbClr val="5F1B3C"/>
                </a:solidFill>
                <a:latin typeface="Segoe UI" pitchFamily="34" charset="0"/>
                <a:ea typeface="Segoe UI" pitchFamily="34" charset="-122"/>
                <a:cs typeface="Segoe UI" pitchFamily="34" charset="-120"/>
              </a:rPr>
              <a:t>What we want to achieve</a:t>
            </a:r>
            <a:endParaRPr lang="en-US" sz="1100" dirty="0"/>
          </a:p>
        </p:txBody>
      </p:sp>
      <p:sp>
        <p:nvSpPr>
          <p:cNvPr id="55" name="Shape 52"/>
          <p:cNvSpPr/>
          <p:nvPr/>
        </p:nvSpPr>
        <p:spPr>
          <a:xfrm>
            <a:off x="6492240" y="3017520"/>
            <a:ext cx="256032" cy="256032"/>
          </a:xfrm>
          <a:prstGeom prst="ellipse">
            <a:avLst/>
          </a:prstGeom>
          <a:solidFill>
            <a:srgbClr val="E76F30"/>
          </a:solidFill>
          <a:ln/>
        </p:spPr>
        <p:txBody>
          <a:bodyPr/>
          <a:lstStyle/>
          <a:p>
            <a:endParaRPr/>
          </a:p>
        </p:txBody>
      </p:sp>
      <p:sp>
        <p:nvSpPr>
          <p:cNvPr id="56" name="Text 53"/>
          <p:cNvSpPr/>
          <p:nvPr/>
        </p:nvSpPr>
        <p:spPr>
          <a:xfrm>
            <a:off x="6492240" y="3017520"/>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57" name="Text 54"/>
          <p:cNvSpPr/>
          <p:nvPr/>
        </p:nvSpPr>
        <p:spPr>
          <a:xfrm>
            <a:off x="6821424" y="2980944"/>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One rule written in plain English.</a:t>
            </a:r>
            <a:endParaRPr lang="en-US" sz="1250" dirty="0"/>
          </a:p>
        </p:txBody>
      </p:sp>
      <p:sp>
        <p:nvSpPr>
          <p:cNvPr id="58" name="Shape 55"/>
          <p:cNvSpPr/>
          <p:nvPr/>
        </p:nvSpPr>
        <p:spPr>
          <a:xfrm>
            <a:off x="6492240" y="3523488"/>
            <a:ext cx="256032" cy="256032"/>
          </a:xfrm>
          <a:prstGeom prst="ellipse">
            <a:avLst/>
          </a:prstGeom>
          <a:solidFill>
            <a:srgbClr val="E76F30"/>
          </a:solidFill>
          <a:ln/>
        </p:spPr>
        <p:txBody>
          <a:bodyPr/>
          <a:lstStyle/>
          <a:p>
            <a:endParaRPr/>
          </a:p>
        </p:txBody>
      </p:sp>
      <p:sp>
        <p:nvSpPr>
          <p:cNvPr id="59" name="Text 56"/>
          <p:cNvSpPr/>
          <p:nvPr/>
        </p:nvSpPr>
        <p:spPr>
          <a:xfrm>
            <a:off x="6492240" y="3523488"/>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60" name="Text 57"/>
          <p:cNvSpPr/>
          <p:nvPr/>
        </p:nvSpPr>
        <p:spPr>
          <a:xfrm>
            <a:off x="6821424" y="3486912"/>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One test that would fail today if the rule were broken.</a:t>
            </a:r>
            <a:endParaRPr lang="en-US" sz="1250" dirty="0"/>
          </a:p>
        </p:txBody>
      </p:sp>
      <p:sp>
        <p:nvSpPr>
          <p:cNvPr id="61" name="Shape 58"/>
          <p:cNvSpPr/>
          <p:nvPr/>
        </p:nvSpPr>
        <p:spPr>
          <a:xfrm>
            <a:off x="6492240" y="4029456"/>
            <a:ext cx="256032" cy="256032"/>
          </a:xfrm>
          <a:prstGeom prst="ellipse">
            <a:avLst/>
          </a:prstGeom>
          <a:solidFill>
            <a:srgbClr val="E76F30"/>
          </a:solidFill>
          <a:ln/>
        </p:spPr>
        <p:txBody>
          <a:bodyPr/>
          <a:lstStyle/>
          <a:p>
            <a:endParaRPr/>
          </a:p>
        </p:txBody>
      </p:sp>
      <p:sp>
        <p:nvSpPr>
          <p:cNvPr id="62" name="Text 59"/>
          <p:cNvSpPr/>
          <p:nvPr/>
        </p:nvSpPr>
        <p:spPr>
          <a:xfrm>
            <a:off x="6492240" y="4029456"/>
            <a:ext cx="256032" cy="25603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63" name="Text 60"/>
          <p:cNvSpPr/>
          <p:nvPr/>
        </p:nvSpPr>
        <p:spPr>
          <a:xfrm>
            <a:off x="6821424" y="3992880"/>
            <a:ext cx="4647895" cy="469392"/>
          </a:xfrm>
          <a:prstGeom prst="rect">
            <a:avLst/>
          </a:prstGeom>
          <a:noFill/>
          <a:ln/>
        </p:spPr>
        <p:txBody>
          <a:bodyPr wrap="square" rtlCol="0" anchor="t"/>
          <a:lstStyle/>
          <a:p>
            <a:pPr marL="0" indent="0">
              <a:buNone/>
            </a:pPr>
            <a:r>
              <a:rPr lang="en-US" sz="1250" dirty="0">
                <a:solidFill>
                  <a:srgbClr val="3D3348"/>
                </a:solidFill>
                <a:latin typeface="Segoe UI" pitchFamily="34" charset="0"/>
                <a:ea typeface="Segoe UI" pitchFamily="34" charset="-122"/>
                <a:cs typeface="Segoe UI" pitchFamily="34" charset="-120"/>
              </a:rPr>
              <a:t>A review scorecard that looks at evidence instead of opinions.</a:t>
            </a:r>
            <a:endParaRPr lang="en-US" sz="1250" dirty="0"/>
          </a:p>
        </p:txBody>
      </p:sp>
      <p:sp>
        <p:nvSpPr>
          <p:cNvPr id="64" name="Shape 61"/>
          <p:cNvSpPr/>
          <p:nvPr/>
        </p:nvSpPr>
        <p:spPr>
          <a:xfrm>
            <a:off x="6419088" y="4608576"/>
            <a:ext cx="5086807" cy="1042416"/>
          </a:xfrm>
          <a:prstGeom prst="roundRect">
            <a:avLst>
              <a:gd name="adj" fmla="val 7018"/>
            </a:avLst>
          </a:prstGeom>
          <a:solidFill>
            <a:srgbClr val="FDECDF"/>
          </a:solidFill>
          <a:ln/>
        </p:spPr>
        <p:txBody>
          <a:bodyPr/>
          <a:lstStyle/>
          <a:p>
            <a:endParaRPr/>
          </a:p>
        </p:txBody>
      </p:sp>
      <p:sp>
        <p:nvSpPr>
          <p:cNvPr id="65" name="Text 62"/>
          <p:cNvSpPr/>
          <p:nvPr/>
        </p:nvSpPr>
        <p:spPr>
          <a:xfrm>
            <a:off x="6565392" y="4654296"/>
            <a:ext cx="4794199" cy="219456"/>
          </a:xfrm>
          <a:prstGeom prst="rect">
            <a:avLst/>
          </a:prstGeom>
          <a:noFill/>
          <a:ln/>
        </p:spPr>
        <p:txBody>
          <a:bodyPr wrap="square" rtlCol="0" anchor="ctr"/>
          <a:lstStyle/>
          <a:p>
            <a:pPr marL="0" indent="0">
              <a:buNone/>
            </a:pPr>
            <a:r>
              <a:rPr lang="en-US" sz="1000" b="1" kern="0" spc="80" dirty="0">
                <a:solidFill>
                  <a:srgbClr val="E76F30"/>
                </a:solidFill>
                <a:latin typeface="Segoe UI" pitchFamily="34" charset="0"/>
                <a:ea typeface="Segoe UI" pitchFamily="34" charset="-122"/>
                <a:cs typeface="Segoe UI" pitchFamily="34" charset="-120"/>
              </a:rPr>
              <a:t>Real example    Northline Shop</a:t>
            </a:r>
            <a:endParaRPr lang="en-US" sz="1000" dirty="0"/>
          </a:p>
        </p:txBody>
      </p:sp>
      <p:sp>
        <p:nvSpPr>
          <p:cNvPr id="66" name="Text 63"/>
          <p:cNvSpPr/>
          <p:nvPr/>
        </p:nvSpPr>
        <p:spPr>
          <a:xfrm>
            <a:off x="6565392" y="4873752"/>
            <a:ext cx="4794199" cy="713232"/>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Northline rule: Warehouse must not touch Catalog data. The check fails the pull request the moment someone tries.</a:t>
            </a:r>
            <a:endParaRPr lang="en-US" sz="1200" dirty="0"/>
          </a:p>
        </p:txBody>
      </p:sp>
      <p:sp>
        <p:nvSpPr>
          <p:cNvPr id="67" name="Shape 64"/>
          <p:cNvSpPr/>
          <p:nvPr/>
        </p:nvSpPr>
        <p:spPr>
          <a:xfrm>
            <a:off x="502920" y="5925312"/>
            <a:ext cx="54864" cy="201168"/>
          </a:xfrm>
          <a:prstGeom prst="rect">
            <a:avLst/>
          </a:prstGeom>
          <a:solidFill>
            <a:srgbClr val="43BFB8"/>
          </a:solidFill>
          <a:ln/>
        </p:spPr>
        <p:txBody>
          <a:bodyPr/>
          <a:lstStyle/>
          <a:p>
            <a:endParaRPr/>
          </a:p>
        </p:txBody>
      </p:sp>
      <p:sp>
        <p:nvSpPr>
          <p:cNvPr id="68" name="Text 65"/>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Neal Ford, Rebecca Parsons, Patrick Kua, “Building Evolutionary Architectures”  ·  ArchUnit (archunit.org) for JVM  ·  dependency-cruiser for JavaScript.</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1900" b="1" dirty="0">
                <a:solidFill>
                  <a:srgbClr val="5F1B3C"/>
                </a:solidFill>
                <a:latin typeface="Segoe UI" pitchFamily="34" charset="0"/>
                <a:ea typeface="Segoe UI" pitchFamily="34" charset="-122"/>
                <a:cs typeface="Segoe UI" pitchFamily="34" charset="-120"/>
              </a:rPr>
              <a:t>One architecture rule as a real test    line by line</a:t>
            </a:r>
            <a:endParaRPr lang="en-US" sz="19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Nine plain lines. This is how a decision from Day 2 survives after you leave the room.</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105</a:t>
            </a:r>
            <a:endParaRPr lang="en-US" sz="1000" dirty="0"/>
          </a:p>
        </p:txBody>
      </p:sp>
      <p:sp>
        <p:nvSpPr>
          <p:cNvPr id="36" name="Shape 33"/>
          <p:cNvSpPr/>
          <p:nvPr/>
        </p:nvSpPr>
        <p:spPr>
          <a:xfrm>
            <a:off x="502920" y="1207008"/>
            <a:ext cx="5257800" cy="3950208"/>
          </a:xfrm>
          <a:prstGeom prst="roundRect">
            <a:avLst>
              <a:gd name="adj" fmla="val 2083"/>
            </a:avLst>
          </a:prstGeom>
          <a:solidFill>
            <a:srgbClr val="0B1220"/>
          </a:solidFill>
          <a:ln/>
        </p:spPr>
        <p:txBody>
          <a:bodyPr/>
          <a:lstStyle/>
          <a:p>
            <a:endParaRPr/>
          </a:p>
        </p:txBody>
      </p:sp>
      <p:sp>
        <p:nvSpPr>
          <p:cNvPr id="37" name="Shape 34"/>
          <p:cNvSpPr/>
          <p:nvPr/>
        </p:nvSpPr>
        <p:spPr>
          <a:xfrm>
            <a:off x="502920" y="1207008"/>
            <a:ext cx="5257800" cy="292608"/>
          </a:xfrm>
          <a:prstGeom prst="rect">
            <a:avLst/>
          </a:prstGeom>
          <a:solidFill>
            <a:srgbClr val="111A2E"/>
          </a:solidFill>
          <a:ln/>
        </p:spPr>
        <p:txBody>
          <a:bodyPr/>
          <a:lstStyle/>
          <a:p>
            <a:endParaRPr/>
          </a:p>
        </p:txBody>
      </p:sp>
      <p:sp>
        <p:nvSpPr>
          <p:cNvPr id="38" name="Shape 35"/>
          <p:cNvSpPr/>
          <p:nvPr/>
        </p:nvSpPr>
        <p:spPr>
          <a:xfrm>
            <a:off x="621792" y="1289304"/>
            <a:ext cx="118872" cy="118872"/>
          </a:xfrm>
          <a:prstGeom prst="ellipse">
            <a:avLst/>
          </a:prstGeom>
          <a:solidFill>
            <a:srgbClr val="FF5F57"/>
          </a:solidFill>
          <a:ln/>
        </p:spPr>
        <p:txBody>
          <a:bodyPr/>
          <a:lstStyle/>
          <a:p>
            <a:endParaRPr/>
          </a:p>
        </p:txBody>
      </p:sp>
      <p:sp>
        <p:nvSpPr>
          <p:cNvPr id="39" name="Shape 36"/>
          <p:cNvSpPr/>
          <p:nvPr/>
        </p:nvSpPr>
        <p:spPr>
          <a:xfrm>
            <a:off x="786384" y="1289304"/>
            <a:ext cx="118872" cy="118872"/>
          </a:xfrm>
          <a:prstGeom prst="ellipse">
            <a:avLst/>
          </a:prstGeom>
          <a:solidFill>
            <a:srgbClr val="FEBC2E"/>
          </a:solidFill>
          <a:ln/>
        </p:spPr>
        <p:txBody>
          <a:bodyPr/>
          <a:lstStyle/>
          <a:p>
            <a:endParaRPr/>
          </a:p>
        </p:txBody>
      </p:sp>
      <p:sp>
        <p:nvSpPr>
          <p:cNvPr id="40" name="Shape 37"/>
          <p:cNvSpPr/>
          <p:nvPr/>
        </p:nvSpPr>
        <p:spPr>
          <a:xfrm>
            <a:off x="950976" y="1289304"/>
            <a:ext cx="118872" cy="118872"/>
          </a:xfrm>
          <a:prstGeom prst="ellipse">
            <a:avLst/>
          </a:prstGeom>
          <a:solidFill>
            <a:srgbClr val="28C840"/>
          </a:solidFill>
          <a:ln/>
        </p:spPr>
        <p:txBody>
          <a:bodyPr/>
          <a:lstStyle/>
          <a:p>
            <a:endParaRPr/>
          </a:p>
        </p:txBody>
      </p:sp>
      <p:sp>
        <p:nvSpPr>
          <p:cNvPr id="41" name="Text 38"/>
          <p:cNvSpPr/>
          <p:nvPr/>
        </p:nvSpPr>
        <p:spPr>
          <a:xfrm>
            <a:off x="1161288" y="1207008"/>
            <a:ext cx="3794760" cy="292608"/>
          </a:xfrm>
          <a:prstGeom prst="rect">
            <a:avLst/>
          </a:prstGeom>
          <a:noFill/>
          <a:ln/>
        </p:spPr>
        <p:txBody>
          <a:bodyPr wrap="square" rtlCol="0" anchor="ctr"/>
          <a:lstStyle/>
          <a:p>
            <a:pPr marL="0" indent="0">
              <a:buNone/>
            </a:pPr>
            <a:r>
              <a:rPr lang="en-US" sz="1000" dirty="0">
                <a:solidFill>
                  <a:srgbClr val="8A9BB8"/>
                </a:solidFill>
                <a:latin typeface="Consolas" pitchFamily="34" charset="0"/>
                <a:ea typeface="Consolas" pitchFamily="34" charset="-122"/>
                <a:cs typeface="Consolas" pitchFamily="34" charset="-120"/>
              </a:rPr>
              <a:t>fitness/no-shared-db.js</a:t>
            </a:r>
            <a:endParaRPr lang="en-US" sz="1000" dirty="0"/>
          </a:p>
        </p:txBody>
      </p:sp>
      <p:sp>
        <p:nvSpPr>
          <p:cNvPr id="42" name="Text 39"/>
          <p:cNvSpPr/>
          <p:nvPr/>
        </p:nvSpPr>
        <p:spPr>
          <a:xfrm>
            <a:off x="4343400" y="1207008"/>
            <a:ext cx="1298448" cy="292608"/>
          </a:xfrm>
          <a:prstGeom prst="rect">
            <a:avLst/>
          </a:prstGeom>
          <a:noFill/>
          <a:ln/>
        </p:spPr>
        <p:txBody>
          <a:bodyPr wrap="square" rtlCol="0" anchor="ctr"/>
          <a:lstStyle/>
          <a:p>
            <a:pPr marL="0" indent="0" algn="r">
              <a:buNone/>
            </a:pPr>
            <a:r>
              <a:rPr lang="en-US" sz="850" kern="0" spc="80" dirty="0">
                <a:solidFill>
                  <a:srgbClr val="8A9BB8"/>
                </a:solidFill>
                <a:latin typeface="Consolas" pitchFamily="34" charset="0"/>
                <a:ea typeface="Consolas" pitchFamily="34" charset="-122"/>
                <a:cs typeface="Consolas" pitchFamily="34" charset="-120"/>
              </a:rPr>
              <a:t>JAVASCRIPT</a:t>
            </a:r>
            <a:endParaRPr lang="en-US" sz="850" dirty="0"/>
          </a:p>
        </p:txBody>
      </p:sp>
      <p:sp>
        <p:nvSpPr>
          <p:cNvPr id="43" name="Text 40"/>
          <p:cNvSpPr/>
          <p:nvPr/>
        </p:nvSpPr>
        <p:spPr>
          <a:xfrm>
            <a:off x="594360" y="159105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1</a:t>
            </a:r>
            <a:endParaRPr lang="en-US" sz="800" dirty="0"/>
          </a:p>
        </p:txBody>
      </p:sp>
      <p:sp>
        <p:nvSpPr>
          <p:cNvPr id="44" name="Text 41"/>
          <p:cNvSpPr/>
          <p:nvPr/>
        </p:nvSpPr>
        <p:spPr>
          <a:xfrm>
            <a:off x="960120" y="159105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const FORBIDDEN = "../catalog/db";</a:t>
            </a:r>
            <a:endParaRPr lang="en-US" sz="950" dirty="0"/>
          </a:p>
        </p:txBody>
      </p:sp>
      <p:sp>
        <p:nvSpPr>
          <p:cNvPr id="45" name="Shape 42"/>
          <p:cNvSpPr/>
          <p:nvPr/>
        </p:nvSpPr>
        <p:spPr>
          <a:xfrm>
            <a:off x="6035040" y="1709928"/>
            <a:ext cx="155448" cy="155448"/>
          </a:xfrm>
          <a:prstGeom prst="ellipse">
            <a:avLst/>
          </a:prstGeom>
          <a:solidFill>
            <a:srgbClr val="43BFB8"/>
          </a:solidFill>
          <a:ln/>
        </p:spPr>
        <p:txBody>
          <a:bodyPr/>
          <a:lstStyle/>
          <a:p>
            <a:endParaRPr/>
          </a:p>
        </p:txBody>
      </p:sp>
      <p:sp>
        <p:nvSpPr>
          <p:cNvPr id="46" name="Text 43"/>
          <p:cNvSpPr/>
          <p:nvPr/>
        </p:nvSpPr>
        <p:spPr>
          <a:xfrm>
            <a:off x="6291072" y="159105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The rule, as one line: Catalog's data files are private to Catalog.</a:t>
            </a:r>
            <a:endParaRPr lang="en-US" sz="1100" dirty="0"/>
          </a:p>
        </p:txBody>
      </p:sp>
      <p:sp>
        <p:nvSpPr>
          <p:cNvPr id="47" name="Text 44"/>
          <p:cNvSpPr/>
          <p:nvPr/>
        </p:nvSpPr>
        <p:spPr>
          <a:xfrm>
            <a:off x="594360" y="197510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2</a:t>
            </a:r>
            <a:endParaRPr lang="en-US" sz="800" dirty="0"/>
          </a:p>
        </p:txBody>
      </p:sp>
      <p:sp>
        <p:nvSpPr>
          <p:cNvPr id="48" name="Text 45"/>
          <p:cNvSpPr/>
          <p:nvPr/>
        </p:nvSpPr>
        <p:spPr>
          <a:xfrm>
            <a:off x="960120" y="197510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const files = readAll("services/warehouse");</a:t>
            </a:r>
            <a:endParaRPr lang="en-US" sz="950" dirty="0"/>
          </a:p>
        </p:txBody>
      </p:sp>
      <p:sp>
        <p:nvSpPr>
          <p:cNvPr id="49" name="Shape 46"/>
          <p:cNvSpPr/>
          <p:nvPr/>
        </p:nvSpPr>
        <p:spPr>
          <a:xfrm>
            <a:off x="6035040" y="2093976"/>
            <a:ext cx="155448" cy="155448"/>
          </a:xfrm>
          <a:prstGeom prst="ellipse">
            <a:avLst/>
          </a:prstGeom>
          <a:solidFill>
            <a:srgbClr val="43BFB8"/>
          </a:solidFill>
          <a:ln/>
        </p:spPr>
        <p:txBody>
          <a:bodyPr/>
          <a:lstStyle/>
          <a:p>
            <a:endParaRPr/>
          </a:p>
        </p:txBody>
      </p:sp>
      <p:sp>
        <p:nvSpPr>
          <p:cNvPr id="50" name="Text 47"/>
          <p:cNvSpPr/>
          <p:nvPr/>
        </p:nvSpPr>
        <p:spPr>
          <a:xfrm>
            <a:off x="6291072" y="197510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Look at every file in the Warehouse service. This is the area the rule protects.</a:t>
            </a:r>
            <a:endParaRPr lang="en-US" sz="1100" dirty="0"/>
          </a:p>
        </p:txBody>
      </p:sp>
      <p:sp>
        <p:nvSpPr>
          <p:cNvPr id="51" name="Text 48"/>
          <p:cNvSpPr/>
          <p:nvPr/>
        </p:nvSpPr>
        <p:spPr>
          <a:xfrm>
            <a:off x="594360" y="235915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3</a:t>
            </a:r>
            <a:endParaRPr lang="en-US" sz="800" dirty="0"/>
          </a:p>
        </p:txBody>
      </p:sp>
      <p:sp>
        <p:nvSpPr>
          <p:cNvPr id="52" name="Text 49"/>
          <p:cNvSpPr/>
          <p:nvPr/>
        </p:nvSpPr>
        <p:spPr>
          <a:xfrm>
            <a:off x="960120" y="235915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let broken = [];</a:t>
            </a:r>
            <a:endParaRPr lang="en-US" sz="950" dirty="0"/>
          </a:p>
        </p:txBody>
      </p:sp>
      <p:sp>
        <p:nvSpPr>
          <p:cNvPr id="53" name="Shape 50"/>
          <p:cNvSpPr/>
          <p:nvPr/>
        </p:nvSpPr>
        <p:spPr>
          <a:xfrm>
            <a:off x="6035040" y="2478024"/>
            <a:ext cx="155448" cy="155448"/>
          </a:xfrm>
          <a:prstGeom prst="ellipse">
            <a:avLst/>
          </a:prstGeom>
          <a:solidFill>
            <a:srgbClr val="43BFB8"/>
          </a:solidFill>
          <a:ln/>
        </p:spPr>
        <p:txBody>
          <a:bodyPr/>
          <a:lstStyle/>
          <a:p>
            <a:endParaRPr/>
          </a:p>
        </p:txBody>
      </p:sp>
      <p:sp>
        <p:nvSpPr>
          <p:cNvPr id="54" name="Text 51"/>
          <p:cNvSpPr/>
          <p:nvPr/>
        </p:nvSpPr>
        <p:spPr>
          <a:xfrm>
            <a:off x="6291072" y="235915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An empty list. We will collect every place the rule was broken.</a:t>
            </a:r>
            <a:endParaRPr lang="en-US" sz="1100" dirty="0"/>
          </a:p>
        </p:txBody>
      </p:sp>
      <p:sp>
        <p:nvSpPr>
          <p:cNvPr id="55" name="Text 52"/>
          <p:cNvSpPr/>
          <p:nvPr/>
        </p:nvSpPr>
        <p:spPr>
          <a:xfrm>
            <a:off x="594360" y="274320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4</a:t>
            </a:r>
            <a:endParaRPr lang="en-US" sz="800" dirty="0"/>
          </a:p>
        </p:txBody>
      </p:sp>
      <p:sp>
        <p:nvSpPr>
          <p:cNvPr id="56" name="Text 53"/>
          <p:cNvSpPr/>
          <p:nvPr/>
        </p:nvSpPr>
        <p:spPr>
          <a:xfrm>
            <a:off x="960120" y="274320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for (const f of files) {</a:t>
            </a:r>
            <a:endParaRPr lang="en-US" sz="950" dirty="0"/>
          </a:p>
        </p:txBody>
      </p:sp>
      <p:sp>
        <p:nvSpPr>
          <p:cNvPr id="57" name="Shape 54"/>
          <p:cNvSpPr/>
          <p:nvPr/>
        </p:nvSpPr>
        <p:spPr>
          <a:xfrm>
            <a:off x="6035040" y="2862072"/>
            <a:ext cx="155448" cy="155448"/>
          </a:xfrm>
          <a:prstGeom prst="ellipse">
            <a:avLst/>
          </a:prstGeom>
          <a:solidFill>
            <a:srgbClr val="43BFB8"/>
          </a:solidFill>
          <a:ln/>
        </p:spPr>
        <p:txBody>
          <a:bodyPr/>
          <a:lstStyle/>
          <a:p>
            <a:endParaRPr/>
          </a:p>
        </p:txBody>
      </p:sp>
      <p:sp>
        <p:nvSpPr>
          <p:cNvPr id="58" name="Text 55"/>
          <p:cNvSpPr/>
          <p:nvPr/>
        </p:nvSpPr>
        <p:spPr>
          <a:xfrm>
            <a:off x="6291072" y="274320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Take the files one at a time.</a:t>
            </a:r>
            <a:endParaRPr lang="en-US" sz="1100" dirty="0"/>
          </a:p>
        </p:txBody>
      </p:sp>
      <p:sp>
        <p:nvSpPr>
          <p:cNvPr id="59" name="Text 56"/>
          <p:cNvSpPr/>
          <p:nvPr/>
        </p:nvSpPr>
        <p:spPr>
          <a:xfrm>
            <a:off x="594360" y="3127248"/>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5</a:t>
            </a:r>
            <a:endParaRPr lang="en-US" sz="800" dirty="0"/>
          </a:p>
        </p:txBody>
      </p:sp>
      <p:sp>
        <p:nvSpPr>
          <p:cNvPr id="60" name="Text 57"/>
          <p:cNvSpPr/>
          <p:nvPr/>
        </p:nvSpPr>
        <p:spPr>
          <a:xfrm>
            <a:off x="960120" y="3127248"/>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if (f.text.includes(FORBIDDEN))</a:t>
            </a:r>
            <a:endParaRPr lang="en-US" sz="950" dirty="0"/>
          </a:p>
        </p:txBody>
      </p:sp>
      <p:sp>
        <p:nvSpPr>
          <p:cNvPr id="61" name="Shape 58"/>
          <p:cNvSpPr/>
          <p:nvPr/>
        </p:nvSpPr>
        <p:spPr>
          <a:xfrm>
            <a:off x="6035040" y="3246120"/>
            <a:ext cx="155448" cy="155448"/>
          </a:xfrm>
          <a:prstGeom prst="ellipse">
            <a:avLst/>
          </a:prstGeom>
          <a:solidFill>
            <a:srgbClr val="43BFB8"/>
          </a:solidFill>
          <a:ln/>
        </p:spPr>
        <p:txBody>
          <a:bodyPr/>
          <a:lstStyle/>
          <a:p>
            <a:endParaRPr/>
          </a:p>
        </p:txBody>
      </p:sp>
      <p:sp>
        <p:nvSpPr>
          <p:cNvPr id="62" name="Text 59"/>
          <p:cNvSpPr/>
          <p:nvPr/>
        </p:nvSpPr>
        <p:spPr>
          <a:xfrm>
            <a:off x="6291072" y="3127248"/>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Does this file reach into Catalog's folder? A plain text search is enough.</a:t>
            </a:r>
            <a:endParaRPr lang="en-US" sz="1100" dirty="0"/>
          </a:p>
        </p:txBody>
      </p:sp>
      <p:sp>
        <p:nvSpPr>
          <p:cNvPr id="63" name="Text 60"/>
          <p:cNvSpPr/>
          <p:nvPr/>
        </p:nvSpPr>
        <p:spPr>
          <a:xfrm>
            <a:off x="594360" y="3511296"/>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6</a:t>
            </a:r>
            <a:endParaRPr lang="en-US" sz="800" dirty="0"/>
          </a:p>
        </p:txBody>
      </p:sp>
      <p:sp>
        <p:nvSpPr>
          <p:cNvPr id="64" name="Text 61"/>
          <p:cNvSpPr/>
          <p:nvPr/>
        </p:nvSpPr>
        <p:spPr>
          <a:xfrm>
            <a:off x="960120" y="3511296"/>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broken.push(f.path);</a:t>
            </a:r>
            <a:endParaRPr lang="en-US" sz="950" dirty="0"/>
          </a:p>
        </p:txBody>
      </p:sp>
      <p:sp>
        <p:nvSpPr>
          <p:cNvPr id="65" name="Shape 62"/>
          <p:cNvSpPr/>
          <p:nvPr/>
        </p:nvSpPr>
        <p:spPr>
          <a:xfrm>
            <a:off x="6035040" y="3630168"/>
            <a:ext cx="155448" cy="155448"/>
          </a:xfrm>
          <a:prstGeom prst="ellipse">
            <a:avLst/>
          </a:prstGeom>
          <a:solidFill>
            <a:srgbClr val="43BFB8"/>
          </a:solidFill>
          <a:ln/>
        </p:spPr>
        <p:txBody>
          <a:bodyPr/>
          <a:lstStyle/>
          <a:p>
            <a:endParaRPr/>
          </a:p>
        </p:txBody>
      </p:sp>
      <p:sp>
        <p:nvSpPr>
          <p:cNvPr id="66" name="Text 63"/>
          <p:cNvSpPr/>
          <p:nvPr/>
        </p:nvSpPr>
        <p:spPr>
          <a:xfrm>
            <a:off x="6291072" y="3511296"/>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If yes, remember which file, so the message can name it.</a:t>
            </a:r>
            <a:endParaRPr lang="en-US" sz="1100" dirty="0"/>
          </a:p>
        </p:txBody>
      </p:sp>
      <p:sp>
        <p:nvSpPr>
          <p:cNvPr id="67" name="Text 64"/>
          <p:cNvSpPr/>
          <p:nvPr/>
        </p:nvSpPr>
        <p:spPr>
          <a:xfrm>
            <a:off x="594360" y="3895344"/>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7</a:t>
            </a:r>
            <a:endParaRPr lang="en-US" sz="800" dirty="0"/>
          </a:p>
        </p:txBody>
      </p:sp>
      <p:sp>
        <p:nvSpPr>
          <p:cNvPr id="68" name="Text 65"/>
          <p:cNvSpPr/>
          <p:nvPr/>
        </p:nvSpPr>
        <p:spPr>
          <a:xfrm>
            <a:off x="960120" y="3895344"/>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a:t>
            </a:r>
            <a:endParaRPr lang="en-US" sz="950" dirty="0"/>
          </a:p>
        </p:txBody>
      </p:sp>
      <p:sp>
        <p:nvSpPr>
          <p:cNvPr id="69" name="Shape 66"/>
          <p:cNvSpPr/>
          <p:nvPr/>
        </p:nvSpPr>
        <p:spPr>
          <a:xfrm>
            <a:off x="6035040" y="4014216"/>
            <a:ext cx="155448" cy="155448"/>
          </a:xfrm>
          <a:prstGeom prst="ellipse">
            <a:avLst/>
          </a:prstGeom>
          <a:solidFill>
            <a:srgbClr val="43BFB8"/>
          </a:solidFill>
          <a:ln/>
        </p:spPr>
        <p:txBody>
          <a:bodyPr/>
          <a:lstStyle/>
          <a:p>
            <a:endParaRPr/>
          </a:p>
        </p:txBody>
      </p:sp>
      <p:sp>
        <p:nvSpPr>
          <p:cNvPr id="70" name="Text 67"/>
          <p:cNvSpPr/>
          <p:nvPr/>
        </p:nvSpPr>
        <p:spPr>
          <a:xfrm>
            <a:off x="6291072" y="3895344"/>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Finished looking. Now decide.</a:t>
            </a:r>
            <a:endParaRPr lang="en-US" sz="1100" dirty="0"/>
          </a:p>
        </p:txBody>
      </p:sp>
      <p:sp>
        <p:nvSpPr>
          <p:cNvPr id="71" name="Text 68"/>
          <p:cNvSpPr/>
          <p:nvPr/>
        </p:nvSpPr>
        <p:spPr>
          <a:xfrm>
            <a:off x="594360" y="4279392"/>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8</a:t>
            </a:r>
            <a:endParaRPr lang="en-US" sz="800" dirty="0"/>
          </a:p>
        </p:txBody>
      </p:sp>
      <p:sp>
        <p:nvSpPr>
          <p:cNvPr id="72" name="Text 69"/>
          <p:cNvSpPr/>
          <p:nvPr/>
        </p:nvSpPr>
        <p:spPr>
          <a:xfrm>
            <a:off x="960120" y="4279392"/>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if (broken.length) { console.error(</a:t>
            </a:r>
            <a:endParaRPr lang="en-US" sz="950" dirty="0"/>
          </a:p>
        </p:txBody>
      </p:sp>
      <p:sp>
        <p:nvSpPr>
          <p:cNvPr id="73" name="Shape 70"/>
          <p:cNvSpPr/>
          <p:nvPr/>
        </p:nvSpPr>
        <p:spPr>
          <a:xfrm>
            <a:off x="6035040" y="4398264"/>
            <a:ext cx="155448" cy="155448"/>
          </a:xfrm>
          <a:prstGeom prst="ellipse">
            <a:avLst/>
          </a:prstGeom>
          <a:solidFill>
            <a:srgbClr val="43BFB8"/>
          </a:solidFill>
          <a:ln/>
        </p:spPr>
        <p:txBody>
          <a:bodyPr/>
          <a:lstStyle/>
          <a:p>
            <a:endParaRPr/>
          </a:p>
        </p:txBody>
      </p:sp>
      <p:sp>
        <p:nvSpPr>
          <p:cNvPr id="74" name="Text 71"/>
          <p:cNvSpPr/>
          <p:nvPr/>
        </p:nvSpPr>
        <p:spPr>
          <a:xfrm>
            <a:off x="6291072" y="4279392"/>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If the list is not empty, the rule was broken, and we must fail loudly.</a:t>
            </a:r>
            <a:endParaRPr lang="en-US" sz="1100" dirty="0"/>
          </a:p>
        </p:txBody>
      </p:sp>
      <p:sp>
        <p:nvSpPr>
          <p:cNvPr id="75" name="Text 72"/>
          <p:cNvSpPr/>
          <p:nvPr/>
        </p:nvSpPr>
        <p:spPr>
          <a:xfrm>
            <a:off x="594360" y="4663440"/>
            <a:ext cx="274320" cy="384048"/>
          </a:xfrm>
          <a:prstGeom prst="rect">
            <a:avLst/>
          </a:prstGeom>
          <a:noFill/>
          <a:ln/>
        </p:spPr>
        <p:txBody>
          <a:bodyPr wrap="square" rtlCol="0" anchor="ctr"/>
          <a:lstStyle/>
          <a:p>
            <a:pPr marL="0" indent="0" algn="r">
              <a:buNone/>
            </a:pPr>
            <a:r>
              <a:rPr lang="en-US" sz="800" dirty="0">
                <a:solidFill>
                  <a:srgbClr val="8A9BB8"/>
                </a:solidFill>
                <a:latin typeface="Consolas" pitchFamily="34" charset="0"/>
                <a:ea typeface="Consolas" pitchFamily="34" charset="-122"/>
                <a:cs typeface="Consolas" pitchFamily="34" charset="-120"/>
              </a:rPr>
              <a:t>9</a:t>
            </a:r>
            <a:endParaRPr lang="en-US" sz="800" dirty="0"/>
          </a:p>
        </p:txBody>
      </p:sp>
      <p:sp>
        <p:nvSpPr>
          <p:cNvPr id="76" name="Text 73"/>
          <p:cNvSpPr/>
          <p:nvPr/>
        </p:nvSpPr>
        <p:spPr>
          <a:xfrm>
            <a:off x="960120" y="4663440"/>
            <a:ext cx="4690872" cy="384048"/>
          </a:xfrm>
          <a:prstGeom prst="rect">
            <a:avLst/>
          </a:prstGeom>
          <a:noFill/>
          <a:ln/>
        </p:spPr>
        <p:txBody>
          <a:bodyPr wrap="square" rtlCol="0" anchor="ctr"/>
          <a:lstStyle/>
          <a:p>
            <a:pPr marL="0" indent="0">
              <a:buNone/>
            </a:pPr>
            <a:r>
              <a:rPr lang="en-US" sz="950" dirty="0">
                <a:solidFill>
                  <a:srgbClr val="7EE7B3"/>
                </a:solidFill>
                <a:latin typeface="Consolas" pitchFamily="34" charset="0"/>
                <a:ea typeface="Consolas" pitchFamily="34" charset="-122"/>
                <a:cs typeface="Consolas" pitchFamily="34" charset="-120"/>
              </a:rPr>
              <a:t>  "Warehouse must not touch Catalog data"); exit(1); }</a:t>
            </a:r>
            <a:endParaRPr lang="en-US" sz="950" dirty="0"/>
          </a:p>
        </p:txBody>
      </p:sp>
      <p:sp>
        <p:nvSpPr>
          <p:cNvPr id="77" name="Shape 74"/>
          <p:cNvSpPr/>
          <p:nvPr/>
        </p:nvSpPr>
        <p:spPr>
          <a:xfrm>
            <a:off x="6035040" y="4782312"/>
            <a:ext cx="155448" cy="155448"/>
          </a:xfrm>
          <a:prstGeom prst="ellipse">
            <a:avLst/>
          </a:prstGeom>
          <a:solidFill>
            <a:srgbClr val="43BFB8"/>
          </a:solidFill>
          <a:ln/>
        </p:spPr>
        <p:txBody>
          <a:bodyPr/>
          <a:lstStyle/>
          <a:p>
            <a:endParaRPr/>
          </a:p>
        </p:txBody>
      </p:sp>
      <p:sp>
        <p:nvSpPr>
          <p:cNvPr id="78" name="Text 75"/>
          <p:cNvSpPr/>
          <p:nvPr/>
        </p:nvSpPr>
        <p:spPr>
          <a:xfrm>
            <a:off x="6291072" y="4663440"/>
            <a:ext cx="5397703" cy="384048"/>
          </a:xfrm>
          <a:prstGeom prst="rect">
            <a:avLst/>
          </a:prstGeom>
          <a:noFill/>
          <a:ln/>
        </p:spPr>
        <p:txBody>
          <a:bodyPr wrap="square" rtlCol="0" anchor="ctr"/>
          <a:lstStyle/>
          <a:p>
            <a:pPr marL="0" indent="0">
              <a:lnSpc>
                <a:spcPct val="100000"/>
              </a:lnSpc>
              <a:buNone/>
            </a:pPr>
            <a:r>
              <a:rPr lang="en-US" sz="1100" dirty="0">
                <a:solidFill>
                  <a:srgbClr val="24162A"/>
                </a:solidFill>
                <a:latin typeface="Segoe UI" pitchFamily="34" charset="0"/>
                <a:ea typeface="Segoe UI" pitchFamily="34" charset="-122"/>
                <a:cs typeface="Segoe UI" pitchFamily="34" charset="-120"/>
              </a:rPr>
              <a:t>A message a human understands, then exit code 1. Exit code 1 is what fails the build.</a:t>
            </a:r>
            <a:endParaRPr lang="en-US" sz="1100" dirty="0"/>
          </a:p>
        </p:txBody>
      </p:sp>
      <p:sp>
        <p:nvSpPr>
          <p:cNvPr id="79" name="Shape 76"/>
          <p:cNvSpPr/>
          <p:nvPr/>
        </p:nvSpPr>
        <p:spPr>
          <a:xfrm>
            <a:off x="502920" y="5175504"/>
            <a:ext cx="11185855" cy="676656"/>
          </a:xfrm>
          <a:prstGeom prst="roundRect">
            <a:avLst>
              <a:gd name="adj" fmla="val 12162"/>
            </a:avLst>
          </a:prstGeom>
          <a:solidFill>
            <a:srgbClr val="FDECDF"/>
          </a:solidFill>
          <a:ln/>
        </p:spPr>
        <p:txBody>
          <a:bodyPr/>
          <a:lstStyle/>
          <a:p>
            <a:endParaRPr/>
          </a:p>
        </p:txBody>
      </p:sp>
      <p:sp>
        <p:nvSpPr>
          <p:cNvPr id="80" name="Shape 77"/>
          <p:cNvSpPr/>
          <p:nvPr/>
        </p:nvSpPr>
        <p:spPr>
          <a:xfrm>
            <a:off x="502920" y="5175504"/>
            <a:ext cx="100584" cy="676656"/>
          </a:xfrm>
          <a:prstGeom prst="rect">
            <a:avLst/>
          </a:prstGeom>
          <a:solidFill>
            <a:srgbClr val="E76F30"/>
          </a:solidFill>
          <a:ln/>
        </p:spPr>
        <p:txBody>
          <a:bodyPr/>
          <a:lstStyle/>
          <a:p>
            <a:endParaRPr/>
          </a:p>
        </p:txBody>
      </p:sp>
      <p:sp>
        <p:nvSpPr>
          <p:cNvPr id="81" name="Text 78"/>
          <p:cNvSpPr/>
          <p:nvPr/>
        </p:nvSpPr>
        <p:spPr>
          <a:xfrm>
            <a:off x="740664" y="5175504"/>
            <a:ext cx="10783519" cy="676656"/>
          </a:xfrm>
          <a:prstGeom prst="rect">
            <a:avLst/>
          </a:prstGeom>
          <a:noFill/>
          <a:ln/>
        </p:spPr>
        <p:txBody>
          <a:bodyPr wrap="square" rtlCol="0" anchor="ctr"/>
          <a:lstStyle/>
          <a:p>
            <a:pPr marL="0" indent="0">
              <a:buNone/>
            </a:pPr>
            <a:r>
              <a:rPr lang="en-US" sz="1250" b="1" kern="0" spc="100" dirty="0">
                <a:solidFill>
                  <a:srgbClr val="E76F30"/>
                </a:solidFill>
                <a:latin typeface="Segoe UI" pitchFamily="34" charset="0"/>
                <a:ea typeface="Segoe UI" pitchFamily="34" charset="-122"/>
                <a:cs typeface="Segoe UI" pitchFamily="34" charset="-120"/>
              </a:rPr>
              <a:t>THE IDEA   </a:t>
            </a:r>
            <a:r>
              <a:rPr lang="en-US" sz="1250" dirty="0">
                <a:solidFill>
                  <a:srgbClr val="24162A"/>
                </a:solidFill>
                <a:latin typeface="Segoe UI" pitchFamily="34" charset="0"/>
                <a:ea typeface="Segoe UI" pitchFamily="34" charset="-122"/>
                <a:cs typeface="Segoe UI" pitchFamily="34" charset="-120"/>
              </a:rPr>
              <a:t>This is not clever code, and that is the point. Nine plain lines turn “we agreed Catalog owns its data” into something that physically cannot be broken without someone noticing today. A rule that only lives in a document dies about three months after the workshop.</a:t>
            </a:r>
            <a:endParaRPr lang="en-US" sz="1250" dirty="0"/>
          </a:p>
        </p:txBody>
      </p:sp>
      <p:sp>
        <p:nvSpPr>
          <p:cNvPr id="82" name="Shape 79"/>
          <p:cNvSpPr/>
          <p:nvPr/>
        </p:nvSpPr>
        <p:spPr>
          <a:xfrm>
            <a:off x="502920" y="5980176"/>
            <a:ext cx="54864" cy="201168"/>
          </a:xfrm>
          <a:prstGeom prst="rect">
            <a:avLst/>
          </a:prstGeom>
          <a:solidFill>
            <a:srgbClr val="43BFB8"/>
          </a:solidFill>
          <a:ln/>
        </p:spPr>
        <p:txBody>
          <a:bodyPr/>
          <a:lstStyle/>
          <a:p>
            <a:endParaRPr/>
          </a:p>
        </p:txBody>
      </p:sp>
      <p:sp>
        <p:nvSpPr>
          <p:cNvPr id="83" name="Text 80"/>
          <p:cNvSpPr/>
          <p:nvPr/>
        </p:nvSpPr>
        <p:spPr>
          <a:xfrm>
            <a:off x="667512" y="5888736"/>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archunit.org (Java)  ·  github.com/sverweij/dependency-cruiser (JavaScript/TypeScript)  ·  “Building Evolutionary Architectures”, chapters 2 to 4.</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Practise: write one fitness function</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12 minutes. It must fail first, then pass after the fix.</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106</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rule in one sentence</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No service may reach into another service's data files.</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Say what the check scans</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Imports, shared table names, or a forbidden folder path.</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Write the failure message</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“Warehouse must not touch Catalog data.” A human must understand it instantly.</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Say where it runs</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 every pull request. Not once a year in a workshop.</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Model answer    the four lines that matter</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RULE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Warehouse must not import Catalog data.</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CHECK</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scan services/warehouse for "../catalog/db"</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MESSAGE ON FAILURE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"Warehouse must not touch Catalog data</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call the Catalog API instead."</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WHERE IT RUNS</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every pull request, before merge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first run: FAIL   after fix: PASS</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Rule, check, failure message, and the place it runs. The first run must fail.</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rule, one test, running in CI. Best practice: fail closed, write the message in plain English, and start with exactly one rule.</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archunit.org (Java)  ·  dependency-cruiser (JS/TS)  ·  “Building Evolutionary Architectures”, chapters 2 to 4.</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Review scorecard    we score evidence, not opinions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Share this before the critique, never after. Students use it on the capstone.</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107</a:t>
            </a:r>
            <a:endParaRPr lang="en-US" sz="1000" dirty="0"/>
          </a:p>
        </p:txBody>
      </p:sp>
      <p:sp>
        <p:nvSpPr>
          <p:cNvPr id="34" name="Shape 31"/>
          <p:cNvSpPr/>
          <p:nvPr/>
        </p:nvSpPr>
        <p:spPr>
          <a:xfrm>
            <a:off x="502920" y="5961888"/>
            <a:ext cx="54864" cy="201168"/>
          </a:xfrm>
          <a:prstGeom prst="rect">
            <a:avLst/>
          </a:prstGeom>
          <a:solidFill>
            <a:srgbClr val="43BFB8"/>
          </a:solidFill>
          <a:ln/>
        </p:spPr>
        <p:txBody>
          <a:bodyPr/>
          <a:lstStyle/>
          <a:p>
            <a:endParaRPr/>
          </a:p>
        </p:txBody>
      </p:sp>
      <p:sp>
        <p:nvSpPr>
          <p:cNvPr id="35" name="Text 32"/>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ATAM (Architecture Tradeoff Analysis Method), SEI Carnegie Mellon  the classic scenario-based review method.</a:t>
            </a:r>
            <a:endParaRPr lang="en-US" sz="1050" dirty="0"/>
          </a:p>
        </p:txBody>
      </p:sp>
      <p:sp>
        <p:nvSpPr>
          <p:cNvPr id="36" name="Shape 33"/>
          <p:cNvSpPr/>
          <p:nvPr/>
        </p:nvSpPr>
        <p:spPr>
          <a:xfrm>
            <a:off x="502920" y="1508760"/>
            <a:ext cx="256032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502920" y="1508760"/>
            <a:ext cx="25603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Area</a:t>
            </a:r>
            <a:endParaRPr lang="en-US" sz="1200" dirty="0"/>
          </a:p>
        </p:txBody>
      </p:sp>
      <p:sp>
        <p:nvSpPr>
          <p:cNvPr id="38" name="Shape 35"/>
          <p:cNvSpPr/>
          <p:nvPr/>
        </p:nvSpPr>
        <p:spPr>
          <a:xfrm>
            <a:off x="3063240" y="1508760"/>
            <a:ext cx="438912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3063240" y="1508760"/>
            <a:ext cx="43891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Pass looks like</a:t>
            </a:r>
            <a:endParaRPr lang="en-US" sz="1200" dirty="0"/>
          </a:p>
        </p:txBody>
      </p:sp>
      <p:sp>
        <p:nvSpPr>
          <p:cNvPr id="40" name="Shape 37"/>
          <p:cNvSpPr/>
          <p:nvPr/>
        </p:nvSpPr>
        <p:spPr>
          <a:xfrm>
            <a:off x="7452360" y="1508760"/>
            <a:ext cx="4206240" cy="502920"/>
          </a:xfrm>
          <a:prstGeom prst="rect">
            <a:avLst/>
          </a:prstGeom>
          <a:solidFill>
            <a:srgbClr val="F6F5F8"/>
          </a:solidFill>
          <a:ln w="9525">
            <a:solidFill>
              <a:srgbClr val="E3E0E8"/>
            </a:solidFill>
            <a:prstDash val="solid"/>
          </a:ln>
        </p:spPr>
        <p:txBody>
          <a:bodyPr/>
          <a:lstStyle/>
          <a:p>
            <a:endParaRPr/>
          </a:p>
        </p:txBody>
      </p:sp>
      <p:sp>
        <p:nvSpPr>
          <p:cNvPr id="41" name="Text 38"/>
          <p:cNvSpPr/>
          <p:nvPr/>
        </p:nvSpPr>
        <p:spPr>
          <a:xfrm>
            <a:off x="7452360" y="1508760"/>
            <a:ext cx="420624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Fail looks like</a:t>
            </a:r>
            <a:endParaRPr lang="en-US" sz="1200" dirty="0"/>
          </a:p>
        </p:txBody>
      </p:sp>
      <p:sp>
        <p:nvSpPr>
          <p:cNvPr id="42" name="Shape 39"/>
          <p:cNvSpPr/>
          <p:nvPr/>
        </p:nvSpPr>
        <p:spPr>
          <a:xfrm>
            <a:off x="502920" y="2011680"/>
            <a:ext cx="256032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594360" y="201168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Traceability</a:t>
            </a:r>
            <a:endParaRPr lang="en-US" sz="1200" dirty="0"/>
          </a:p>
        </p:txBody>
      </p:sp>
      <p:sp>
        <p:nvSpPr>
          <p:cNvPr id="44" name="Shape 41"/>
          <p:cNvSpPr/>
          <p:nvPr/>
        </p:nvSpPr>
        <p:spPr>
          <a:xfrm>
            <a:off x="3063240" y="2011680"/>
            <a:ext cx="438912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3154680" y="2011680"/>
            <a:ext cx="42062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Every box maps to a business capability</a:t>
            </a:r>
            <a:endParaRPr lang="en-US" sz="1200" dirty="0"/>
          </a:p>
        </p:txBody>
      </p:sp>
      <p:sp>
        <p:nvSpPr>
          <p:cNvPr id="46" name="Shape 43"/>
          <p:cNvSpPr/>
          <p:nvPr/>
        </p:nvSpPr>
        <p:spPr>
          <a:xfrm>
            <a:off x="7452360" y="2011680"/>
            <a:ext cx="4206240" cy="594360"/>
          </a:xfrm>
          <a:prstGeom prst="rect">
            <a:avLst/>
          </a:prstGeom>
          <a:solidFill>
            <a:srgbClr val="FFFFFF"/>
          </a:solidFill>
          <a:ln w="6350">
            <a:solidFill>
              <a:srgbClr val="E3E0E8"/>
            </a:solidFill>
            <a:prstDash val="solid"/>
          </a:ln>
        </p:spPr>
        <p:txBody>
          <a:bodyPr/>
          <a:lstStyle/>
          <a:p>
            <a:endParaRPr/>
          </a:p>
        </p:txBody>
      </p:sp>
      <p:sp>
        <p:nvSpPr>
          <p:cNvPr id="47" name="Text 44"/>
          <p:cNvSpPr/>
          <p:nvPr/>
        </p:nvSpPr>
        <p:spPr>
          <a:xfrm>
            <a:off x="7543800" y="201168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Boxes nobody in the room can explain</a:t>
            </a:r>
            <a:endParaRPr lang="en-US" sz="1200" dirty="0"/>
          </a:p>
        </p:txBody>
      </p:sp>
      <p:sp>
        <p:nvSpPr>
          <p:cNvPr id="48" name="Shape 45"/>
          <p:cNvSpPr/>
          <p:nvPr/>
        </p:nvSpPr>
        <p:spPr>
          <a:xfrm>
            <a:off x="502920" y="2606040"/>
            <a:ext cx="256032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594360" y="260604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Data ownership</a:t>
            </a:r>
            <a:endParaRPr lang="en-US" sz="1200" dirty="0"/>
          </a:p>
        </p:txBody>
      </p:sp>
      <p:sp>
        <p:nvSpPr>
          <p:cNvPr id="50" name="Shape 47"/>
          <p:cNvSpPr/>
          <p:nvPr/>
        </p:nvSpPr>
        <p:spPr>
          <a:xfrm>
            <a:off x="3063240" y="2606040"/>
            <a:ext cx="438912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3154680" y="2606040"/>
            <a:ext cx="42062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writer per field, written down</a:t>
            </a:r>
            <a:endParaRPr lang="en-US" sz="1200" dirty="0"/>
          </a:p>
        </p:txBody>
      </p:sp>
      <p:sp>
        <p:nvSpPr>
          <p:cNvPr id="52" name="Shape 49"/>
          <p:cNvSpPr/>
          <p:nvPr/>
        </p:nvSpPr>
        <p:spPr>
          <a:xfrm>
            <a:off x="7452360" y="2606040"/>
            <a:ext cx="4206240" cy="594360"/>
          </a:xfrm>
          <a:prstGeom prst="rect">
            <a:avLst/>
          </a:prstGeom>
          <a:solidFill>
            <a:srgbClr val="FBFCFD"/>
          </a:solidFill>
          <a:ln w="6350">
            <a:solidFill>
              <a:srgbClr val="E3E0E8"/>
            </a:solidFill>
            <a:prstDash val="solid"/>
          </a:ln>
        </p:spPr>
        <p:txBody>
          <a:bodyPr/>
          <a:lstStyle/>
          <a:p>
            <a:endParaRPr/>
          </a:p>
        </p:txBody>
      </p:sp>
      <p:sp>
        <p:nvSpPr>
          <p:cNvPr id="53" name="Text 50"/>
          <p:cNvSpPr/>
          <p:nvPr/>
        </p:nvSpPr>
        <p:spPr>
          <a:xfrm>
            <a:off x="7543800" y="260604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Two services write the same table</a:t>
            </a:r>
            <a:endParaRPr lang="en-US" sz="1200" dirty="0"/>
          </a:p>
        </p:txBody>
      </p:sp>
      <p:sp>
        <p:nvSpPr>
          <p:cNvPr id="54" name="Shape 51"/>
          <p:cNvSpPr/>
          <p:nvPr/>
        </p:nvSpPr>
        <p:spPr>
          <a:xfrm>
            <a:off x="502920" y="3200400"/>
            <a:ext cx="256032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594360" y="320040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Contract</a:t>
            </a:r>
            <a:endParaRPr lang="en-US" sz="1200" dirty="0"/>
          </a:p>
        </p:txBody>
      </p:sp>
      <p:sp>
        <p:nvSpPr>
          <p:cNvPr id="56" name="Shape 53"/>
          <p:cNvSpPr/>
          <p:nvPr/>
        </p:nvSpPr>
        <p:spPr>
          <a:xfrm>
            <a:off x="3063240" y="3200400"/>
            <a:ext cx="438912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3154680" y="3200400"/>
            <a:ext cx="42062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An OpenAPI file plus one event schema</a:t>
            </a:r>
            <a:endParaRPr lang="en-US" sz="1200" dirty="0"/>
          </a:p>
        </p:txBody>
      </p:sp>
      <p:sp>
        <p:nvSpPr>
          <p:cNvPr id="58" name="Shape 55"/>
          <p:cNvSpPr/>
          <p:nvPr/>
        </p:nvSpPr>
        <p:spPr>
          <a:xfrm>
            <a:off x="7452360" y="3200400"/>
            <a:ext cx="4206240" cy="594360"/>
          </a:xfrm>
          <a:prstGeom prst="rect">
            <a:avLst/>
          </a:prstGeom>
          <a:solidFill>
            <a:srgbClr val="FFFFFF"/>
          </a:solidFill>
          <a:ln w="6350">
            <a:solidFill>
              <a:srgbClr val="E3E0E8"/>
            </a:solidFill>
            <a:prstDash val="solid"/>
          </a:ln>
        </p:spPr>
        <p:txBody>
          <a:bodyPr/>
          <a:lstStyle/>
          <a:p>
            <a:endParaRPr/>
          </a:p>
        </p:txBody>
      </p:sp>
      <p:sp>
        <p:nvSpPr>
          <p:cNvPr id="59" name="Text 56"/>
          <p:cNvSpPr/>
          <p:nvPr/>
        </p:nvSpPr>
        <p:spPr>
          <a:xfrm>
            <a:off x="7543800" y="320040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“We will agree the API later”</a:t>
            </a:r>
            <a:endParaRPr lang="en-US" sz="1200" dirty="0"/>
          </a:p>
        </p:txBody>
      </p:sp>
      <p:sp>
        <p:nvSpPr>
          <p:cNvPr id="60" name="Shape 57"/>
          <p:cNvSpPr/>
          <p:nvPr/>
        </p:nvSpPr>
        <p:spPr>
          <a:xfrm>
            <a:off x="502920" y="3794760"/>
            <a:ext cx="256032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594360" y="379476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Reversibility</a:t>
            </a:r>
            <a:endParaRPr lang="en-US" sz="1200" dirty="0"/>
          </a:p>
        </p:txBody>
      </p:sp>
      <p:sp>
        <p:nvSpPr>
          <p:cNvPr id="62" name="Shape 59"/>
          <p:cNvSpPr/>
          <p:nvPr/>
        </p:nvSpPr>
        <p:spPr>
          <a:xfrm>
            <a:off x="3063240" y="3794760"/>
            <a:ext cx="438912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3154680" y="3794760"/>
            <a:ext cx="42062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Slice one can be undone in one sentence</a:t>
            </a:r>
            <a:endParaRPr lang="en-US" sz="1200" dirty="0"/>
          </a:p>
        </p:txBody>
      </p:sp>
      <p:sp>
        <p:nvSpPr>
          <p:cNvPr id="64" name="Shape 61"/>
          <p:cNvSpPr/>
          <p:nvPr/>
        </p:nvSpPr>
        <p:spPr>
          <a:xfrm>
            <a:off x="7452360" y="3794760"/>
            <a:ext cx="4206240" cy="594360"/>
          </a:xfrm>
          <a:prstGeom prst="rect">
            <a:avLst/>
          </a:prstGeom>
          <a:solidFill>
            <a:srgbClr val="FBFCFD"/>
          </a:solidFill>
          <a:ln w="6350">
            <a:solidFill>
              <a:srgbClr val="E3E0E8"/>
            </a:solidFill>
            <a:prstDash val="solid"/>
          </a:ln>
        </p:spPr>
        <p:txBody>
          <a:bodyPr/>
          <a:lstStyle/>
          <a:p>
            <a:endParaRPr/>
          </a:p>
        </p:txBody>
      </p:sp>
      <p:sp>
        <p:nvSpPr>
          <p:cNvPr id="65" name="Text 62"/>
          <p:cNvSpPr/>
          <p:nvPr/>
        </p:nvSpPr>
        <p:spPr>
          <a:xfrm>
            <a:off x="7543800" y="379476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“We would have to roll forward”</a:t>
            </a:r>
            <a:endParaRPr lang="en-US" sz="1200" dirty="0"/>
          </a:p>
        </p:txBody>
      </p:sp>
      <p:sp>
        <p:nvSpPr>
          <p:cNvPr id="66" name="Shape 63"/>
          <p:cNvSpPr/>
          <p:nvPr/>
        </p:nvSpPr>
        <p:spPr>
          <a:xfrm>
            <a:off x="502920" y="4389120"/>
            <a:ext cx="2560320" cy="594360"/>
          </a:xfrm>
          <a:prstGeom prst="rect">
            <a:avLst/>
          </a:prstGeom>
          <a:solidFill>
            <a:srgbClr val="FFFFFF"/>
          </a:solidFill>
          <a:ln w="6350">
            <a:solidFill>
              <a:srgbClr val="E3E0E8"/>
            </a:solidFill>
            <a:prstDash val="solid"/>
          </a:ln>
        </p:spPr>
        <p:txBody>
          <a:bodyPr/>
          <a:lstStyle/>
          <a:p>
            <a:endParaRPr/>
          </a:p>
        </p:txBody>
      </p:sp>
      <p:sp>
        <p:nvSpPr>
          <p:cNvPr id="67" name="Text 64"/>
          <p:cNvSpPr/>
          <p:nvPr/>
        </p:nvSpPr>
        <p:spPr>
          <a:xfrm>
            <a:off x="594360" y="4389120"/>
            <a:ext cx="23774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Enforcement</a:t>
            </a:r>
            <a:endParaRPr lang="en-US" sz="1200" dirty="0"/>
          </a:p>
        </p:txBody>
      </p:sp>
      <p:sp>
        <p:nvSpPr>
          <p:cNvPr id="68" name="Shape 65"/>
          <p:cNvSpPr/>
          <p:nvPr/>
        </p:nvSpPr>
        <p:spPr>
          <a:xfrm>
            <a:off x="3063240" y="4389120"/>
            <a:ext cx="4389120" cy="594360"/>
          </a:xfrm>
          <a:prstGeom prst="rect">
            <a:avLst/>
          </a:prstGeom>
          <a:solidFill>
            <a:srgbClr val="FFFFFF"/>
          </a:solidFill>
          <a:ln w="6350">
            <a:solidFill>
              <a:srgbClr val="E3E0E8"/>
            </a:solidFill>
            <a:prstDash val="solid"/>
          </a:ln>
        </p:spPr>
        <p:txBody>
          <a:bodyPr/>
          <a:lstStyle/>
          <a:p>
            <a:endParaRPr/>
          </a:p>
        </p:txBody>
      </p:sp>
      <p:sp>
        <p:nvSpPr>
          <p:cNvPr id="69" name="Text 66"/>
          <p:cNvSpPr/>
          <p:nvPr/>
        </p:nvSpPr>
        <p:spPr>
          <a:xfrm>
            <a:off x="3154680" y="4389120"/>
            <a:ext cx="42062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fitness function that can fail a build</a:t>
            </a:r>
            <a:endParaRPr lang="en-US" sz="1200" dirty="0"/>
          </a:p>
        </p:txBody>
      </p:sp>
      <p:sp>
        <p:nvSpPr>
          <p:cNvPr id="70" name="Shape 67"/>
          <p:cNvSpPr/>
          <p:nvPr/>
        </p:nvSpPr>
        <p:spPr>
          <a:xfrm>
            <a:off x="7452360" y="4389120"/>
            <a:ext cx="4206240" cy="594360"/>
          </a:xfrm>
          <a:prstGeom prst="rect">
            <a:avLst/>
          </a:prstGeom>
          <a:solidFill>
            <a:srgbClr val="FFFFFF"/>
          </a:solidFill>
          <a:ln w="6350">
            <a:solidFill>
              <a:srgbClr val="E3E0E8"/>
            </a:solidFill>
            <a:prstDash val="solid"/>
          </a:ln>
        </p:spPr>
        <p:txBody>
          <a:bodyPr/>
          <a:lstStyle/>
          <a:p>
            <a:endParaRPr/>
          </a:p>
        </p:txBody>
      </p:sp>
      <p:sp>
        <p:nvSpPr>
          <p:cNvPr id="71" name="Text 68"/>
          <p:cNvSpPr/>
          <p:nvPr/>
        </p:nvSpPr>
        <p:spPr>
          <a:xfrm>
            <a:off x="7543800" y="4389120"/>
            <a:ext cx="402336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principles document only</a:t>
            </a:r>
            <a:endParaRPr lang="en-US"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The review scorecard you will hand out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Every student scores another group with this. Same sheet, same five areas, no personal comments.</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108</a:t>
            </a:r>
            <a:endParaRPr lang="en-US" sz="1000" dirty="0"/>
          </a:p>
        </p:txBody>
      </p:sp>
      <p:sp>
        <p:nvSpPr>
          <p:cNvPr id="36" name="Shape 33"/>
          <p:cNvSpPr/>
          <p:nvPr/>
        </p:nvSpPr>
        <p:spPr>
          <a:xfrm>
            <a:off x="502920" y="1243584"/>
            <a:ext cx="3794760" cy="3657600"/>
          </a:xfrm>
          <a:prstGeom prst="roundRect">
            <a:avLst>
              <a:gd name="adj" fmla="val 2500"/>
            </a:avLst>
          </a:prstGeom>
          <a:solidFill>
            <a:srgbClr val="FFFFFF"/>
          </a:solidFill>
          <a:ln w="19050">
            <a:solidFill>
              <a:srgbClr val="5F1B3C"/>
            </a:solidFill>
            <a:prstDash val="solid"/>
          </a:ln>
          <a:effectLst>
            <a:outerShdw blurRad="88900" dist="25400" dir="5400000" algn="bl" rotWithShape="0">
              <a:srgbClr val="1F1F1F">
                <a:alpha val="10000"/>
              </a:srgbClr>
            </a:outerShdw>
          </a:effectLst>
        </p:spPr>
        <p:txBody>
          <a:bodyPr/>
          <a:lstStyle/>
          <a:p>
            <a:endParaRPr/>
          </a:p>
        </p:txBody>
      </p:sp>
      <p:sp>
        <p:nvSpPr>
          <p:cNvPr id="37" name="Shape 34"/>
          <p:cNvSpPr/>
          <p:nvPr/>
        </p:nvSpPr>
        <p:spPr>
          <a:xfrm>
            <a:off x="502920" y="1243584"/>
            <a:ext cx="3794760" cy="548640"/>
          </a:xfrm>
          <a:prstGeom prst="rect">
            <a:avLst/>
          </a:prstGeom>
          <a:solidFill>
            <a:srgbClr val="5F1B3C"/>
          </a:solidFill>
          <a:ln/>
        </p:spPr>
        <p:txBody>
          <a:bodyPr/>
          <a:lstStyle/>
          <a:p>
            <a:endParaRPr/>
          </a:p>
        </p:txBody>
      </p:sp>
      <p:sp>
        <p:nvSpPr>
          <p:cNvPr id="38" name="Text 35"/>
          <p:cNvSpPr/>
          <p:nvPr/>
        </p:nvSpPr>
        <p:spPr>
          <a:xfrm>
            <a:off x="685800" y="1243584"/>
            <a:ext cx="3429000" cy="548640"/>
          </a:xfrm>
          <a:prstGeom prst="rect">
            <a:avLst/>
          </a:prstGeom>
          <a:noFill/>
          <a:ln/>
        </p:spPr>
        <p:txBody>
          <a:bodyPr wrap="square" rtlCol="0" anchor="ctr"/>
          <a:lstStyle/>
          <a:p>
            <a:pPr marL="0" indent="0">
              <a:buNone/>
            </a:pPr>
            <a:r>
              <a:rPr lang="en-US" sz="1100" b="1" kern="0" spc="140" dirty="0">
                <a:solidFill>
                  <a:srgbClr val="FFFFFF"/>
                </a:solidFill>
                <a:latin typeface="Segoe UI" pitchFamily="34" charset="0"/>
                <a:ea typeface="Segoe UI" pitchFamily="34" charset="-122"/>
                <a:cs typeface="Segoe UI" pitchFamily="34" charset="-120"/>
              </a:rPr>
              <a:t>DOCUMENT TEMPLATE</a:t>
            </a:r>
            <a:endParaRPr lang="en-US" sz="1100" dirty="0"/>
          </a:p>
        </p:txBody>
      </p:sp>
      <p:sp>
        <p:nvSpPr>
          <p:cNvPr id="39" name="Text 36"/>
          <p:cNvSpPr/>
          <p:nvPr/>
        </p:nvSpPr>
        <p:spPr>
          <a:xfrm>
            <a:off x="704088" y="1920240"/>
            <a:ext cx="3392424" cy="548640"/>
          </a:xfrm>
          <a:prstGeom prst="rect">
            <a:avLst/>
          </a:prstGeom>
          <a:noFill/>
          <a:ln/>
        </p:spPr>
        <p:txBody>
          <a:bodyPr wrap="square" rtlCol="0" anchor="t"/>
          <a:lstStyle/>
          <a:p>
            <a:pPr marL="0" indent="0">
              <a:buNone/>
            </a:pPr>
            <a:r>
              <a:rPr lang="en-US" sz="1200" b="1" dirty="0">
                <a:solidFill>
                  <a:srgbClr val="5F1B3C"/>
                </a:solidFill>
                <a:latin typeface="Consolas" pitchFamily="34" charset="0"/>
                <a:ea typeface="Consolas" pitchFamily="34" charset="-122"/>
                <a:cs typeface="Consolas" pitchFamily="34" charset="-120"/>
              </a:rPr>
              <a:t>09-Review-scorecard-template.docx</a:t>
            </a:r>
            <a:endParaRPr lang="en-US" sz="1200" dirty="0"/>
          </a:p>
        </p:txBody>
      </p:sp>
      <p:sp>
        <p:nvSpPr>
          <p:cNvPr id="40" name="Text 37"/>
          <p:cNvSpPr/>
          <p:nvPr/>
        </p:nvSpPr>
        <p:spPr>
          <a:xfrm>
            <a:off x="704088" y="2542032"/>
            <a:ext cx="3392424" cy="237744"/>
          </a:xfrm>
          <a:prstGeom prst="rect">
            <a:avLst/>
          </a:prstGeom>
          <a:noFill/>
          <a:ln/>
        </p:spPr>
        <p:txBody>
          <a:bodyPr wrap="square" rtlCol="0" anchor="ctr"/>
          <a:lstStyle/>
          <a:p>
            <a:pPr marL="0" indent="0">
              <a:buNone/>
            </a:pPr>
            <a:r>
              <a:rPr lang="en-US" sz="1000" b="1" kern="0" spc="110" dirty="0">
                <a:solidFill>
                  <a:srgbClr val="2F9992"/>
                </a:solidFill>
                <a:latin typeface="Segoe UI" pitchFamily="34" charset="0"/>
                <a:ea typeface="Segoe UI" pitchFamily="34" charset="-122"/>
                <a:cs typeface="Segoe UI" pitchFamily="34" charset="-120"/>
              </a:rPr>
              <a:t>What it is for</a:t>
            </a:r>
            <a:endParaRPr lang="en-US" sz="1000" dirty="0"/>
          </a:p>
        </p:txBody>
      </p:sp>
      <p:sp>
        <p:nvSpPr>
          <p:cNvPr id="41" name="Text 38"/>
          <p:cNvSpPr/>
          <p:nvPr/>
        </p:nvSpPr>
        <p:spPr>
          <a:xfrm>
            <a:off x="704088" y="2779776"/>
            <a:ext cx="3392424" cy="1463040"/>
          </a:xfrm>
          <a:prstGeom prst="rect">
            <a:avLst/>
          </a:prstGeom>
          <a:noFill/>
          <a:ln/>
        </p:spPr>
        <p:txBody>
          <a:bodyPr wrap="square" rtlCol="0" anchor="t"/>
          <a:lstStyle/>
          <a:p>
            <a:pPr marL="0" indent="0">
              <a:lnSpc>
                <a:spcPct val="115000"/>
              </a:lnSpc>
              <a:buNone/>
            </a:pPr>
            <a:r>
              <a:rPr lang="en-US" sz="1250" dirty="0">
                <a:solidFill>
                  <a:srgbClr val="3D3348"/>
                </a:solidFill>
                <a:latin typeface="Segoe UI" pitchFamily="34" charset="0"/>
                <a:ea typeface="Segoe UI" pitchFamily="34" charset="-122"/>
                <a:cs typeface="Segoe UI" pitchFamily="34" charset="-120"/>
              </a:rPr>
              <a:t>It makes a critique safe and useful. Reviewers score five named areas against written evidence, so the conversation is about the design and never about the person who drew it.</a:t>
            </a:r>
            <a:endParaRPr lang="en-US" sz="1250" dirty="0"/>
          </a:p>
        </p:txBody>
      </p:sp>
      <p:sp>
        <p:nvSpPr>
          <p:cNvPr id="42" name="Shape 39"/>
          <p:cNvSpPr/>
          <p:nvPr/>
        </p:nvSpPr>
        <p:spPr>
          <a:xfrm>
            <a:off x="704088" y="4297680"/>
            <a:ext cx="3392424" cy="457200"/>
          </a:xfrm>
          <a:prstGeom prst="roundRect">
            <a:avLst>
              <a:gd name="adj" fmla="val 14000"/>
            </a:avLst>
          </a:prstGeom>
          <a:solidFill>
            <a:srgbClr val="E4F5F3"/>
          </a:solidFill>
          <a:ln/>
        </p:spPr>
        <p:txBody>
          <a:bodyPr/>
          <a:lstStyle/>
          <a:p>
            <a:endParaRPr/>
          </a:p>
        </p:txBody>
      </p:sp>
      <p:sp>
        <p:nvSpPr>
          <p:cNvPr id="43" name="Text 40"/>
          <p:cNvSpPr/>
          <p:nvPr/>
        </p:nvSpPr>
        <p:spPr>
          <a:xfrm>
            <a:off x="813816" y="4297680"/>
            <a:ext cx="3172968" cy="457200"/>
          </a:xfrm>
          <a:prstGeom prst="rect">
            <a:avLst/>
          </a:prstGeom>
          <a:noFill/>
          <a:ln/>
        </p:spPr>
        <p:txBody>
          <a:bodyPr wrap="square" rtlCol="0" anchor="ctr"/>
          <a:lstStyle/>
          <a:p>
            <a:pPr marL="0" indent="0">
              <a:buNone/>
            </a:pPr>
            <a:r>
              <a:rPr lang="en-US" sz="1100" b="1" dirty="0">
                <a:solidFill>
                  <a:srgbClr val="2F9992"/>
                </a:solidFill>
                <a:latin typeface="Segoe UI" pitchFamily="34" charset="0"/>
                <a:ea typeface="Segoe UI" pitchFamily="34" charset="-122"/>
                <a:cs typeface="Segoe UI" pitchFamily="34" charset="-120"/>
              </a:rPr>
              <a:t>Find it in:  labs / templates</a:t>
            </a:r>
            <a:endParaRPr lang="en-US" sz="1100" dirty="0"/>
          </a:p>
        </p:txBody>
      </p:sp>
      <p:sp>
        <p:nvSpPr>
          <p:cNvPr id="44" name="Text 41"/>
          <p:cNvSpPr/>
          <p:nvPr/>
        </p:nvSpPr>
        <p:spPr>
          <a:xfrm>
            <a:off x="4572000" y="1243584"/>
            <a:ext cx="7116775" cy="292608"/>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What the student writes in each part</a:t>
            </a:r>
            <a:endParaRPr lang="en-US" sz="1200" dirty="0"/>
          </a:p>
        </p:txBody>
      </p:sp>
      <p:sp>
        <p:nvSpPr>
          <p:cNvPr id="45" name="Shape 42"/>
          <p:cNvSpPr/>
          <p:nvPr/>
        </p:nvSpPr>
        <p:spPr>
          <a:xfrm>
            <a:off x="4572000" y="1627632"/>
            <a:ext cx="7116775" cy="563270"/>
          </a:xfrm>
          <a:prstGeom prst="roundRect">
            <a:avLst>
              <a:gd name="adj" fmla="val 12987"/>
            </a:avLst>
          </a:prstGeom>
          <a:solidFill>
            <a:srgbClr val="F6F5F8"/>
          </a:solidFill>
          <a:ln/>
        </p:spPr>
        <p:txBody>
          <a:bodyPr/>
          <a:lstStyle/>
          <a:p>
            <a:endParaRPr/>
          </a:p>
        </p:txBody>
      </p:sp>
      <p:sp>
        <p:nvSpPr>
          <p:cNvPr id="46" name="Shape 43"/>
          <p:cNvSpPr/>
          <p:nvPr/>
        </p:nvSpPr>
        <p:spPr>
          <a:xfrm>
            <a:off x="4572000" y="1627632"/>
            <a:ext cx="82296" cy="563270"/>
          </a:xfrm>
          <a:prstGeom prst="rect">
            <a:avLst/>
          </a:prstGeom>
          <a:solidFill>
            <a:srgbClr val="E76F30"/>
          </a:solidFill>
          <a:ln/>
        </p:spPr>
        <p:txBody>
          <a:bodyPr/>
          <a:lstStyle/>
          <a:p>
            <a:endParaRPr/>
          </a:p>
        </p:txBody>
      </p:sp>
      <p:sp>
        <p:nvSpPr>
          <p:cNvPr id="47" name="Text 44"/>
          <p:cNvSpPr/>
          <p:nvPr/>
        </p:nvSpPr>
        <p:spPr>
          <a:xfrm>
            <a:off x="4773168" y="165506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Five areas, scored 0–2</a:t>
            </a:r>
            <a:endParaRPr lang="en-US" sz="1200" dirty="0"/>
          </a:p>
        </p:txBody>
      </p:sp>
      <p:sp>
        <p:nvSpPr>
          <p:cNvPr id="48" name="Text 45"/>
          <p:cNvSpPr/>
          <p:nvPr/>
        </p:nvSpPr>
        <p:spPr>
          <a:xfrm>
            <a:off x="7178040" y="164592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Traceability, data ownership, contract, reversibility, enforcement. 0 = missing, 1 = claimed, 2 = shown with a file.</a:t>
            </a:r>
            <a:endParaRPr lang="en-US" sz="1150" dirty="0"/>
          </a:p>
        </p:txBody>
      </p:sp>
      <p:sp>
        <p:nvSpPr>
          <p:cNvPr id="49" name="Shape 46"/>
          <p:cNvSpPr/>
          <p:nvPr/>
        </p:nvSpPr>
        <p:spPr>
          <a:xfrm>
            <a:off x="4572000" y="2282342"/>
            <a:ext cx="7116775" cy="563270"/>
          </a:xfrm>
          <a:prstGeom prst="roundRect">
            <a:avLst>
              <a:gd name="adj" fmla="val 12987"/>
            </a:avLst>
          </a:prstGeom>
          <a:solidFill>
            <a:srgbClr val="F6F5F8"/>
          </a:solidFill>
          <a:ln/>
        </p:spPr>
        <p:txBody>
          <a:bodyPr/>
          <a:lstStyle/>
          <a:p>
            <a:endParaRPr/>
          </a:p>
        </p:txBody>
      </p:sp>
      <p:sp>
        <p:nvSpPr>
          <p:cNvPr id="50" name="Shape 47"/>
          <p:cNvSpPr/>
          <p:nvPr/>
        </p:nvSpPr>
        <p:spPr>
          <a:xfrm>
            <a:off x="4572000" y="2282342"/>
            <a:ext cx="82296" cy="563270"/>
          </a:xfrm>
          <a:prstGeom prst="rect">
            <a:avLst/>
          </a:prstGeom>
          <a:solidFill>
            <a:srgbClr val="E76F30"/>
          </a:solidFill>
          <a:ln/>
        </p:spPr>
        <p:txBody>
          <a:bodyPr/>
          <a:lstStyle/>
          <a:p>
            <a:endParaRPr/>
          </a:p>
        </p:txBody>
      </p:sp>
      <p:sp>
        <p:nvSpPr>
          <p:cNvPr id="51" name="Text 48"/>
          <p:cNvSpPr/>
          <p:nvPr/>
        </p:nvSpPr>
        <p:spPr>
          <a:xfrm>
            <a:off x="4773168" y="2309774"/>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Evidence column</a:t>
            </a:r>
            <a:endParaRPr lang="en-US" sz="1200" dirty="0"/>
          </a:p>
        </p:txBody>
      </p:sp>
      <p:sp>
        <p:nvSpPr>
          <p:cNvPr id="52" name="Text 49"/>
          <p:cNvSpPr/>
          <p:nvPr/>
        </p:nvSpPr>
        <p:spPr>
          <a:xfrm>
            <a:off x="7178040" y="2300630"/>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The reviewer must name the file or the slide that proves the score. No file means the score is 0, whatever was said out loud.</a:t>
            </a:r>
            <a:endParaRPr lang="en-US" sz="1150" dirty="0"/>
          </a:p>
        </p:txBody>
      </p:sp>
      <p:sp>
        <p:nvSpPr>
          <p:cNvPr id="53" name="Shape 50"/>
          <p:cNvSpPr/>
          <p:nvPr/>
        </p:nvSpPr>
        <p:spPr>
          <a:xfrm>
            <a:off x="4572000" y="2937053"/>
            <a:ext cx="7116775" cy="563270"/>
          </a:xfrm>
          <a:prstGeom prst="roundRect">
            <a:avLst>
              <a:gd name="adj" fmla="val 12987"/>
            </a:avLst>
          </a:prstGeom>
          <a:solidFill>
            <a:srgbClr val="F6F5F8"/>
          </a:solidFill>
          <a:ln/>
        </p:spPr>
        <p:txBody>
          <a:bodyPr/>
          <a:lstStyle/>
          <a:p>
            <a:endParaRPr/>
          </a:p>
        </p:txBody>
      </p:sp>
      <p:sp>
        <p:nvSpPr>
          <p:cNvPr id="54" name="Shape 51"/>
          <p:cNvSpPr/>
          <p:nvPr/>
        </p:nvSpPr>
        <p:spPr>
          <a:xfrm>
            <a:off x="4572000" y="2937053"/>
            <a:ext cx="82296" cy="563270"/>
          </a:xfrm>
          <a:prstGeom prst="rect">
            <a:avLst/>
          </a:prstGeom>
          <a:solidFill>
            <a:srgbClr val="E76F30"/>
          </a:solidFill>
          <a:ln/>
        </p:spPr>
        <p:txBody>
          <a:bodyPr/>
          <a:lstStyle/>
          <a:p>
            <a:endParaRPr/>
          </a:p>
        </p:txBody>
      </p:sp>
      <p:sp>
        <p:nvSpPr>
          <p:cNvPr id="55" name="Text 52"/>
          <p:cNvSpPr/>
          <p:nvPr/>
        </p:nvSpPr>
        <p:spPr>
          <a:xfrm>
            <a:off x="4773168" y="296448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The strongest thing</a:t>
            </a:r>
            <a:endParaRPr lang="en-US" sz="1200" dirty="0"/>
          </a:p>
        </p:txBody>
      </p:sp>
      <p:sp>
        <p:nvSpPr>
          <p:cNvPr id="56" name="Text 53"/>
          <p:cNvSpPr/>
          <p:nvPr/>
        </p:nvSpPr>
        <p:spPr>
          <a:xfrm>
            <a:off x="7178040" y="295534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sentence. Every review starts with what works, and this box makes that a rule rather than good manners.</a:t>
            </a:r>
            <a:endParaRPr lang="en-US" sz="1150" dirty="0"/>
          </a:p>
        </p:txBody>
      </p:sp>
      <p:sp>
        <p:nvSpPr>
          <p:cNvPr id="57" name="Shape 54"/>
          <p:cNvSpPr/>
          <p:nvPr/>
        </p:nvSpPr>
        <p:spPr>
          <a:xfrm>
            <a:off x="4572000" y="3591763"/>
            <a:ext cx="7116775" cy="563270"/>
          </a:xfrm>
          <a:prstGeom prst="roundRect">
            <a:avLst>
              <a:gd name="adj" fmla="val 12987"/>
            </a:avLst>
          </a:prstGeom>
          <a:solidFill>
            <a:srgbClr val="F6F5F8"/>
          </a:solidFill>
          <a:ln/>
        </p:spPr>
        <p:txBody>
          <a:bodyPr/>
          <a:lstStyle/>
          <a:p>
            <a:endParaRPr/>
          </a:p>
        </p:txBody>
      </p:sp>
      <p:sp>
        <p:nvSpPr>
          <p:cNvPr id="58" name="Shape 55"/>
          <p:cNvSpPr/>
          <p:nvPr/>
        </p:nvSpPr>
        <p:spPr>
          <a:xfrm>
            <a:off x="4572000" y="3591763"/>
            <a:ext cx="82296" cy="563270"/>
          </a:xfrm>
          <a:prstGeom prst="rect">
            <a:avLst/>
          </a:prstGeom>
          <a:solidFill>
            <a:srgbClr val="E76F30"/>
          </a:solidFill>
          <a:ln/>
        </p:spPr>
        <p:txBody>
          <a:bodyPr/>
          <a:lstStyle/>
          <a:p>
            <a:endParaRPr/>
          </a:p>
        </p:txBody>
      </p:sp>
      <p:sp>
        <p:nvSpPr>
          <p:cNvPr id="59" name="Text 56"/>
          <p:cNvSpPr/>
          <p:nvPr/>
        </p:nvSpPr>
        <p:spPr>
          <a:xfrm>
            <a:off x="4773168" y="3619195"/>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The one risk to fix first</a:t>
            </a:r>
            <a:endParaRPr lang="en-US" sz="1200" dirty="0"/>
          </a:p>
        </p:txBody>
      </p:sp>
      <p:sp>
        <p:nvSpPr>
          <p:cNvPr id="60" name="Text 57"/>
          <p:cNvSpPr/>
          <p:nvPr/>
        </p:nvSpPr>
        <p:spPr>
          <a:xfrm>
            <a:off x="7178040" y="3610051"/>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One risk only, ranked by damage times likelihood. A list of twelve risks gets ignored entirely.</a:t>
            </a:r>
            <a:endParaRPr lang="en-US" sz="1150" dirty="0"/>
          </a:p>
        </p:txBody>
      </p:sp>
      <p:sp>
        <p:nvSpPr>
          <p:cNvPr id="61" name="Shape 58"/>
          <p:cNvSpPr/>
          <p:nvPr/>
        </p:nvSpPr>
        <p:spPr>
          <a:xfrm>
            <a:off x="4572000" y="4246474"/>
            <a:ext cx="7116775" cy="563270"/>
          </a:xfrm>
          <a:prstGeom prst="roundRect">
            <a:avLst>
              <a:gd name="adj" fmla="val 12987"/>
            </a:avLst>
          </a:prstGeom>
          <a:solidFill>
            <a:srgbClr val="F6F5F8"/>
          </a:solidFill>
          <a:ln/>
        </p:spPr>
        <p:txBody>
          <a:bodyPr/>
          <a:lstStyle/>
          <a:p>
            <a:endParaRPr/>
          </a:p>
        </p:txBody>
      </p:sp>
      <p:sp>
        <p:nvSpPr>
          <p:cNvPr id="62" name="Shape 59"/>
          <p:cNvSpPr/>
          <p:nvPr/>
        </p:nvSpPr>
        <p:spPr>
          <a:xfrm>
            <a:off x="4572000" y="4246474"/>
            <a:ext cx="82296" cy="563270"/>
          </a:xfrm>
          <a:prstGeom prst="rect">
            <a:avLst/>
          </a:prstGeom>
          <a:solidFill>
            <a:srgbClr val="E76F30"/>
          </a:solidFill>
          <a:ln/>
        </p:spPr>
        <p:txBody>
          <a:bodyPr/>
          <a:lstStyle/>
          <a:p>
            <a:endParaRPr/>
          </a:p>
        </p:txBody>
      </p:sp>
      <p:sp>
        <p:nvSpPr>
          <p:cNvPr id="63" name="Text 60"/>
          <p:cNvSpPr/>
          <p:nvPr/>
        </p:nvSpPr>
        <p:spPr>
          <a:xfrm>
            <a:off x="4773168" y="4273906"/>
            <a:ext cx="2331720" cy="508406"/>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Agreed next action + ADR</a:t>
            </a:r>
            <a:endParaRPr lang="en-US" sz="1200" dirty="0"/>
          </a:p>
        </p:txBody>
      </p:sp>
      <p:sp>
        <p:nvSpPr>
          <p:cNvPr id="64" name="Text 61"/>
          <p:cNvSpPr/>
          <p:nvPr/>
        </p:nvSpPr>
        <p:spPr>
          <a:xfrm>
            <a:off x="7178040" y="4264762"/>
            <a:ext cx="4327855" cy="526694"/>
          </a:xfrm>
          <a:prstGeom prst="rect">
            <a:avLst/>
          </a:prstGeom>
          <a:noFill/>
          <a:ln/>
        </p:spPr>
        <p:txBody>
          <a:bodyPr wrap="square" rtlCol="0" anchor="ctr"/>
          <a:lstStyle/>
          <a:p>
            <a:pPr marL="0" indent="0">
              <a:lnSpc>
                <a:spcPct val="105000"/>
              </a:lnSpc>
              <a:buNone/>
            </a:pPr>
            <a:r>
              <a:rPr lang="en-US" sz="1150" dirty="0">
                <a:solidFill>
                  <a:srgbClr val="24162A"/>
                </a:solidFill>
                <a:latin typeface="Segoe UI" pitchFamily="34" charset="0"/>
                <a:ea typeface="Segoe UI" pitchFamily="34" charset="-122"/>
                <a:cs typeface="Segoe UI" pitchFamily="34" charset="-120"/>
              </a:rPr>
              <a:t>What changes this afternoon, who owns it, and which ADR number records it.</a:t>
            </a:r>
            <a:endParaRPr lang="en-US" sz="1150" dirty="0"/>
          </a:p>
        </p:txBody>
      </p:sp>
      <p:sp>
        <p:nvSpPr>
          <p:cNvPr id="65" name="Shape 62"/>
          <p:cNvSpPr/>
          <p:nvPr/>
        </p:nvSpPr>
        <p:spPr>
          <a:xfrm>
            <a:off x="502920" y="5047488"/>
            <a:ext cx="11185855" cy="676656"/>
          </a:xfrm>
          <a:prstGeom prst="roundRect">
            <a:avLst>
              <a:gd name="adj" fmla="val 12162"/>
            </a:avLst>
          </a:prstGeom>
          <a:solidFill>
            <a:srgbClr val="E1F5EC"/>
          </a:solidFill>
          <a:ln/>
        </p:spPr>
        <p:txBody>
          <a:bodyPr/>
          <a:lstStyle/>
          <a:p>
            <a:endParaRPr/>
          </a:p>
        </p:txBody>
      </p:sp>
      <p:sp>
        <p:nvSpPr>
          <p:cNvPr id="66" name="Shape 63"/>
          <p:cNvSpPr/>
          <p:nvPr/>
        </p:nvSpPr>
        <p:spPr>
          <a:xfrm>
            <a:off x="502920" y="5047488"/>
            <a:ext cx="100584" cy="676656"/>
          </a:xfrm>
          <a:prstGeom prst="rect">
            <a:avLst/>
          </a:prstGeom>
          <a:solidFill>
            <a:srgbClr val="1F8F65"/>
          </a:solidFill>
          <a:ln/>
        </p:spPr>
        <p:txBody>
          <a:bodyPr/>
          <a:lstStyle/>
          <a:p>
            <a:endParaRPr/>
          </a:p>
        </p:txBody>
      </p:sp>
      <p:sp>
        <p:nvSpPr>
          <p:cNvPr id="67" name="Text 64"/>
          <p:cNvSpPr/>
          <p:nvPr/>
        </p:nvSpPr>
        <p:spPr>
          <a:xfrm>
            <a:off x="740664" y="5047488"/>
            <a:ext cx="10783519" cy="676656"/>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A total score of zero on Enforcement is normal on Day 5 and completely fine. A score of zero on Reversibility is a red flag you must discuss.</a:t>
            </a:r>
            <a:endParaRPr lang="en-US" sz="1250" dirty="0"/>
          </a:p>
        </p:txBody>
      </p:sp>
      <p:sp>
        <p:nvSpPr>
          <p:cNvPr id="68" name="Shape 65"/>
          <p:cNvSpPr/>
          <p:nvPr/>
        </p:nvSpPr>
        <p:spPr>
          <a:xfrm>
            <a:off x="502920" y="5925312"/>
            <a:ext cx="54864" cy="201168"/>
          </a:xfrm>
          <a:prstGeom prst="rect">
            <a:avLst/>
          </a:prstGeom>
          <a:solidFill>
            <a:srgbClr val="43BFB8"/>
          </a:solidFill>
          <a:ln/>
        </p:spPr>
        <p:txBody>
          <a:bodyPr/>
          <a:lstStyle/>
          <a:p>
            <a:endParaRPr/>
          </a:p>
        </p:txBody>
      </p:sp>
      <p:sp>
        <p:nvSpPr>
          <p:cNvPr id="69" name="Text 66"/>
          <p:cNvSpPr/>
          <p:nvPr/>
        </p:nvSpPr>
        <p:spPr>
          <a:xfrm>
            <a:off x="667512" y="5833872"/>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ATAM, SEI Carnegie Mellon  ·  “Lightweight Architecture Decision Records” for capturing the outcome.</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Capstone    design and defend Northline</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Use the artefacts from all five days. A stranger must be able to start slice one.</a:t>
            </a:r>
            <a:endParaRPr lang="en-US" sz="1300" dirty="0"/>
          </a:p>
        </p:txBody>
      </p:sp>
      <p:sp>
        <p:nvSpPr>
          <p:cNvPr id="27" name="Shape 25"/>
          <p:cNvSpPr/>
          <p:nvPr/>
        </p:nvSpPr>
        <p:spPr>
          <a:xfrm>
            <a:off x="9585655" y="256032"/>
            <a:ext cx="2148840" cy="347472"/>
          </a:xfrm>
          <a:prstGeom prst="roundRect">
            <a:avLst>
              <a:gd name="adj" fmla="val 50000"/>
            </a:avLst>
          </a:prstGeom>
          <a:solidFill>
            <a:srgbClr val="5F1B3C"/>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3  PRACTICE</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109</a:t>
            </a:r>
            <a:endParaRPr lang="en-US" sz="1000" dirty="0"/>
          </a:p>
        </p:txBody>
      </p:sp>
      <p:sp>
        <p:nvSpPr>
          <p:cNvPr id="36" name="Text 33"/>
          <p:cNvSpPr/>
          <p:nvPr/>
        </p:nvSpPr>
        <p:spPr>
          <a:xfrm>
            <a:off x="502920" y="1280160"/>
            <a:ext cx="5806440" cy="274320"/>
          </a:xfrm>
          <a:prstGeom prst="rect">
            <a:avLst/>
          </a:prstGeom>
          <a:noFill/>
          <a:ln/>
        </p:spPr>
        <p:txBody>
          <a:bodyPr wrap="square" rtlCol="0" anchor="ctr"/>
          <a:lstStyle/>
          <a:p>
            <a:pPr marL="0" indent="0">
              <a:buNone/>
            </a:pPr>
            <a:r>
              <a:rPr lang="en-US" sz="1200" b="1" dirty="0">
                <a:solidFill>
                  <a:srgbClr val="5F1B3C"/>
                </a:solidFill>
                <a:latin typeface="Segoe UI" pitchFamily="34" charset="0"/>
                <a:ea typeface="Segoe UI" pitchFamily="34" charset="-122"/>
                <a:cs typeface="Segoe UI" pitchFamily="34" charset="-120"/>
              </a:rPr>
              <a:t>How to apply it  (do this now)</a:t>
            </a:r>
            <a:endParaRPr lang="en-US" sz="1200" dirty="0"/>
          </a:p>
        </p:txBody>
      </p:sp>
      <p:sp>
        <p:nvSpPr>
          <p:cNvPr id="37" name="Shape 34"/>
          <p:cNvSpPr/>
          <p:nvPr/>
        </p:nvSpPr>
        <p:spPr>
          <a:xfrm>
            <a:off x="502920" y="1682496"/>
            <a:ext cx="329184" cy="329184"/>
          </a:xfrm>
          <a:prstGeom prst="ellipse">
            <a:avLst/>
          </a:prstGeom>
          <a:solidFill>
            <a:srgbClr val="5F1B3C"/>
          </a:solidFill>
          <a:ln/>
        </p:spPr>
        <p:txBody>
          <a:bodyPr/>
          <a:lstStyle/>
          <a:p>
            <a:endParaRPr/>
          </a:p>
        </p:txBody>
      </p:sp>
      <p:sp>
        <p:nvSpPr>
          <p:cNvPr id="38" name="Text 35"/>
          <p:cNvSpPr/>
          <p:nvPr/>
        </p:nvSpPr>
        <p:spPr>
          <a:xfrm>
            <a:off x="502920" y="1682496"/>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39" name="Text 36"/>
          <p:cNvSpPr/>
          <p:nvPr/>
        </p:nvSpPr>
        <p:spPr>
          <a:xfrm>
            <a:off x="941832" y="1627632"/>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Understand pack  (Day 1)</a:t>
            </a:r>
            <a:endParaRPr lang="en-US" sz="1300" dirty="0"/>
          </a:p>
        </p:txBody>
      </p:sp>
      <p:sp>
        <p:nvSpPr>
          <p:cNvPr id="40" name="Text 37"/>
          <p:cNvSpPr/>
          <p:nvPr/>
        </p:nvSpPr>
        <p:spPr>
          <a:xfrm>
            <a:off x="941832" y="1883664"/>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C1 context diagram, stakeholder-to-view table, ADR-001 with its cost.</a:t>
            </a:r>
            <a:endParaRPr lang="en-US" sz="1250" dirty="0"/>
          </a:p>
        </p:txBody>
      </p:sp>
      <p:sp>
        <p:nvSpPr>
          <p:cNvPr id="41" name="Shape 38"/>
          <p:cNvSpPr/>
          <p:nvPr/>
        </p:nvSpPr>
        <p:spPr>
          <a:xfrm>
            <a:off x="502920" y="2450592"/>
            <a:ext cx="329184" cy="329184"/>
          </a:xfrm>
          <a:prstGeom prst="ellipse">
            <a:avLst/>
          </a:prstGeom>
          <a:solidFill>
            <a:srgbClr val="5F1B3C"/>
          </a:solidFill>
          <a:ln/>
        </p:spPr>
        <p:txBody>
          <a:bodyPr/>
          <a:lstStyle/>
          <a:p>
            <a:endParaRPr/>
          </a:p>
        </p:txBody>
      </p:sp>
      <p:sp>
        <p:nvSpPr>
          <p:cNvPr id="42" name="Text 39"/>
          <p:cNvSpPr/>
          <p:nvPr/>
        </p:nvSpPr>
        <p:spPr>
          <a:xfrm>
            <a:off x="502920" y="2450592"/>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43" name="Text 40"/>
          <p:cNvSpPr/>
          <p:nvPr/>
        </p:nvSpPr>
        <p:spPr>
          <a:xfrm>
            <a:off x="941832" y="2395728"/>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Design pack  (Day 2)</a:t>
            </a:r>
            <a:endParaRPr lang="en-US" sz="1300" dirty="0"/>
          </a:p>
        </p:txBody>
      </p:sp>
      <p:sp>
        <p:nvSpPr>
          <p:cNvPr id="44" name="Text 41"/>
          <p:cNvSpPr/>
          <p:nvPr/>
        </p:nvSpPr>
        <p:spPr>
          <a:xfrm>
            <a:off x="941832" y="2651760"/>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Two bounded contexts, the context map, the ranked split with slice one named.</a:t>
            </a:r>
            <a:endParaRPr lang="en-US" sz="1250" dirty="0"/>
          </a:p>
        </p:txBody>
      </p:sp>
      <p:sp>
        <p:nvSpPr>
          <p:cNvPr id="45" name="Shape 42"/>
          <p:cNvSpPr/>
          <p:nvPr/>
        </p:nvSpPr>
        <p:spPr>
          <a:xfrm>
            <a:off x="502920" y="3218688"/>
            <a:ext cx="329184" cy="329184"/>
          </a:xfrm>
          <a:prstGeom prst="ellipse">
            <a:avLst/>
          </a:prstGeom>
          <a:solidFill>
            <a:srgbClr val="5F1B3C"/>
          </a:solidFill>
          <a:ln/>
        </p:spPr>
        <p:txBody>
          <a:bodyPr/>
          <a:lstStyle/>
          <a:p>
            <a:endParaRPr/>
          </a:p>
        </p:txBody>
      </p:sp>
      <p:sp>
        <p:nvSpPr>
          <p:cNvPr id="46" name="Text 43"/>
          <p:cNvSpPr/>
          <p:nvPr/>
        </p:nvSpPr>
        <p:spPr>
          <a:xfrm>
            <a:off x="502920" y="3218688"/>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47" name="Text 44"/>
          <p:cNvSpPr/>
          <p:nvPr/>
        </p:nvSpPr>
        <p:spPr>
          <a:xfrm>
            <a:off x="941832" y="3163824"/>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Connect and scale pack  (Days 3–4)</a:t>
            </a:r>
            <a:endParaRPr lang="en-US" sz="1300" dirty="0"/>
          </a:p>
        </p:txBody>
      </p:sp>
      <p:sp>
        <p:nvSpPr>
          <p:cNvPr id="48" name="Text 45"/>
          <p:cNvSpPr/>
          <p:nvPr/>
        </p:nvSpPr>
        <p:spPr>
          <a:xfrm>
            <a:off x="941832" y="3419856"/>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One OpenAPI path, one event schema, one SLO with a stop rule.</a:t>
            </a:r>
            <a:endParaRPr lang="en-US" sz="1250" dirty="0"/>
          </a:p>
        </p:txBody>
      </p:sp>
      <p:sp>
        <p:nvSpPr>
          <p:cNvPr id="49" name="Shape 46"/>
          <p:cNvSpPr/>
          <p:nvPr/>
        </p:nvSpPr>
        <p:spPr>
          <a:xfrm>
            <a:off x="502920" y="3986784"/>
            <a:ext cx="329184" cy="329184"/>
          </a:xfrm>
          <a:prstGeom prst="ellipse">
            <a:avLst/>
          </a:prstGeom>
          <a:solidFill>
            <a:srgbClr val="5F1B3C"/>
          </a:solidFill>
          <a:ln/>
        </p:spPr>
        <p:txBody>
          <a:bodyPr/>
          <a:lstStyle/>
          <a:p>
            <a:endParaRPr/>
          </a:p>
        </p:txBody>
      </p:sp>
      <p:sp>
        <p:nvSpPr>
          <p:cNvPr id="50" name="Text 47"/>
          <p:cNvSpPr/>
          <p:nvPr/>
        </p:nvSpPr>
        <p:spPr>
          <a:xfrm>
            <a:off x="502920" y="3986784"/>
            <a:ext cx="329184" cy="329184"/>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51" name="Text 48"/>
          <p:cNvSpPr/>
          <p:nvPr/>
        </p:nvSpPr>
        <p:spPr>
          <a:xfrm>
            <a:off x="941832" y="3931920"/>
            <a:ext cx="5367528" cy="256032"/>
          </a:xfrm>
          <a:prstGeom prst="rect">
            <a:avLst/>
          </a:prstGeom>
          <a:noFill/>
          <a:ln/>
        </p:spPr>
        <p:txBody>
          <a:bodyPr wrap="square" rtlCol="0" anchor="ctr"/>
          <a:lstStyle/>
          <a:p>
            <a:pPr marL="0" indent="0">
              <a:buNone/>
            </a:pPr>
            <a:r>
              <a:rPr lang="en-US" sz="1300" b="1" dirty="0">
                <a:solidFill>
                  <a:srgbClr val="5F1B3C"/>
                </a:solidFill>
                <a:latin typeface="Segoe UI" pitchFamily="34" charset="0"/>
                <a:ea typeface="Segoe UI" pitchFamily="34" charset="-122"/>
                <a:cs typeface="Segoe UI" pitchFamily="34" charset="-120"/>
              </a:rPr>
              <a:t>Modernise pack  (Day 5)</a:t>
            </a:r>
            <a:endParaRPr lang="en-US" sz="1300" dirty="0"/>
          </a:p>
        </p:txBody>
      </p:sp>
      <p:sp>
        <p:nvSpPr>
          <p:cNvPr id="52" name="Text 49"/>
          <p:cNvSpPr/>
          <p:nvPr/>
        </p:nvSpPr>
        <p:spPr>
          <a:xfrm>
            <a:off x="941832" y="4187952"/>
            <a:ext cx="5367528" cy="475488"/>
          </a:xfrm>
          <a:prstGeom prst="rect">
            <a:avLst/>
          </a:prstGeom>
          <a:noFill/>
          <a:ln/>
        </p:spPr>
        <p:txBody>
          <a:bodyPr wrap="square" rtlCol="0" anchor="t"/>
          <a:lstStyle/>
          <a:p>
            <a:pPr marL="0" indent="0">
              <a:lnSpc>
                <a:spcPct val="105000"/>
              </a:lnSpc>
              <a:buNone/>
            </a:pPr>
            <a:r>
              <a:rPr lang="en-US" sz="1250" dirty="0">
                <a:solidFill>
                  <a:srgbClr val="3D3348"/>
                </a:solidFill>
                <a:latin typeface="Segoe UI" pitchFamily="34" charset="0"/>
                <a:ea typeface="Segoe UI" pitchFamily="34" charset="-122"/>
                <a:cs typeface="Segoe UI" pitchFamily="34" charset="-120"/>
              </a:rPr>
              <a:t>Slice one card, the anti-corruption layer, one fitness function, the undo sentence.</a:t>
            </a:r>
            <a:endParaRPr lang="en-US" sz="1250" dirty="0"/>
          </a:p>
        </p:txBody>
      </p:sp>
      <p:sp>
        <p:nvSpPr>
          <p:cNvPr id="53" name="Shape 50"/>
          <p:cNvSpPr/>
          <p:nvPr/>
        </p:nvSpPr>
        <p:spPr>
          <a:xfrm>
            <a:off x="6510528" y="1280160"/>
            <a:ext cx="5178247" cy="3291840"/>
          </a:xfrm>
          <a:prstGeom prst="roundRect">
            <a:avLst>
              <a:gd name="adj" fmla="val 2778"/>
            </a:avLst>
          </a:prstGeom>
          <a:solidFill>
            <a:srgbClr val="0F1A2E"/>
          </a:solidFill>
          <a:ln/>
        </p:spPr>
        <p:txBody>
          <a:bodyPr/>
          <a:lstStyle/>
          <a:p>
            <a:endParaRPr/>
          </a:p>
        </p:txBody>
      </p:sp>
      <p:sp>
        <p:nvSpPr>
          <p:cNvPr id="54" name="Text 51"/>
          <p:cNvSpPr/>
          <p:nvPr/>
        </p:nvSpPr>
        <p:spPr>
          <a:xfrm>
            <a:off x="6675120" y="1371600"/>
            <a:ext cx="4849063" cy="274320"/>
          </a:xfrm>
          <a:prstGeom prst="rect">
            <a:avLst/>
          </a:prstGeom>
          <a:noFill/>
          <a:ln/>
        </p:spPr>
        <p:txBody>
          <a:bodyPr wrap="square" rtlCol="0" anchor="ctr"/>
          <a:lstStyle/>
          <a:p>
            <a:pPr marL="0" indent="0">
              <a:buNone/>
            </a:pPr>
            <a:r>
              <a:rPr lang="en-US" sz="1100" b="1" kern="0" spc="80" dirty="0">
                <a:solidFill>
                  <a:srgbClr val="43BFB8"/>
                </a:solidFill>
                <a:latin typeface="Segoe UI" pitchFamily="34" charset="0"/>
                <a:ea typeface="Segoe UI" pitchFamily="34" charset="-122"/>
                <a:cs typeface="Segoe UI" pitchFamily="34" charset="-120"/>
              </a:rPr>
              <a:t>Done means</a:t>
            </a:r>
            <a:endParaRPr lang="en-US" sz="1100" dirty="0"/>
          </a:p>
        </p:txBody>
      </p:sp>
      <p:sp>
        <p:nvSpPr>
          <p:cNvPr id="55" name="Text 52"/>
          <p:cNvSpPr/>
          <p:nvPr/>
        </p:nvSpPr>
        <p:spPr>
          <a:xfrm>
            <a:off x="6675120" y="1700784"/>
            <a:ext cx="4849063" cy="2724912"/>
          </a:xfrm>
          <a:prstGeom prst="rect">
            <a:avLst/>
          </a:prstGeom>
          <a:noFill/>
          <a:ln/>
        </p:spPr>
        <p:txBody>
          <a:bodyPr wrap="square" rtlCol="0" anchor="t"/>
          <a:lstStyle/>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A new colleague opens the folder and can:</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1. draw the current world from your C1</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2. name slice one and its undo</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3. call the API from your contract</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4. subscribe to your event</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5. read the SLO and the stop rule</a:t>
            </a: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  6. run the fitness function</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...without asking you a single question.</a:t>
            </a:r>
            <a:endParaRPr lang="en-US" sz="1200" dirty="0"/>
          </a:p>
          <a:p>
            <a:pPr marL="0" indent="0">
              <a:lnSpc>
                <a:spcPct val="112000"/>
              </a:lnSpc>
              <a:buNone/>
            </a:pPr>
            <a:endParaRPr lang="en-US" sz="1200" dirty="0"/>
          </a:p>
          <a:p>
            <a:pPr marL="0" indent="0">
              <a:lnSpc>
                <a:spcPct val="112000"/>
              </a:lnSpc>
              <a:buNone/>
            </a:pPr>
            <a:r>
              <a:rPr lang="en-US" sz="1200" dirty="0">
                <a:solidFill>
                  <a:srgbClr val="7EE7B3"/>
                </a:solidFill>
                <a:latin typeface="Consolas" pitchFamily="34" charset="0"/>
                <a:ea typeface="Consolas" pitchFamily="34" charset="-122"/>
                <a:cs typeface="Consolas" pitchFamily="34" charset="-120"/>
              </a:rPr>
              <a:t>That is the pass mark.</a:t>
            </a:r>
            <a:endParaRPr lang="en-US" sz="1200" dirty="0"/>
          </a:p>
        </p:txBody>
      </p:sp>
      <p:sp>
        <p:nvSpPr>
          <p:cNvPr id="56" name="Shape 53"/>
          <p:cNvSpPr/>
          <p:nvPr/>
        </p:nvSpPr>
        <p:spPr>
          <a:xfrm>
            <a:off x="502920" y="4791456"/>
            <a:ext cx="5369210" cy="1024128"/>
          </a:xfrm>
          <a:prstGeom prst="roundRect">
            <a:avLst>
              <a:gd name="adj" fmla="val 8929"/>
            </a:avLst>
          </a:prstGeom>
          <a:solidFill>
            <a:srgbClr val="E4F5F3"/>
          </a:solidFill>
          <a:ln/>
        </p:spPr>
        <p:txBody>
          <a:bodyPr/>
          <a:lstStyle/>
          <a:p>
            <a:endParaRPr/>
          </a:p>
        </p:txBody>
      </p:sp>
      <p:sp>
        <p:nvSpPr>
          <p:cNvPr id="57" name="Text 54"/>
          <p:cNvSpPr/>
          <p:nvPr/>
        </p:nvSpPr>
        <p:spPr>
          <a:xfrm>
            <a:off x="649224" y="4864608"/>
            <a:ext cx="5076602" cy="219456"/>
          </a:xfrm>
          <a:prstGeom prst="rect">
            <a:avLst/>
          </a:prstGeom>
          <a:noFill/>
          <a:ln/>
        </p:spPr>
        <p:txBody>
          <a:bodyPr wrap="square" rtlCol="0" anchor="ctr"/>
          <a:lstStyle/>
          <a:p>
            <a:pPr marL="0" indent="0">
              <a:buNone/>
            </a:pPr>
            <a:r>
              <a:rPr lang="en-US" sz="1000" b="1" kern="0" spc="120" dirty="0">
                <a:solidFill>
                  <a:srgbClr val="2F9992"/>
                </a:solidFill>
                <a:latin typeface="Segoe UI" pitchFamily="34" charset="0"/>
                <a:ea typeface="Segoe UI" pitchFamily="34" charset="-122"/>
                <a:cs typeface="Segoe UI" pitchFamily="34" charset="-120"/>
              </a:rPr>
              <a:t>EXPECTED RESULT</a:t>
            </a:r>
            <a:endParaRPr lang="en-US" sz="1000" dirty="0"/>
          </a:p>
        </p:txBody>
      </p:sp>
      <p:sp>
        <p:nvSpPr>
          <p:cNvPr id="58" name="Text 55"/>
          <p:cNvSpPr/>
          <p:nvPr/>
        </p:nvSpPr>
        <p:spPr>
          <a:xfrm>
            <a:off x="649224" y="5102352"/>
            <a:ext cx="5076602"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One folder with the nine artefacts, scored with the scorecard, and the weakest area named by the group itself.</a:t>
            </a:r>
            <a:endParaRPr lang="en-US" sz="1200" dirty="0"/>
          </a:p>
        </p:txBody>
      </p:sp>
      <p:sp>
        <p:nvSpPr>
          <p:cNvPr id="59" name="Shape 56"/>
          <p:cNvSpPr/>
          <p:nvPr/>
        </p:nvSpPr>
        <p:spPr>
          <a:xfrm>
            <a:off x="6095848" y="4791456"/>
            <a:ext cx="5592928" cy="1024128"/>
          </a:xfrm>
          <a:prstGeom prst="roundRect">
            <a:avLst>
              <a:gd name="adj" fmla="val 8929"/>
            </a:avLst>
          </a:prstGeom>
          <a:solidFill>
            <a:srgbClr val="E1F5EC"/>
          </a:solidFill>
          <a:ln/>
        </p:spPr>
        <p:txBody>
          <a:bodyPr/>
          <a:lstStyle/>
          <a:p>
            <a:endParaRPr/>
          </a:p>
        </p:txBody>
      </p:sp>
      <p:sp>
        <p:nvSpPr>
          <p:cNvPr id="60" name="Text 57"/>
          <p:cNvSpPr/>
          <p:nvPr/>
        </p:nvSpPr>
        <p:spPr>
          <a:xfrm>
            <a:off x="6242152" y="4864608"/>
            <a:ext cx="5300320" cy="219456"/>
          </a:xfrm>
          <a:prstGeom prst="rect">
            <a:avLst/>
          </a:prstGeom>
          <a:noFill/>
          <a:ln/>
        </p:spPr>
        <p:txBody>
          <a:bodyPr wrap="square" rtlCol="0" anchor="ctr"/>
          <a:lstStyle/>
          <a:p>
            <a:pPr marL="0" indent="0">
              <a:buNone/>
            </a:pPr>
            <a:r>
              <a:rPr lang="en-US" sz="1000" b="1" kern="0" spc="80" dirty="0">
                <a:solidFill>
                  <a:srgbClr val="1F8F65"/>
                </a:solidFill>
                <a:latin typeface="Segoe UI" pitchFamily="34" charset="0"/>
                <a:ea typeface="Segoe UI" pitchFamily="34" charset="-122"/>
                <a:cs typeface="Segoe UI" pitchFamily="34" charset="-120"/>
              </a:rPr>
              <a:t>MODEL ANSWER  +  BEST PRACTICE</a:t>
            </a:r>
            <a:endParaRPr lang="en-US" sz="1000" dirty="0"/>
          </a:p>
        </p:txBody>
      </p:sp>
      <p:sp>
        <p:nvSpPr>
          <p:cNvPr id="61" name="Text 58"/>
          <p:cNvSpPr/>
          <p:nvPr/>
        </p:nvSpPr>
        <p:spPr>
          <a:xfrm>
            <a:off x="6242152" y="5102352"/>
            <a:ext cx="5300320" cy="640080"/>
          </a:xfrm>
          <a:prstGeom prst="rect">
            <a:avLst/>
          </a:prstGeom>
          <a:noFill/>
          <a:ln/>
        </p:spPr>
        <p:txBody>
          <a:bodyPr wrap="square" rtlCol="0" anchor="t"/>
          <a:lstStyle/>
          <a:p>
            <a:pPr marL="0" indent="0">
              <a:buNone/>
            </a:pPr>
            <a:r>
              <a:rPr lang="en-US" sz="1200" dirty="0">
                <a:solidFill>
                  <a:srgbClr val="24162A"/>
                </a:solidFill>
                <a:latin typeface="Segoe UI" pitchFamily="34" charset="0"/>
                <a:ea typeface="Segoe UI" pitchFamily="34" charset="-122"/>
                <a:cs typeface="Segoe UI" pitchFamily="34" charset="-120"/>
              </a:rPr>
              <a:t>Evidence over opinion. Best practice: if a stranger needs you in the room to begin, the pack is not finished.</a:t>
            </a:r>
            <a:endParaRPr lang="en-US" sz="1200" dirty="0"/>
          </a:p>
        </p:txBody>
      </p:sp>
      <p:sp>
        <p:nvSpPr>
          <p:cNvPr id="62" name="Shape 59"/>
          <p:cNvSpPr/>
          <p:nvPr/>
        </p:nvSpPr>
        <p:spPr>
          <a:xfrm>
            <a:off x="502920" y="5961888"/>
            <a:ext cx="54864" cy="201168"/>
          </a:xfrm>
          <a:prstGeom prst="rect">
            <a:avLst/>
          </a:prstGeom>
          <a:solidFill>
            <a:srgbClr val="43BFB8"/>
          </a:solidFill>
          <a:ln/>
        </p:spPr>
        <p:txBody>
          <a:bodyPr/>
          <a:lstStyle/>
          <a:p>
            <a:endParaRPr/>
          </a:p>
        </p:txBody>
      </p:sp>
      <p:sp>
        <p:nvSpPr>
          <p:cNvPr id="63" name="Text 60"/>
          <p:cNvSpPr/>
          <p:nvPr/>
        </p:nvSpPr>
        <p:spPr>
          <a:xfrm>
            <a:off x="667512" y="587044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ATAM / SEI review method  ·  ISO/IEC/IEEE 42010 for the documentation set.</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How to run the critique  (30 minutes)</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picture. Attack the design. Never the designer.</a:t>
            </a:r>
            <a:endParaRPr lang="en-US" sz="1300" dirty="0"/>
          </a:p>
        </p:txBody>
      </p:sp>
      <p:sp>
        <p:nvSpPr>
          <p:cNvPr id="27" name="Shape 25"/>
          <p:cNvSpPr/>
          <p:nvPr/>
        </p:nvSpPr>
        <p:spPr>
          <a:xfrm>
            <a:off x="9585655" y="256032"/>
            <a:ext cx="2148840" cy="347472"/>
          </a:xfrm>
          <a:prstGeom prst="roundRect">
            <a:avLst>
              <a:gd name="adj" fmla="val 50000"/>
            </a:avLst>
          </a:prstGeom>
          <a:solidFill>
            <a:srgbClr val="43BFB8"/>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1  THEORY</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110</a:t>
            </a:r>
            <a:endParaRPr lang="en-US" sz="1000" dirty="0"/>
          </a:p>
        </p:txBody>
      </p:sp>
      <p:sp>
        <p:nvSpPr>
          <p:cNvPr id="36" name="Shape 33"/>
          <p:cNvSpPr/>
          <p:nvPr/>
        </p:nvSpPr>
        <p:spPr>
          <a:xfrm>
            <a:off x="502920" y="1316736"/>
            <a:ext cx="2439848" cy="3127248"/>
          </a:xfrm>
          <a:prstGeom prst="roundRect">
            <a:avLst>
              <a:gd name="adj" fmla="val 4497"/>
            </a:avLst>
          </a:prstGeom>
          <a:solidFill>
            <a:srgbClr val="FFFFFF"/>
          </a:solidFill>
          <a:ln w="19050">
            <a:solidFill>
              <a:srgbClr val="43BFB8"/>
            </a:solidFill>
            <a:prstDash val="solid"/>
          </a:ln>
          <a:effectLst>
            <a:outerShdw blurRad="76200" dist="25400" dir="5400000" algn="bl" rotWithShape="0">
              <a:srgbClr val="1F1F1F">
                <a:alpha val="8000"/>
              </a:srgbClr>
            </a:outerShdw>
          </a:effectLst>
        </p:spPr>
        <p:txBody>
          <a:bodyPr/>
          <a:lstStyle/>
          <a:p>
            <a:endParaRPr/>
          </a:p>
        </p:txBody>
      </p:sp>
      <p:sp>
        <p:nvSpPr>
          <p:cNvPr id="37" name="Shape 34"/>
          <p:cNvSpPr/>
          <p:nvPr/>
        </p:nvSpPr>
        <p:spPr>
          <a:xfrm>
            <a:off x="502920" y="1316736"/>
            <a:ext cx="2439848" cy="118872"/>
          </a:xfrm>
          <a:prstGeom prst="rect">
            <a:avLst/>
          </a:prstGeom>
          <a:solidFill>
            <a:srgbClr val="43BFB8"/>
          </a:solidFill>
          <a:ln/>
        </p:spPr>
        <p:txBody>
          <a:bodyPr/>
          <a:lstStyle/>
          <a:p>
            <a:endParaRPr/>
          </a:p>
        </p:txBody>
      </p:sp>
      <p:sp>
        <p:nvSpPr>
          <p:cNvPr id="38" name="Shape 35"/>
          <p:cNvSpPr/>
          <p:nvPr/>
        </p:nvSpPr>
        <p:spPr>
          <a:xfrm>
            <a:off x="1448524" y="1627632"/>
            <a:ext cx="548640" cy="548640"/>
          </a:xfrm>
          <a:prstGeom prst="ellipse">
            <a:avLst/>
          </a:prstGeom>
          <a:solidFill>
            <a:srgbClr val="43BFB8"/>
          </a:solidFill>
          <a:ln/>
        </p:spPr>
        <p:txBody>
          <a:bodyPr/>
          <a:lstStyle/>
          <a:p>
            <a:endParaRPr/>
          </a:p>
        </p:txBody>
      </p:sp>
      <p:sp>
        <p:nvSpPr>
          <p:cNvPr id="39" name="Text 36"/>
          <p:cNvSpPr/>
          <p:nvPr/>
        </p:nvSpPr>
        <p:spPr>
          <a:xfrm>
            <a:off x="1448524"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0" name="Text 37"/>
          <p:cNvSpPr/>
          <p:nvPr/>
        </p:nvSpPr>
        <p:spPr>
          <a:xfrm>
            <a:off x="649224"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Pick a scenario</a:t>
            </a:r>
            <a:endParaRPr lang="en-US" sz="1500" dirty="0"/>
          </a:p>
        </p:txBody>
      </p:sp>
      <p:sp>
        <p:nvSpPr>
          <p:cNvPr id="41" name="Text 38"/>
          <p:cNvSpPr/>
          <p:nvPr/>
        </p:nvSpPr>
        <p:spPr>
          <a:xfrm>
            <a:off x="667512"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Sale day, a courier outage, or a leaked secret. One concrete scenario, not “what if it breaks”.</a:t>
            </a:r>
            <a:endParaRPr lang="en-US" sz="1250" dirty="0"/>
          </a:p>
        </p:txBody>
      </p:sp>
      <p:sp>
        <p:nvSpPr>
          <p:cNvPr id="42" name="Shape 39"/>
          <p:cNvSpPr/>
          <p:nvPr/>
        </p:nvSpPr>
        <p:spPr>
          <a:xfrm>
            <a:off x="2997632" y="2706624"/>
            <a:ext cx="365760" cy="347472"/>
          </a:xfrm>
          <a:prstGeom prst="chevron">
            <a:avLst/>
          </a:prstGeom>
          <a:solidFill>
            <a:srgbClr val="E3E0E8"/>
          </a:solidFill>
          <a:ln/>
        </p:spPr>
        <p:txBody>
          <a:bodyPr/>
          <a:lstStyle/>
          <a:p>
            <a:endParaRPr/>
          </a:p>
        </p:txBody>
      </p:sp>
      <p:sp>
        <p:nvSpPr>
          <p:cNvPr id="43" name="Shape 40"/>
          <p:cNvSpPr/>
          <p:nvPr/>
        </p:nvSpPr>
        <p:spPr>
          <a:xfrm>
            <a:off x="3418256" y="1316736"/>
            <a:ext cx="2439848" cy="3127248"/>
          </a:xfrm>
          <a:prstGeom prst="roundRect">
            <a:avLst>
              <a:gd name="adj" fmla="val 4497"/>
            </a:avLst>
          </a:prstGeom>
          <a:solidFill>
            <a:srgbClr val="FFFFFF"/>
          </a:solidFill>
          <a:ln w="19050">
            <a:solidFill>
              <a:srgbClr val="4A7DE0"/>
            </a:solidFill>
            <a:prstDash val="solid"/>
          </a:ln>
          <a:effectLst>
            <a:outerShdw blurRad="76200" dist="25400" dir="5400000" algn="bl" rotWithShape="0">
              <a:srgbClr val="1F1F1F">
                <a:alpha val="8000"/>
              </a:srgbClr>
            </a:outerShdw>
          </a:effectLst>
        </p:spPr>
        <p:txBody>
          <a:bodyPr/>
          <a:lstStyle/>
          <a:p>
            <a:endParaRPr/>
          </a:p>
        </p:txBody>
      </p:sp>
      <p:sp>
        <p:nvSpPr>
          <p:cNvPr id="44" name="Shape 41"/>
          <p:cNvSpPr/>
          <p:nvPr/>
        </p:nvSpPr>
        <p:spPr>
          <a:xfrm>
            <a:off x="3418256" y="1316736"/>
            <a:ext cx="2439848" cy="118872"/>
          </a:xfrm>
          <a:prstGeom prst="rect">
            <a:avLst/>
          </a:prstGeom>
          <a:solidFill>
            <a:srgbClr val="4A7DE0"/>
          </a:solidFill>
          <a:ln/>
        </p:spPr>
        <p:txBody>
          <a:bodyPr/>
          <a:lstStyle/>
          <a:p>
            <a:endParaRPr/>
          </a:p>
        </p:txBody>
      </p:sp>
      <p:sp>
        <p:nvSpPr>
          <p:cNvPr id="45" name="Shape 42"/>
          <p:cNvSpPr/>
          <p:nvPr/>
        </p:nvSpPr>
        <p:spPr>
          <a:xfrm>
            <a:off x="4363860" y="1627632"/>
            <a:ext cx="548640" cy="548640"/>
          </a:xfrm>
          <a:prstGeom prst="ellipse">
            <a:avLst/>
          </a:prstGeom>
          <a:solidFill>
            <a:srgbClr val="4A7DE0"/>
          </a:solidFill>
          <a:ln/>
        </p:spPr>
        <p:txBody>
          <a:bodyPr/>
          <a:lstStyle/>
          <a:p>
            <a:endParaRPr/>
          </a:p>
        </p:txBody>
      </p:sp>
      <p:sp>
        <p:nvSpPr>
          <p:cNvPr id="46" name="Text 43"/>
          <p:cNvSpPr/>
          <p:nvPr/>
        </p:nvSpPr>
        <p:spPr>
          <a:xfrm>
            <a:off x="4363860"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7" name="Text 44"/>
          <p:cNvSpPr/>
          <p:nvPr/>
        </p:nvSpPr>
        <p:spPr>
          <a:xfrm>
            <a:off x="3564560"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Walk the path</a:t>
            </a:r>
            <a:endParaRPr lang="en-US" sz="1500" dirty="0"/>
          </a:p>
        </p:txBody>
      </p:sp>
      <p:sp>
        <p:nvSpPr>
          <p:cNvPr id="48" name="Text 45"/>
          <p:cNvSpPr/>
          <p:nvPr/>
        </p:nvSpPr>
        <p:spPr>
          <a:xfrm>
            <a:off x="3582848"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Trace one request through the design. Where does it first hurt?</a:t>
            </a:r>
            <a:endParaRPr lang="en-US" sz="1250" dirty="0"/>
          </a:p>
        </p:txBody>
      </p:sp>
      <p:sp>
        <p:nvSpPr>
          <p:cNvPr id="49" name="Shape 46"/>
          <p:cNvSpPr/>
          <p:nvPr/>
        </p:nvSpPr>
        <p:spPr>
          <a:xfrm>
            <a:off x="5912968" y="2706624"/>
            <a:ext cx="365760" cy="347472"/>
          </a:xfrm>
          <a:prstGeom prst="chevron">
            <a:avLst/>
          </a:prstGeom>
          <a:solidFill>
            <a:srgbClr val="E3E0E8"/>
          </a:solidFill>
          <a:ln/>
        </p:spPr>
        <p:txBody>
          <a:bodyPr/>
          <a:lstStyle/>
          <a:p>
            <a:endParaRPr/>
          </a:p>
        </p:txBody>
      </p:sp>
      <p:sp>
        <p:nvSpPr>
          <p:cNvPr id="50" name="Shape 47"/>
          <p:cNvSpPr/>
          <p:nvPr/>
        </p:nvSpPr>
        <p:spPr>
          <a:xfrm>
            <a:off x="6333592" y="1316736"/>
            <a:ext cx="2439848" cy="3127248"/>
          </a:xfrm>
          <a:prstGeom prst="roundRect">
            <a:avLst>
              <a:gd name="adj" fmla="val 4497"/>
            </a:avLst>
          </a:prstGeom>
          <a:solidFill>
            <a:srgbClr val="FFFFFF"/>
          </a:solidFill>
          <a:ln w="19050">
            <a:solidFill>
              <a:srgbClr val="E76F30"/>
            </a:solidFill>
            <a:prstDash val="solid"/>
          </a:ln>
          <a:effectLst>
            <a:outerShdw blurRad="76200" dist="25400" dir="5400000" algn="bl" rotWithShape="0">
              <a:srgbClr val="1F1F1F">
                <a:alpha val="8000"/>
              </a:srgbClr>
            </a:outerShdw>
          </a:effectLst>
        </p:spPr>
        <p:txBody>
          <a:bodyPr/>
          <a:lstStyle/>
          <a:p>
            <a:endParaRPr/>
          </a:p>
        </p:txBody>
      </p:sp>
      <p:sp>
        <p:nvSpPr>
          <p:cNvPr id="51" name="Shape 48"/>
          <p:cNvSpPr/>
          <p:nvPr/>
        </p:nvSpPr>
        <p:spPr>
          <a:xfrm>
            <a:off x="6333592" y="1316736"/>
            <a:ext cx="2439848" cy="118872"/>
          </a:xfrm>
          <a:prstGeom prst="rect">
            <a:avLst/>
          </a:prstGeom>
          <a:solidFill>
            <a:srgbClr val="E76F30"/>
          </a:solidFill>
          <a:ln/>
        </p:spPr>
        <p:txBody>
          <a:bodyPr/>
          <a:lstStyle/>
          <a:p>
            <a:endParaRPr/>
          </a:p>
        </p:txBody>
      </p:sp>
      <p:sp>
        <p:nvSpPr>
          <p:cNvPr id="52" name="Shape 49"/>
          <p:cNvSpPr/>
          <p:nvPr/>
        </p:nvSpPr>
        <p:spPr>
          <a:xfrm>
            <a:off x="7279195" y="1627632"/>
            <a:ext cx="548640" cy="548640"/>
          </a:xfrm>
          <a:prstGeom prst="ellipse">
            <a:avLst/>
          </a:prstGeom>
          <a:solidFill>
            <a:srgbClr val="E76F30"/>
          </a:solidFill>
          <a:ln/>
        </p:spPr>
        <p:txBody>
          <a:bodyPr/>
          <a:lstStyle/>
          <a:p>
            <a:endParaRPr/>
          </a:p>
        </p:txBody>
      </p:sp>
      <p:sp>
        <p:nvSpPr>
          <p:cNvPr id="53" name="Text 50"/>
          <p:cNvSpPr/>
          <p:nvPr/>
        </p:nvSpPr>
        <p:spPr>
          <a:xfrm>
            <a:off x="7279195"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54" name="Text 51"/>
          <p:cNvSpPr/>
          <p:nvPr/>
        </p:nvSpPr>
        <p:spPr>
          <a:xfrm>
            <a:off x="6479896"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Rank the risks</a:t>
            </a:r>
            <a:endParaRPr lang="en-US" sz="1500" dirty="0"/>
          </a:p>
        </p:txBody>
      </p:sp>
      <p:sp>
        <p:nvSpPr>
          <p:cNvPr id="55" name="Text 52"/>
          <p:cNvSpPr/>
          <p:nvPr/>
        </p:nvSpPr>
        <p:spPr>
          <a:xfrm>
            <a:off x="6498184"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Damage times likelihood. Fix only the top item in this room, today.</a:t>
            </a:r>
            <a:endParaRPr lang="en-US" sz="1250" dirty="0"/>
          </a:p>
        </p:txBody>
      </p:sp>
      <p:sp>
        <p:nvSpPr>
          <p:cNvPr id="56" name="Shape 53"/>
          <p:cNvSpPr/>
          <p:nvPr/>
        </p:nvSpPr>
        <p:spPr>
          <a:xfrm>
            <a:off x="8828303" y="2706624"/>
            <a:ext cx="365760" cy="347472"/>
          </a:xfrm>
          <a:prstGeom prst="chevron">
            <a:avLst/>
          </a:prstGeom>
          <a:solidFill>
            <a:srgbClr val="E3E0E8"/>
          </a:solidFill>
          <a:ln/>
        </p:spPr>
        <p:txBody>
          <a:bodyPr/>
          <a:lstStyle/>
          <a:p>
            <a:endParaRPr/>
          </a:p>
        </p:txBody>
      </p:sp>
      <p:sp>
        <p:nvSpPr>
          <p:cNvPr id="57" name="Shape 54"/>
          <p:cNvSpPr/>
          <p:nvPr/>
        </p:nvSpPr>
        <p:spPr>
          <a:xfrm>
            <a:off x="9248927" y="1316736"/>
            <a:ext cx="2439848" cy="3127248"/>
          </a:xfrm>
          <a:prstGeom prst="roundRect">
            <a:avLst>
              <a:gd name="adj" fmla="val 4497"/>
            </a:avLst>
          </a:prstGeom>
          <a:solidFill>
            <a:srgbClr val="FFFFFF"/>
          </a:solidFill>
          <a:ln w="19050">
            <a:solidFill>
              <a:srgbClr val="5F1B3C"/>
            </a:solidFill>
            <a:prstDash val="solid"/>
          </a:ln>
          <a:effectLst>
            <a:outerShdw blurRad="76200" dist="25400" dir="5400000" algn="bl" rotWithShape="0">
              <a:srgbClr val="1F1F1F">
                <a:alpha val="8000"/>
              </a:srgbClr>
            </a:outerShdw>
          </a:effectLst>
        </p:spPr>
        <p:txBody>
          <a:bodyPr/>
          <a:lstStyle/>
          <a:p>
            <a:endParaRPr/>
          </a:p>
        </p:txBody>
      </p:sp>
      <p:sp>
        <p:nvSpPr>
          <p:cNvPr id="58" name="Shape 55"/>
          <p:cNvSpPr/>
          <p:nvPr/>
        </p:nvSpPr>
        <p:spPr>
          <a:xfrm>
            <a:off x="9248927" y="1316736"/>
            <a:ext cx="2439848" cy="118872"/>
          </a:xfrm>
          <a:prstGeom prst="rect">
            <a:avLst/>
          </a:prstGeom>
          <a:solidFill>
            <a:srgbClr val="5F1B3C"/>
          </a:solidFill>
          <a:ln/>
        </p:spPr>
        <p:txBody>
          <a:bodyPr/>
          <a:lstStyle/>
          <a:p>
            <a:endParaRPr/>
          </a:p>
        </p:txBody>
      </p:sp>
      <p:sp>
        <p:nvSpPr>
          <p:cNvPr id="59" name="Shape 56"/>
          <p:cNvSpPr/>
          <p:nvPr/>
        </p:nvSpPr>
        <p:spPr>
          <a:xfrm>
            <a:off x="10194531" y="1627632"/>
            <a:ext cx="548640" cy="548640"/>
          </a:xfrm>
          <a:prstGeom prst="ellipse">
            <a:avLst/>
          </a:prstGeom>
          <a:solidFill>
            <a:srgbClr val="5F1B3C"/>
          </a:solidFill>
          <a:ln/>
        </p:spPr>
        <p:txBody>
          <a:bodyPr/>
          <a:lstStyle/>
          <a:p>
            <a:endParaRPr/>
          </a:p>
        </p:txBody>
      </p:sp>
      <p:sp>
        <p:nvSpPr>
          <p:cNvPr id="60" name="Text 57"/>
          <p:cNvSpPr/>
          <p:nvPr/>
        </p:nvSpPr>
        <p:spPr>
          <a:xfrm>
            <a:off x="10194531" y="1627632"/>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61" name="Text 58"/>
          <p:cNvSpPr/>
          <p:nvPr/>
        </p:nvSpPr>
        <p:spPr>
          <a:xfrm>
            <a:off x="9395231" y="2267712"/>
            <a:ext cx="2147240" cy="566928"/>
          </a:xfrm>
          <a:prstGeom prst="rect">
            <a:avLst/>
          </a:prstGeom>
          <a:noFill/>
          <a:ln/>
        </p:spPr>
        <p:txBody>
          <a:bodyPr wrap="square" rtlCol="0" anchor="ctr"/>
          <a:lstStyle/>
          <a:p>
            <a:pPr marL="0" indent="0" algn="ctr">
              <a:lnSpc>
                <a:spcPct val="100000"/>
              </a:lnSpc>
              <a:buNone/>
            </a:pPr>
            <a:r>
              <a:rPr lang="en-US" sz="1500" b="1" dirty="0">
                <a:solidFill>
                  <a:srgbClr val="5F1B3C"/>
                </a:solidFill>
                <a:latin typeface="Segoe UI" pitchFamily="34" charset="0"/>
                <a:ea typeface="Segoe UI" pitchFamily="34" charset="-122"/>
                <a:cs typeface="Segoe UI" pitchFamily="34" charset="-120"/>
              </a:rPr>
              <a:t>Write the outcome</a:t>
            </a:r>
            <a:endParaRPr lang="en-US" sz="1500" dirty="0"/>
          </a:p>
        </p:txBody>
      </p:sp>
      <p:sp>
        <p:nvSpPr>
          <p:cNvPr id="62" name="Text 59"/>
          <p:cNvSpPr/>
          <p:nvPr/>
        </p:nvSpPr>
        <p:spPr>
          <a:xfrm>
            <a:off x="9413519" y="2871216"/>
            <a:ext cx="2110664" cy="1426464"/>
          </a:xfrm>
          <a:prstGeom prst="rect">
            <a:avLst/>
          </a:prstGeom>
          <a:noFill/>
          <a:ln/>
        </p:spPr>
        <p:txBody>
          <a:bodyPr wrap="square" rtlCol="0" anchor="t"/>
          <a:lstStyle/>
          <a:p>
            <a:pPr marL="0" indent="0" algn="ctr">
              <a:lnSpc>
                <a:spcPct val="115000"/>
              </a:lnSpc>
              <a:buNone/>
            </a:pPr>
            <a:r>
              <a:rPr lang="en-US" sz="1250" dirty="0">
                <a:solidFill>
                  <a:srgbClr val="3D3348"/>
                </a:solidFill>
                <a:latin typeface="Segoe UI" pitchFamily="34" charset="0"/>
                <a:ea typeface="Segoe UI" pitchFamily="34" charset="-122"/>
                <a:cs typeface="Segoe UI" pitchFamily="34" charset="-120"/>
              </a:rPr>
              <a:t>What changed, what stayed, and which ADR gets written this afternoon.</a:t>
            </a:r>
            <a:endParaRPr lang="en-US" sz="1250" dirty="0"/>
          </a:p>
        </p:txBody>
      </p:sp>
      <p:sp>
        <p:nvSpPr>
          <p:cNvPr id="63" name="Shape 60"/>
          <p:cNvSpPr/>
          <p:nvPr/>
        </p:nvSpPr>
        <p:spPr>
          <a:xfrm>
            <a:off x="502920" y="4718304"/>
            <a:ext cx="11185855" cy="749808"/>
          </a:xfrm>
          <a:prstGeom prst="roundRect">
            <a:avLst>
              <a:gd name="adj" fmla="val 10976"/>
            </a:avLst>
          </a:prstGeom>
          <a:solidFill>
            <a:srgbClr val="E1F5EC"/>
          </a:solidFill>
          <a:ln/>
        </p:spPr>
        <p:txBody>
          <a:bodyPr/>
          <a:lstStyle/>
          <a:p>
            <a:endParaRPr/>
          </a:p>
        </p:txBody>
      </p:sp>
      <p:sp>
        <p:nvSpPr>
          <p:cNvPr id="64" name="Shape 61"/>
          <p:cNvSpPr/>
          <p:nvPr/>
        </p:nvSpPr>
        <p:spPr>
          <a:xfrm>
            <a:off x="502920" y="4718304"/>
            <a:ext cx="100584" cy="749808"/>
          </a:xfrm>
          <a:prstGeom prst="rect">
            <a:avLst/>
          </a:prstGeom>
          <a:solidFill>
            <a:srgbClr val="1F8F65"/>
          </a:solidFill>
          <a:ln/>
        </p:spPr>
        <p:txBody>
          <a:bodyPr/>
          <a:lstStyle/>
          <a:p>
            <a:endParaRPr/>
          </a:p>
        </p:txBody>
      </p:sp>
      <p:sp>
        <p:nvSpPr>
          <p:cNvPr id="65" name="Text 62"/>
          <p:cNvSpPr/>
          <p:nvPr/>
        </p:nvSpPr>
        <p:spPr>
          <a:xfrm>
            <a:off x="740664" y="4718304"/>
            <a:ext cx="10783519" cy="749808"/>
          </a:xfrm>
          <a:prstGeom prst="rect">
            <a:avLst/>
          </a:prstGeom>
          <a:noFill/>
          <a:ln/>
        </p:spPr>
        <p:txBody>
          <a:bodyPr wrap="square" rtlCol="0" anchor="ctr"/>
          <a:lstStyle/>
          <a:p>
            <a:pPr marL="0" indent="0">
              <a:buNone/>
            </a:pPr>
            <a:r>
              <a:rPr lang="en-US" sz="1250" b="1" kern="0" spc="100" dirty="0">
                <a:solidFill>
                  <a:srgbClr val="1F8F65"/>
                </a:solidFill>
                <a:latin typeface="Segoe UI" pitchFamily="34" charset="0"/>
                <a:ea typeface="Segoe UI" pitchFamily="34" charset="-122"/>
                <a:cs typeface="Segoe UI" pitchFamily="34" charset="-120"/>
              </a:rPr>
              <a:t>BEST PRACTICE   </a:t>
            </a:r>
            <a:r>
              <a:rPr lang="en-US" sz="1250" dirty="0">
                <a:solidFill>
                  <a:srgbClr val="24162A"/>
                </a:solidFill>
                <a:latin typeface="Segoe UI" pitchFamily="34" charset="0"/>
                <a:ea typeface="Segoe UI" pitchFamily="34" charset="-122"/>
                <a:cs typeface="Segoe UI" pitchFamily="34" charset="-120"/>
              </a:rPr>
              <a:t>If nobody found a weakness, nobody read the design carefully. Silence in a review is a warning, not a success.</a:t>
            </a:r>
            <a:endParaRPr lang="en-US" sz="1250" dirty="0"/>
          </a:p>
        </p:txBody>
      </p:sp>
      <p:sp>
        <p:nvSpPr>
          <p:cNvPr id="66" name="Shape 63"/>
          <p:cNvSpPr/>
          <p:nvPr/>
        </p:nvSpPr>
        <p:spPr>
          <a:xfrm>
            <a:off x="502920" y="5687568"/>
            <a:ext cx="54864" cy="201168"/>
          </a:xfrm>
          <a:prstGeom prst="rect">
            <a:avLst/>
          </a:prstGeom>
          <a:solidFill>
            <a:srgbClr val="43BFB8"/>
          </a:solidFill>
          <a:ln/>
        </p:spPr>
        <p:txBody>
          <a:bodyPr/>
          <a:lstStyle/>
          <a:p>
            <a:endParaRPr/>
          </a:p>
        </p:txBody>
      </p:sp>
      <p:sp>
        <p:nvSpPr>
          <p:cNvPr id="67" name="Text 64"/>
          <p:cNvSpPr/>
          <p:nvPr/>
        </p:nvSpPr>
        <p:spPr>
          <a:xfrm>
            <a:off x="667512" y="5596128"/>
            <a:ext cx="11002975" cy="365760"/>
          </a:xfrm>
          <a:prstGeom prst="rect">
            <a:avLst/>
          </a:prstGeom>
          <a:noFill/>
          <a:ln/>
        </p:spPr>
        <p:txBody>
          <a:bodyPr wrap="square" rtlCol="0" anchor="ctr"/>
          <a:lstStyle/>
          <a:p>
            <a:pPr marL="0" indent="0">
              <a:buNone/>
            </a:pPr>
            <a:r>
              <a:rPr lang="en-US" sz="1050" b="1" dirty="0">
                <a:solidFill>
                  <a:srgbClr val="2F9992"/>
                </a:solidFill>
                <a:latin typeface="Segoe UI" pitchFamily="34" charset="0"/>
                <a:ea typeface="Segoe UI" pitchFamily="34" charset="-122"/>
                <a:cs typeface="Segoe UI" pitchFamily="34" charset="-120"/>
              </a:rPr>
              <a:t>Read more:  </a:t>
            </a:r>
            <a:r>
              <a:rPr lang="en-US" sz="1050" dirty="0">
                <a:solidFill>
                  <a:srgbClr val="6E637A"/>
                </a:solidFill>
                <a:latin typeface="Segoe UI" pitchFamily="34" charset="0"/>
                <a:ea typeface="Segoe UI" pitchFamily="34" charset="-122"/>
                <a:cs typeface="Segoe UI" pitchFamily="34" charset="-120"/>
              </a:rPr>
              <a:t>ATAM, SEI Carnegie Mellon  ·  “Lightweight Architecture Decision Records” for capturing the outcome.</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768096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Check your understanding</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first slice succeeded. The board wants every remaining slice next month. What do you do?</a:t>
            </a:r>
            <a:endParaRPr lang="en-US" sz="1300" dirty="0"/>
          </a:p>
        </p:txBody>
      </p:sp>
      <p:sp>
        <p:nvSpPr>
          <p:cNvPr id="27" name="Shape 25"/>
          <p:cNvSpPr/>
          <p:nvPr/>
        </p:nvSpPr>
        <p:spPr>
          <a:xfrm>
            <a:off x="9585655" y="256032"/>
            <a:ext cx="2148840" cy="347472"/>
          </a:xfrm>
          <a:prstGeom prst="roundRect">
            <a:avLst>
              <a:gd name="adj" fmla="val 50000"/>
            </a:avLst>
          </a:prstGeom>
          <a:solidFill>
            <a:srgbClr val="4A7DE0"/>
          </a:solidFill>
          <a:ln/>
        </p:spPr>
        <p:txBody>
          <a:bodyPr/>
          <a:lstStyle/>
          <a:p>
            <a:endParaRPr/>
          </a:p>
        </p:txBody>
      </p:sp>
      <p:sp>
        <p:nvSpPr>
          <p:cNvPr id="28" name="Text 26"/>
          <p:cNvSpPr/>
          <p:nvPr/>
        </p:nvSpPr>
        <p:spPr>
          <a:xfrm>
            <a:off x="9585655" y="256032"/>
            <a:ext cx="2148840" cy="347472"/>
          </a:xfrm>
          <a:prstGeom prst="rect">
            <a:avLst/>
          </a:prstGeom>
          <a:noFill/>
          <a:ln/>
        </p:spPr>
        <p:txBody>
          <a:bodyPr wrap="square" rtlCol="0" anchor="ctr"/>
          <a:lstStyle/>
          <a:p>
            <a:pPr marL="0" indent="0" algn="ctr">
              <a:buNone/>
            </a:pPr>
            <a:r>
              <a:rPr lang="en-US" sz="1100" b="1" kern="0" spc="120" dirty="0">
                <a:solidFill>
                  <a:srgbClr val="FFFFFF"/>
                </a:solidFill>
                <a:latin typeface="Segoe UI" pitchFamily="34" charset="0"/>
                <a:ea typeface="Segoe UI" pitchFamily="34" charset="-122"/>
                <a:cs typeface="Segoe UI" pitchFamily="34" charset="-120"/>
              </a:rPr>
              <a:t>CHECK</a:t>
            </a:r>
            <a:endParaRPr lang="en-US" sz="1100" dirty="0"/>
          </a:p>
        </p:txBody>
      </p:sp>
      <p:sp>
        <p:nvSpPr>
          <p:cNvPr id="29" name="Shape 27"/>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30" name="Text 28"/>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31" name="Shape 29"/>
          <p:cNvSpPr/>
          <p:nvPr/>
        </p:nvSpPr>
        <p:spPr>
          <a:xfrm>
            <a:off x="1005840" y="6455664"/>
            <a:ext cx="73152" cy="91440"/>
          </a:xfrm>
          <a:prstGeom prst="rect">
            <a:avLst/>
          </a:prstGeom>
          <a:solidFill>
            <a:srgbClr val="E76F30"/>
          </a:solidFill>
          <a:ln/>
        </p:spPr>
        <p:txBody>
          <a:bodyPr/>
          <a:lstStyle/>
          <a:p>
            <a:endParaRPr/>
          </a:p>
        </p:txBody>
      </p:sp>
      <p:sp>
        <p:nvSpPr>
          <p:cNvPr id="32" name="Shape 30"/>
          <p:cNvSpPr/>
          <p:nvPr/>
        </p:nvSpPr>
        <p:spPr>
          <a:xfrm>
            <a:off x="1097280" y="6455664"/>
            <a:ext cx="128016" cy="91440"/>
          </a:xfrm>
          <a:prstGeom prst="rect">
            <a:avLst/>
          </a:prstGeom>
          <a:solidFill>
            <a:srgbClr val="5F1B3C"/>
          </a:solidFill>
          <a:ln/>
        </p:spPr>
        <p:txBody>
          <a:bodyPr/>
          <a:lstStyle/>
          <a:p>
            <a:endParaRPr/>
          </a:p>
        </p:txBody>
      </p:sp>
      <p:sp>
        <p:nvSpPr>
          <p:cNvPr id="33" name="Text 31"/>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4" name="Text 32"/>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111</a:t>
            </a:r>
            <a:endParaRPr lang="en-US" sz="1000" dirty="0"/>
          </a:p>
        </p:txBody>
      </p:sp>
      <p:sp>
        <p:nvSpPr>
          <p:cNvPr id="35" name="Shape 33"/>
          <p:cNvSpPr/>
          <p:nvPr/>
        </p:nvSpPr>
        <p:spPr>
          <a:xfrm>
            <a:off x="502920" y="1920240"/>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36" name="Shape 34"/>
          <p:cNvSpPr/>
          <p:nvPr/>
        </p:nvSpPr>
        <p:spPr>
          <a:xfrm>
            <a:off x="640080" y="2029968"/>
            <a:ext cx="457200" cy="438912"/>
          </a:xfrm>
          <a:prstGeom prst="roundRect">
            <a:avLst>
              <a:gd name="adj" fmla="val 16667"/>
            </a:avLst>
          </a:prstGeom>
          <a:solidFill>
            <a:srgbClr val="F6F5F8"/>
          </a:solidFill>
          <a:ln/>
        </p:spPr>
        <p:txBody>
          <a:bodyPr/>
          <a:lstStyle/>
          <a:p>
            <a:endParaRPr/>
          </a:p>
        </p:txBody>
      </p:sp>
      <p:sp>
        <p:nvSpPr>
          <p:cNvPr id="37" name="Text 35"/>
          <p:cNvSpPr/>
          <p:nvPr/>
        </p:nvSpPr>
        <p:spPr>
          <a:xfrm>
            <a:off x="640080" y="2029968"/>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A</a:t>
            </a:r>
            <a:endParaRPr lang="en-US" sz="1400" dirty="0"/>
          </a:p>
        </p:txBody>
      </p:sp>
      <p:sp>
        <p:nvSpPr>
          <p:cNvPr id="38" name="Text 36"/>
          <p:cNvSpPr/>
          <p:nvPr/>
        </p:nvSpPr>
        <p:spPr>
          <a:xfrm>
            <a:off x="1234440" y="1920240"/>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Move payments next, because the first slice went well</a:t>
            </a:r>
            <a:endParaRPr lang="en-US" sz="1300" dirty="0"/>
          </a:p>
        </p:txBody>
      </p:sp>
      <p:sp>
        <p:nvSpPr>
          <p:cNvPr id="39" name="Shape 37"/>
          <p:cNvSpPr/>
          <p:nvPr/>
        </p:nvSpPr>
        <p:spPr>
          <a:xfrm>
            <a:off x="502920" y="2715768"/>
            <a:ext cx="11185855" cy="658368"/>
          </a:xfrm>
          <a:prstGeom prst="roundRect">
            <a:avLst>
              <a:gd name="adj" fmla="val 13889"/>
            </a:avLst>
          </a:prstGeom>
          <a:solidFill>
            <a:srgbClr val="E1F5EC"/>
          </a:solidFill>
          <a:ln w="19050">
            <a:solidFill>
              <a:srgbClr val="3EB489"/>
            </a:solidFill>
            <a:prstDash val="solid"/>
          </a:ln>
        </p:spPr>
        <p:txBody>
          <a:bodyPr/>
          <a:lstStyle/>
          <a:p>
            <a:endParaRPr/>
          </a:p>
        </p:txBody>
      </p:sp>
      <p:sp>
        <p:nvSpPr>
          <p:cNvPr id="40" name="Shape 38"/>
          <p:cNvSpPr/>
          <p:nvPr/>
        </p:nvSpPr>
        <p:spPr>
          <a:xfrm>
            <a:off x="640080" y="2825496"/>
            <a:ext cx="457200" cy="438912"/>
          </a:xfrm>
          <a:prstGeom prst="roundRect">
            <a:avLst>
              <a:gd name="adj" fmla="val 16667"/>
            </a:avLst>
          </a:prstGeom>
          <a:solidFill>
            <a:srgbClr val="3EB489"/>
          </a:solidFill>
          <a:ln/>
        </p:spPr>
        <p:txBody>
          <a:bodyPr/>
          <a:lstStyle/>
          <a:p>
            <a:endParaRPr/>
          </a:p>
        </p:txBody>
      </p:sp>
      <p:sp>
        <p:nvSpPr>
          <p:cNvPr id="41" name="Text 39"/>
          <p:cNvSpPr/>
          <p:nvPr/>
        </p:nvSpPr>
        <p:spPr>
          <a:xfrm>
            <a:off x="640080" y="2825496"/>
            <a:ext cx="457200"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B</a:t>
            </a:r>
            <a:endParaRPr lang="en-US" sz="1400" dirty="0"/>
          </a:p>
        </p:txBody>
      </p:sp>
      <p:sp>
        <p:nvSpPr>
          <p:cNvPr id="42" name="Text 40"/>
          <p:cNvSpPr/>
          <p:nvPr/>
        </p:nvSpPr>
        <p:spPr>
          <a:xfrm>
            <a:off x="1234440" y="2715768"/>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Hold. Add the anti-corruption layer and one fitness function, then strangle order reads</a:t>
            </a:r>
            <a:endParaRPr lang="en-US" sz="1300" dirty="0"/>
          </a:p>
        </p:txBody>
      </p:sp>
      <p:sp>
        <p:nvSpPr>
          <p:cNvPr id="43" name="Text 41"/>
          <p:cNvSpPr/>
          <p:nvPr/>
        </p:nvSpPr>
        <p:spPr>
          <a:xfrm>
            <a:off x="10682935" y="2715768"/>
            <a:ext cx="868680" cy="658368"/>
          </a:xfrm>
          <a:prstGeom prst="rect">
            <a:avLst/>
          </a:prstGeom>
          <a:noFill/>
          <a:ln/>
        </p:spPr>
        <p:txBody>
          <a:bodyPr wrap="square" rtlCol="0" anchor="ctr"/>
          <a:lstStyle/>
          <a:p>
            <a:pPr marL="0" indent="0" algn="r">
              <a:buNone/>
            </a:pPr>
            <a:r>
              <a:rPr lang="en-US" sz="1100" b="1" dirty="0">
                <a:solidFill>
                  <a:srgbClr val="1F8F65"/>
                </a:solidFill>
                <a:latin typeface="Segoe UI" pitchFamily="34" charset="0"/>
                <a:ea typeface="Segoe UI" pitchFamily="34" charset="-122"/>
                <a:cs typeface="Segoe UI" pitchFamily="34" charset="-120"/>
              </a:rPr>
              <a:t>✓ correct</a:t>
            </a:r>
            <a:endParaRPr lang="en-US" sz="1100" dirty="0"/>
          </a:p>
        </p:txBody>
      </p:sp>
      <p:sp>
        <p:nvSpPr>
          <p:cNvPr id="44" name="Shape 42"/>
          <p:cNvSpPr/>
          <p:nvPr/>
        </p:nvSpPr>
        <p:spPr>
          <a:xfrm>
            <a:off x="502920" y="3511296"/>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5" name="Shape 43"/>
          <p:cNvSpPr/>
          <p:nvPr/>
        </p:nvSpPr>
        <p:spPr>
          <a:xfrm>
            <a:off x="640080" y="3621024"/>
            <a:ext cx="457200" cy="438912"/>
          </a:xfrm>
          <a:prstGeom prst="roundRect">
            <a:avLst>
              <a:gd name="adj" fmla="val 16667"/>
            </a:avLst>
          </a:prstGeom>
          <a:solidFill>
            <a:srgbClr val="F6F5F8"/>
          </a:solidFill>
          <a:ln/>
        </p:spPr>
        <p:txBody>
          <a:bodyPr/>
          <a:lstStyle/>
          <a:p>
            <a:endParaRPr/>
          </a:p>
        </p:txBody>
      </p:sp>
      <p:sp>
        <p:nvSpPr>
          <p:cNvPr id="46" name="Text 44"/>
          <p:cNvSpPr/>
          <p:nvPr/>
        </p:nvSpPr>
        <p:spPr>
          <a:xfrm>
            <a:off x="640080" y="3621024"/>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C</a:t>
            </a:r>
            <a:endParaRPr lang="en-US" sz="1400" dirty="0"/>
          </a:p>
        </p:txBody>
      </p:sp>
      <p:sp>
        <p:nvSpPr>
          <p:cNvPr id="47" name="Text 45"/>
          <p:cNvSpPr/>
          <p:nvPr/>
        </p:nvSpPr>
        <p:spPr>
          <a:xfrm>
            <a:off x="1234440" y="3511296"/>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Start a two-year rewrite in parallel</a:t>
            </a:r>
            <a:endParaRPr lang="en-US" sz="1300" dirty="0"/>
          </a:p>
        </p:txBody>
      </p:sp>
      <p:sp>
        <p:nvSpPr>
          <p:cNvPr id="48" name="Shape 46"/>
          <p:cNvSpPr/>
          <p:nvPr/>
        </p:nvSpPr>
        <p:spPr>
          <a:xfrm>
            <a:off x="502920" y="4306824"/>
            <a:ext cx="11185855" cy="658368"/>
          </a:xfrm>
          <a:prstGeom prst="roundRect">
            <a:avLst>
              <a:gd name="adj" fmla="val 13889"/>
            </a:avLst>
          </a:prstGeom>
          <a:solidFill>
            <a:srgbClr val="FFFFFF"/>
          </a:solidFill>
          <a:ln w="9525">
            <a:solidFill>
              <a:srgbClr val="E3E0E8"/>
            </a:solidFill>
            <a:prstDash val="solid"/>
          </a:ln>
        </p:spPr>
        <p:txBody>
          <a:bodyPr/>
          <a:lstStyle/>
          <a:p>
            <a:endParaRPr/>
          </a:p>
        </p:txBody>
      </p:sp>
      <p:sp>
        <p:nvSpPr>
          <p:cNvPr id="49" name="Shape 47"/>
          <p:cNvSpPr/>
          <p:nvPr/>
        </p:nvSpPr>
        <p:spPr>
          <a:xfrm>
            <a:off x="640080" y="4416552"/>
            <a:ext cx="457200" cy="438912"/>
          </a:xfrm>
          <a:prstGeom prst="roundRect">
            <a:avLst>
              <a:gd name="adj" fmla="val 16667"/>
            </a:avLst>
          </a:prstGeom>
          <a:solidFill>
            <a:srgbClr val="F6F5F8"/>
          </a:solidFill>
          <a:ln/>
        </p:spPr>
        <p:txBody>
          <a:bodyPr/>
          <a:lstStyle/>
          <a:p>
            <a:endParaRPr/>
          </a:p>
        </p:txBody>
      </p:sp>
      <p:sp>
        <p:nvSpPr>
          <p:cNvPr id="50" name="Text 48"/>
          <p:cNvSpPr/>
          <p:nvPr/>
        </p:nvSpPr>
        <p:spPr>
          <a:xfrm>
            <a:off x="640080" y="4416552"/>
            <a:ext cx="457200" cy="438912"/>
          </a:xfrm>
          <a:prstGeom prst="rect">
            <a:avLst/>
          </a:prstGeom>
          <a:noFill/>
          <a:ln/>
        </p:spPr>
        <p:txBody>
          <a:bodyPr wrap="square" rtlCol="0" anchor="ctr"/>
          <a:lstStyle/>
          <a:p>
            <a:pPr marL="0" indent="0" algn="ctr">
              <a:buNone/>
            </a:pPr>
            <a:r>
              <a:rPr lang="en-US" sz="1400" b="1" dirty="0">
                <a:solidFill>
                  <a:srgbClr val="5F1B3C"/>
                </a:solidFill>
                <a:latin typeface="Segoe UI" pitchFamily="34" charset="0"/>
                <a:ea typeface="Segoe UI" pitchFamily="34" charset="-122"/>
                <a:cs typeface="Segoe UI" pitchFamily="34" charset="-120"/>
              </a:rPr>
              <a:t>D</a:t>
            </a:r>
            <a:endParaRPr lang="en-US" sz="1400" dirty="0"/>
          </a:p>
        </p:txBody>
      </p:sp>
      <p:sp>
        <p:nvSpPr>
          <p:cNvPr id="51" name="Text 49"/>
          <p:cNvSpPr/>
          <p:nvPr/>
        </p:nvSpPr>
        <p:spPr>
          <a:xfrm>
            <a:off x="1234440" y="4306824"/>
            <a:ext cx="9448495" cy="658368"/>
          </a:xfrm>
          <a:prstGeom prst="rect">
            <a:avLst/>
          </a:prstGeom>
          <a:noFill/>
          <a:ln/>
        </p:spPr>
        <p:txBody>
          <a:bodyPr wrap="square" rtlCol="0" anchor="ctr"/>
          <a:lstStyle/>
          <a:p>
            <a:pPr marL="0" indent="0">
              <a:buNone/>
            </a:pPr>
            <a:r>
              <a:rPr lang="en-US" sz="1300" dirty="0">
                <a:solidFill>
                  <a:srgbClr val="24162A"/>
                </a:solidFill>
                <a:latin typeface="Segoe UI" pitchFamily="34" charset="0"/>
                <a:ea typeface="Segoe UI" pitchFamily="34" charset="-122"/>
                <a:cs typeface="Segoe UI" pitchFamily="34" charset="-120"/>
              </a:rPr>
              <a:t>Skip the undo sentence to move faster</a:t>
            </a:r>
            <a:endParaRPr lang="en-US" sz="1300" dirty="0"/>
          </a:p>
        </p:txBody>
      </p:sp>
      <p:sp>
        <p:nvSpPr>
          <p:cNvPr id="52" name="Shape 50"/>
          <p:cNvSpPr/>
          <p:nvPr/>
        </p:nvSpPr>
        <p:spPr>
          <a:xfrm>
            <a:off x="502920" y="5148072"/>
            <a:ext cx="11185855" cy="731520"/>
          </a:xfrm>
          <a:prstGeom prst="roundRect">
            <a:avLst>
              <a:gd name="adj" fmla="val 10000"/>
            </a:avLst>
          </a:prstGeom>
          <a:solidFill>
            <a:srgbClr val="E4F5F3"/>
          </a:solidFill>
          <a:ln/>
        </p:spPr>
        <p:txBody>
          <a:bodyPr/>
          <a:lstStyle/>
          <a:p>
            <a:endParaRPr/>
          </a:p>
        </p:txBody>
      </p:sp>
      <p:sp>
        <p:nvSpPr>
          <p:cNvPr id="53" name="Text 51"/>
          <p:cNvSpPr/>
          <p:nvPr/>
        </p:nvSpPr>
        <p:spPr>
          <a:xfrm>
            <a:off x="685800" y="5148072"/>
            <a:ext cx="10820095" cy="731520"/>
          </a:xfrm>
          <a:prstGeom prst="rect">
            <a:avLst/>
          </a:prstGeom>
          <a:noFill/>
          <a:ln/>
        </p:spPr>
        <p:txBody>
          <a:bodyPr wrap="square" rtlCol="0" anchor="ctr"/>
          <a:lstStyle/>
          <a:p>
            <a:pPr marL="0" indent="0">
              <a:lnSpc>
                <a:spcPct val="125000"/>
              </a:lnSpc>
              <a:buNone/>
            </a:pPr>
            <a:r>
              <a:rPr lang="en-US" sz="1200" b="1" kern="0" spc="200" dirty="0">
                <a:solidFill>
                  <a:srgbClr val="2F9992"/>
                </a:solidFill>
                <a:latin typeface="Segoe UI" pitchFamily="34" charset="0"/>
                <a:ea typeface="Segoe UI" pitchFamily="34" charset="-122"/>
                <a:cs typeface="Segoe UI" pitchFamily="34" charset="-120"/>
              </a:rPr>
              <a:t>Why:  </a:t>
            </a:r>
            <a:r>
              <a:rPr lang="en-US" sz="1200" dirty="0">
                <a:solidFill>
                  <a:srgbClr val="24162A"/>
                </a:solidFill>
                <a:latin typeface="Segoe UI" pitchFamily="34" charset="0"/>
                <a:ea typeface="Segoe UI" pitchFamily="34" charset="-122"/>
                <a:cs typeface="Segoe UI" pitchFamily="34" charset="-120"/>
              </a:rPr>
              <a:t>Reads are not writes. Money paths need a guardrail first. Speed without retire and without tests simply builds a second legacy system.</a:t>
            </a:r>
            <a:endParaRPr lang="en-US"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Day 5    what to remember</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Five lines to keep.</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112</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Modernise in slices. A rewrite pays nothing until its very last day.</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Route, build, switch, retire  and always finish retire.</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AI-ready means clean owned data behind an interface, plus a fallback. You cannot buy it.</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fitness function turns an architecture rule into a failing build.</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critique attacks the design and never the designer.</a:t>
            </a:r>
            <a:endParaRPr lang="en-US" sz="16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Your first 30 days back at work</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One habit per week. No new tool shopping list.</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113</a:t>
            </a:r>
            <a:endParaRPr lang="en-US" sz="1000" dirty="0"/>
          </a:p>
        </p:txBody>
      </p:sp>
      <p:sp>
        <p:nvSpPr>
          <p:cNvPr id="34" name="Shape 31"/>
          <p:cNvSpPr/>
          <p:nvPr/>
        </p:nvSpPr>
        <p:spPr>
          <a:xfrm>
            <a:off x="502920" y="1508760"/>
            <a:ext cx="1645920" cy="502920"/>
          </a:xfrm>
          <a:prstGeom prst="rect">
            <a:avLst/>
          </a:prstGeom>
          <a:solidFill>
            <a:srgbClr val="F6F5F8"/>
          </a:solidFill>
          <a:ln w="9525">
            <a:solidFill>
              <a:srgbClr val="E3E0E8"/>
            </a:solidFill>
            <a:prstDash val="solid"/>
          </a:ln>
        </p:spPr>
        <p:txBody>
          <a:bodyPr/>
          <a:lstStyle/>
          <a:p>
            <a:endParaRPr/>
          </a:p>
        </p:txBody>
      </p:sp>
      <p:sp>
        <p:nvSpPr>
          <p:cNvPr id="35" name="Text 32"/>
          <p:cNvSpPr/>
          <p:nvPr/>
        </p:nvSpPr>
        <p:spPr>
          <a:xfrm>
            <a:off x="502920" y="1508760"/>
            <a:ext cx="164592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Week</a:t>
            </a:r>
            <a:endParaRPr lang="en-US" sz="1200" dirty="0"/>
          </a:p>
        </p:txBody>
      </p:sp>
      <p:sp>
        <p:nvSpPr>
          <p:cNvPr id="36" name="Shape 33"/>
          <p:cNvSpPr/>
          <p:nvPr/>
        </p:nvSpPr>
        <p:spPr>
          <a:xfrm>
            <a:off x="2148840" y="1508760"/>
            <a:ext cx="4754880" cy="502920"/>
          </a:xfrm>
          <a:prstGeom prst="rect">
            <a:avLst/>
          </a:prstGeom>
          <a:solidFill>
            <a:srgbClr val="F6F5F8"/>
          </a:solidFill>
          <a:ln w="9525">
            <a:solidFill>
              <a:srgbClr val="E3E0E8"/>
            </a:solidFill>
            <a:prstDash val="solid"/>
          </a:ln>
        </p:spPr>
        <p:txBody>
          <a:bodyPr/>
          <a:lstStyle/>
          <a:p>
            <a:endParaRPr/>
          </a:p>
        </p:txBody>
      </p:sp>
      <p:sp>
        <p:nvSpPr>
          <p:cNvPr id="37" name="Text 34"/>
          <p:cNvSpPr/>
          <p:nvPr/>
        </p:nvSpPr>
        <p:spPr>
          <a:xfrm>
            <a:off x="2148840" y="1508760"/>
            <a:ext cx="475488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Habit</a:t>
            </a:r>
            <a:endParaRPr lang="en-US" sz="1200" dirty="0"/>
          </a:p>
        </p:txBody>
      </p:sp>
      <p:sp>
        <p:nvSpPr>
          <p:cNvPr id="38" name="Shape 35"/>
          <p:cNvSpPr/>
          <p:nvPr/>
        </p:nvSpPr>
        <p:spPr>
          <a:xfrm>
            <a:off x="6903720" y="1508760"/>
            <a:ext cx="4754880" cy="502920"/>
          </a:xfrm>
          <a:prstGeom prst="rect">
            <a:avLst/>
          </a:prstGeom>
          <a:solidFill>
            <a:srgbClr val="F6F5F8"/>
          </a:solidFill>
          <a:ln w="9525">
            <a:solidFill>
              <a:srgbClr val="E3E0E8"/>
            </a:solidFill>
            <a:prstDash val="solid"/>
          </a:ln>
        </p:spPr>
        <p:txBody>
          <a:bodyPr/>
          <a:lstStyle/>
          <a:p>
            <a:endParaRPr/>
          </a:p>
        </p:txBody>
      </p:sp>
      <p:sp>
        <p:nvSpPr>
          <p:cNvPr id="39" name="Text 36"/>
          <p:cNvSpPr/>
          <p:nvPr/>
        </p:nvSpPr>
        <p:spPr>
          <a:xfrm>
            <a:off x="6903720" y="1508760"/>
            <a:ext cx="4754880" cy="502920"/>
          </a:xfrm>
          <a:prstGeom prst="rect">
            <a:avLst/>
          </a:prstGeom>
          <a:noFill/>
          <a:ln/>
        </p:spPr>
        <p:txBody>
          <a:bodyPr wrap="square" rtlCol="0" anchor="ctr"/>
          <a:lstStyle/>
          <a:p>
            <a:pPr marL="0" indent="0" algn="ctr">
              <a:buNone/>
            </a:pPr>
            <a:r>
              <a:rPr lang="en-US" sz="1200" b="1" kern="0" spc="200" dirty="0">
                <a:solidFill>
                  <a:srgbClr val="5F1B3C"/>
                </a:solidFill>
                <a:latin typeface="Segoe UI" pitchFamily="34" charset="0"/>
                <a:ea typeface="Segoe UI" pitchFamily="34" charset="-122"/>
                <a:cs typeface="Segoe UI" pitchFamily="34" charset="-120"/>
              </a:rPr>
              <a:t>Done looks like</a:t>
            </a:r>
            <a:endParaRPr lang="en-US" sz="1200" dirty="0"/>
          </a:p>
        </p:txBody>
      </p:sp>
      <p:sp>
        <p:nvSpPr>
          <p:cNvPr id="40" name="Shape 37"/>
          <p:cNvSpPr/>
          <p:nvPr/>
        </p:nvSpPr>
        <p:spPr>
          <a:xfrm>
            <a:off x="502920" y="2011680"/>
            <a:ext cx="1645920" cy="594360"/>
          </a:xfrm>
          <a:prstGeom prst="rect">
            <a:avLst/>
          </a:prstGeom>
          <a:solidFill>
            <a:srgbClr val="FFFFFF"/>
          </a:solidFill>
          <a:ln w="6350">
            <a:solidFill>
              <a:srgbClr val="E3E0E8"/>
            </a:solidFill>
            <a:prstDash val="solid"/>
          </a:ln>
        </p:spPr>
        <p:txBody>
          <a:bodyPr/>
          <a:lstStyle/>
          <a:p>
            <a:endParaRPr/>
          </a:p>
        </p:txBody>
      </p:sp>
      <p:sp>
        <p:nvSpPr>
          <p:cNvPr id="41" name="Text 38"/>
          <p:cNvSpPr/>
          <p:nvPr/>
        </p:nvSpPr>
        <p:spPr>
          <a:xfrm>
            <a:off x="594360" y="2011680"/>
            <a:ext cx="1463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1  See</a:t>
            </a:r>
            <a:endParaRPr lang="en-US" sz="1200" dirty="0"/>
          </a:p>
        </p:txBody>
      </p:sp>
      <p:sp>
        <p:nvSpPr>
          <p:cNvPr id="42" name="Shape 39"/>
          <p:cNvSpPr/>
          <p:nvPr/>
        </p:nvSpPr>
        <p:spPr>
          <a:xfrm>
            <a:off x="2148840" y="2011680"/>
            <a:ext cx="4754880" cy="594360"/>
          </a:xfrm>
          <a:prstGeom prst="rect">
            <a:avLst/>
          </a:prstGeom>
          <a:solidFill>
            <a:srgbClr val="FFFFFF"/>
          </a:solidFill>
          <a:ln w="6350">
            <a:solidFill>
              <a:srgbClr val="E3E0E8"/>
            </a:solidFill>
            <a:prstDash val="solid"/>
          </a:ln>
        </p:spPr>
        <p:txBody>
          <a:bodyPr/>
          <a:lstStyle/>
          <a:p>
            <a:endParaRPr/>
          </a:p>
        </p:txBody>
      </p:sp>
      <p:sp>
        <p:nvSpPr>
          <p:cNvPr id="43" name="Text 40"/>
          <p:cNvSpPr/>
          <p:nvPr/>
        </p:nvSpPr>
        <p:spPr>
          <a:xfrm>
            <a:off x="2240280" y="201168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Draw the real C1 context of your own system</a:t>
            </a:r>
            <a:endParaRPr lang="en-US" sz="1200" dirty="0"/>
          </a:p>
        </p:txBody>
      </p:sp>
      <p:sp>
        <p:nvSpPr>
          <p:cNvPr id="44" name="Shape 41"/>
          <p:cNvSpPr/>
          <p:nvPr/>
        </p:nvSpPr>
        <p:spPr>
          <a:xfrm>
            <a:off x="6903720" y="2011680"/>
            <a:ext cx="4754880" cy="594360"/>
          </a:xfrm>
          <a:prstGeom prst="rect">
            <a:avLst/>
          </a:prstGeom>
          <a:solidFill>
            <a:srgbClr val="FFFFFF"/>
          </a:solidFill>
          <a:ln w="6350">
            <a:solidFill>
              <a:srgbClr val="E3E0E8"/>
            </a:solidFill>
            <a:prstDash val="solid"/>
          </a:ln>
        </p:spPr>
        <p:txBody>
          <a:bodyPr/>
          <a:lstStyle/>
          <a:p>
            <a:endParaRPr/>
          </a:p>
        </p:txBody>
      </p:sp>
      <p:sp>
        <p:nvSpPr>
          <p:cNvPr id="45" name="Text 42"/>
          <p:cNvSpPr/>
          <p:nvPr/>
        </p:nvSpPr>
        <p:spPr>
          <a:xfrm>
            <a:off x="6995160" y="201168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One page, every arrow carries a verb</a:t>
            </a:r>
            <a:endParaRPr lang="en-US" sz="1200" dirty="0"/>
          </a:p>
        </p:txBody>
      </p:sp>
      <p:sp>
        <p:nvSpPr>
          <p:cNvPr id="46" name="Shape 43"/>
          <p:cNvSpPr/>
          <p:nvPr/>
        </p:nvSpPr>
        <p:spPr>
          <a:xfrm>
            <a:off x="502920" y="2606040"/>
            <a:ext cx="1645920" cy="594360"/>
          </a:xfrm>
          <a:prstGeom prst="rect">
            <a:avLst/>
          </a:prstGeom>
          <a:solidFill>
            <a:srgbClr val="FBFCFD"/>
          </a:solidFill>
          <a:ln w="6350">
            <a:solidFill>
              <a:srgbClr val="E3E0E8"/>
            </a:solidFill>
            <a:prstDash val="solid"/>
          </a:ln>
        </p:spPr>
        <p:txBody>
          <a:bodyPr/>
          <a:lstStyle/>
          <a:p>
            <a:endParaRPr/>
          </a:p>
        </p:txBody>
      </p:sp>
      <p:sp>
        <p:nvSpPr>
          <p:cNvPr id="47" name="Text 44"/>
          <p:cNvSpPr/>
          <p:nvPr/>
        </p:nvSpPr>
        <p:spPr>
          <a:xfrm>
            <a:off x="594360" y="2606040"/>
            <a:ext cx="1463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2  Decide</a:t>
            </a:r>
            <a:endParaRPr lang="en-US" sz="1200" dirty="0"/>
          </a:p>
        </p:txBody>
      </p:sp>
      <p:sp>
        <p:nvSpPr>
          <p:cNvPr id="48" name="Shape 45"/>
          <p:cNvSpPr/>
          <p:nvPr/>
        </p:nvSpPr>
        <p:spPr>
          <a:xfrm>
            <a:off x="2148840" y="2606040"/>
            <a:ext cx="4754880" cy="594360"/>
          </a:xfrm>
          <a:prstGeom prst="rect">
            <a:avLst/>
          </a:prstGeom>
          <a:solidFill>
            <a:srgbClr val="FBFCFD"/>
          </a:solidFill>
          <a:ln w="6350">
            <a:solidFill>
              <a:srgbClr val="E3E0E8"/>
            </a:solidFill>
            <a:prstDash val="solid"/>
          </a:ln>
        </p:spPr>
        <p:txBody>
          <a:bodyPr/>
          <a:lstStyle/>
          <a:p>
            <a:endParaRPr/>
          </a:p>
        </p:txBody>
      </p:sp>
      <p:sp>
        <p:nvSpPr>
          <p:cNvPr id="49" name="Text 46"/>
          <p:cNvSpPr/>
          <p:nvPr/>
        </p:nvSpPr>
        <p:spPr>
          <a:xfrm>
            <a:off x="2240280" y="260604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Write one ADR for a decision you already made</a:t>
            </a:r>
            <a:endParaRPr lang="en-US" sz="1200" dirty="0"/>
          </a:p>
        </p:txBody>
      </p:sp>
      <p:sp>
        <p:nvSpPr>
          <p:cNvPr id="50" name="Shape 47"/>
          <p:cNvSpPr/>
          <p:nvPr/>
        </p:nvSpPr>
        <p:spPr>
          <a:xfrm>
            <a:off x="6903720" y="2606040"/>
            <a:ext cx="4754880" cy="594360"/>
          </a:xfrm>
          <a:prstGeom prst="rect">
            <a:avLst/>
          </a:prstGeom>
          <a:solidFill>
            <a:srgbClr val="FBFCFD"/>
          </a:solidFill>
          <a:ln w="6350">
            <a:solidFill>
              <a:srgbClr val="E3E0E8"/>
            </a:solidFill>
            <a:prstDash val="solid"/>
          </a:ln>
        </p:spPr>
        <p:txBody>
          <a:bodyPr/>
          <a:lstStyle/>
          <a:p>
            <a:endParaRPr/>
          </a:p>
        </p:txBody>
      </p:sp>
      <p:sp>
        <p:nvSpPr>
          <p:cNvPr id="51" name="Text 48"/>
          <p:cNvSpPr/>
          <p:nvPr/>
        </p:nvSpPr>
        <p:spPr>
          <a:xfrm>
            <a:off x="6995160" y="260604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Context, decision, cost, owner, status</a:t>
            </a:r>
            <a:endParaRPr lang="en-US" sz="1200" dirty="0"/>
          </a:p>
        </p:txBody>
      </p:sp>
      <p:sp>
        <p:nvSpPr>
          <p:cNvPr id="52" name="Shape 49"/>
          <p:cNvSpPr/>
          <p:nvPr/>
        </p:nvSpPr>
        <p:spPr>
          <a:xfrm>
            <a:off x="502920" y="3200400"/>
            <a:ext cx="1645920" cy="594360"/>
          </a:xfrm>
          <a:prstGeom prst="rect">
            <a:avLst/>
          </a:prstGeom>
          <a:solidFill>
            <a:srgbClr val="FFFFFF"/>
          </a:solidFill>
          <a:ln w="6350">
            <a:solidFill>
              <a:srgbClr val="E3E0E8"/>
            </a:solidFill>
            <a:prstDash val="solid"/>
          </a:ln>
        </p:spPr>
        <p:txBody>
          <a:bodyPr/>
          <a:lstStyle/>
          <a:p>
            <a:endParaRPr/>
          </a:p>
        </p:txBody>
      </p:sp>
      <p:sp>
        <p:nvSpPr>
          <p:cNvPr id="53" name="Text 50"/>
          <p:cNvSpPr/>
          <p:nvPr/>
        </p:nvSpPr>
        <p:spPr>
          <a:xfrm>
            <a:off x="594360" y="3200400"/>
            <a:ext cx="1463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3  Guard</a:t>
            </a:r>
            <a:endParaRPr lang="en-US" sz="1200" dirty="0"/>
          </a:p>
        </p:txBody>
      </p:sp>
      <p:sp>
        <p:nvSpPr>
          <p:cNvPr id="54" name="Shape 51"/>
          <p:cNvSpPr/>
          <p:nvPr/>
        </p:nvSpPr>
        <p:spPr>
          <a:xfrm>
            <a:off x="2148840" y="3200400"/>
            <a:ext cx="4754880" cy="594360"/>
          </a:xfrm>
          <a:prstGeom prst="rect">
            <a:avLst/>
          </a:prstGeom>
          <a:solidFill>
            <a:srgbClr val="FFFFFF"/>
          </a:solidFill>
          <a:ln w="6350">
            <a:solidFill>
              <a:srgbClr val="E3E0E8"/>
            </a:solidFill>
            <a:prstDash val="solid"/>
          </a:ln>
        </p:spPr>
        <p:txBody>
          <a:bodyPr/>
          <a:lstStyle/>
          <a:p>
            <a:endParaRPr/>
          </a:p>
        </p:txBody>
      </p:sp>
      <p:sp>
        <p:nvSpPr>
          <p:cNvPr id="55" name="Text 52"/>
          <p:cNvSpPr/>
          <p:nvPr/>
        </p:nvSpPr>
        <p:spPr>
          <a:xfrm>
            <a:off x="2240280" y="320040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Add one fitness function to the pipeline</a:t>
            </a:r>
            <a:endParaRPr lang="en-US" sz="1200" dirty="0"/>
          </a:p>
        </p:txBody>
      </p:sp>
      <p:sp>
        <p:nvSpPr>
          <p:cNvPr id="56" name="Shape 53"/>
          <p:cNvSpPr/>
          <p:nvPr/>
        </p:nvSpPr>
        <p:spPr>
          <a:xfrm>
            <a:off x="6903720" y="3200400"/>
            <a:ext cx="4754880" cy="594360"/>
          </a:xfrm>
          <a:prstGeom prst="rect">
            <a:avLst/>
          </a:prstGeom>
          <a:solidFill>
            <a:srgbClr val="FFFFFF"/>
          </a:solidFill>
          <a:ln w="6350">
            <a:solidFill>
              <a:srgbClr val="E3E0E8"/>
            </a:solidFill>
            <a:prstDash val="solid"/>
          </a:ln>
        </p:spPr>
        <p:txBody>
          <a:bodyPr/>
          <a:lstStyle/>
          <a:p>
            <a:endParaRPr/>
          </a:p>
        </p:txBody>
      </p:sp>
      <p:sp>
        <p:nvSpPr>
          <p:cNvPr id="57" name="Text 54"/>
          <p:cNvSpPr/>
          <p:nvPr/>
        </p:nvSpPr>
        <p:spPr>
          <a:xfrm>
            <a:off x="6995160" y="320040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test that can fail a pull request</a:t>
            </a:r>
            <a:endParaRPr lang="en-US" sz="1200" dirty="0"/>
          </a:p>
        </p:txBody>
      </p:sp>
      <p:sp>
        <p:nvSpPr>
          <p:cNvPr id="58" name="Shape 55"/>
          <p:cNvSpPr/>
          <p:nvPr/>
        </p:nvSpPr>
        <p:spPr>
          <a:xfrm>
            <a:off x="502920" y="3794760"/>
            <a:ext cx="1645920" cy="594360"/>
          </a:xfrm>
          <a:prstGeom prst="rect">
            <a:avLst/>
          </a:prstGeom>
          <a:solidFill>
            <a:srgbClr val="FBFCFD"/>
          </a:solidFill>
          <a:ln w="6350">
            <a:solidFill>
              <a:srgbClr val="E3E0E8"/>
            </a:solidFill>
            <a:prstDash val="solid"/>
          </a:ln>
        </p:spPr>
        <p:txBody>
          <a:bodyPr/>
          <a:lstStyle/>
          <a:p>
            <a:endParaRPr/>
          </a:p>
        </p:txBody>
      </p:sp>
      <p:sp>
        <p:nvSpPr>
          <p:cNvPr id="59" name="Text 56"/>
          <p:cNvSpPr/>
          <p:nvPr/>
        </p:nvSpPr>
        <p:spPr>
          <a:xfrm>
            <a:off x="594360" y="3794760"/>
            <a:ext cx="146304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4  Measure</a:t>
            </a:r>
            <a:endParaRPr lang="en-US" sz="1200" dirty="0"/>
          </a:p>
        </p:txBody>
      </p:sp>
      <p:sp>
        <p:nvSpPr>
          <p:cNvPr id="60" name="Shape 57"/>
          <p:cNvSpPr/>
          <p:nvPr/>
        </p:nvSpPr>
        <p:spPr>
          <a:xfrm>
            <a:off x="2148840" y="3794760"/>
            <a:ext cx="4754880" cy="594360"/>
          </a:xfrm>
          <a:prstGeom prst="rect">
            <a:avLst/>
          </a:prstGeom>
          <a:solidFill>
            <a:srgbClr val="FBFCFD"/>
          </a:solidFill>
          <a:ln w="6350">
            <a:solidFill>
              <a:srgbClr val="E3E0E8"/>
            </a:solidFill>
            <a:prstDash val="solid"/>
          </a:ln>
        </p:spPr>
        <p:txBody>
          <a:bodyPr/>
          <a:lstStyle/>
          <a:p>
            <a:endParaRPr/>
          </a:p>
        </p:txBody>
      </p:sp>
      <p:sp>
        <p:nvSpPr>
          <p:cNvPr id="61" name="Text 58"/>
          <p:cNvSpPr/>
          <p:nvPr/>
        </p:nvSpPr>
        <p:spPr>
          <a:xfrm>
            <a:off x="2240280" y="379476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Write one SLO and one rollback sentence</a:t>
            </a:r>
            <a:endParaRPr lang="en-US" sz="1200" dirty="0"/>
          </a:p>
        </p:txBody>
      </p:sp>
      <p:sp>
        <p:nvSpPr>
          <p:cNvPr id="62" name="Shape 59"/>
          <p:cNvSpPr/>
          <p:nvPr/>
        </p:nvSpPr>
        <p:spPr>
          <a:xfrm>
            <a:off x="6903720" y="3794760"/>
            <a:ext cx="4754880" cy="594360"/>
          </a:xfrm>
          <a:prstGeom prst="rect">
            <a:avLst/>
          </a:prstGeom>
          <a:solidFill>
            <a:srgbClr val="FBFCFD"/>
          </a:solidFill>
          <a:ln w="6350">
            <a:solidFill>
              <a:srgbClr val="E3E0E8"/>
            </a:solidFill>
            <a:prstDash val="solid"/>
          </a:ln>
        </p:spPr>
        <p:txBody>
          <a:bodyPr/>
          <a:lstStyle/>
          <a:p>
            <a:endParaRPr/>
          </a:p>
        </p:txBody>
      </p:sp>
      <p:sp>
        <p:nvSpPr>
          <p:cNvPr id="63" name="Text 60"/>
          <p:cNvSpPr/>
          <p:nvPr/>
        </p:nvSpPr>
        <p:spPr>
          <a:xfrm>
            <a:off x="6995160" y="3794760"/>
            <a:ext cx="4572000" cy="594360"/>
          </a:xfrm>
          <a:prstGeom prst="rect">
            <a:avLst/>
          </a:prstGeom>
          <a:noFill/>
          <a:ln/>
        </p:spPr>
        <p:txBody>
          <a:bodyPr wrap="square" rtlCol="0" anchor="ctr"/>
          <a:lstStyle/>
          <a:p>
            <a:pPr marL="0" indent="0">
              <a:buNone/>
            </a:pPr>
            <a:r>
              <a:rPr lang="en-US" sz="1200" dirty="0">
                <a:solidFill>
                  <a:srgbClr val="24162A"/>
                </a:solidFill>
                <a:latin typeface="Segoe UI" pitchFamily="34" charset="0"/>
                <a:ea typeface="Segoe UI" pitchFamily="34" charset="-122"/>
                <a:cs typeface="Segoe UI" pitchFamily="34" charset="-120"/>
              </a:rPr>
              <a:t>A night operator can follow both</a:t>
            </a:r>
            <a:endParaRPr lang="en-US"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If you remember only five things from the week</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These five unlock everything else.</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114</a:t>
            </a:r>
            <a:endParaRPr lang="en-US" sz="1000" dirty="0"/>
          </a:p>
        </p:txBody>
      </p:sp>
      <p:sp>
        <p:nvSpPr>
          <p:cNvPr id="33" name="Shape 31"/>
          <p:cNvSpPr/>
          <p:nvPr/>
        </p:nvSpPr>
        <p:spPr>
          <a:xfrm>
            <a:off x="502920" y="1389888"/>
            <a:ext cx="402336" cy="402336"/>
          </a:xfrm>
          <a:prstGeom prst="ellipse">
            <a:avLst/>
          </a:prstGeom>
          <a:solidFill>
            <a:srgbClr val="5F1B3C"/>
          </a:solidFill>
          <a:ln/>
        </p:spPr>
        <p:txBody>
          <a:bodyPr/>
          <a:lstStyle/>
          <a:p>
            <a:endParaRPr/>
          </a:p>
        </p:txBody>
      </p:sp>
      <p:sp>
        <p:nvSpPr>
          <p:cNvPr id="34" name="Text 32"/>
          <p:cNvSpPr/>
          <p:nvPr/>
        </p:nvSpPr>
        <p:spPr>
          <a:xfrm>
            <a:off x="502920" y="1389888"/>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35" name="Text 33"/>
          <p:cNvSpPr/>
          <p:nvPr/>
        </p:nvSpPr>
        <p:spPr>
          <a:xfrm>
            <a:off x="1069848" y="1298448"/>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Name the level and the domain before you propose any change.</a:t>
            </a:r>
            <a:endParaRPr lang="en-US" sz="1600" dirty="0"/>
          </a:p>
        </p:txBody>
      </p:sp>
      <p:sp>
        <p:nvSpPr>
          <p:cNvPr id="36" name="Shape 34"/>
          <p:cNvSpPr/>
          <p:nvPr/>
        </p:nvSpPr>
        <p:spPr>
          <a:xfrm>
            <a:off x="502920" y="2103120"/>
            <a:ext cx="402336" cy="402336"/>
          </a:xfrm>
          <a:prstGeom prst="ellipse">
            <a:avLst/>
          </a:prstGeom>
          <a:solidFill>
            <a:srgbClr val="5F1B3C"/>
          </a:solidFill>
          <a:ln/>
        </p:spPr>
        <p:txBody>
          <a:bodyPr/>
          <a:lstStyle/>
          <a:p>
            <a:endParaRPr/>
          </a:p>
        </p:txBody>
      </p:sp>
      <p:sp>
        <p:nvSpPr>
          <p:cNvPr id="37" name="Text 35"/>
          <p:cNvSpPr/>
          <p:nvPr/>
        </p:nvSpPr>
        <p:spPr>
          <a:xfrm>
            <a:off x="502920" y="2103120"/>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38" name="Text 36"/>
          <p:cNvSpPr/>
          <p:nvPr/>
        </p:nvSpPr>
        <p:spPr>
          <a:xfrm>
            <a:off x="1069848" y="2011680"/>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Write the decision and its cost. A meeting is not memory.</a:t>
            </a:r>
            <a:endParaRPr lang="en-US" sz="1600" dirty="0"/>
          </a:p>
        </p:txBody>
      </p:sp>
      <p:sp>
        <p:nvSpPr>
          <p:cNvPr id="39" name="Shape 37"/>
          <p:cNvSpPr/>
          <p:nvPr/>
        </p:nvSpPr>
        <p:spPr>
          <a:xfrm>
            <a:off x="502920" y="2816352"/>
            <a:ext cx="402336" cy="402336"/>
          </a:xfrm>
          <a:prstGeom prst="ellipse">
            <a:avLst/>
          </a:prstGeom>
          <a:solidFill>
            <a:srgbClr val="5F1B3C"/>
          </a:solidFill>
          <a:ln/>
        </p:spPr>
        <p:txBody>
          <a:bodyPr/>
          <a:lstStyle/>
          <a:p>
            <a:endParaRPr/>
          </a:p>
        </p:txBody>
      </p:sp>
      <p:sp>
        <p:nvSpPr>
          <p:cNvPr id="40" name="Text 38"/>
          <p:cNvSpPr/>
          <p:nvPr/>
        </p:nvSpPr>
        <p:spPr>
          <a:xfrm>
            <a:off x="502920" y="2816352"/>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41" name="Text 39"/>
          <p:cNvSpPr/>
          <p:nvPr/>
        </p:nvSpPr>
        <p:spPr>
          <a:xfrm>
            <a:off x="1069848" y="2724912"/>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Split by meaning and by ownership, never by layer or by fashion.</a:t>
            </a:r>
            <a:endParaRPr lang="en-US" sz="1600" dirty="0"/>
          </a:p>
        </p:txBody>
      </p:sp>
      <p:sp>
        <p:nvSpPr>
          <p:cNvPr id="42" name="Shape 40"/>
          <p:cNvSpPr/>
          <p:nvPr/>
        </p:nvSpPr>
        <p:spPr>
          <a:xfrm>
            <a:off x="502920" y="3529584"/>
            <a:ext cx="402336" cy="402336"/>
          </a:xfrm>
          <a:prstGeom prst="ellipse">
            <a:avLst/>
          </a:prstGeom>
          <a:solidFill>
            <a:srgbClr val="5F1B3C"/>
          </a:solidFill>
          <a:ln/>
        </p:spPr>
        <p:txBody>
          <a:bodyPr/>
          <a:lstStyle/>
          <a:p>
            <a:endParaRPr/>
          </a:p>
        </p:txBody>
      </p:sp>
      <p:sp>
        <p:nvSpPr>
          <p:cNvPr id="43" name="Text 41"/>
          <p:cNvSpPr/>
          <p:nvPr/>
        </p:nvSpPr>
        <p:spPr>
          <a:xfrm>
            <a:off x="502920" y="3529584"/>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44" name="Text 42"/>
          <p:cNvSpPr/>
          <p:nvPr/>
        </p:nvSpPr>
        <p:spPr>
          <a:xfrm>
            <a:off x="1069848" y="3438144"/>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Contracts and events first, then code, then more copies of the service.</a:t>
            </a:r>
            <a:endParaRPr lang="en-US" sz="1600" dirty="0"/>
          </a:p>
        </p:txBody>
      </p:sp>
      <p:sp>
        <p:nvSpPr>
          <p:cNvPr id="45" name="Shape 43"/>
          <p:cNvSpPr/>
          <p:nvPr/>
        </p:nvSpPr>
        <p:spPr>
          <a:xfrm>
            <a:off x="502920" y="4242816"/>
            <a:ext cx="402336" cy="402336"/>
          </a:xfrm>
          <a:prstGeom prst="ellipse">
            <a:avLst/>
          </a:prstGeom>
          <a:solidFill>
            <a:srgbClr val="5F1B3C"/>
          </a:solidFill>
          <a:ln/>
        </p:spPr>
        <p:txBody>
          <a:bodyPr/>
          <a:lstStyle/>
          <a:p>
            <a:endParaRPr/>
          </a:p>
        </p:txBody>
      </p:sp>
      <p:sp>
        <p:nvSpPr>
          <p:cNvPr id="46" name="Text 44"/>
          <p:cNvSpPr/>
          <p:nvPr/>
        </p:nvSpPr>
        <p:spPr>
          <a:xfrm>
            <a:off x="502920" y="4242816"/>
            <a:ext cx="402336" cy="402336"/>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47" name="Text 45"/>
          <p:cNvSpPr/>
          <p:nvPr/>
        </p:nvSpPr>
        <p:spPr>
          <a:xfrm>
            <a:off x="1069848" y="4151376"/>
            <a:ext cx="10618927" cy="640080"/>
          </a:xfrm>
          <a:prstGeom prst="rect">
            <a:avLst/>
          </a:prstGeom>
          <a:noFill/>
          <a:ln/>
        </p:spPr>
        <p:txBody>
          <a:bodyPr wrap="square" rtlCol="0" anchor="ctr"/>
          <a:lstStyle/>
          <a:p>
            <a:pPr marL="0" indent="0">
              <a:buNone/>
            </a:pPr>
            <a:r>
              <a:rPr lang="en-US" sz="1600" dirty="0">
                <a:solidFill>
                  <a:srgbClr val="24162A"/>
                </a:solidFill>
                <a:latin typeface="Segoe UI" pitchFamily="34" charset="0"/>
                <a:ea typeface="Segoe UI" pitchFamily="34" charset="-122"/>
                <a:cs typeface="Segoe UI" pitchFamily="34" charset="-120"/>
              </a:rPr>
              <a:t>A rule is real only when a test can fail, and a slice is real only when you can undo it.</a:t>
            </a:r>
            <a:endParaRPr lang="en-US" sz="16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5F1B3C"/>
          </a:solidFill>
          <a:ln/>
        </p:spPr>
        <p:txBody>
          <a:bodyPr/>
          <a:lstStyle/>
          <a:p>
            <a:endParaRPr/>
          </a:p>
        </p:txBody>
      </p:sp>
      <p:sp>
        <p:nvSpPr>
          <p:cNvPr id="3" name="Shape 1"/>
          <p:cNvSpPr/>
          <p:nvPr/>
        </p:nvSpPr>
        <p:spPr>
          <a:xfrm>
            <a:off x="297180" y="315468"/>
            <a:ext cx="137160" cy="137160"/>
          </a:xfrm>
          <a:prstGeom prst="diamond">
            <a:avLst/>
          </a:prstGeom>
          <a:solidFill>
            <a:srgbClr val="5F1B3C"/>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5F1B3C"/>
          </a:solidFill>
          <a:ln/>
        </p:spPr>
        <p:txBody>
          <a:bodyPr/>
          <a:lstStyle/>
          <a:p>
            <a:endParaRPr/>
          </a:p>
        </p:txBody>
      </p:sp>
      <p:sp>
        <p:nvSpPr>
          <p:cNvPr id="6" name="Shape 4"/>
          <p:cNvSpPr/>
          <p:nvPr/>
        </p:nvSpPr>
        <p:spPr>
          <a:xfrm>
            <a:off x="10591495" y="228600"/>
            <a:ext cx="82296" cy="82296"/>
          </a:xfrm>
          <a:prstGeom prst="ellipse">
            <a:avLst/>
          </a:prstGeom>
          <a:ln w="12700">
            <a:solidFill>
              <a:srgbClr val="43BFB8"/>
            </a:solidFill>
            <a:prstDash val="solid"/>
          </a:ln>
        </p:spPr>
        <p:txBody>
          <a:bodyPr/>
          <a:lstStyle/>
          <a:p>
            <a:endParaRPr/>
          </a:p>
        </p:txBody>
      </p:sp>
      <p:sp>
        <p:nvSpPr>
          <p:cNvPr id="7" name="Shape 5"/>
          <p:cNvSpPr/>
          <p:nvPr/>
        </p:nvSpPr>
        <p:spPr>
          <a:xfrm>
            <a:off x="10911535" y="182880"/>
            <a:ext cx="100584" cy="100584"/>
          </a:xfrm>
          <a:prstGeom prst="rect">
            <a:avLst/>
          </a:prstGeom>
          <a:ln w="12700">
            <a:solidFill>
              <a:srgbClr val="43BFB8"/>
            </a:solidFill>
            <a:prstDash val="solid"/>
          </a:ln>
        </p:spPr>
        <p:txBody>
          <a:bodyPr/>
          <a:lstStyle/>
          <a:p>
            <a:endParaRPr/>
          </a:p>
        </p:txBody>
      </p:sp>
      <p:sp>
        <p:nvSpPr>
          <p:cNvPr id="8" name="Shape 6"/>
          <p:cNvSpPr/>
          <p:nvPr/>
        </p:nvSpPr>
        <p:spPr>
          <a:xfrm>
            <a:off x="11231575" y="274320"/>
            <a:ext cx="82296" cy="82296"/>
          </a:xfrm>
          <a:prstGeom prst="ellipse">
            <a:avLst/>
          </a:prstGeom>
          <a:ln w="12700">
            <a:solidFill>
              <a:srgbClr val="43BFB8"/>
            </a:solidFill>
            <a:prstDash val="solid"/>
          </a:ln>
        </p:spPr>
        <p:txBody>
          <a:bodyPr/>
          <a:lstStyle/>
          <a:p>
            <a:endParaRPr/>
          </a:p>
        </p:txBody>
      </p:sp>
      <p:sp>
        <p:nvSpPr>
          <p:cNvPr id="9" name="Shape 7"/>
          <p:cNvSpPr/>
          <p:nvPr/>
        </p:nvSpPr>
        <p:spPr>
          <a:xfrm>
            <a:off x="11551615" y="228600"/>
            <a:ext cx="82296" cy="82296"/>
          </a:xfrm>
          <a:prstGeom prst="ellipse">
            <a:avLst/>
          </a:prstGeom>
          <a:ln w="12700">
            <a:solidFill>
              <a:srgbClr val="43BFB8"/>
            </a:solidFill>
            <a:prstDash val="solid"/>
          </a:ln>
        </p:spPr>
        <p:txBody>
          <a:bodyPr/>
          <a:lstStyle/>
          <a:p>
            <a:endParaRPr/>
          </a:p>
        </p:txBody>
      </p:sp>
      <p:sp>
        <p:nvSpPr>
          <p:cNvPr id="10" name="Shape 8"/>
          <p:cNvSpPr/>
          <p:nvPr/>
        </p:nvSpPr>
        <p:spPr>
          <a:xfrm>
            <a:off x="11871655" y="201168"/>
            <a:ext cx="100584" cy="100584"/>
          </a:xfrm>
          <a:prstGeom prst="rect">
            <a:avLst/>
          </a:prstGeom>
          <a:ln w="12700">
            <a:solidFill>
              <a:srgbClr val="43BFB8"/>
            </a:solidFill>
            <a:prstDash val="solid"/>
          </a:ln>
        </p:spPr>
        <p:txBody>
          <a:bodyPr/>
          <a:lstStyle/>
          <a:p>
            <a:endParaRPr/>
          </a:p>
        </p:txBody>
      </p:sp>
      <p:sp>
        <p:nvSpPr>
          <p:cNvPr id="11" name="Shape 9"/>
          <p:cNvSpPr/>
          <p:nvPr/>
        </p:nvSpPr>
        <p:spPr>
          <a:xfrm>
            <a:off x="10774375" y="502920"/>
            <a:ext cx="82296" cy="82296"/>
          </a:xfrm>
          <a:prstGeom prst="ellipse">
            <a:avLst/>
          </a:prstGeom>
          <a:ln w="12700">
            <a:solidFill>
              <a:srgbClr val="43BFB8"/>
            </a:solidFill>
            <a:prstDash val="solid"/>
          </a:ln>
        </p:spPr>
        <p:txBody>
          <a:bodyPr/>
          <a:lstStyle/>
          <a:p>
            <a:endParaRPr/>
          </a:p>
        </p:txBody>
      </p:sp>
      <p:sp>
        <p:nvSpPr>
          <p:cNvPr id="12" name="Shape 10"/>
          <p:cNvSpPr/>
          <p:nvPr/>
        </p:nvSpPr>
        <p:spPr>
          <a:xfrm>
            <a:off x="11094415" y="475488"/>
            <a:ext cx="100584" cy="100584"/>
          </a:xfrm>
          <a:prstGeom prst="rect">
            <a:avLst/>
          </a:prstGeom>
          <a:ln w="12700">
            <a:solidFill>
              <a:srgbClr val="43BFB8"/>
            </a:solidFill>
            <a:prstDash val="solid"/>
          </a:ln>
        </p:spPr>
        <p:txBody>
          <a:bodyPr/>
          <a:lstStyle/>
          <a:p>
            <a:endParaRPr/>
          </a:p>
        </p:txBody>
      </p:sp>
      <p:sp>
        <p:nvSpPr>
          <p:cNvPr id="13" name="Shape 11"/>
          <p:cNvSpPr/>
          <p:nvPr/>
        </p:nvSpPr>
        <p:spPr>
          <a:xfrm>
            <a:off x="11414455" y="530352"/>
            <a:ext cx="82296" cy="82296"/>
          </a:xfrm>
          <a:prstGeom prst="ellipse">
            <a:avLst/>
          </a:prstGeom>
          <a:ln w="12700">
            <a:solidFill>
              <a:srgbClr val="43BFB8"/>
            </a:solidFill>
            <a:prstDash val="solid"/>
          </a:ln>
        </p:spPr>
        <p:txBody>
          <a:bodyPr/>
          <a:lstStyle/>
          <a:p>
            <a:endParaRPr/>
          </a:p>
        </p:txBody>
      </p:sp>
      <p:sp>
        <p:nvSpPr>
          <p:cNvPr id="14" name="Shape 12"/>
          <p:cNvSpPr/>
          <p:nvPr/>
        </p:nvSpPr>
        <p:spPr>
          <a:xfrm>
            <a:off x="11734495" y="502920"/>
            <a:ext cx="100584" cy="100584"/>
          </a:xfrm>
          <a:prstGeom prst="rect">
            <a:avLst/>
          </a:prstGeom>
          <a:ln w="12700">
            <a:solidFill>
              <a:srgbClr val="43BFB8"/>
            </a:solidFill>
            <a:prstDash val="solid"/>
          </a:ln>
        </p:spPr>
        <p:txBody>
          <a:bodyPr/>
          <a:lstStyle/>
          <a:p>
            <a:endParaRPr/>
          </a:p>
        </p:txBody>
      </p:sp>
      <p:sp>
        <p:nvSpPr>
          <p:cNvPr id="15" name="Shape 13"/>
          <p:cNvSpPr/>
          <p:nvPr/>
        </p:nvSpPr>
        <p:spPr>
          <a:xfrm>
            <a:off x="12008815" y="475488"/>
            <a:ext cx="82296" cy="82296"/>
          </a:xfrm>
          <a:prstGeom prst="ellipse">
            <a:avLst/>
          </a:prstGeom>
          <a:ln w="12700">
            <a:solidFill>
              <a:srgbClr val="43BFB8"/>
            </a:solidFill>
            <a:prstDash val="solid"/>
          </a:ln>
        </p:spPr>
        <p:txBody>
          <a:bodyPr/>
          <a:lstStyle/>
          <a:p>
            <a:endParaRPr/>
          </a:p>
        </p:txBody>
      </p:sp>
      <p:sp>
        <p:nvSpPr>
          <p:cNvPr id="16" name="Shape 14"/>
          <p:cNvSpPr/>
          <p:nvPr/>
        </p:nvSpPr>
        <p:spPr>
          <a:xfrm>
            <a:off x="10637215" y="777240"/>
            <a:ext cx="82296" cy="82296"/>
          </a:xfrm>
          <a:prstGeom prst="ellipse">
            <a:avLst/>
          </a:prstGeom>
          <a:ln w="12700">
            <a:solidFill>
              <a:srgbClr val="43BFB8"/>
            </a:solidFill>
            <a:prstDash val="solid"/>
          </a:ln>
        </p:spPr>
        <p:txBody>
          <a:bodyPr/>
          <a:lstStyle/>
          <a:p>
            <a:endParaRPr/>
          </a:p>
        </p:txBody>
      </p:sp>
      <p:sp>
        <p:nvSpPr>
          <p:cNvPr id="17" name="Shape 15"/>
          <p:cNvSpPr/>
          <p:nvPr/>
        </p:nvSpPr>
        <p:spPr>
          <a:xfrm>
            <a:off x="10957255" y="749808"/>
            <a:ext cx="100584" cy="100584"/>
          </a:xfrm>
          <a:prstGeom prst="rect">
            <a:avLst/>
          </a:prstGeom>
          <a:ln w="12700">
            <a:solidFill>
              <a:srgbClr val="43BFB8"/>
            </a:solidFill>
            <a:prstDash val="solid"/>
          </a:ln>
        </p:spPr>
        <p:txBody>
          <a:bodyPr/>
          <a:lstStyle/>
          <a:p>
            <a:endParaRPr/>
          </a:p>
        </p:txBody>
      </p:sp>
      <p:sp>
        <p:nvSpPr>
          <p:cNvPr id="18" name="Shape 16"/>
          <p:cNvSpPr/>
          <p:nvPr/>
        </p:nvSpPr>
        <p:spPr>
          <a:xfrm>
            <a:off x="11277295" y="804672"/>
            <a:ext cx="82296" cy="82296"/>
          </a:xfrm>
          <a:prstGeom prst="ellipse">
            <a:avLst/>
          </a:prstGeom>
          <a:ln w="12700">
            <a:solidFill>
              <a:srgbClr val="43BFB8"/>
            </a:solidFill>
            <a:prstDash val="solid"/>
          </a:ln>
        </p:spPr>
        <p:txBody>
          <a:bodyPr/>
          <a:lstStyle/>
          <a:p>
            <a:endParaRPr/>
          </a:p>
        </p:txBody>
      </p:sp>
      <p:sp>
        <p:nvSpPr>
          <p:cNvPr id="19" name="Shape 17"/>
          <p:cNvSpPr/>
          <p:nvPr/>
        </p:nvSpPr>
        <p:spPr>
          <a:xfrm>
            <a:off x="11597335" y="777240"/>
            <a:ext cx="100584" cy="100584"/>
          </a:xfrm>
          <a:prstGeom prst="rect">
            <a:avLst/>
          </a:prstGeom>
          <a:ln w="12700">
            <a:solidFill>
              <a:srgbClr val="43BFB8"/>
            </a:solidFill>
            <a:prstDash val="solid"/>
          </a:ln>
        </p:spPr>
        <p:txBody>
          <a:bodyPr/>
          <a:lstStyle/>
          <a:p>
            <a:endParaRPr/>
          </a:p>
        </p:txBody>
      </p:sp>
      <p:sp>
        <p:nvSpPr>
          <p:cNvPr id="20" name="Shape 18"/>
          <p:cNvSpPr/>
          <p:nvPr/>
        </p:nvSpPr>
        <p:spPr>
          <a:xfrm>
            <a:off x="11917375" y="749808"/>
            <a:ext cx="82296" cy="82296"/>
          </a:xfrm>
          <a:prstGeom prst="ellipse">
            <a:avLst/>
          </a:prstGeom>
          <a:ln w="12700">
            <a:solidFill>
              <a:srgbClr val="43BFB8"/>
            </a:solidFill>
            <a:prstDash val="solid"/>
          </a:ln>
        </p:spPr>
        <p:txBody>
          <a:bodyPr/>
          <a:lstStyle/>
          <a:p>
            <a:endParaRPr/>
          </a:p>
        </p:txBody>
      </p:sp>
      <p:sp>
        <p:nvSpPr>
          <p:cNvPr id="21" name="Shape 19"/>
          <p:cNvSpPr/>
          <p:nvPr/>
        </p:nvSpPr>
        <p:spPr>
          <a:xfrm>
            <a:off x="10820095" y="1051560"/>
            <a:ext cx="100584" cy="100584"/>
          </a:xfrm>
          <a:prstGeom prst="rect">
            <a:avLst/>
          </a:prstGeom>
          <a:ln w="12700">
            <a:solidFill>
              <a:srgbClr val="43BFB8"/>
            </a:solidFill>
            <a:prstDash val="solid"/>
          </a:ln>
        </p:spPr>
        <p:txBody>
          <a:bodyPr/>
          <a:lstStyle/>
          <a:p>
            <a:endParaRPr/>
          </a:p>
        </p:txBody>
      </p:sp>
      <p:sp>
        <p:nvSpPr>
          <p:cNvPr id="22" name="Shape 20"/>
          <p:cNvSpPr/>
          <p:nvPr/>
        </p:nvSpPr>
        <p:spPr>
          <a:xfrm>
            <a:off x="11140135" y="1024128"/>
            <a:ext cx="82296" cy="82296"/>
          </a:xfrm>
          <a:prstGeom prst="ellipse">
            <a:avLst/>
          </a:prstGeom>
          <a:ln w="12700">
            <a:solidFill>
              <a:srgbClr val="43BFB8"/>
            </a:solidFill>
            <a:prstDash val="solid"/>
          </a:ln>
        </p:spPr>
        <p:txBody>
          <a:bodyPr/>
          <a:lstStyle/>
          <a:p>
            <a:endParaRPr/>
          </a:p>
        </p:txBody>
      </p:sp>
      <p:sp>
        <p:nvSpPr>
          <p:cNvPr id="23" name="Shape 21"/>
          <p:cNvSpPr/>
          <p:nvPr/>
        </p:nvSpPr>
        <p:spPr>
          <a:xfrm>
            <a:off x="11460175" y="1078992"/>
            <a:ext cx="100584" cy="100584"/>
          </a:xfrm>
          <a:prstGeom prst="rect">
            <a:avLst/>
          </a:prstGeom>
          <a:ln w="12700">
            <a:solidFill>
              <a:srgbClr val="43BFB8"/>
            </a:solidFill>
            <a:prstDash val="solid"/>
          </a:ln>
        </p:spPr>
        <p:txBody>
          <a:bodyPr/>
          <a:lstStyle/>
          <a:p>
            <a:endParaRPr/>
          </a:p>
        </p:txBody>
      </p:sp>
      <p:sp>
        <p:nvSpPr>
          <p:cNvPr id="24" name="Shape 22"/>
          <p:cNvSpPr/>
          <p:nvPr/>
        </p:nvSpPr>
        <p:spPr>
          <a:xfrm>
            <a:off x="11780215" y="1051560"/>
            <a:ext cx="82296" cy="82296"/>
          </a:xfrm>
          <a:prstGeom prst="ellipse">
            <a:avLst/>
          </a:prstGeom>
          <a:ln w="12700">
            <a:solidFill>
              <a:srgbClr val="43BFB8"/>
            </a:solidFill>
            <a:prstDash val="solid"/>
          </a:ln>
        </p:spPr>
        <p:txBody>
          <a:bodyPr/>
          <a:lstStyle/>
          <a:p>
            <a:endParaRPr/>
          </a:p>
        </p:txBody>
      </p:sp>
      <p:sp>
        <p:nvSpPr>
          <p:cNvPr id="25" name="Text 23"/>
          <p:cNvSpPr/>
          <p:nvPr/>
        </p:nvSpPr>
        <p:spPr>
          <a:xfrm>
            <a:off x="1097280" y="201168"/>
            <a:ext cx="10058400" cy="530352"/>
          </a:xfrm>
          <a:prstGeom prst="rect">
            <a:avLst/>
          </a:prstGeom>
          <a:noFill/>
          <a:ln/>
        </p:spPr>
        <p:txBody>
          <a:bodyPr wrap="square" rtlCol="0" anchor="ctr"/>
          <a:lstStyle/>
          <a:p>
            <a:pPr marL="0" indent="0" algn="l">
              <a:buNone/>
            </a:pPr>
            <a:r>
              <a:rPr lang="en-US" sz="2200" b="1" dirty="0">
                <a:solidFill>
                  <a:srgbClr val="5F1B3C"/>
                </a:solidFill>
                <a:latin typeface="Segoe UI" pitchFamily="34" charset="0"/>
                <a:ea typeface="Segoe UI" pitchFamily="34" charset="-122"/>
                <a:cs typeface="Segoe UI" pitchFamily="34" charset="-120"/>
              </a:rPr>
              <a:t>Post-assessment</a:t>
            </a:r>
            <a:endParaRPr lang="en-US" sz="2200" dirty="0"/>
          </a:p>
        </p:txBody>
      </p:sp>
      <p:sp>
        <p:nvSpPr>
          <p:cNvPr id="26" name="Text 24"/>
          <p:cNvSpPr/>
          <p:nvPr/>
        </p:nvSpPr>
        <p:spPr>
          <a:xfrm>
            <a:off x="1097280" y="731520"/>
            <a:ext cx="10241280" cy="384048"/>
          </a:xfrm>
          <a:prstGeom prst="rect">
            <a:avLst/>
          </a:prstGeom>
          <a:noFill/>
          <a:ln/>
        </p:spPr>
        <p:txBody>
          <a:bodyPr wrap="square" rtlCol="0" anchor="ctr"/>
          <a:lstStyle/>
          <a:p>
            <a:pPr marL="0" indent="0" algn="l">
              <a:buNone/>
            </a:pPr>
            <a:r>
              <a:rPr lang="en-US" sz="1300" dirty="0">
                <a:solidFill>
                  <a:srgbClr val="3D3348"/>
                </a:solidFill>
                <a:latin typeface="Segoe UI" pitchFamily="34" charset="0"/>
                <a:ea typeface="Segoe UI" pitchFamily="34" charset="-122"/>
                <a:cs typeface="Segoe UI" pitchFamily="34" charset="-120"/>
              </a:rPr>
              <a:t>The same 20 questions as the pre-test. Submit now, and we compare both scores together.</a:t>
            </a:r>
            <a:endParaRPr lang="en-US" sz="1300" dirty="0"/>
          </a:p>
        </p:txBody>
      </p:sp>
      <p:sp>
        <p:nvSpPr>
          <p:cNvPr id="27" name="Shape 25"/>
          <p:cNvSpPr/>
          <p:nvPr/>
        </p:nvSpPr>
        <p:spPr>
          <a:xfrm>
            <a:off x="502920" y="6355080"/>
            <a:ext cx="384048" cy="274320"/>
          </a:xfrm>
          <a:prstGeom prst="roundRect">
            <a:avLst>
              <a:gd name="adj" fmla="val 20000"/>
            </a:avLst>
          </a:prstGeom>
          <a:solidFill>
            <a:srgbClr val="5F1B3C"/>
          </a:solidFill>
          <a:ln/>
        </p:spPr>
        <p:txBody>
          <a:bodyPr/>
          <a:lstStyle/>
          <a:p>
            <a:endParaRPr/>
          </a:p>
        </p:txBody>
      </p:sp>
      <p:sp>
        <p:nvSpPr>
          <p:cNvPr id="28" name="Text 26"/>
          <p:cNvSpPr/>
          <p:nvPr/>
        </p:nvSpPr>
        <p:spPr>
          <a:xfrm>
            <a:off x="502920" y="6355080"/>
            <a:ext cx="384048" cy="274320"/>
          </a:xfrm>
          <a:prstGeom prst="rect">
            <a:avLst/>
          </a:prstGeom>
          <a:noFill/>
          <a:ln/>
        </p:spPr>
        <p:txBody>
          <a:bodyPr wrap="square" rtlCol="0" anchor="ctr"/>
          <a:lstStyle/>
          <a:p>
            <a:pPr marL="0" indent="0" algn="ctr">
              <a:buNone/>
            </a:pPr>
            <a:r>
              <a:rPr lang="en-US" sz="1500" b="1" i="1" dirty="0">
                <a:solidFill>
                  <a:srgbClr val="FFFFFF"/>
                </a:solidFill>
                <a:latin typeface="Segoe UI" pitchFamily="34" charset="0"/>
                <a:ea typeface="Segoe UI" pitchFamily="34" charset="-122"/>
                <a:cs typeface="Segoe UI" pitchFamily="34" charset="-120"/>
              </a:rPr>
              <a:t>ga</a:t>
            </a:r>
            <a:endParaRPr lang="en-US" sz="1500" dirty="0"/>
          </a:p>
        </p:txBody>
      </p:sp>
      <p:sp>
        <p:nvSpPr>
          <p:cNvPr id="29" name="Shape 27"/>
          <p:cNvSpPr/>
          <p:nvPr/>
        </p:nvSpPr>
        <p:spPr>
          <a:xfrm>
            <a:off x="1005840" y="6455664"/>
            <a:ext cx="73152" cy="91440"/>
          </a:xfrm>
          <a:prstGeom prst="rect">
            <a:avLst/>
          </a:prstGeom>
          <a:solidFill>
            <a:srgbClr val="E76F30"/>
          </a:solidFill>
          <a:ln/>
        </p:spPr>
        <p:txBody>
          <a:bodyPr/>
          <a:lstStyle/>
          <a:p>
            <a:endParaRPr/>
          </a:p>
        </p:txBody>
      </p:sp>
      <p:sp>
        <p:nvSpPr>
          <p:cNvPr id="30" name="Shape 28"/>
          <p:cNvSpPr/>
          <p:nvPr/>
        </p:nvSpPr>
        <p:spPr>
          <a:xfrm>
            <a:off x="1097280" y="6455664"/>
            <a:ext cx="128016" cy="91440"/>
          </a:xfrm>
          <a:prstGeom prst="rect">
            <a:avLst/>
          </a:prstGeom>
          <a:solidFill>
            <a:srgbClr val="5F1B3C"/>
          </a:solidFill>
          <a:ln/>
        </p:spPr>
        <p:txBody>
          <a:bodyPr/>
          <a:lstStyle/>
          <a:p>
            <a:endParaRPr/>
          </a:p>
        </p:txBody>
      </p:sp>
      <p:sp>
        <p:nvSpPr>
          <p:cNvPr id="31" name="Text 29"/>
          <p:cNvSpPr/>
          <p:nvPr/>
        </p:nvSpPr>
        <p:spPr>
          <a:xfrm>
            <a:off x="1280160" y="6400800"/>
            <a:ext cx="3200400" cy="256032"/>
          </a:xfrm>
          <a:prstGeom prst="rect">
            <a:avLst/>
          </a:prstGeom>
          <a:noFill/>
          <a:ln/>
        </p:spPr>
        <p:txBody>
          <a:bodyPr wrap="square" rtlCol="0" anchor="ctr"/>
          <a:lstStyle/>
          <a:p>
            <a:pPr marL="0" indent="0">
              <a:buNone/>
            </a:pPr>
            <a:r>
              <a:rPr lang="en-US" sz="1000" b="1" kern="0" spc="200" dirty="0">
                <a:solidFill>
                  <a:srgbClr val="24162A"/>
                </a:solidFill>
                <a:latin typeface="Segoe UI" pitchFamily="34" charset="0"/>
                <a:ea typeface="Segoe UI" pitchFamily="34" charset="-122"/>
                <a:cs typeface="Segoe UI" pitchFamily="34" charset="-120"/>
              </a:rPr>
              <a:t>YOUR LEARNING PARTNER</a:t>
            </a:r>
            <a:endParaRPr lang="en-US" sz="1000" dirty="0"/>
          </a:p>
        </p:txBody>
      </p:sp>
      <p:sp>
        <p:nvSpPr>
          <p:cNvPr id="32" name="Text 30"/>
          <p:cNvSpPr/>
          <p:nvPr/>
        </p:nvSpPr>
        <p:spPr>
          <a:xfrm>
            <a:off x="11414455" y="6473952"/>
            <a:ext cx="594360" cy="228600"/>
          </a:xfrm>
          <a:prstGeom prst="rect">
            <a:avLst/>
          </a:prstGeom>
          <a:noFill/>
          <a:ln/>
        </p:spPr>
        <p:txBody>
          <a:bodyPr wrap="square" rtlCol="0" anchor="ctr"/>
          <a:lstStyle/>
          <a:p>
            <a:pPr marL="0" indent="0" algn="r">
              <a:buNone/>
            </a:pPr>
            <a:r>
              <a:rPr lang="en-US" sz="1000" dirty="0">
                <a:solidFill>
                  <a:srgbClr val="6E637A"/>
                </a:solidFill>
                <a:latin typeface="Segoe UI" pitchFamily="34" charset="0"/>
                <a:ea typeface="Segoe UI" pitchFamily="34" charset="-122"/>
                <a:cs typeface="Segoe UI" pitchFamily="34" charset="-120"/>
              </a:rPr>
              <a:t>115</a:t>
            </a:r>
            <a:endParaRPr lang="en-US" sz="1000" dirty="0"/>
          </a:p>
        </p:txBody>
      </p:sp>
      <p:sp>
        <p:nvSpPr>
          <p:cNvPr id="33" name="Shape 31"/>
          <p:cNvSpPr/>
          <p:nvPr/>
        </p:nvSpPr>
        <p:spPr>
          <a:xfrm>
            <a:off x="3337560" y="1737360"/>
            <a:ext cx="5486400" cy="4434840"/>
          </a:xfrm>
          <a:prstGeom prst="roundRect">
            <a:avLst>
              <a:gd name="adj" fmla="val 6186"/>
            </a:avLst>
          </a:prstGeom>
          <a:solidFill>
            <a:srgbClr val="FFFFFF"/>
          </a:solidFill>
          <a:ln w="25400">
            <a:solidFill>
              <a:srgbClr val="5F1B3C"/>
            </a:solidFill>
            <a:prstDash val="solid"/>
          </a:ln>
        </p:spPr>
        <p:txBody>
          <a:bodyPr/>
          <a:lstStyle/>
          <a:p>
            <a:endParaRPr/>
          </a:p>
        </p:txBody>
      </p:sp>
      <p:sp>
        <p:nvSpPr>
          <p:cNvPr id="34" name="Shape 32"/>
          <p:cNvSpPr/>
          <p:nvPr/>
        </p:nvSpPr>
        <p:spPr>
          <a:xfrm>
            <a:off x="3840480" y="1536192"/>
            <a:ext cx="4480560" cy="384048"/>
          </a:xfrm>
          <a:prstGeom prst="roundRect">
            <a:avLst>
              <a:gd name="adj" fmla="val 23810"/>
            </a:avLst>
          </a:prstGeom>
          <a:solidFill>
            <a:srgbClr val="5F1B3C"/>
          </a:solidFill>
          <a:ln/>
        </p:spPr>
        <p:txBody>
          <a:bodyPr/>
          <a:lstStyle/>
          <a:p>
            <a:endParaRPr/>
          </a:p>
        </p:txBody>
      </p:sp>
      <p:sp>
        <p:nvSpPr>
          <p:cNvPr id="35" name="Text 33"/>
          <p:cNvSpPr/>
          <p:nvPr/>
        </p:nvSpPr>
        <p:spPr>
          <a:xfrm>
            <a:off x="3840480" y="1536192"/>
            <a:ext cx="4480560" cy="384048"/>
          </a:xfrm>
          <a:prstGeom prst="rect">
            <a:avLst/>
          </a:prstGeom>
          <a:noFill/>
          <a:ln/>
        </p:spPr>
        <p:txBody>
          <a:bodyPr wrap="square" rtlCol="0" anchor="ctr"/>
          <a:lstStyle/>
          <a:p>
            <a:pPr marL="0" indent="0" algn="ctr">
              <a:buNone/>
            </a:pPr>
            <a:r>
              <a:rPr lang="en-US" sz="1200" b="1" kern="0" spc="300" dirty="0">
                <a:solidFill>
                  <a:srgbClr val="FFFFFF"/>
                </a:solidFill>
                <a:latin typeface="Segoe UI" pitchFamily="34" charset="0"/>
                <a:ea typeface="Segoe UI" pitchFamily="34" charset="-122"/>
                <a:cs typeface="Segoe UI" pitchFamily="34" charset="-120"/>
              </a:rPr>
              <a:t>QR CODE</a:t>
            </a:r>
            <a:endParaRPr lang="en-US" sz="1200" dirty="0"/>
          </a:p>
        </p:txBody>
      </p:sp>
      <p:sp>
        <p:nvSpPr>
          <p:cNvPr id="36" name="Shape 34"/>
          <p:cNvSpPr/>
          <p:nvPr/>
        </p:nvSpPr>
        <p:spPr>
          <a:xfrm>
            <a:off x="4069080" y="2377440"/>
            <a:ext cx="339852" cy="339852"/>
          </a:xfrm>
          <a:prstGeom prst="rect">
            <a:avLst/>
          </a:prstGeom>
          <a:solidFill>
            <a:srgbClr val="24162A"/>
          </a:solidFill>
          <a:ln/>
        </p:spPr>
        <p:txBody>
          <a:bodyPr/>
          <a:lstStyle/>
          <a:p>
            <a:endParaRPr/>
          </a:p>
        </p:txBody>
      </p:sp>
      <p:sp>
        <p:nvSpPr>
          <p:cNvPr id="37" name="Shape 35"/>
          <p:cNvSpPr/>
          <p:nvPr/>
        </p:nvSpPr>
        <p:spPr>
          <a:xfrm>
            <a:off x="4404360" y="2377440"/>
            <a:ext cx="339852" cy="339852"/>
          </a:xfrm>
          <a:prstGeom prst="rect">
            <a:avLst/>
          </a:prstGeom>
          <a:solidFill>
            <a:srgbClr val="24162A"/>
          </a:solidFill>
          <a:ln/>
        </p:spPr>
        <p:txBody>
          <a:bodyPr/>
          <a:lstStyle/>
          <a:p>
            <a:endParaRPr/>
          </a:p>
        </p:txBody>
      </p:sp>
      <p:sp>
        <p:nvSpPr>
          <p:cNvPr id="38" name="Shape 36"/>
          <p:cNvSpPr/>
          <p:nvPr/>
        </p:nvSpPr>
        <p:spPr>
          <a:xfrm>
            <a:off x="4739640" y="2377440"/>
            <a:ext cx="339852" cy="339852"/>
          </a:xfrm>
          <a:prstGeom prst="rect">
            <a:avLst/>
          </a:prstGeom>
          <a:solidFill>
            <a:srgbClr val="24162A"/>
          </a:solidFill>
          <a:ln/>
        </p:spPr>
        <p:txBody>
          <a:bodyPr/>
          <a:lstStyle/>
          <a:p>
            <a:endParaRPr/>
          </a:p>
        </p:txBody>
      </p:sp>
      <p:sp>
        <p:nvSpPr>
          <p:cNvPr id="39" name="Shape 37"/>
          <p:cNvSpPr/>
          <p:nvPr/>
        </p:nvSpPr>
        <p:spPr>
          <a:xfrm>
            <a:off x="5745480" y="2377440"/>
            <a:ext cx="339852" cy="339852"/>
          </a:xfrm>
          <a:prstGeom prst="rect">
            <a:avLst/>
          </a:prstGeom>
          <a:solidFill>
            <a:srgbClr val="24162A"/>
          </a:solidFill>
          <a:ln/>
        </p:spPr>
        <p:txBody>
          <a:bodyPr/>
          <a:lstStyle/>
          <a:p>
            <a:endParaRPr/>
          </a:p>
        </p:txBody>
      </p:sp>
      <p:sp>
        <p:nvSpPr>
          <p:cNvPr id="40" name="Shape 38"/>
          <p:cNvSpPr/>
          <p:nvPr/>
        </p:nvSpPr>
        <p:spPr>
          <a:xfrm>
            <a:off x="6416040" y="2377440"/>
            <a:ext cx="339852" cy="339852"/>
          </a:xfrm>
          <a:prstGeom prst="rect">
            <a:avLst/>
          </a:prstGeom>
          <a:solidFill>
            <a:srgbClr val="24162A"/>
          </a:solidFill>
          <a:ln/>
        </p:spPr>
        <p:txBody>
          <a:bodyPr/>
          <a:lstStyle/>
          <a:p>
            <a:endParaRPr/>
          </a:p>
        </p:txBody>
      </p:sp>
      <p:sp>
        <p:nvSpPr>
          <p:cNvPr id="41" name="Shape 39"/>
          <p:cNvSpPr/>
          <p:nvPr/>
        </p:nvSpPr>
        <p:spPr>
          <a:xfrm>
            <a:off x="6751320" y="2377440"/>
            <a:ext cx="339852" cy="339852"/>
          </a:xfrm>
          <a:prstGeom prst="rect">
            <a:avLst/>
          </a:prstGeom>
          <a:solidFill>
            <a:srgbClr val="24162A"/>
          </a:solidFill>
          <a:ln/>
        </p:spPr>
        <p:txBody>
          <a:bodyPr/>
          <a:lstStyle/>
          <a:p>
            <a:endParaRPr/>
          </a:p>
        </p:txBody>
      </p:sp>
      <p:sp>
        <p:nvSpPr>
          <p:cNvPr id="42" name="Shape 40"/>
          <p:cNvSpPr/>
          <p:nvPr/>
        </p:nvSpPr>
        <p:spPr>
          <a:xfrm>
            <a:off x="7086600" y="2377440"/>
            <a:ext cx="339852" cy="339852"/>
          </a:xfrm>
          <a:prstGeom prst="rect">
            <a:avLst/>
          </a:prstGeom>
          <a:solidFill>
            <a:srgbClr val="24162A"/>
          </a:solidFill>
          <a:ln/>
        </p:spPr>
        <p:txBody>
          <a:bodyPr/>
          <a:lstStyle/>
          <a:p>
            <a:endParaRPr/>
          </a:p>
        </p:txBody>
      </p:sp>
      <p:sp>
        <p:nvSpPr>
          <p:cNvPr id="43" name="Shape 41"/>
          <p:cNvSpPr/>
          <p:nvPr/>
        </p:nvSpPr>
        <p:spPr>
          <a:xfrm>
            <a:off x="7421880" y="2377440"/>
            <a:ext cx="339852" cy="339852"/>
          </a:xfrm>
          <a:prstGeom prst="rect">
            <a:avLst/>
          </a:prstGeom>
          <a:solidFill>
            <a:srgbClr val="24162A"/>
          </a:solidFill>
          <a:ln/>
        </p:spPr>
        <p:txBody>
          <a:bodyPr/>
          <a:lstStyle/>
          <a:p>
            <a:endParaRPr/>
          </a:p>
        </p:txBody>
      </p:sp>
      <p:sp>
        <p:nvSpPr>
          <p:cNvPr id="44" name="Shape 42"/>
          <p:cNvSpPr/>
          <p:nvPr/>
        </p:nvSpPr>
        <p:spPr>
          <a:xfrm>
            <a:off x="7757160" y="2377440"/>
            <a:ext cx="339852" cy="339852"/>
          </a:xfrm>
          <a:prstGeom prst="rect">
            <a:avLst/>
          </a:prstGeom>
          <a:solidFill>
            <a:srgbClr val="24162A"/>
          </a:solidFill>
          <a:ln/>
        </p:spPr>
        <p:txBody>
          <a:bodyPr/>
          <a:lstStyle/>
          <a:p>
            <a:endParaRPr/>
          </a:p>
        </p:txBody>
      </p:sp>
      <p:sp>
        <p:nvSpPr>
          <p:cNvPr id="45" name="Shape 43"/>
          <p:cNvSpPr/>
          <p:nvPr/>
        </p:nvSpPr>
        <p:spPr>
          <a:xfrm>
            <a:off x="4069080" y="2712720"/>
            <a:ext cx="339852" cy="339852"/>
          </a:xfrm>
          <a:prstGeom prst="rect">
            <a:avLst/>
          </a:prstGeom>
          <a:solidFill>
            <a:srgbClr val="24162A"/>
          </a:solidFill>
          <a:ln/>
        </p:spPr>
        <p:txBody>
          <a:bodyPr/>
          <a:lstStyle/>
          <a:p>
            <a:endParaRPr/>
          </a:p>
        </p:txBody>
      </p:sp>
      <p:sp>
        <p:nvSpPr>
          <p:cNvPr id="46" name="Shape 44"/>
          <p:cNvSpPr/>
          <p:nvPr/>
        </p:nvSpPr>
        <p:spPr>
          <a:xfrm>
            <a:off x="4404360" y="2712720"/>
            <a:ext cx="339852" cy="339852"/>
          </a:xfrm>
          <a:prstGeom prst="rect">
            <a:avLst/>
          </a:prstGeom>
          <a:solidFill>
            <a:srgbClr val="24162A"/>
          </a:solidFill>
          <a:ln/>
        </p:spPr>
        <p:txBody>
          <a:bodyPr/>
          <a:lstStyle/>
          <a:p>
            <a:endParaRPr/>
          </a:p>
        </p:txBody>
      </p:sp>
      <p:sp>
        <p:nvSpPr>
          <p:cNvPr id="47" name="Shape 45"/>
          <p:cNvSpPr/>
          <p:nvPr/>
        </p:nvSpPr>
        <p:spPr>
          <a:xfrm>
            <a:off x="4739640" y="2712720"/>
            <a:ext cx="339852" cy="339852"/>
          </a:xfrm>
          <a:prstGeom prst="rect">
            <a:avLst/>
          </a:prstGeom>
          <a:solidFill>
            <a:srgbClr val="24162A"/>
          </a:solidFill>
          <a:ln/>
        </p:spPr>
        <p:txBody>
          <a:bodyPr/>
          <a:lstStyle/>
          <a:p>
            <a:endParaRPr/>
          </a:p>
        </p:txBody>
      </p:sp>
      <p:sp>
        <p:nvSpPr>
          <p:cNvPr id="48" name="Shape 46"/>
          <p:cNvSpPr/>
          <p:nvPr/>
        </p:nvSpPr>
        <p:spPr>
          <a:xfrm>
            <a:off x="5410200" y="2712720"/>
            <a:ext cx="339852" cy="339852"/>
          </a:xfrm>
          <a:prstGeom prst="rect">
            <a:avLst/>
          </a:prstGeom>
          <a:solidFill>
            <a:srgbClr val="24162A"/>
          </a:solidFill>
          <a:ln/>
        </p:spPr>
        <p:txBody>
          <a:bodyPr/>
          <a:lstStyle/>
          <a:p>
            <a:endParaRPr/>
          </a:p>
        </p:txBody>
      </p:sp>
      <p:sp>
        <p:nvSpPr>
          <p:cNvPr id="49" name="Shape 47"/>
          <p:cNvSpPr/>
          <p:nvPr/>
        </p:nvSpPr>
        <p:spPr>
          <a:xfrm>
            <a:off x="6080760" y="2712720"/>
            <a:ext cx="339852" cy="339852"/>
          </a:xfrm>
          <a:prstGeom prst="rect">
            <a:avLst/>
          </a:prstGeom>
          <a:solidFill>
            <a:srgbClr val="24162A"/>
          </a:solidFill>
          <a:ln/>
        </p:spPr>
        <p:txBody>
          <a:bodyPr/>
          <a:lstStyle/>
          <a:p>
            <a:endParaRPr/>
          </a:p>
        </p:txBody>
      </p:sp>
      <p:sp>
        <p:nvSpPr>
          <p:cNvPr id="50" name="Shape 48"/>
          <p:cNvSpPr/>
          <p:nvPr/>
        </p:nvSpPr>
        <p:spPr>
          <a:xfrm>
            <a:off x="6416040" y="2712720"/>
            <a:ext cx="339852" cy="339852"/>
          </a:xfrm>
          <a:prstGeom prst="rect">
            <a:avLst/>
          </a:prstGeom>
          <a:solidFill>
            <a:srgbClr val="24162A"/>
          </a:solidFill>
          <a:ln/>
        </p:spPr>
        <p:txBody>
          <a:bodyPr/>
          <a:lstStyle/>
          <a:p>
            <a:endParaRPr/>
          </a:p>
        </p:txBody>
      </p:sp>
      <p:sp>
        <p:nvSpPr>
          <p:cNvPr id="51" name="Shape 49"/>
          <p:cNvSpPr/>
          <p:nvPr/>
        </p:nvSpPr>
        <p:spPr>
          <a:xfrm>
            <a:off x="7086600" y="2712720"/>
            <a:ext cx="339852" cy="339852"/>
          </a:xfrm>
          <a:prstGeom prst="rect">
            <a:avLst/>
          </a:prstGeom>
          <a:solidFill>
            <a:srgbClr val="24162A"/>
          </a:solidFill>
          <a:ln/>
        </p:spPr>
        <p:txBody>
          <a:bodyPr/>
          <a:lstStyle/>
          <a:p>
            <a:endParaRPr/>
          </a:p>
        </p:txBody>
      </p:sp>
      <p:sp>
        <p:nvSpPr>
          <p:cNvPr id="52" name="Shape 50"/>
          <p:cNvSpPr/>
          <p:nvPr/>
        </p:nvSpPr>
        <p:spPr>
          <a:xfrm>
            <a:off x="7421880" y="2712720"/>
            <a:ext cx="339852" cy="339852"/>
          </a:xfrm>
          <a:prstGeom prst="rect">
            <a:avLst/>
          </a:prstGeom>
          <a:solidFill>
            <a:srgbClr val="24162A"/>
          </a:solidFill>
          <a:ln/>
        </p:spPr>
        <p:txBody>
          <a:bodyPr/>
          <a:lstStyle/>
          <a:p>
            <a:endParaRPr/>
          </a:p>
        </p:txBody>
      </p:sp>
      <p:sp>
        <p:nvSpPr>
          <p:cNvPr id="53" name="Shape 51"/>
          <p:cNvSpPr/>
          <p:nvPr/>
        </p:nvSpPr>
        <p:spPr>
          <a:xfrm>
            <a:off x="7757160" y="2712720"/>
            <a:ext cx="339852" cy="339852"/>
          </a:xfrm>
          <a:prstGeom prst="rect">
            <a:avLst/>
          </a:prstGeom>
          <a:solidFill>
            <a:srgbClr val="24162A"/>
          </a:solidFill>
          <a:ln/>
        </p:spPr>
        <p:txBody>
          <a:bodyPr/>
          <a:lstStyle/>
          <a:p>
            <a:endParaRPr/>
          </a:p>
        </p:txBody>
      </p:sp>
      <p:sp>
        <p:nvSpPr>
          <p:cNvPr id="54" name="Shape 52"/>
          <p:cNvSpPr/>
          <p:nvPr/>
        </p:nvSpPr>
        <p:spPr>
          <a:xfrm>
            <a:off x="4069080" y="3048000"/>
            <a:ext cx="339852" cy="339852"/>
          </a:xfrm>
          <a:prstGeom prst="rect">
            <a:avLst/>
          </a:prstGeom>
          <a:solidFill>
            <a:srgbClr val="24162A"/>
          </a:solidFill>
          <a:ln/>
        </p:spPr>
        <p:txBody>
          <a:bodyPr/>
          <a:lstStyle/>
          <a:p>
            <a:endParaRPr/>
          </a:p>
        </p:txBody>
      </p:sp>
      <p:sp>
        <p:nvSpPr>
          <p:cNvPr id="55" name="Shape 53"/>
          <p:cNvSpPr/>
          <p:nvPr/>
        </p:nvSpPr>
        <p:spPr>
          <a:xfrm>
            <a:off x="4404360" y="3048000"/>
            <a:ext cx="339852" cy="339852"/>
          </a:xfrm>
          <a:prstGeom prst="rect">
            <a:avLst/>
          </a:prstGeom>
          <a:solidFill>
            <a:srgbClr val="24162A"/>
          </a:solidFill>
          <a:ln/>
        </p:spPr>
        <p:txBody>
          <a:bodyPr/>
          <a:lstStyle/>
          <a:p>
            <a:endParaRPr/>
          </a:p>
        </p:txBody>
      </p:sp>
      <p:sp>
        <p:nvSpPr>
          <p:cNvPr id="56" name="Shape 54"/>
          <p:cNvSpPr/>
          <p:nvPr/>
        </p:nvSpPr>
        <p:spPr>
          <a:xfrm>
            <a:off x="4739640" y="3048000"/>
            <a:ext cx="339852" cy="339852"/>
          </a:xfrm>
          <a:prstGeom prst="rect">
            <a:avLst/>
          </a:prstGeom>
          <a:solidFill>
            <a:srgbClr val="24162A"/>
          </a:solidFill>
          <a:ln/>
        </p:spPr>
        <p:txBody>
          <a:bodyPr/>
          <a:lstStyle/>
          <a:p>
            <a:endParaRPr/>
          </a:p>
        </p:txBody>
      </p:sp>
      <p:sp>
        <p:nvSpPr>
          <p:cNvPr id="57" name="Shape 55"/>
          <p:cNvSpPr/>
          <p:nvPr/>
        </p:nvSpPr>
        <p:spPr>
          <a:xfrm>
            <a:off x="5745480" y="3048000"/>
            <a:ext cx="339852" cy="339852"/>
          </a:xfrm>
          <a:prstGeom prst="rect">
            <a:avLst/>
          </a:prstGeom>
          <a:solidFill>
            <a:srgbClr val="24162A"/>
          </a:solidFill>
          <a:ln/>
        </p:spPr>
        <p:txBody>
          <a:bodyPr/>
          <a:lstStyle/>
          <a:p>
            <a:endParaRPr/>
          </a:p>
        </p:txBody>
      </p:sp>
      <p:sp>
        <p:nvSpPr>
          <p:cNvPr id="58" name="Shape 56"/>
          <p:cNvSpPr/>
          <p:nvPr/>
        </p:nvSpPr>
        <p:spPr>
          <a:xfrm>
            <a:off x="6080760" y="3048000"/>
            <a:ext cx="339852" cy="339852"/>
          </a:xfrm>
          <a:prstGeom prst="rect">
            <a:avLst/>
          </a:prstGeom>
          <a:solidFill>
            <a:srgbClr val="24162A"/>
          </a:solidFill>
          <a:ln/>
        </p:spPr>
        <p:txBody>
          <a:bodyPr/>
          <a:lstStyle/>
          <a:p>
            <a:endParaRPr/>
          </a:p>
        </p:txBody>
      </p:sp>
      <p:sp>
        <p:nvSpPr>
          <p:cNvPr id="59" name="Shape 57"/>
          <p:cNvSpPr/>
          <p:nvPr/>
        </p:nvSpPr>
        <p:spPr>
          <a:xfrm>
            <a:off x="7086600" y="3048000"/>
            <a:ext cx="339852" cy="339852"/>
          </a:xfrm>
          <a:prstGeom prst="rect">
            <a:avLst/>
          </a:prstGeom>
          <a:solidFill>
            <a:srgbClr val="24162A"/>
          </a:solidFill>
          <a:ln/>
        </p:spPr>
        <p:txBody>
          <a:bodyPr/>
          <a:lstStyle/>
          <a:p>
            <a:endParaRPr/>
          </a:p>
        </p:txBody>
      </p:sp>
      <p:sp>
        <p:nvSpPr>
          <p:cNvPr id="60" name="Shape 58"/>
          <p:cNvSpPr/>
          <p:nvPr/>
        </p:nvSpPr>
        <p:spPr>
          <a:xfrm>
            <a:off x="7421880" y="3048000"/>
            <a:ext cx="339852" cy="339852"/>
          </a:xfrm>
          <a:prstGeom prst="rect">
            <a:avLst/>
          </a:prstGeom>
          <a:solidFill>
            <a:srgbClr val="24162A"/>
          </a:solidFill>
          <a:ln/>
        </p:spPr>
        <p:txBody>
          <a:bodyPr/>
          <a:lstStyle/>
          <a:p>
            <a:endParaRPr/>
          </a:p>
        </p:txBody>
      </p:sp>
      <p:sp>
        <p:nvSpPr>
          <p:cNvPr id="61" name="Shape 59"/>
          <p:cNvSpPr/>
          <p:nvPr/>
        </p:nvSpPr>
        <p:spPr>
          <a:xfrm>
            <a:off x="7757160" y="3048000"/>
            <a:ext cx="339852" cy="339852"/>
          </a:xfrm>
          <a:prstGeom prst="rect">
            <a:avLst/>
          </a:prstGeom>
          <a:solidFill>
            <a:srgbClr val="24162A"/>
          </a:solidFill>
          <a:ln/>
        </p:spPr>
        <p:txBody>
          <a:bodyPr/>
          <a:lstStyle/>
          <a:p>
            <a:endParaRPr/>
          </a:p>
        </p:txBody>
      </p:sp>
      <p:sp>
        <p:nvSpPr>
          <p:cNvPr id="62" name="Shape 60"/>
          <p:cNvSpPr/>
          <p:nvPr/>
        </p:nvSpPr>
        <p:spPr>
          <a:xfrm>
            <a:off x="4069080" y="3383280"/>
            <a:ext cx="339852" cy="339852"/>
          </a:xfrm>
          <a:prstGeom prst="rect">
            <a:avLst/>
          </a:prstGeom>
          <a:solidFill>
            <a:srgbClr val="24162A"/>
          </a:solidFill>
          <a:ln/>
        </p:spPr>
        <p:txBody>
          <a:bodyPr/>
          <a:lstStyle/>
          <a:p>
            <a:endParaRPr/>
          </a:p>
        </p:txBody>
      </p:sp>
      <p:sp>
        <p:nvSpPr>
          <p:cNvPr id="63" name="Shape 61"/>
          <p:cNvSpPr/>
          <p:nvPr/>
        </p:nvSpPr>
        <p:spPr>
          <a:xfrm>
            <a:off x="5074920" y="3383280"/>
            <a:ext cx="339852" cy="339852"/>
          </a:xfrm>
          <a:prstGeom prst="rect">
            <a:avLst/>
          </a:prstGeom>
          <a:solidFill>
            <a:srgbClr val="24162A"/>
          </a:solidFill>
          <a:ln/>
        </p:spPr>
        <p:txBody>
          <a:bodyPr/>
          <a:lstStyle/>
          <a:p>
            <a:endParaRPr/>
          </a:p>
        </p:txBody>
      </p:sp>
      <p:sp>
        <p:nvSpPr>
          <p:cNvPr id="64" name="Shape 62"/>
          <p:cNvSpPr/>
          <p:nvPr/>
        </p:nvSpPr>
        <p:spPr>
          <a:xfrm>
            <a:off x="6416040" y="3383280"/>
            <a:ext cx="339852" cy="339852"/>
          </a:xfrm>
          <a:prstGeom prst="rect">
            <a:avLst/>
          </a:prstGeom>
          <a:solidFill>
            <a:srgbClr val="24162A"/>
          </a:solidFill>
          <a:ln/>
        </p:spPr>
        <p:txBody>
          <a:bodyPr/>
          <a:lstStyle/>
          <a:p>
            <a:endParaRPr/>
          </a:p>
        </p:txBody>
      </p:sp>
      <p:sp>
        <p:nvSpPr>
          <p:cNvPr id="65" name="Shape 63"/>
          <p:cNvSpPr/>
          <p:nvPr/>
        </p:nvSpPr>
        <p:spPr>
          <a:xfrm>
            <a:off x="7086600" y="3383280"/>
            <a:ext cx="339852" cy="339852"/>
          </a:xfrm>
          <a:prstGeom prst="rect">
            <a:avLst/>
          </a:prstGeom>
          <a:solidFill>
            <a:srgbClr val="24162A"/>
          </a:solidFill>
          <a:ln/>
        </p:spPr>
        <p:txBody>
          <a:bodyPr/>
          <a:lstStyle/>
          <a:p>
            <a:endParaRPr/>
          </a:p>
        </p:txBody>
      </p:sp>
      <p:sp>
        <p:nvSpPr>
          <p:cNvPr id="66" name="Shape 64"/>
          <p:cNvSpPr/>
          <p:nvPr/>
        </p:nvSpPr>
        <p:spPr>
          <a:xfrm>
            <a:off x="7421880" y="3383280"/>
            <a:ext cx="339852" cy="339852"/>
          </a:xfrm>
          <a:prstGeom prst="rect">
            <a:avLst/>
          </a:prstGeom>
          <a:solidFill>
            <a:srgbClr val="24162A"/>
          </a:solidFill>
          <a:ln/>
        </p:spPr>
        <p:txBody>
          <a:bodyPr/>
          <a:lstStyle/>
          <a:p>
            <a:endParaRPr/>
          </a:p>
        </p:txBody>
      </p:sp>
      <p:sp>
        <p:nvSpPr>
          <p:cNvPr id="67" name="Shape 65"/>
          <p:cNvSpPr/>
          <p:nvPr/>
        </p:nvSpPr>
        <p:spPr>
          <a:xfrm>
            <a:off x="4069080" y="3718560"/>
            <a:ext cx="339852" cy="339852"/>
          </a:xfrm>
          <a:prstGeom prst="rect">
            <a:avLst/>
          </a:prstGeom>
          <a:solidFill>
            <a:srgbClr val="24162A"/>
          </a:solidFill>
          <a:ln/>
        </p:spPr>
        <p:txBody>
          <a:bodyPr/>
          <a:lstStyle/>
          <a:p>
            <a:endParaRPr/>
          </a:p>
        </p:txBody>
      </p:sp>
      <p:sp>
        <p:nvSpPr>
          <p:cNvPr id="68" name="Shape 66"/>
          <p:cNvSpPr/>
          <p:nvPr/>
        </p:nvSpPr>
        <p:spPr>
          <a:xfrm>
            <a:off x="4739640" y="3718560"/>
            <a:ext cx="339852" cy="339852"/>
          </a:xfrm>
          <a:prstGeom prst="rect">
            <a:avLst/>
          </a:prstGeom>
          <a:solidFill>
            <a:srgbClr val="24162A"/>
          </a:solidFill>
          <a:ln/>
        </p:spPr>
        <p:txBody>
          <a:bodyPr/>
          <a:lstStyle/>
          <a:p>
            <a:endParaRPr/>
          </a:p>
        </p:txBody>
      </p:sp>
      <p:sp>
        <p:nvSpPr>
          <p:cNvPr id="69" name="Shape 67"/>
          <p:cNvSpPr/>
          <p:nvPr/>
        </p:nvSpPr>
        <p:spPr>
          <a:xfrm>
            <a:off x="5074920" y="3718560"/>
            <a:ext cx="339852" cy="339852"/>
          </a:xfrm>
          <a:prstGeom prst="rect">
            <a:avLst/>
          </a:prstGeom>
          <a:solidFill>
            <a:srgbClr val="24162A"/>
          </a:solidFill>
          <a:ln/>
        </p:spPr>
        <p:txBody>
          <a:bodyPr/>
          <a:lstStyle/>
          <a:p>
            <a:endParaRPr/>
          </a:p>
        </p:txBody>
      </p:sp>
      <p:sp>
        <p:nvSpPr>
          <p:cNvPr id="70" name="Shape 68"/>
          <p:cNvSpPr/>
          <p:nvPr/>
        </p:nvSpPr>
        <p:spPr>
          <a:xfrm>
            <a:off x="6080760" y="3718560"/>
            <a:ext cx="339852" cy="339852"/>
          </a:xfrm>
          <a:prstGeom prst="rect">
            <a:avLst/>
          </a:prstGeom>
          <a:solidFill>
            <a:srgbClr val="24162A"/>
          </a:solidFill>
          <a:ln/>
        </p:spPr>
        <p:txBody>
          <a:bodyPr/>
          <a:lstStyle/>
          <a:p>
            <a:endParaRPr/>
          </a:p>
        </p:txBody>
      </p:sp>
      <p:sp>
        <p:nvSpPr>
          <p:cNvPr id="71" name="Shape 69"/>
          <p:cNvSpPr/>
          <p:nvPr/>
        </p:nvSpPr>
        <p:spPr>
          <a:xfrm>
            <a:off x="7421880" y="3718560"/>
            <a:ext cx="339852" cy="339852"/>
          </a:xfrm>
          <a:prstGeom prst="rect">
            <a:avLst/>
          </a:prstGeom>
          <a:solidFill>
            <a:srgbClr val="24162A"/>
          </a:solidFill>
          <a:ln/>
        </p:spPr>
        <p:txBody>
          <a:bodyPr/>
          <a:lstStyle/>
          <a:p>
            <a:endParaRPr/>
          </a:p>
        </p:txBody>
      </p:sp>
      <p:sp>
        <p:nvSpPr>
          <p:cNvPr id="72" name="Shape 70"/>
          <p:cNvSpPr/>
          <p:nvPr/>
        </p:nvSpPr>
        <p:spPr>
          <a:xfrm>
            <a:off x="7757160" y="3718560"/>
            <a:ext cx="339852" cy="339852"/>
          </a:xfrm>
          <a:prstGeom prst="rect">
            <a:avLst/>
          </a:prstGeom>
          <a:solidFill>
            <a:srgbClr val="24162A"/>
          </a:solidFill>
          <a:ln/>
        </p:spPr>
        <p:txBody>
          <a:bodyPr/>
          <a:lstStyle/>
          <a:p>
            <a:endParaRPr/>
          </a:p>
        </p:txBody>
      </p:sp>
      <p:sp>
        <p:nvSpPr>
          <p:cNvPr id="73" name="Shape 71"/>
          <p:cNvSpPr/>
          <p:nvPr/>
        </p:nvSpPr>
        <p:spPr>
          <a:xfrm>
            <a:off x="4069080" y="4053840"/>
            <a:ext cx="339852" cy="339852"/>
          </a:xfrm>
          <a:prstGeom prst="rect">
            <a:avLst/>
          </a:prstGeom>
          <a:solidFill>
            <a:srgbClr val="24162A"/>
          </a:solidFill>
          <a:ln/>
        </p:spPr>
        <p:txBody>
          <a:bodyPr/>
          <a:lstStyle/>
          <a:p>
            <a:endParaRPr/>
          </a:p>
        </p:txBody>
      </p:sp>
      <p:sp>
        <p:nvSpPr>
          <p:cNvPr id="74" name="Shape 72"/>
          <p:cNvSpPr/>
          <p:nvPr/>
        </p:nvSpPr>
        <p:spPr>
          <a:xfrm>
            <a:off x="5074920" y="4053840"/>
            <a:ext cx="339852" cy="339852"/>
          </a:xfrm>
          <a:prstGeom prst="rect">
            <a:avLst/>
          </a:prstGeom>
          <a:solidFill>
            <a:srgbClr val="24162A"/>
          </a:solidFill>
          <a:ln/>
        </p:spPr>
        <p:txBody>
          <a:bodyPr/>
          <a:lstStyle/>
          <a:p>
            <a:endParaRPr/>
          </a:p>
        </p:txBody>
      </p:sp>
      <p:sp>
        <p:nvSpPr>
          <p:cNvPr id="75" name="Shape 73"/>
          <p:cNvSpPr/>
          <p:nvPr/>
        </p:nvSpPr>
        <p:spPr>
          <a:xfrm>
            <a:off x="5745480" y="4053840"/>
            <a:ext cx="339852" cy="339852"/>
          </a:xfrm>
          <a:prstGeom prst="rect">
            <a:avLst/>
          </a:prstGeom>
          <a:solidFill>
            <a:srgbClr val="24162A"/>
          </a:solidFill>
          <a:ln/>
        </p:spPr>
        <p:txBody>
          <a:bodyPr/>
          <a:lstStyle/>
          <a:p>
            <a:endParaRPr/>
          </a:p>
        </p:txBody>
      </p:sp>
      <p:sp>
        <p:nvSpPr>
          <p:cNvPr id="76" name="Shape 74"/>
          <p:cNvSpPr/>
          <p:nvPr/>
        </p:nvSpPr>
        <p:spPr>
          <a:xfrm>
            <a:off x="6080760" y="4053840"/>
            <a:ext cx="339852" cy="339852"/>
          </a:xfrm>
          <a:prstGeom prst="rect">
            <a:avLst/>
          </a:prstGeom>
          <a:solidFill>
            <a:srgbClr val="24162A"/>
          </a:solidFill>
          <a:ln/>
        </p:spPr>
        <p:txBody>
          <a:bodyPr/>
          <a:lstStyle/>
          <a:p>
            <a:endParaRPr/>
          </a:p>
        </p:txBody>
      </p:sp>
      <p:sp>
        <p:nvSpPr>
          <p:cNvPr id="77" name="Shape 75"/>
          <p:cNvSpPr/>
          <p:nvPr/>
        </p:nvSpPr>
        <p:spPr>
          <a:xfrm>
            <a:off x="7421880" y="4053840"/>
            <a:ext cx="339852" cy="339852"/>
          </a:xfrm>
          <a:prstGeom prst="rect">
            <a:avLst/>
          </a:prstGeom>
          <a:solidFill>
            <a:srgbClr val="24162A"/>
          </a:solidFill>
          <a:ln/>
        </p:spPr>
        <p:txBody>
          <a:bodyPr/>
          <a:lstStyle/>
          <a:p>
            <a:endParaRPr/>
          </a:p>
        </p:txBody>
      </p:sp>
      <p:sp>
        <p:nvSpPr>
          <p:cNvPr id="78" name="Shape 76"/>
          <p:cNvSpPr/>
          <p:nvPr/>
        </p:nvSpPr>
        <p:spPr>
          <a:xfrm>
            <a:off x="4404360" y="4389120"/>
            <a:ext cx="339852" cy="339852"/>
          </a:xfrm>
          <a:prstGeom prst="rect">
            <a:avLst/>
          </a:prstGeom>
          <a:solidFill>
            <a:srgbClr val="24162A"/>
          </a:solidFill>
          <a:ln/>
        </p:spPr>
        <p:txBody>
          <a:bodyPr/>
          <a:lstStyle/>
          <a:p>
            <a:endParaRPr/>
          </a:p>
        </p:txBody>
      </p:sp>
      <p:sp>
        <p:nvSpPr>
          <p:cNvPr id="79" name="Shape 77"/>
          <p:cNvSpPr/>
          <p:nvPr/>
        </p:nvSpPr>
        <p:spPr>
          <a:xfrm>
            <a:off x="4739640" y="4389120"/>
            <a:ext cx="339852" cy="339852"/>
          </a:xfrm>
          <a:prstGeom prst="rect">
            <a:avLst/>
          </a:prstGeom>
          <a:solidFill>
            <a:srgbClr val="24162A"/>
          </a:solidFill>
          <a:ln/>
        </p:spPr>
        <p:txBody>
          <a:bodyPr/>
          <a:lstStyle/>
          <a:p>
            <a:endParaRPr/>
          </a:p>
        </p:txBody>
      </p:sp>
      <p:sp>
        <p:nvSpPr>
          <p:cNvPr id="80" name="Shape 78"/>
          <p:cNvSpPr/>
          <p:nvPr/>
        </p:nvSpPr>
        <p:spPr>
          <a:xfrm>
            <a:off x="5074920" y="4389120"/>
            <a:ext cx="339852" cy="339852"/>
          </a:xfrm>
          <a:prstGeom prst="rect">
            <a:avLst/>
          </a:prstGeom>
          <a:solidFill>
            <a:srgbClr val="24162A"/>
          </a:solidFill>
          <a:ln/>
        </p:spPr>
        <p:txBody>
          <a:bodyPr/>
          <a:lstStyle/>
          <a:p>
            <a:endParaRPr/>
          </a:p>
        </p:txBody>
      </p:sp>
      <p:sp>
        <p:nvSpPr>
          <p:cNvPr id="81" name="Shape 79"/>
          <p:cNvSpPr/>
          <p:nvPr/>
        </p:nvSpPr>
        <p:spPr>
          <a:xfrm>
            <a:off x="5410200" y="4389120"/>
            <a:ext cx="339852" cy="339852"/>
          </a:xfrm>
          <a:prstGeom prst="rect">
            <a:avLst/>
          </a:prstGeom>
          <a:solidFill>
            <a:srgbClr val="24162A"/>
          </a:solidFill>
          <a:ln/>
        </p:spPr>
        <p:txBody>
          <a:bodyPr/>
          <a:lstStyle/>
          <a:p>
            <a:endParaRPr/>
          </a:p>
        </p:txBody>
      </p:sp>
      <p:sp>
        <p:nvSpPr>
          <p:cNvPr id="82" name="Shape 80"/>
          <p:cNvSpPr/>
          <p:nvPr/>
        </p:nvSpPr>
        <p:spPr>
          <a:xfrm>
            <a:off x="5745480" y="4389120"/>
            <a:ext cx="339852" cy="339852"/>
          </a:xfrm>
          <a:prstGeom prst="rect">
            <a:avLst/>
          </a:prstGeom>
          <a:solidFill>
            <a:srgbClr val="24162A"/>
          </a:solidFill>
          <a:ln/>
        </p:spPr>
        <p:txBody>
          <a:bodyPr/>
          <a:lstStyle/>
          <a:p>
            <a:endParaRPr/>
          </a:p>
        </p:txBody>
      </p:sp>
      <p:sp>
        <p:nvSpPr>
          <p:cNvPr id="83" name="Shape 81"/>
          <p:cNvSpPr/>
          <p:nvPr/>
        </p:nvSpPr>
        <p:spPr>
          <a:xfrm>
            <a:off x="6080760" y="4389120"/>
            <a:ext cx="339852" cy="339852"/>
          </a:xfrm>
          <a:prstGeom prst="rect">
            <a:avLst/>
          </a:prstGeom>
          <a:solidFill>
            <a:srgbClr val="24162A"/>
          </a:solidFill>
          <a:ln/>
        </p:spPr>
        <p:txBody>
          <a:bodyPr/>
          <a:lstStyle/>
          <a:p>
            <a:endParaRPr/>
          </a:p>
        </p:txBody>
      </p:sp>
      <p:sp>
        <p:nvSpPr>
          <p:cNvPr id="84" name="Shape 82"/>
          <p:cNvSpPr/>
          <p:nvPr/>
        </p:nvSpPr>
        <p:spPr>
          <a:xfrm>
            <a:off x="6416040" y="4389120"/>
            <a:ext cx="339852" cy="339852"/>
          </a:xfrm>
          <a:prstGeom prst="rect">
            <a:avLst/>
          </a:prstGeom>
          <a:solidFill>
            <a:srgbClr val="24162A"/>
          </a:solidFill>
          <a:ln/>
        </p:spPr>
        <p:txBody>
          <a:bodyPr/>
          <a:lstStyle/>
          <a:p>
            <a:endParaRPr/>
          </a:p>
        </p:txBody>
      </p:sp>
      <p:sp>
        <p:nvSpPr>
          <p:cNvPr id="85" name="Shape 83"/>
          <p:cNvSpPr/>
          <p:nvPr/>
        </p:nvSpPr>
        <p:spPr>
          <a:xfrm>
            <a:off x="6751320" y="4389120"/>
            <a:ext cx="339852" cy="339852"/>
          </a:xfrm>
          <a:prstGeom prst="rect">
            <a:avLst/>
          </a:prstGeom>
          <a:solidFill>
            <a:srgbClr val="24162A"/>
          </a:solidFill>
          <a:ln/>
        </p:spPr>
        <p:txBody>
          <a:bodyPr/>
          <a:lstStyle/>
          <a:p>
            <a:endParaRPr/>
          </a:p>
        </p:txBody>
      </p:sp>
      <p:sp>
        <p:nvSpPr>
          <p:cNvPr id="86" name="Shape 84"/>
          <p:cNvSpPr/>
          <p:nvPr/>
        </p:nvSpPr>
        <p:spPr>
          <a:xfrm>
            <a:off x="4739640" y="4724400"/>
            <a:ext cx="339852" cy="339852"/>
          </a:xfrm>
          <a:prstGeom prst="rect">
            <a:avLst/>
          </a:prstGeom>
          <a:solidFill>
            <a:srgbClr val="24162A"/>
          </a:solidFill>
          <a:ln/>
        </p:spPr>
        <p:txBody>
          <a:bodyPr/>
          <a:lstStyle/>
          <a:p>
            <a:endParaRPr/>
          </a:p>
        </p:txBody>
      </p:sp>
      <p:sp>
        <p:nvSpPr>
          <p:cNvPr id="87" name="Shape 85"/>
          <p:cNvSpPr/>
          <p:nvPr/>
        </p:nvSpPr>
        <p:spPr>
          <a:xfrm>
            <a:off x="5074920" y="4724400"/>
            <a:ext cx="339852" cy="339852"/>
          </a:xfrm>
          <a:prstGeom prst="rect">
            <a:avLst/>
          </a:prstGeom>
          <a:solidFill>
            <a:srgbClr val="24162A"/>
          </a:solidFill>
          <a:ln/>
        </p:spPr>
        <p:txBody>
          <a:bodyPr/>
          <a:lstStyle/>
          <a:p>
            <a:endParaRPr/>
          </a:p>
        </p:txBody>
      </p:sp>
      <p:sp>
        <p:nvSpPr>
          <p:cNvPr id="88" name="Shape 86"/>
          <p:cNvSpPr/>
          <p:nvPr/>
        </p:nvSpPr>
        <p:spPr>
          <a:xfrm>
            <a:off x="5745480" y="4724400"/>
            <a:ext cx="339852" cy="339852"/>
          </a:xfrm>
          <a:prstGeom prst="rect">
            <a:avLst/>
          </a:prstGeom>
          <a:solidFill>
            <a:srgbClr val="24162A"/>
          </a:solidFill>
          <a:ln/>
        </p:spPr>
        <p:txBody>
          <a:bodyPr/>
          <a:lstStyle/>
          <a:p>
            <a:endParaRPr/>
          </a:p>
        </p:txBody>
      </p:sp>
      <p:sp>
        <p:nvSpPr>
          <p:cNvPr id="89" name="Shape 87"/>
          <p:cNvSpPr/>
          <p:nvPr/>
        </p:nvSpPr>
        <p:spPr>
          <a:xfrm>
            <a:off x="6751320" y="4724400"/>
            <a:ext cx="339852" cy="339852"/>
          </a:xfrm>
          <a:prstGeom prst="rect">
            <a:avLst/>
          </a:prstGeom>
          <a:solidFill>
            <a:srgbClr val="24162A"/>
          </a:solidFill>
          <a:ln/>
        </p:spPr>
        <p:txBody>
          <a:bodyPr/>
          <a:lstStyle/>
          <a:p>
            <a:endParaRPr/>
          </a:p>
        </p:txBody>
      </p:sp>
      <p:sp>
        <p:nvSpPr>
          <p:cNvPr id="90" name="Shape 88"/>
          <p:cNvSpPr/>
          <p:nvPr/>
        </p:nvSpPr>
        <p:spPr>
          <a:xfrm>
            <a:off x="7757160" y="4724400"/>
            <a:ext cx="339852" cy="339852"/>
          </a:xfrm>
          <a:prstGeom prst="rect">
            <a:avLst/>
          </a:prstGeom>
          <a:solidFill>
            <a:srgbClr val="24162A"/>
          </a:solidFill>
          <a:ln/>
        </p:spPr>
        <p:txBody>
          <a:bodyPr/>
          <a:lstStyle/>
          <a:p>
            <a:endParaRPr/>
          </a:p>
        </p:txBody>
      </p:sp>
      <p:sp>
        <p:nvSpPr>
          <p:cNvPr id="91" name="Shape 89"/>
          <p:cNvSpPr/>
          <p:nvPr/>
        </p:nvSpPr>
        <p:spPr>
          <a:xfrm>
            <a:off x="4069080" y="5059680"/>
            <a:ext cx="339852" cy="339852"/>
          </a:xfrm>
          <a:prstGeom prst="rect">
            <a:avLst/>
          </a:prstGeom>
          <a:solidFill>
            <a:srgbClr val="24162A"/>
          </a:solidFill>
          <a:ln/>
        </p:spPr>
        <p:txBody>
          <a:bodyPr/>
          <a:lstStyle/>
          <a:p>
            <a:endParaRPr/>
          </a:p>
        </p:txBody>
      </p:sp>
      <p:sp>
        <p:nvSpPr>
          <p:cNvPr id="92" name="Shape 90"/>
          <p:cNvSpPr/>
          <p:nvPr/>
        </p:nvSpPr>
        <p:spPr>
          <a:xfrm>
            <a:off x="4404360" y="5059680"/>
            <a:ext cx="339852" cy="339852"/>
          </a:xfrm>
          <a:prstGeom prst="rect">
            <a:avLst/>
          </a:prstGeom>
          <a:solidFill>
            <a:srgbClr val="24162A"/>
          </a:solidFill>
          <a:ln/>
        </p:spPr>
        <p:txBody>
          <a:bodyPr/>
          <a:lstStyle/>
          <a:p>
            <a:endParaRPr/>
          </a:p>
        </p:txBody>
      </p:sp>
      <p:sp>
        <p:nvSpPr>
          <p:cNvPr id="93" name="Shape 91"/>
          <p:cNvSpPr/>
          <p:nvPr/>
        </p:nvSpPr>
        <p:spPr>
          <a:xfrm>
            <a:off x="4739640" y="5059680"/>
            <a:ext cx="339852" cy="339852"/>
          </a:xfrm>
          <a:prstGeom prst="rect">
            <a:avLst/>
          </a:prstGeom>
          <a:solidFill>
            <a:srgbClr val="24162A"/>
          </a:solidFill>
          <a:ln/>
        </p:spPr>
        <p:txBody>
          <a:bodyPr/>
          <a:lstStyle/>
          <a:p>
            <a:endParaRPr/>
          </a:p>
        </p:txBody>
      </p:sp>
      <p:sp>
        <p:nvSpPr>
          <p:cNvPr id="94" name="Shape 92"/>
          <p:cNvSpPr/>
          <p:nvPr/>
        </p:nvSpPr>
        <p:spPr>
          <a:xfrm>
            <a:off x="5074920" y="5059680"/>
            <a:ext cx="339852" cy="339852"/>
          </a:xfrm>
          <a:prstGeom prst="rect">
            <a:avLst/>
          </a:prstGeom>
          <a:solidFill>
            <a:srgbClr val="24162A"/>
          </a:solidFill>
          <a:ln/>
        </p:spPr>
        <p:txBody>
          <a:bodyPr/>
          <a:lstStyle/>
          <a:p>
            <a:endParaRPr/>
          </a:p>
        </p:txBody>
      </p:sp>
      <p:sp>
        <p:nvSpPr>
          <p:cNvPr id="95" name="Shape 93"/>
          <p:cNvSpPr/>
          <p:nvPr/>
        </p:nvSpPr>
        <p:spPr>
          <a:xfrm>
            <a:off x="5745480" y="5059680"/>
            <a:ext cx="339852" cy="339852"/>
          </a:xfrm>
          <a:prstGeom prst="rect">
            <a:avLst/>
          </a:prstGeom>
          <a:solidFill>
            <a:srgbClr val="24162A"/>
          </a:solidFill>
          <a:ln/>
        </p:spPr>
        <p:txBody>
          <a:bodyPr/>
          <a:lstStyle/>
          <a:p>
            <a:endParaRPr/>
          </a:p>
        </p:txBody>
      </p:sp>
      <p:sp>
        <p:nvSpPr>
          <p:cNvPr id="96" name="Shape 94"/>
          <p:cNvSpPr/>
          <p:nvPr/>
        </p:nvSpPr>
        <p:spPr>
          <a:xfrm>
            <a:off x="6080760" y="5059680"/>
            <a:ext cx="339852" cy="339852"/>
          </a:xfrm>
          <a:prstGeom prst="rect">
            <a:avLst/>
          </a:prstGeom>
          <a:solidFill>
            <a:srgbClr val="24162A"/>
          </a:solidFill>
          <a:ln/>
        </p:spPr>
        <p:txBody>
          <a:bodyPr/>
          <a:lstStyle/>
          <a:p>
            <a:endParaRPr/>
          </a:p>
        </p:txBody>
      </p:sp>
      <p:sp>
        <p:nvSpPr>
          <p:cNvPr id="97" name="Shape 95"/>
          <p:cNvSpPr/>
          <p:nvPr/>
        </p:nvSpPr>
        <p:spPr>
          <a:xfrm>
            <a:off x="7421880" y="5059680"/>
            <a:ext cx="339852" cy="339852"/>
          </a:xfrm>
          <a:prstGeom prst="rect">
            <a:avLst/>
          </a:prstGeom>
          <a:solidFill>
            <a:srgbClr val="24162A"/>
          </a:solidFill>
          <a:ln/>
        </p:spPr>
        <p:txBody>
          <a:bodyPr/>
          <a:lstStyle/>
          <a:p>
            <a:endParaRPr/>
          </a:p>
        </p:txBody>
      </p:sp>
      <p:sp>
        <p:nvSpPr>
          <p:cNvPr id="98" name="Shape 96"/>
          <p:cNvSpPr/>
          <p:nvPr/>
        </p:nvSpPr>
        <p:spPr>
          <a:xfrm>
            <a:off x="7757160" y="5059680"/>
            <a:ext cx="339852" cy="339852"/>
          </a:xfrm>
          <a:prstGeom prst="rect">
            <a:avLst/>
          </a:prstGeom>
          <a:solidFill>
            <a:srgbClr val="24162A"/>
          </a:solidFill>
          <a:ln/>
        </p:spPr>
        <p:txBody>
          <a:bodyPr/>
          <a:lstStyle/>
          <a:p>
            <a:endParaRPr/>
          </a:p>
        </p:txBody>
      </p:sp>
      <p:sp>
        <p:nvSpPr>
          <p:cNvPr id="99" name="Shape 97"/>
          <p:cNvSpPr/>
          <p:nvPr/>
        </p:nvSpPr>
        <p:spPr>
          <a:xfrm>
            <a:off x="4069080" y="5394960"/>
            <a:ext cx="339852" cy="339852"/>
          </a:xfrm>
          <a:prstGeom prst="rect">
            <a:avLst/>
          </a:prstGeom>
          <a:solidFill>
            <a:srgbClr val="24162A"/>
          </a:solidFill>
          <a:ln/>
        </p:spPr>
        <p:txBody>
          <a:bodyPr/>
          <a:lstStyle/>
          <a:p>
            <a:endParaRPr/>
          </a:p>
        </p:txBody>
      </p:sp>
      <p:sp>
        <p:nvSpPr>
          <p:cNvPr id="100" name="Shape 98"/>
          <p:cNvSpPr/>
          <p:nvPr/>
        </p:nvSpPr>
        <p:spPr>
          <a:xfrm>
            <a:off x="4404360" y="5394960"/>
            <a:ext cx="339852" cy="339852"/>
          </a:xfrm>
          <a:prstGeom prst="rect">
            <a:avLst/>
          </a:prstGeom>
          <a:solidFill>
            <a:srgbClr val="24162A"/>
          </a:solidFill>
          <a:ln/>
        </p:spPr>
        <p:txBody>
          <a:bodyPr/>
          <a:lstStyle/>
          <a:p>
            <a:endParaRPr/>
          </a:p>
        </p:txBody>
      </p:sp>
      <p:sp>
        <p:nvSpPr>
          <p:cNvPr id="101" name="Shape 99"/>
          <p:cNvSpPr/>
          <p:nvPr/>
        </p:nvSpPr>
        <p:spPr>
          <a:xfrm>
            <a:off x="4739640" y="5394960"/>
            <a:ext cx="339852" cy="339852"/>
          </a:xfrm>
          <a:prstGeom prst="rect">
            <a:avLst/>
          </a:prstGeom>
          <a:solidFill>
            <a:srgbClr val="24162A"/>
          </a:solidFill>
          <a:ln/>
        </p:spPr>
        <p:txBody>
          <a:bodyPr/>
          <a:lstStyle/>
          <a:p>
            <a:endParaRPr/>
          </a:p>
        </p:txBody>
      </p:sp>
      <p:sp>
        <p:nvSpPr>
          <p:cNvPr id="102" name="Shape 100"/>
          <p:cNvSpPr/>
          <p:nvPr/>
        </p:nvSpPr>
        <p:spPr>
          <a:xfrm>
            <a:off x="5074920" y="5394960"/>
            <a:ext cx="339852" cy="339852"/>
          </a:xfrm>
          <a:prstGeom prst="rect">
            <a:avLst/>
          </a:prstGeom>
          <a:solidFill>
            <a:srgbClr val="24162A"/>
          </a:solidFill>
          <a:ln/>
        </p:spPr>
        <p:txBody>
          <a:bodyPr/>
          <a:lstStyle/>
          <a:p>
            <a:endParaRPr/>
          </a:p>
        </p:txBody>
      </p:sp>
      <p:sp>
        <p:nvSpPr>
          <p:cNvPr id="103" name="Shape 101"/>
          <p:cNvSpPr/>
          <p:nvPr/>
        </p:nvSpPr>
        <p:spPr>
          <a:xfrm>
            <a:off x="6751320" y="5394960"/>
            <a:ext cx="339852" cy="339852"/>
          </a:xfrm>
          <a:prstGeom prst="rect">
            <a:avLst/>
          </a:prstGeom>
          <a:solidFill>
            <a:srgbClr val="24162A"/>
          </a:solidFill>
          <a:ln/>
        </p:spPr>
        <p:txBody>
          <a:bodyPr/>
          <a:lstStyle/>
          <a:p>
            <a:endParaRPr/>
          </a:p>
        </p:txBody>
      </p:sp>
      <p:sp>
        <p:nvSpPr>
          <p:cNvPr id="104" name="Shape 102"/>
          <p:cNvSpPr/>
          <p:nvPr/>
        </p:nvSpPr>
        <p:spPr>
          <a:xfrm>
            <a:off x="7086600" y="5394960"/>
            <a:ext cx="339852" cy="339852"/>
          </a:xfrm>
          <a:prstGeom prst="rect">
            <a:avLst/>
          </a:prstGeom>
          <a:solidFill>
            <a:srgbClr val="24162A"/>
          </a:solidFill>
          <a:ln/>
        </p:spPr>
        <p:txBody>
          <a:bodyPr/>
          <a:lstStyle/>
          <a:p>
            <a:endParaRPr/>
          </a:p>
        </p:txBody>
      </p:sp>
      <p:sp>
        <p:nvSpPr>
          <p:cNvPr id="105" name="Shape 103"/>
          <p:cNvSpPr/>
          <p:nvPr/>
        </p:nvSpPr>
        <p:spPr>
          <a:xfrm>
            <a:off x="7421880" y="5394960"/>
            <a:ext cx="339852" cy="339852"/>
          </a:xfrm>
          <a:prstGeom prst="rect">
            <a:avLst/>
          </a:prstGeom>
          <a:solidFill>
            <a:srgbClr val="24162A"/>
          </a:solidFill>
          <a:ln/>
        </p:spPr>
        <p:txBody>
          <a:bodyPr/>
          <a:lstStyle/>
          <a:p>
            <a:endParaRPr/>
          </a:p>
        </p:txBody>
      </p:sp>
      <p:sp>
        <p:nvSpPr>
          <p:cNvPr id="106" name="Shape 104"/>
          <p:cNvSpPr/>
          <p:nvPr/>
        </p:nvSpPr>
        <p:spPr>
          <a:xfrm>
            <a:off x="4069080" y="5730240"/>
            <a:ext cx="339852" cy="339852"/>
          </a:xfrm>
          <a:prstGeom prst="rect">
            <a:avLst/>
          </a:prstGeom>
          <a:solidFill>
            <a:srgbClr val="24162A"/>
          </a:solidFill>
          <a:ln/>
        </p:spPr>
        <p:txBody>
          <a:bodyPr/>
          <a:lstStyle/>
          <a:p>
            <a:endParaRPr/>
          </a:p>
        </p:txBody>
      </p:sp>
      <p:sp>
        <p:nvSpPr>
          <p:cNvPr id="107" name="Shape 105"/>
          <p:cNvSpPr/>
          <p:nvPr/>
        </p:nvSpPr>
        <p:spPr>
          <a:xfrm>
            <a:off x="4404360" y="5730240"/>
            <a:ext cx="339852" cy="339852"/>
          </a:xfrm>
          <a:prstGeom prst="rect">
            <a:avLst/>
          </a:prstGeom>
          <a:solidFill>
            <a:srgbClr val="24162A"/>
          </a:solidFill>
          <a:ln/>
        </p:spPr>
        <p:txBody>
          <a:bodyPr/>
          <a:lstStyle/>
          <a:p>
            <a:endParaRPr/>
          </a:p>
        </p:txBody>
      </p:sp>
      <p:sp>
        <p:nvSpPr>
          <p:cNvPr id="108" name="Shape 106"/>
          <p:cNvSpPr/>
          <p:nvPr/>
        </p:nvSpPr>
        <p:spPr>
          <a:xfrm>
            <a:off x="4739640" y="5730240"/>
            <a:ext cx="339852" cy="339852"/>
          </a:xfrm>
          <a:prstGeom prst="rect">
            <a:avLst/>
          </a:prstGeom>
          <a:solidFill>
            <a:srgbClr val="24162A"/>
          </a:solidFill>
          <a:ln/>
        </p:spPr>
        <p:txBody>
          <a:bodyPr/>
          <a:lstStyle/>
          <a:p>
            <a:endParaRPr/>
          </a:p>
        </p:txBody>
      </p:sp>
      <p:sp>
        <p:nvSpPr>
          <p:cNvPr id="109" name="Shape 107"/>
          <p:cNvSpPr/>
          <p:nvPr/>
        </p:nvSpPr>
        <p:spPr>
          <a:xfrm>
            <a:off x="5074920" y="5730240"/>
            <a:ext cx="339852" cy="339852"/>
          </a:xfrm>
          <a:prstGeom prst="rect">
            <a:avLst/>
          </a:prstGeom>
          <a:solidFill>
            <a:srgbClr val="24162A"/>
          </a:solidFill>
          <a:ln/>
        </p:spPr>
        <p:txBody>
          <a:bodyPr/>
          <a:lstStyle/>
          <a:p>
            <a:endParaRPr/>
          </a:p>
        </p:txBody>
      </p:sp>
      <p:sp>
        <p:nvSpPr>
          <p:cNvPr id="110" name="Shape 108"/>
          <p:cNvSpPr/>
          <p:nvPr/>
        </p:nvSpPr>
        <p:spPr>
          <a:xfrm>
            <a:off x="6751320" y="5730240"/>
            <a:ext cx="339852" cy="339852"/>
          </a:xfrm>
          <a:prstGeom prst="rect">
            <a:avLst/>
          </a:prstGeom>
          <a:solidFill>
            <a:srgbClr val="24162A"/>
          </a:solidFill>
          <a:ln/>
        </p:spPr>
        <p:txBody>
          <a:bodyPr/>
          <a:lstStyle/>
          <a:p>
            <a:endParaRPr/>
          </a:p>
        </p:txBody>
      </p:sp>
      <p:sp>
        <p:nvSpPr>
          <p:cNvPr id="111" name="Shape 109"/>
          <p:cNvSpPr/>
          <p:nvPr/>
        </p:nvSpPr>
        <p:spPr>
          <a:xfrm>
            <a:off x="4069080" y="6065520"/>
            <a:ext cx="339852" cy="339852"/>
          </a:xfrm>
          <a:prstGeom prst="rect">
            <a:avLst/>
          </a:prstGeom>
          <a:solidFill>
            <a:srgbClr val="24162A"/>
          </a:solidFill>
          <a:ln/>
        </p:spPr>
        <p:txBody>
          <a:bodyPr/>
          <a:lstStyle/>
          <a:p>
            <a:endParaRPr/>
          </a:p>
        </p:txBody>
      </p:sp>
      <p:sp>
        <p:nvSpPr>
          <p:cNvPr id="112" name="Shape 110"/>
          <p:cNvSpPr/>
          <p:nvPr/>
        </p:nvSpPr>
        <p:spPr>
          <a:xfrm>
            <a:off x="4404360" y="6065520"/>
            <a:ext cx="339852" cy="339852"/>
          </a:xfrm>
          <a:prstGeom prst="rect">
            <a:avLst/>
          </a:prstGeom>
          <a:solidFill>
            <a:srgbClr val="24162A"/>
          </a:solidFill>
          <a:ln/>
        </p:spPr>
        <p:txBody>
          <a:bodyPr/>
          <a:lstStyle/>
          <a:p>
            <a:endParaRPr/>
          </a:p>
        </p:txBody>
      </p:sp>
      <p:sp>
        <p:nvSpPr>
          <p:cNvPr id="113" name="Shape 111"/>
          <p:cNvSpPr/>
          <p:nvPr/>
        </p:nvSpPr>
        <p:spPr>
          <a:xfrm>
            <a:off x="4739640" y="6065520"/>
            <a:ext cx="339852" cy="339852"/>
          </a:xfrm>
          <a:prstGeom prst="rect">
            <a:avLst/>
          </a:prstGeom>
          <a:solidFill>
            <a:srgbClr val="24162A"/>
          </a:solidFill>
          <a:ln/>
        </p:spPr>
        <p:txBody>
          <a:bodyPr/>
          <a:lstStyle/>
          <a:p>
            <a:endParaRPr/>
          </a:p>
        </p:txBody>
      </p:sp>
      <p:sp>
        <p:nvSpPr>
          <p:cNvPr id="114" name="Shape 112"/>
          <p:cNvSpPr/>
          <p:nvPr/>
        </p:nvSpPr>
        <p:spPr>
          <a:xfrm>
            <a:off x="5410200" y="6065520"/>
            <a:ext cx="339852" cy="339852"/>
          </a:xfrm>
          <a:prstGeom prst="rect">
            <a:avLst/>
          </a:prstGeom>
          <a:solidFill>
            <a:srgbClr val="24162A"/>
          </a:solidFill>
          <a:ln/>
        </p:spPr>
        <p:txBody>
          <a:bodyPr/>
          <a:lstStyle/>
          <a:p>
            <a:endParaRPr/>
          </a:p>
        </p:txBody>
      </p:sp>
      <p:sp>
        <p:nvSpPr>
          <p:cNvPr id="115" name="Shape 113"/>
          <p:cNvSpPr/>
          <p:nvPr/>
        </p:nvSpPr>
        <p:spPr>
          <a:xfrm>
            <a:off x="6416040" y="6065520"/>
            <a:ext cx="339852" cy="339852"/>
          </a:xfrm>
          <a:prstGeom prst="rect">
            <a:avLst/>
          </a:prstGeom>
          <a:solidFill>
            <a:srgbClr val="24162A"/>
          </a:solidFill>
          <a:ln/>
        </p:spPr>
        <p:txBody>
          <a:bodyPr/>
          <a:lstStyle/>
          <a:p>
            <a:endParaRPr/>
          </a:p>
        </p:txBody>
      </p:sp>
      <p:sp>
        <p:nvSpPr>
          <p:cNvPr id="116" name="Shape 114"/>
          <p:cNvSpPr/>
          <p:nvPr/>
        </p:nvSpPr>
        <p:spPr>
          <a:xfrm>
            <a:off x="6751320" y="6065520"/>
            <a:ext cx="339852" cy="339852"/>
          </a:xfrm>
          <a:prstGeom prst="rect">
            <a:avLst/>
          </a:prstGeom>
          <a:solidFill>
            <a:srgbClr val="24162A"/>
          </a:solidFill>
          <a:ln/>
        </p:spPr>
        <p:txBody>
          <a:bodyPr/>
          <a:lstStyle/>
          <a:p>
            <a:endParaRPr/>
          </a:p>
        </p:txBody>
      </p:sp>
      <p:sp>
        <p:nvSpPr>
          <p:cNvPr id="117" name="Shape 115"/>
          <p:cNvSpPr/>
          <p:nvPr/>
        </p:nvSpPr>
        <p:spPr>
          <a:xfrm>
            <a:off x="7086600" y="6065520"/>
            <a:ext cx="339852" cy="339852"/>
          </a:xfrm>
          <a:prstGeom prst="rect">
            <a:avLst/>
          </a:prstGeom>
          <a:solidFill>
            <a:srgbClr val="24162A"/>
          </a:solidFill>
          <a:ln/>
        </p:spPr>
        <p:txBody>
          <a:bodyPr/>
          <a:lstStyle/>
          <a:p>
            <a:endParaRPr/>
          </a:p>
        </p:txBody>
      </p:sp>
      <p:sp>
        <p:nvSpPr>
          <p:cNvPr id="118" name="Shape 116"/>
          <p:cNvSpPr/>
          <p:nvPr/>
        </p:nvSpPr>
        <p:spPr>
          <a:xfrm>
            <a:off x="7757160" y="6065520"/>
            <a:ext cx="339852" cy="339852"/>
          </a:xfrm>
          <a:prstGeom prst="rect">
            <a:avLst/>
          </a:prstGeom>
          <a:solidFill>
            <a:srgbClr val="24162A"/>
          </a:solidFill>
          <a:ln/>
        </p:spPr>
        <p:txBody>
          <a:bodyPr/>
          <a:lstStyle/>
          <a:p>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0">
    <p:bg>
      <p:bgPr>
        <a:solidFill>
          <a:srgbClr val="5F1B3C"/>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434340" y="169164"/>
            <a:ext cx="137160" cy="137160"/>
          </a:xfrm>
          <a:prstGeom prst="diamond">
            <a:avLst/>
          </a:prstGeom>
          <a:solidFill>
            <a:srgbClr val="FFFFFF"/>
          </a:solidFill>
          <a:ln/>
        </p:spPr>
        <p:txBody>
          <a:bodyPr/>
          <a:lstStyle/>
          <a:p>
            <a:endParaRPr/>
          </a:p>
        </p:txBody>
      </p:sp>
      <p:sp>
        <p:nvSpPr>
          <p:cNvPr id="3" name="Shape 1"/>
          <p:cNvSpPr/>
          <p:nvPr/>
        </p:nvSpPr>
        <p:spPr>
          <a:xfrm>
            <a:off x="297180" y="315468"/>
            <a:ext cx="137160" cy="137160"/>
          </a:xfrm>
          <a:prstGeom prst="diamond">
            <a:avLst/>
          </a:prstGeom>
          <a:solidFill>
            <a:srgbClr val="FFFFFF"/>
          </a:solidFill>
          <a:ln/>
        </p:spPr>
        <p:txBody>
          <a:bodyPr/>
          <a:lstStyle/>
          <a:p>
            <a:endParaRPr/>
          </a:p>
        </p:txBody>
      </p:sp>
      <p:sp>
        <p:nvSpPr>
          <p:cNvPr id="4" name="Shape 2"/>
          <p:cNvSpPr/>
          <p:nvPr/>
        </p:nvSpPr>
        <p:spPr>
          <a:xfrm>
            <a:off x="571500" y="315468"/>
            <a:ext cx="137160" cy="137160"/>
          </a:xfrm>
          <a:prstGeom prst="diamond">
            <a:avLst/>
          </a:prstGeom>
          <a:solidFill>
            <a:srgbClr val="43BFB8"/>
          </a:solidFill>
          <a:ln/>
        </p:spPr>
        <p:txBody>
          <a:bodyPr/>
          <a:lstStyle/>
          <a:p>
            <a:endParaRPr/>
          </a:p>
        </p:txBody>
      </p:sp>
      <p:sp>
        <p:nvSpPr>
          <p:cNvPr id="5" name="Shape 3"/>
          <p:cNvSpPr/>
          <p:nvPr/>
        </p:nvSpPr>
        <p:spPr>
          <a:xfrm>
            <a:off x="434340" y="461772"/>
            <a:ext cx="137160" cy="137160"/>
          </a:xfrm>
          <a:prstGeom prst="diamond">
            <a:avLst/>
          </a:prstGeom>
          <a:solidFill>
            <a:srgbClr val="FFFFFF"/>
          </a:solidFill>
          <a:ln/>
        </p:spPr>
        <p:txBody>
          <a:bodyPr/>
          <a:lstStyle/>
          <a:p>
            <a:endParaRPr/>
          </a:p>
        </p:txBody>
      </p:sp>
      <p:sp>
        <p:nvSpPr>
          <p:cNvPr id="6" name="Shape 4"/>
          <p:cNvSpPr/>
          <p:nvPr/>
        </p:nvSpPr>
        <p:spPr>
          <a:xfrm>
            <a:off x="11414455" y="0"/>
            <a:ext cx="777240" cy="6858000"/>
          </a:xfrm>
          <a:prstGeom prst="rect">
            <a:avLst/>
          </a:prstGeom>
          <a:solidFill>
            <a:srgbClr val="43BFB8"/>
          </a:solidFill>
          <a:ln/>
        </p:spPr>
        <p:txBody>
          <a:bodyPr/>
          <a:lstStyle/>
          <a:p>
            <a:endParaRPr/>
          </a:p>
        </p:txBody>
      </p:sp>
      <p:sp>
        <p:nvSpPr>
          <p:cNvPr id="7" name="Shape 5"/>
          <p:cNvSpPr/>
          <p:nvPr/>
        </p:nvSpPr>
        <p:spPr>
          <a:xfrm>
            <a:off x="822960" y="2606040"/>
            <a:ext cx="502920" cy="73152"/>
          </a:xfrm>
          <a:prstGeom prst="rect">
            <a:avLst/>
          </a:prstGeom>
          <a:solidFill>
            <a:srgbClr val="43BFB8"/>
          </a:solidFill>
          <a:ln/>
        </p:spPr>
        <p:txBody>
          <a:bodyPr/>
          <a:lstStyle/>
          <a:p>
            <a:endParaRPr/>
          </a:p>
        </p:txBody>
      </p:sp>
      <p:sp>
        <p:nvSpPr>
          <p:cNvPr id="8" name="Text 6"/>
          <p:cNvSpPr/>
          <p:nvPr/>
        </p:nvSpPr>
        <p:spPr>
          <a:xfrm>
            <a:off x="822960" y="2788920"/>
            <a:ext cx="10058400" cy="1737360"/>
          </a:xfrm>
          <a:prstGeom prst="rect">
            <a:avLst/>
          </a:prstGeom>
          <a:noFill/>
          <a:ln/>
        </p:spPr>
        <p:txBody>
          <a:bodyPr wrap="square" rtlCol="0" anchor="t"/>
          <a:lstStyle/>
          <a:p>
            <a:pPr marL="0" indent="0" algn="l">
              <a:lnSpc>
                <a:spcPct val="115000"/>
              </a:lnSpc>
              <a:buNone/>
            </a:pPr>
            <a:r>
              <a:rPr lang="en-US" sz="3400" b="1" dirty="0">
                <a:solidFill>
                  <a:srgbClr val="FFFFFF"/>
                </a:solidFill>
                <a:latin typeface="Segoe UI" pitchFamily="34" charset="0"/>
                <a:ea typeface="Segoe UI" pitchFamily="34" charset="-122"/>
                <a:cs typeface="Segoe UI" pitchFamily="34" charset="-120"/>
              </a:rPr>
              <a:t>You do not need to be a hero.</a:t>
            </a:r>
            <a:endParaRPr lang="en-US" sz="3400" dirty="0"/>
          </a:p>
          <a:p>
            <a:pPr marL="0" indent="0" algn="l">
              <a:lnSpc>
                <a:spcPct val="115000"/>
              </a:lnSpc>
              <a:buNone/>
            </a:pPr>
            <a:r>
              <a:rPr lang="en-US" sz="3400" b="1" dirty="0">
                <a:solidFill>
                  <a:srgbClr val="FFFFFF"/>
                </a:solidFill>
                <a:latin typeface="Segoe UI" pitchFamily="34" charset="0"/>
                <a:ea typeface="Segoe UI" pitchFamily="34" charset="-122"/>
                <a:cs typeface="Segoe UI" pitchFamily="34" charset="-120"/>
              </a:rPr>
              <a:t>You need the next small step.</a:t>
            </a:r>
            <a:endParaRPr lang="en-US" sz="3400" dirty="0"/>
          </a:p>
        </p:txBody>
      </p:sp>
      <p:sp>
        <p:nvSpPr>
          <p:cNvPr id="9" name="Text 7"/>
          <p:cNvSpPr/>
          <p:nvPr/>
        </p:nvSpPr>
        <p:spPr>
          <a:xfrm>
            <a:off x="822960" y="4434840"/>
            <a:ext cx="9875520" cy="822960"/>
          </a:xfrm>
          <a:prstGeom prst="rect">
            <a:avLst/>
          </a:prstGeom>
          <a:noFill/>
          <a:ln/>
        </p:spPr>
        <p:txBody>
          <a:bodyPr wrap="square" rtlCol="0" anchor="ctr"/>
          <a:lstStyle/>
          <a:p>
            <a:pPr marL="0" indent="0" algn="l">
              <a:buNone/>
            </a:pPr>
            <a:r>
              <a:rPr lang="en-US" sz="1400" dirty="0">
                <a:solidFill>
                  <a:srgbClr val="FFFFFF">
                    <a:alpha val="85000"/>
                  </a:srgbClr>
                </a:solidFill>
                <a:latin typeface="Segoe UI" pitchFamily="34" charset="0"/>
                <a:ea typeface="Segoe UI" pitchFamily="34" charset="-122"/>
                <a:cs typeface="Segoe UI" pitchFamily="34" charset="-120"/>
              </a:rPr>
              <a:t>Explain the idea. State the goal. Draw the picture. Build it on one real system. Write the decision. Guard the rule.</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1">
    <p:bg>
      <p:bgPr>
        <a:solidFill>
          <a:srgbClr val="5F1B3C"/>
        </a:solidFill>
        <a:effectLst/>
      </p:bgPr>
    </p:bg>
    <p:spTree>
      <p:nvGrpSpPr>
        <p:cNvPr id="1" name=""/>
        <p:cNvGrpSpPr/>
        <p:nvPr/>
      </p:nvGrpSpPr>
      <p:grpSpPr>
        <a:xfrm>
          <a:off x="0" y="0"/>
          <a:ext cx="12191695" cy="6858000"/>
          <a:chOff x="0" y="0"/>
          <a:chExt cx="12191695" cy="6858000"/>
        </a:xfrm>
      </p:grpSpPr>
      <p:sp>
        <p:nvSpPr>
          <p:cNvPr id="2" name="Shape 0"/>
          <p:cNvSpPr/>
          <p:nvPr/>
        </p:nvSpPr>
        <p:spPr>
          <a:xfrm>
            <a:off x="9448495" y="274320"/>
            <a:ext cx="274320" cy="274320"/>
          </a:xfrm>
          <a:prstGeom prst="rect">
            <a:avLst/>
          </a:prstGeom>
          <a:ln w="12700">
            <a:solidFill>
              <a:srgbClr val="43BFB8"/>
            </a:solidFill>
            <a:prstDash val="solid"/>
          </a:ln>
        </p:spPr>
        <p:txBody>
          <a:bodyPr/>
          <a:lstStyle/>
          <a:p>
            <a:endParaRPr/>
          </a:p>
        </p:txBody>
      </p:sp>
      <p:sp>
        <p:nvSpPr>
          <p:cNvPr id="3" name="Shape 1"/>
          <p:cNvSpPr/>
          <p:nvPr/>
        </p:nvSpPr>
        <p:spPr>
          <a:xfrm>
            <a:off x="9951415" y="274320"/>
            <a:ext cx="274320" cy="274320"/>
          </a:xfrm>
          <a:prstGeom prst="ellipse">
            <a:avLst/>
          </a:prstGeom>
          <a:ln w="12700">
            <a:solidFill>
              <a:srgbClr val="43BFB8"/>
            </a:solidFill>
            <a:prstDash val="solid"/>
          </a:ln>
        </p:spPr>
        <p:txBody>
          <a:bodyPr/>
          <a:lstStyle/>
          <a:p>
            <a:endParaRPr/>
          </a:p>
        </p:txBody>
      </p:sp>
      <p:sp>
        <p:nvSpPr>
          <p:cNvPr id="4" name="Shape 2"/>
          <p:cNvSpPr/>
          <p:nvPr/>
        </p:nvSpPr>
        <p:spPr>
          <a:xfrm>
            <a:off x="10454335" y="274320"/>
            <a:ext cx="274320" cy="274320"/>
          </a:xfrm>
          <a:prstGeom prst="ellipse">
            <a:avLst/>
          </a:prstGeom>
          <a:ln w="12700">
            <a:solidFill>
              <a:srgbClr val="43BFB8"/>
            </a:solidFill>
            <a:prstDash val="solid"/>
          </a:ln>
        </p:spPr>
        <p:txBody>
          <a:bodyPr/>
          <a:lstStyle/>
          <a:p>
            <a:endParaRPr/>
          </a:p>
        </p:txBody>
      </p:sp>
      <p:sp>
        <p:nvSpPr>
          <p:cNvPr id="5" name="Shape 3"/>
          <p:cNvSpPr/>
          <p:nvPr/>
        </p:nvSpPr>
        <p:spPr>
          <a:xfrm>
            <a:off x="10957255" y="274320"/>
            <a:ext cx="274320" cy="274320"/>
          </a:xfrm>
          <a:prstGeom prst="rect">
            <a:avLst/>
          </a:prstGeom>
          <a:ln w="12700">
            <a:solidFill>
              <a:srgbClr val="43BFB8"/>
            </a:solidFill>
            <a:prstDash val="solid"/>
          </a:ln>
        </p:spPr>
        <p:txBody>
          <a:bodyPr/>
          <a:lstStyle/>
          <a:p>
            <a:endParaRPr/>
          </a:p>
        </p:txBody>
      </p:sp>
      <p:sp>
        <p:nvSpPr>
          <p:cNvPr id="6" name="Shape 4"/>
          <p:cNvSpPr/>
          <p:nvPr/>
        </p:nvSpPr>
        <p:spPr>
          <a:xfrm>
            <a:off x="9448495" y="777240"/>
            <a:ext cx="274320" cy="274320"/>
          </a:xfrm>
          <a:prstGeom prst="ellipse">
            <a:avLst/>
          </a:prstGeom>
          <a:ln w="12700">
            <a:solidFill>
              <a:srgbClr val="43BFB8"/>
            </a:solidFill>
            <a:prstDash val="solid"/>
          </a:ln>
        </p:spPr>
        <p:txBody>
          <a:bodyPr/>
          <a:lstStyle/>
          <a:p>
            <a:endParaRPr/>
          </a:p>
        </p:txBody>
      </p:sp>
      <p:sp>
        <p:nvSpPr>
          <p:cNvPr id="7" name="Shape 5"/>
          <p:cNvSpPr/>
          <p:nvPr/>
        </p:nvSpPr>
        <p:spPr>
          <a:xfrm>
            <a:off x="9951415" y="777240"/>
            <a:ext cx="274320" cy="274320"/>
          </a:xfrm>
          <a:prstGeom prst="ellipse">
            <a:avLst/>
          </a:prstGeom>
          <a:ln w="12700">
            <a:solidFill>
              <a:srgbClr val="43BFB8"/>
            </a:solidFill>
            <a:prstDash val="solid"/>
          </a:ln>
        </p:spPr>
        <p:txBody>
          <a:bodyPr/>
          <a:lstStyle/>
          <a:p>
            <a:endParaRPr/>
          </a:p>
        </p:txBody>
      </p:sp>
      <p:sp>
        <p:nvSpPr>
          <p:cNvPr id="8" name="Shape 6"/>
          <p:cNvSpPr/>
          <p:nvPr/>
        </p:nvSpPr>
        <p:spPr>
          <a:xfrm>
            <a:off x="10454335" y="777240"/>
            <a:ext cx="274320" cy="274320"/>
          </a:xfrm>
          <a:prstGeom prst="rect">
            <a:avLst/>
          </a:prstGeom>
          <a:ln w="12700">
            <a:solidFill>
              <a:srgbClr val="43BFB8"/>
            </a:solidFill>
            <a:prstDash val="solid"/>
          </a:ln>
        </p:spPr>
        <p:txBody>
          <a:bodyPr/>
          <a:lstStyle/>
          <a:p>
            <a:endParaRPr/>
          </a:p>
        </p:txBody>
      </p:sp>
      <p:sp>
        <p:nvSpPr>
          <p:cNvPr id="9" name="Shape 7"/>
          <p:cNvSpPr/>
          <p:nvPr/>
        </p:nvSpPr>
        <p:spPr>
          <a:xfrm>
            <a:off x="10957255" y="777240"/>
            <a:ext cx="274320" cy="274320"/>
          </a:xfrm>
          <a:prstGeom prst="ellipse">
            <a:avLst/>
          </a:prstGeom>
          <a:ln w="12700">
            <a:solidFill>
              <a:srgbClr val="43BFB8"/>
            </a:solidFill>
            <a:prstDash val="solid"/>
          </a:ln>
        </p:spPr>
        <p:txBody>
          <a:bodyPr/>
          <a:lstStyle/>
          <a:p>
            <a:endParaRPr/>
          </a:p>
        </p:txBody>
      </p:sp>
      <p:sp>
        <p:nvSpPr>
          <p:cNvPr id="10" name="Shape 8"/>
          <p:cNvSpPr/>
          <p:nvPr/>
        </p:nvSpPr>
        <p:spPr>
          <a:xfrm>
            <a:off x="9448495" y="1280160"/>
            <a:ext cx="274320" cy="274320"/>
          </a:xfrm>
          <a:prstGeom prst="ellipse">
            <a:avLst/>
          </a:prstGeom>
          <a:ln w="12700">
            <a:solidFill>
              <a:srgbClr val="43BFB8"/>
            </a:solidFill>
            <a:prstDash val="solid"/>
          </a:ln>
        </p:spPr>
        <p:txBody>
          <a:bodyPr/>
          <a:lstStyle/>
          <a:p>
            <a:endParaRPr/>
          </a:p>
        </p:txBody>
      </p:sp>
      <p:sp>
        <p:nvSpPr>
          <p:cNvPr id="11" name="Shape 9"/>
          <p:cNvSpPr/>
          <p:nvPr/>
        </p:nvSpPr>
        <p:spPr>
          <a:xfrm>
            <a:off x="9951415" y="1280160"/>
            <a:ext cx="274320" cy="274320"/>
          </a:xfrm>
          <a:prstGeom prst="rect">
            <a:avLst/>
          </a:prstGeom>
          <a:ln w="12700">
            <a:solidFill>
              <a:srgbClr val="43BFB8"/>
            </a:solidFill>
            <a:prstDash val="solid"/>
          </a:ln>
        </p:spPr>
        <p:txBody>
          <a:bodyPr/>
          <a:lstStyle/>
          <a:p>
            <a:endParaRPr/>
          </a:p>
        </p:txBody>
      </p:sp>
      <p:sp>
        <p:nvSpPr>
          <p:cNvPr id="12" name="Shape 10"/>
          <p:cNvSpPr/>
          <p:nvPr/>
        </p:nvSpPr>
        <p:spPr>
          <a:xfrm>
            <a:off x="10454335" y="1280160"/>
            <a:ext cx="274320" cy="274320"/>
          </a:xfrm>
          <a:prstGeom prst="ellipse">
            <a:avLst/>
          </a:prstGeom>
          <a:ln w="12700">
            <a:solidFill>
              <a:srgbClr val="43BFB8"/>
            </a:solidFill>
            <a:prstDash val="solid"/>
          </a:ln>
        </p:spPr>
        <p:txBody>
          <a:bodyPr/>
          <a:lstStyle/>
          <a:p>
            <a:endParaRPr/>
          </a:p>
        </p:txBody>
      </p:sp>
      <p:sp>
        <p:nvSpPr>
          <p:cNvPr id="13" name="Shape 11"/>
          <p:cNvSpPr/>
          <p:nvPr/>
        </p:nvSpPr>
        <p:spPr>
          <a:xfrm>
            <a:off x="10957255" y="1280160"/>
            <a:ext cx="274320" cy="274320"/>
          </a:xfrm>
          <a:prstGeom prst="ellipse">
            <a:avLst/>
          </a:prstGeom>
          <a:ln w="12700">
            <a:solidFill>
              <a:srgbClr val="43BFB8"/>
            </a:solidFill>
            <a:prstDash val="solid"/>
          </a:ln>
        </p:spPr>
        <p:txBody>
          <a:bodyPr/>
          <a:lstStyle/>
          <a:p>
            <a:endParaRPr/>
          </a:p>
        </p:txBody>
      </p:sp>
      <p:sp>
        <p:nvSpPr>
          <p:cNvPr id="14" name="Shape 12"/>
          <p:cNvSpPr/>
          <p:nvPr/>
        </p:nvSpPr>
        <p:spPr>
          <a:xfrm>
            <a:off x="9448495" y="1783080"/>
            <a:ext cx="274320" cy="274320"/>
          </a:xfrm>
          <a:prstGeom prst="rect">
            <a:avLst/>
          </a:prstGeom>
          <a:ln w="12700">
            <a:solidFill>
              <a:srgbClr val="43BFB8"/>
            </a:solidFill>
            <a:prstDash val="solid"/>
          </a:ln>
        </p:spPr>
        <p:txBody>
          <a:bodyPr/>
          <a:lstStyle/>
          <a:p>
            <a:endParaRPr/>
          </a:p>
        </p:txBody>
      </p:sp>
      <p:sp>
        <p:nvSpPr>
          <p:cNvPr id="15" name="Shape 13"/>
          <p:cNvSpPr/>
          <p:nvPr/>
        </p:nvSpPr>
        <p:spPr>
          <a:xfrm>
            <a:off x="9951415" y="1783080"/>
            <a:ext cx="274320" cy="274320"/>
          </a:xfrm>
          <a:prstGeom prst="ellipse">
            <a:avLst/>
          </a:prstGeom>
          <a:ln w="12700">
            <a:solidFill>
              <a:srgbClr val="43BFB8"/>
            </a:solidFill>
            <a:prstDash val="solid"/>
          </a:ln>
        </p:spPr>
        <p:txBody>
          <a:bodyPr/>
          <a:lstStyle/>
          <a:p>
            <a:endParaRPr/>
          </a:p>
        </p:txBody>
      </p:sp>
      <p:sp>
        <p:nvSpPr>
          <p:cNvPr id="16" name="Shape 14"/>
          <p:cNvSpPr/>
          <p:nvPr/>
        </p:nvSpPr>
        <p:spPr>
          <a:xfrm>
            <a:off x="10454335" y="1783080"/>
            <a:ext cx="274320" cy="274320"/>
          </a:xfrm>
          <a:prstGeom prst="ellipse">
            <a:avLst/>
          </a:prstGeom>
          <a:ln w="12700">
            <a:solidFill>
              <a:srgbClr val="43BFB8"/>
            </a:solidFill>
            <a:prstDash val="solid"/>
          </a:ln>
        </p:spPr>
        <p:txBody>
          <a:bodyPr/>
          <a:lstStyle/>
          <a:p>
            <a:endParaRPr/>
          </a:p>
        </p:txBody>
      </p:sp>
      <p:sp>
        <p:nvSpPr>
          <p:cNvPr id="17" name="Shape 15"/>
          <p:cNvSpPr/>
          <p:nvPr/>
        </p:nvSpPr>
        <p:spPr>
          <a:xfrm>
            <a:off x="10957255" y="1783080"/>
            <a:ext cx="274320" cy="274320"/>
          </a:xfrm>
          <a:prstGeom prst="rect">
            <a:avLst/>
          </a:prstGeom>
          <a:ln w="12700">
            <a:solidFill>
              <a:srgbClr val="43BFB8"/>
            </a:solidFill>
            <a:prstDash val="solid"/>
          </a:ln>
        </p:spPr>
        <p:txBody>
          <a:bodyPr/>
          <a:lstStyle/>
          <a:p>
            <a:endParaRPr/>
          </a:p>
        </p:txBody>
      </p:sp>
      <p:sp>
        <p:nvSpPr>
          <p:cNvPr id="18" name="Shape 16"/>
          <p:cNvSpPr/>
          <p:nvPr/>
        </p:nvSpPr>
        <p:spPr>
          <a:xfrm>
            <a:off x="9448495" y="2286000"/>
            <a:ext cx="274320" cy="274320"/>
          </a:xfrm>
          <a:prstGeom prst="ellipse">
            <a:avLst/>
          </a:prstGeom>
          <a:ln w="12700">
            <a:solidFill>
              <a:srgbClr val="43BFB8"/>
            </a:solidFill>
            <a:prstDash val="solid"/>
          </a:ln>
        </p:spPr>
        <p:txBody>
          <a:bodyPr/>
          <a:lstStyle/>
          <a:p>
            <a:endParaRPr/>
          </a:p>
        </p:txBody>
      </p:sp>
      <p:sp>
        <p:nvSpPr>
          <p:cNvPr id="19" name="Shape 17"/>
          <p:cNvSpPr/>
          <p:nvPr/>
        </p:nvSpPr>
        <p:spPr>
          <a:xfrm>
            <a:off x="9951415" y="2286000"/>
            <a:ext cx="274320" cy="274320"/>
          </a:xfrm>
          <a:prstGeom prst="ellipse">
            <a:avLst/>
          </a:prstGeom>
          <a:ln w="12700">
            <a:solidFill>
              <a:srgbClr val="43BFB8"/>
            </a:solidFill>
            <a:prstDash val="solid"/>
          </a:ln>
        </p:spPr>
        <p:txBody>
          <a:bodyPr/>
          <a:lstStyle/>
          <a:p>
            <a:endParaRPr/>
          </a:p>
        </p:txBody>
      </p:sp>
      <p:sp>
        <p:nvSpPr>
          <p:cNvPr id="20" name="Shape 18"/>
          <p:cNvSpPr/>
          <p:nvPr/>
        </p:nvSpPr>
        <p:spPr>
          <a:xfrm>
            <a:off x="10454335" y="2286000"/>
            <a:ext cx="274320" cy="274320"/>
          </a:xfrm>
          <a:prstGeom prst="rect">
            <a:avLst/>
          </a:prstGeom>
          <a:ln w="12700">
            <a:solidFill>
              <a:srgbClr val="43BFB8"/>
            </a:solidFill>
            <a:prstDash val="solid"/>
          </a:ln>
        </p:spPr>
        <p:txBody>
          <a:bodyPr/>
          <a:lstStyle/>
          <a:p>
            <a:endParaRPr/>
          </a:p>
        </p:txBody>
      </p:sp>
      <p:sp>
        <p:nvSpPr>
          <p:cNvPr id="21" name="Shape 19"/>
          <p:cNvSpPr/>
          <p:nvPr/>
        </p:nvSpPr>
        <p:spPr>
          <a:xfrm>
            <a:off x="10957255" y="2286000"/>
            <a:ext cx="274320" cy="274320"/>
          </a:xfrm>
          <a:prstGeom prst="ellipse">
            <a:avLst/>
          </a:prstGeom>
          <a:ln w="12700">
            <a:solidFill>
              <a:srgbClr val="43BFB8"/>
            </a:solidFill>
            <a:prstDash val="solid"/>
          </a:ln>
        </p:spPr>
        <p:txBody>
          <a:bodyPr/>
          <a:lstStyle/>
          <a:p>
            <a:endParaRPr/>
          </a:p>
        </p:txBody>
      </p:sp>
      <p:sp>
        <p:nvSpPr>
          <p:cNvPr id="22" name="Text 20"/>
          <p:cNvSpPr/>
          <p:nvPr/>
        </p:nvSpPr>
        <p:spPr>
          <a:xfrm>
            <a:off x="640080" y="4114800"/>
            <a:ext cx="5486400" cy="1554480"/>
          </a:xfrm>
          <a:prstGeom prst="rect">
            <a:avLst/>
          </a:prstGeom>
          <a:noFill/>
          <a:ln/>
        </p:spPr>
        <p:txBody>
          <a:bodyPr wrap="square" rtlCol="0" anchor="ctr"/>
          <a:lstStyle/>
          <a:p>
            <a:pPr marL="0" indent="0" algn="l">
              <a:lnSpc>
                <a:spcPct val="90000"/>
              </a:lnSpc>
              <a:buNone/>
            </a:pPr>
            <a:r>
              <a:rPr lang="en-US" sz="6400" b="1" dirty="0">
                <a:solidFill>
                  <a:srgbClr val="FFFFFF"/>
                </a:solidFill>
                <a:latin typeface="Segoe UI" pitchFamily="34" charset="0"/>
                <a:ea typeface="Segoe UI" pitchFamily="34" charset="-122"/>
                <a:cs typeface="Segoe UI" pitchFamily="34" charset="-120"/>
              </a:rPr>
              <a:t>THANK YOU</a:t>
            </a:r>
            <a:endParaRPr lang="en-US" sz="6400" dirty="0"/>
          </a:p>
        </p:txBody>
      </p:sp>
      <p:sp>
        <p:nvSpPr>
          <p:cNvPr id="23" name="Text 21"/>
          <p:cNvSpPr/>
          <p:nvPr/>
        </p:nvSpPr>
        <p:spPr>
          <a:xfrm>
            <a:off x="5943600" y="4114800"/>
            <a:ext cx="914400" cy="1463040"/>
          </a:xfrm>
          <a:prstGeom prst="rect">
            <a:avLst/>
          </a:prstGeom>
          <a:noFill/>
          <a:ln/>
        </p:spPr>
        <p:txBody>
          <a:bodyPr wrap="square" rtlCol="0" anchor="ctr"/>
          <a:lstStyle/>
          <a:p>
            <a:pPr marL="0" indent="0" algn="l">
              <a:buNone/>
            </a:pPr>
            <a:r>
              <a:rPr lang="en-US" sz="10000" b="1" i="1" dirty="0">
                <a:solidFill>
                  <a:srgbClr val="FFFFFF"/>
                </a:solidFill>
                <a:latin typeface="Segoe UI" pitchFamily="34" charset="0"/>
                <a:ea typeface="Segoe UI" pitchFamily="34" charset="-122"/>
                <a:cs typeface="Segoe UI" pitchFamily="34" charset="-120"/>
              </a:rPr>
              <a:t>ga</a:t>
            </a:r>
            <a:endParaRPr lang="en-US" sz="10000" dirty="0"/>
          </a:p>
        </p:txBody>
      </p:sp>
      <p:sp>
        <p:nvSpPr>
          <p:cNvPr id="24" name="Shape 22"/>
          <p:cNvSpPr/>
          <p:nvPr/>
        </p:nvSpPr>
        <p:spPr>
          <a:xfrm>
            <a:off x="6035040" y="3977640"/>
            <a:ext cx="182880" cy="182880"/>
          </a:xfrm>
          <a:prstGeom prst="ellipse">
            <a:avLst/>
          </a:prstGeom>
          <a:solidFill>
            <a:srgbClr val="E76F30"/>
          </a:solidFill>
          <a:ln/>
        </p:spPr>
        <p:txBody>
          <a:bodyPr/>
          <a:lstStyle/>
          <a:p>
            <a:endParaRPr/>
          </a:p>
        </p:txBody>
      </p:sp>
      <p:sp>
        <p:nvSpPr>
          <p:cNvPr id="25" name="Text 23"/>
          <p:cNvSpPr/>
          <p:nvPr/>
        </p:nvSpPr>
        <p:spPr>
          <a:xfrm>
            <a:off x="7132320" y="4617720"/>
            <a:ext cx="4572000" cy="320040"/>
          </a:xfrm>
          <a:prstGeom prst="rect">
            <a:avLst/>
          </a:prstGeom>
          <a:noFill/>
          <a:ln/>
        </p:spPr>
        <p:txBody>
          <a:bodyPr wrap="square" rtlCol="0" anchor="ctr"/>
          <a:lstStyle/>
          <a:p>
            <a:pPr marL="0" indent="0">
              <a:buNone/>
            </a:pPr>
            <a:r>
              <a:rPr lang="en-US" sz="1500" b="1" kern="0" spc="200" dirty="0">
                <a:solidFill>
                  <a:srgbClr val="FFFFFF"/>
                </a:solidFill>
                <a:latin typeface="Segoe UI" pitchFamily="34" charset="0"/>
                <a:ea typeface="Segoe UI" pitchFamily="34" charset="-122"/>
                <a:cs typeface="Segoe UI" pitchFamily="34" charset="-120"/>
              </a:rPr>
              <a:t>GLOBAL INTELLIGENCE</a:t>
            </a:r>
            <a:endParaRPr lang="en-US" sz="1500" dirty="0"/>
          </a:p>
        </p:txBody>
      </p:sp>
      <p:sp>
        <p:nvSpPr>
          <p:cNvPr id="26" name="Text 24"/>
          <p:cNvSpPr/>
          <p:nvPr/>
        </p:nvSpPr>
        <p:spPr>
          <a:xfrm>
            <a:off x="7132320" y="4956048"/>
            <a:ext cx="4572000" cy="320040"/>
          </a:xfrm>
          <a:prstGeom prst="rect">
            <a:avLst/>
          </a:prstGeom>
          <a:noFill/>
          <a:ln/>
        </p:spPr>
        <p:txBody>
          <a:bodyPr wrap="square" rtlCol="0" anchor="ctr"/>
          <a:lstStyle/>
          <a:p>
            <a:pPr marL="0" indent="0">
              <a:buNone/>
            </a:pPr>
            <a:r>
              <a:rPr lang="en-US" sz="1500" b="1" kern="0" spc="200" dirty="0">
                <a:solidFill>
                  <a:srgbClr val="FFFFFF"/>
                </a:solidFill>
                <a:latin typeface="Segoe UI" pitchFamily="34" charset="0"/>
                <a:ea typeface="Segoe UI" pitchFamily="34" charset="-122"/>
                <a:cs typeface="Segoe UI" pitchFamily="34" charset="-120"/>
              </a:rPr>
              <a:t>ASSOCIATION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7970</TotalTime>
  <Words>25284</Words>
  <Application>Microsoft Office PowerPoint</Application>
  <PresentationFormat>Widescreen</PresentationFormat>
  <Paragraphs>3054</Paragraphs>
  <Slides>122</Slides>
  <Notes>111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122</vt:i4>
      </vt:variant>
    </vt:vector>
  </HeadingPairs>
  <TitlesOfParts>
    <vt:vector size="127" baseType="lpstr">
      <vt:lpstr>Segoe UI</vt:lpstr>
      <vt:lpstr>Consolas</vt:lpstr>
      <vt:lpstr>Segoe UI Symbol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Global Intelligence Association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 &amp; Solution Design — 5-Day Applied Training</dc:title>
  <dc:subject>PptxGenJS Presentation</dc:subject>
  <dc:creator>Instructor</dc:creator>
  <cp:lastModifiedBy>Taha Saleh</cp:lastModifiedBy>
  <cp:revision>8</cp:revision>
  <dcterms:created xsi:type="dcterms:W3CDTF">2026-09-05T01:20:56Z</dcterms:created>
  <dcterms:modified xsi:type="dcterms:W3CDTF">2026-10-17T23:17:41Z</dcterms:modified>
</cp:coreProperties>
</file>